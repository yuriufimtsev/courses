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 состоит из трёх теоретических частей и практики. События продолжают прошлую лекцию о делегатах: сегодня рассматриваем ключевое слово event, аксессоры add и remove и сравниваем подход C# с другими платформами. Раздел о генериках начинается с краткого теоретического введения, чтобы вариантность и PECS опирались на понятные определения. LINQ объединяет обе темы: генерики, делегаты и методы-расширения. В конце - практика по всем трём темам.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теоретические части и практика. Связь между частями: делегаты и лямбда-выражения из первой части вместе с генериками из второй - это те механизмы, на которых построен LINQ. Это стоит обозначить в начале, чтобы студенты видели общую цель.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Делегаты и цепочки делегатов рассматривались на прошлой лекции. Сегодня: зачем для событий введено отдельное ключевое слово и какие гарантии оно даёт.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Короткое напоминание. Главное: делегат хранит пару «объект + метод» (Target и Method), поэтому game.OnLeft вызовется именно у этого game, а не у какого-то абстрактного. Это отличие от указателя на функцию в C. Можно спросить аудиторию: что вернёт handler.Target для цепочки из двух? Ответ: цель последнего делегата, то есть logger.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прошлой лекции рассматривался вариант с методами RegisterLeftHandler: он безопасен, но требует однотипного кода для каждого события. Публичное поле избавляет от этого кода, но создаёт три проблемы. Главная из них - вторая: по смыслу событие может инициировать только объявивший его класс. Если событие вызывается посторонним кодом, установить причину поведения программы становится значительно сложнее.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Запись handler() является сокращением для handler.Invoke(). Оператор условного доступа ?. появился в C# 6; синтаксиса handler?() в языке нет, поэтому при безопасном вызове метод Invoke пишется явно. Делегат, на который никто не подписан, равен null, а не пустой цепочке, поэтому прямой вызов события без проверки является частой причиной NullReferenceException. До C# 6 потокобезопасный вариант выглядел так: var temp = handler; if (temp != null) temp(); Значение сначала копируется в локальную переменную, и её уже не изменит другой поток. Оператор ?. делает то же самое автоматически. Альтернатива: инициализировать событие пустым обработчиком, public event Action LeftHandler = () =&gt; { };, тогда оно никогда не равно null, но каждый вызов выполняет лишний пустой метод.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части. event - модификатор поля-делегата, который вне класса оставляет только две операции: += и −=. Присваивание, обнуление, вызов и чтение списка подписчиков извне запрещены: ошибка CS0070 «The event can only appear on the left hand side of += or -= (except when used from within the type)». Важная деталь: класс-наследник также считается внешним кодом и не может вызвать событие базового класса. Отсюда канонический шаблон с методом protected virtual OnXxx(EventArgs e): наследники вызывают событие через него и могут переопределить поведение.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Аналогия со свойствами: автосвойство порождает скрытое поле и методы get_X и set_X, событие, объявленное как поле, порождает скрытое поле и методы add_X и remove_X. В метаданных сборки дополнительно хранится запись о событии LeftHandler, которая связывает имя события с этими двумя методами; поэтому снаружи видно именно событие, а не два произвольных метода. Внутри класса имя LeftHandler обращается непосредственно к полю, поэтому там событие можно вызывать и обнулять. В ILSpy или dotPeek это хорошо видно. Код на слайде упрощён: настоящий add читает поле в цикле, вызывает Delegate.Combine и записывает результат через Interlocked.CompareExchange, чтобы одновременные подписки из разных потоков не терялись.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различать два случая. Для обычной переменной или поля типа делегата оператор += сразу компилируется в Delegate.Combine с приведением типа (Combine возвращает Delegate). Для события снаружи класса += компилируется в вызов аксессора add, а уже внутри add (сгенерированного или вашего) обычно стоит тот же Combine. Если add написан вручную, там может быть что угодно - следующий слайд про это. Можно показать в SharpLab (sharplab.io), во что компилируется каждая строчка: это очень наглядно.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свойство - неизменяемость: handler += x не изменяет существующий объект, а создаёт новый и присваивает его. Отсюда потокобезопасный приём var temp = handler; temp?.Invoke(): копия не изменится, даже если другой поток отменит подписку. Пункт о −= понадобится при сравнении с Java: в C# выражение game.OnLeft каждый раз создаёт новый делегат, но делегаты сравниваются по содержимому (объект и метод), поэтому отписка работает. Порядок вызова совпадает с порядком подписки, однако полагаться на него не следует: отправитель события не знает, кто на него подписан.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слова add и remove - полный аналог get и set у свойства. Классический пример из книги Рихтера и из WinForms: у класса Control около сотни событий, а на форме могут быть сотни элементов управления; хранить отдельное поле для каждого события расточительно, поэтому все подписки хранятся в одном EventHandlerList, а ключом служит статический объект, свой для каждого события. Пример перенаправления: public event Action Clicked { add =&gt; innerButton.Clicked += value; remove =&gt; innerButton.Clicked -= value; }. Важное следствие: если add и remove реализованы явно, компилятор не создаёт поле, поэтому внутри класса нельзя написать LeftPressed(this, e) - вызывать обработчики нужно через собственное хранилище.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подписка и отписка перехватываются ровно в тех точках, где они происходят: add получает добавляемый обработчик, remove получает удаляемый. Справа set получает уже готовую новую цепочку, и по ней нельзя понять, была ли это операция +=, -= или обычное присваивание. Кроме того, += для свойства состоит из трёх шагов: чтение через get, Delegate.Combine и запись через set; между ними значение может измениться. Предостережение: документация Microsoft не рекомендует переопределять виртуальные события, объявленные как поле (public virtual event Action MyEvent;), так как поведение подписки в таком случае трудно предсказать. Если переопределение необходимо, add и remove нужно явно перенаправлять в base, как на слайде. Стандартная альтернатива: невиртуальное событие и защищённый виртуальный метод protected virtual void OnMyEvent(), который наследник переопределяет.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Инкапсуляция вызова: событие базового класса нельзя вызвать даже из наследника, ошибка будет той же, CS0070. Поэтому в .NET принят шаблон protected virtual void OnMyEvent(EventArgs e): базовый класс сам решает, когда и как вызывать обработчики, а наследник может расширить это поведение, переопределив метод. Потокобезопасность: начиная с C# 4 компилятор генерирует add и remove для событий, объявленных как поле, через цикл с Interlocked.CompareExchange, поэтому одновременные подписки из разных потоков не теряются. Для свойства-делегата два потока могут одновременно прочитать старую цепочку через get, и одна из подписок будет потеряна при записи через set; lock внутри set этого не предотвращает, потому что чтение происходит до входа в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C++ делегатов нет, поэтому Qt расширяет язык с помощью генератора кода: moc (Meta-Object Compiler) обрабатывает заголовочные файлы с Q_OBJECT, signals и slots и генерирует C++-код с таблицами метаинформации. Начиная с Qt 5 функция connect принимает указатели на методы, и сигнатуры проверяются при компиляции; ранее использовались строковые макросы SIGNAL/SLOT с проверкой только во время выполнения. Преимущества стоит назвать: QueuedConnection позволяет безопасно вызвать слот в GUI-потоке из рабочего потока (в C# для этого нужен SynchronizationContext или Dispatcher), а при удалении объекта соединения разрываются автоматически (в C# неотменённая подписка приводит к утечке памяти). Главный недостаток по сравнению с event: в Qt 5 сигналы являются публичными методами, поэтому компилятор не гарантирует, что событие вызывает только его владелец.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Ближайший аналог событий C# в экосистеме Java - механизм событий Spring. Издатель получает ApplicationEventPublisher через внедрение зависимостей и публикует объект события; при запуске контейнера Spring находит все методы бинов с аннотацией @EventListener и группирует их по типу параметра. По сути это шина сообщений внутри приложения, а не событие конкретного объекта: подписаться на нажатие стрелки у определённого экземпляра EventLoop нельзя, подписка оформляется на тип LeftPressed от любого источника. Преимущества: слабая связность, асинхронная обработка через @Async, транзакционные события (@TransactionalEventListener). Недостаток: без Spring механизм недоступен, тогда как event в C# - часть языка и работает для любого объекта.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Ссылки на методы (game::onLeft) и лямбда-выражения появились в Java 8 и внешне похожи на C#. Однако за ними стоит объект, реализующий функциональный интерфейс, и у этого объекта нет содержательного equals: два вычисления game::onLeft, как правило, дают два разных объекта, и List.remove не находит первый. Корректный вариант: ArrowListener l = game::onLeft; loop.addLeft(l); ... loop.removeLeft(l). В C# делегаты сравниваются по паре Target и Method, поэтому −= game.OnLeft работает. Мультикаста в языке нет: java.beans.PropertyChangeSupport и EventListenerList из Swing - библиотечные реализации того же списка подписчиков.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сравнения. У Qt есть возможности, которых нет в C# без дополнительных средств: межпоточные соединения и автоматическая отписка при удалении объекта. Однако по главному критерию - событие объявлено средствами языка, доступно любому классу и может быть вызвано только владельцем - подход C# предпочтительнее. Можно также упомянуть JavaScript (addEventListener и removeEventListener - та же проблема с отпиской анонимной функции, что и в Java) и Kotlin (собственного механизма событий нет, обычно используются Flow или списки лямбда-выражений).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Синтаксис генериков (List of T, собственные генерик-методы и классы, ограничения where) студентам знаком. Сегодня - что такое генерики с точки зрения теории типов и как они взаимодействуют с наследованием. Теоретическая часть занимает около десяти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независимые оси: статическая/динамическая - когда проверяются типы; сильная/слабая - насколько язык позволяет неявные преобразования. Python динамический, но сильный; C - статический, но довольно слабый (указатели приводятся к произвольным типам). Парадокс Рассела: множество всех множеств, не содержащих себя, - содержит ли оно себя? Решение Рассела - теория типов, в которой множество и его элементы находятся на разных «уровнях». Отсюда и само слово «тип». Литература: Cardelli, Wegner, On understanding types, data abstraction, and polymorphism, 1985.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Классификация Карделли и Вегнера. Ad-hoc полиморфизм: набор типов заранее известен и конечен, а реализации могут быть совсем разными (Math.Abs для int и для double - разные методы). Пример 1 + 1.0 можно поддержать по-разному: перегрузить + четыре раза, перегрузить дважды и разрешить int → double, или вообще оставить только double + double. Универсальный полиморфизм применим к потенциально бесконечному множеству типов и исполняет один и тот же код. Подтипы - это наследование и принцип Лисков. Параметрический - функция с параметром-типом: id: T → T. Параметрический полиморфизм выразительнее: например, «возвращает тот же тип, что принял» через наследование не выразить - object Id(object x) теряет тип.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Язык - это несколько элементарных типов плюс конструкторы, из которых собираются сложные типы. Получается маленький «подъязык выражений над типами». На нём можно определить равенство. C# в основном использует равенство по имени: два record-а с одинаковыми полями - разные типы. Исключение - кортежи: (int, string) с любыми именами элементов - один и тот же тип ValueTuple of int, string. Пример с делегатом связывает с первой частью: Func of int, int и свой delegate F с той же сигнатурой несовместимы, потому что делегаты - классы и сравниваются по имени. Именно поэтому в библиотеке когда-то было много одинаковых несовместимых типов-делегатов, и появились Func и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теоретической части: генерик - не «класс с дыркой», а функция, которая принимает типы и возвращает тип. List сам по себе не тип - нельзя создать объект List без параметра. typeof(List с пустыми скобками) возвращает «открытый тип», это и есть функция до применения. List of int - закрытый тип, результат применения, и для CLR это полноценный отдельный тип со своим объектом Type и своими статическими полями. Отсюда ловушка: статическое поле в генерик-классе у каждого закрытого типа своё. В .NET для ссылочных параметров код генерируется один (как в Java), для value-типов - отдельный (как в C++), но, в отличие от Java, без стирания: тип T известен во время выполнения.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Отношение «быть подтипом» - частичный порядок: рефлексивно, транзитивно, антисимметрично. Но не полный: не любые два типа сравнимы. Cat и Dog - оба животные, но друг другу не подтипы; string и Animal вообще из разных ветвей. Стрелки на схеме идут от подтипа к надтипу, как в UML. Этот порядок нужен, чтобы задать главный вопрос следующего слайда: если на типах есть порядок, а генерик - функция над типами, то сохраняет ли эта функция порядок? То есть монотонна ли 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 же понятия в обозначениях спецификации Java (JLS, раздел 4.10). На предыдущем слайде порядок записывался как A ≤ B (A является подтипом B); в спецификации Java он записывается в обратную сторону: B :&gt; A. Нестрогий порядок :&gt; допускает равенство, строгий &gt; его исключает. Отношение строится из прямых надтипов (&gt;₁: например, непосредственный базовый класс или реализуемый интерфейс) замыканием по рефлексивности и транзитивности. Последний пункт связывает отношение с принципом Лисков: подтип можно подставить вместо надтипа, только если надтип не обещает больше, чем умеет подтип. Формула внизу подводит к главному вопросу следующих слайдов: при каких условиях из S :&gt; T следует X of S :&gt; X of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Формальное определение. Генерик - функция над типами, на типах есть частичный порядок. Функция ковариантна, если монотонна: сохраняет порядок. Контравариантна, если антимонотонна: переворачивает. Инвариантна - если результаты вообще не связаны. Массивы по смыслу должны быть инвариантными, но в C# и Java они ковариантны; этому посвящён отдельный слайд. Перед следующим слайдом стоит спросить аудиторию: можно ли передать List of Cat туда, где ожидается List of Animal?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Центральный пример темы. Интуитивно кажется, что если кошка - животное, то и список кошек - список животных. Пример показывает, что в этом случае система типов оказалась бы некорректной: через ссылку animals в тот же объект добавляется собака. Вывод: вариантность определяется тем, какие операции выполняются над объектом - чтение или запись. Это и формулирует правило PECS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Мнемоника PECS предложена Джошуа Блохом для wildcard-типов Java, но применима к любому языку. Producer производит значения типа T, из него читают; вместо него можно подставить производителя более конкретного типа: источник кошек подходит туда, где ожидается источник животных. Consumer потребляет значения, в него записывают; вместо него можно подставить потребителя более общего типа: ветеринар для любых животных подходит туда, где нужен ветеринар для кошек. Ключевые слова C# out и in выражают то же самое: T только возвращается или только принимается. Наглядная аналогия: приют (выдаёт животных), ветеринар (принимает), вольер (и принимает, и выдаёт - инвариантен).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слайда: при ковариантности поведение уже определено внутри метода (PrintAll только читает), и вызывающий код подстраивается под него, передавая производителя более конкретного типа.Из IEnumerable элементы только читаются, поэтому код, работающий с животными, корректно работает и с кошками. Важно разделить два шага: List of Cat приводится к IEnumerable of Cat потому, что класс реализует интерфейс (вариантность здесь не участвует), а IEnumerable of Cat приводится к IEnumerable of Animal благодаря ковариантности. Инвариантность List проявилась бы, если бы метод принимал List of Animal: тогда этот вызов не скомпилировался бы. Практический вывод для студентов: параметры методов стоит объявлять самым общим подходящим интерфейсом. Если бы PrintAll принимал List of Animal, передать список кошек было бы нельзя. Другие ковариантные типы из BCL: IReadOnlyList of out T, IReadOnlyCollection of out T, Func of out TResult, IQueryable of out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слайда: при контравариантности поведение передаёт вызывающий код (компаратор, обработчик, Action), а метод будет его вызывать со своими значениями. Задача - передать поведение, безопасное для этих значений: обработчик более общего типа это гарантирует.Направление переворачивается: Cat ≤ Animal, но IComparer of Animal ≤ IComparer of Cat. Объект с более общей функциональностью (работает с любыми животными) подходит туда, где требуется более узкая (только кошки). Ещё примеры контравариантности из BCL: Action of in T, IEqualityComparer of in T, Predicate of in T. Самый короткий пример на доске: Action of object print = o =&gt; Console.WriteLine(o); Action of string printString = print; - кто печатает любой объект, напечатает и строку.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Иллюстрация из ответа на Stack Overflow. Левая половина: иерархия «источник энергии &gt; овощ &gt; бамбук», и для потребителей порядок переворачивается: потребитель всего, что горит, может заменить потребителя бамбука. Это контравариантность (in, ? super). Правая половина: «развлечения &gt; музыка &gt; метал», и порядок производителей совпадает с порядком типов: производитель метала может заменить производителя музыки. Это ковариантность (out, ? extends). Ссылку на тред стоит дать студентам для самостоятельного чтения.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Declaration-site variance: автор типа один раз решает, как тип ведёт себя относительно наследования, и пишет это в объявлении. Пользователям типа ничего указывать не нужно - преобразования выполняются автоматически. Func of in T, out TResult: контравариантен по аргументу, ковариантен по результату; поэтому Func of object, string подходит туда, где ждут Func of string, object. Здесь же ответ на вопрос из прошлой лекции, почему Func и Action не работают с ref и out параметрами: такой параметр и входит, и выходит, значит может быть только инвариантным. Ограничение на ссылочные типы: вариантное преобразование - это переиспользование того же объекта без копирования, а int и ссылка на object в памяти устроены по-разному. CS1961 - Invalid variance: T must be contravariantly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Java нет in и out в объявлении классов и интерфейсов. Вместо этого вариантность указывают каждый раз, когда тип используется, через wildcard: ? extends T - «какой-то подтип T», из такого списка можно читать как T, но нельзя писать (компилятор не знает, какой именно подтип там); ? super T - «какой-то надтип T», в него можно писать T, а читать только как Object. Collections.copy - каноничный пример PECS: dest - потребитель (super), src - производитель (extends). Плюс подхода: один и тот же изменяемый List можно использовать и ковариантно, и контравариантно, в зависимости от метода. Минус: wildcards в каждой сигнатуре, и пользователь API должен о них помнить; сигнатуры стандартной библиотеки становятся трудночитаемыми (посмотрите на Collections.max).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Kotlin сочетает оба подхода. Declaration-site: out и in можно писать прямо в объявлении классов и интерфейсов, причём, в отличие от C#, и у классов тоже. Поэтому стандартный read-only List в Kotlin объявлен как List of out E и ковариантен, а MutableList of E инвариантен - разделение по PECS прямо в типах коллекций. Use-site: для типов, объявленных инвариантными (Array, MutableList), можно на месте сказать Array of out Any («только читаю») или Array of in String («только пишу») - это аналог Java-шных ? extends и ? super. Есть ещё star-projection Array of * - аналог Java-шного ?. Примеры copy и fill взяты из документации Kotlin.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ровно тот сценарий, от которого инвариантность защищает List of T, только проверка перенесена в среду выполнения. Поэтому при каждой записи в массив ссылочного типа CLR проверяет совместимость типа элемента, что немного замедляет запись. Ковариантность массивов появилась в Java до генериков: без неё нельзя было бы написать, например, общий метод сортировки Object[]. C# унаследовал это поведение. В Kotlin массивы инвариантны, а для случаев «только чтение» используется проекция Array of out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блока о вариантности. В C# вариантность объявляет автор интерфейса или делегата, и пользователю ничего указывать не нужно; ограничение - классы всегда инвариантны. В Java тип инвариантен, а вариантность выбирается в сигнатуре каждого метода через wildcard: гибко, но многословно. Kotlin поддерживает оба механизма и разделяет коллекции на List (только чтение, ковариантен) и MutableList (инвариантен) - это прямое применение PECS в стандартной библиотеке.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LINQ объединяет обе предыдущие темы: это набор генерик-методов-расширений, принимающих делегаты. Сначала рассматриваем использование LINQ, затем - как он устроен внутри: yield return, IQueryable и деревья выражений.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LINQ (Language-Integrated Query) появился в C# 3.0 и .NET Framework 3.5 в 2007 году. Изначальная цель - писать запросы к базам данных не строками SQL, а кодом, который проверяет компилятор. Для обычных коллекций используется LINQ to Objects, пространство имён System.Linq. Ближайший аналог в Java - Stream API, в Kotlin - функции-расширения коллекций и Sequence. Стоит обратить внимание: в варианте с LINQ отсутствует изменяемое состояние, и порядок операций читается сверху вниз.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слайд, связывающий части лекции: LINQ не является отдельным механизмом языка, это обычные статические генерик-методы класса Enumerable, принимающие делегаты. Модификатор this перед первым параметром делает метод методом-расширением: его можно вызывать через точку у любого IEnumerable of T, хотя сам интерфейс IEnumerable этих методов не содержит. Метод-расширение должен быть объявлен в статическом классе, и его видимость определяется директивой using. Если удалить using System.Linq, методы Where и Select у списка «исчезнут».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Обзорный слайд, подробно разбирать каждый метод не требуется: примеры следуют далее. Полезно отметить соответствие с функциональным программированием: Where - это filter, Select - map, Aggregate - fold (или reduce), SelectMany - flatMap. Это пригодится в домашнем задании про Map, Filter и Fold. Методы с суффиксом By (DistinctBy, MinBy, MaxBy и другие) появились в .NET 6 и принимают функцию-ключ.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данные используются во всех примерах и в практической задаче. У Егора намеренно нет оценок: на нём проверяются соединения и поиск студентов без оценок. Коллекции заданы через collection expressions (C# 12): квадратные скобки вместо new List with initializer.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MaxBy возвращает первый из элементов с максимальным ключом, поэтому из Анны и Веры с оценкой 5 будет выбрана Анна. Средний балл: сумма оценок 30, количество 7, результат около 4,29. Стоит обратить внимание, что переменные b42 и csharp - ещё не результаты, а описания запросов; они будут выполнены только при обходе. Подробнее - на слайде об отложенном исполнении.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GroupBy возвращает последовательность групп IGrouping of TKey, TElement: у каждой группы есть свойство Key, и сама группа является последовательностью элементов. Join - внутреннее соединение: студенты без оценок в результат не попадают. Для внешнего соединения используется GroupJoin. ExceptBy (начиная с .NET 6) возвращает элементы первой коллекции, ключи которых отсутствуют во второй; внутри он строит HashSet, поэтому работает за линейное время. Альтернатива students.Where(s =&gt; !grades.Any(g =&gt; g.StudentName == s.Name)) даёт тот же результат за квадратичное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Aggregate с начальным значением - это ровно функция Fold из домашнего задания: аккумулятор, начальное значение и функция, которая по аккумулятору и очередному элементу вычисляет новый аккумулятор. ToDictionary бросает исключение при повторяющемся ключе, ToLookup допускает несколько элементов с одним ключом и возвращает для отсутствующего ключа пустую последовательность. Методы To… выполняются немедленно: это мостик к следующему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показом вывода стоит попросить студентов предсказать результат. Типичный ответ: «проверка» напечатается трижды до Add, затем дважды выведется 2. Фактически до первого Count не выполняется ничего, запрос видит добавленную четвёрку (результат 3), а каждый вызов Count повторно проходит по источнику и вызывает лямбда-выражение для всех элементов. Практический вывод: если результат запроса используется несколько раз или источник может измениться, результат следует материализовать через ToList или ToArray. Особенно это важно, когда запрос обращается к базе данных: повторный обход означает повторный запрос.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Отложенный запрос можно представлять как перечислитель, надетый на исходную последовательность. Потоковые операции (Where, Select) обрабатывают элементы по одному и могут работать с бесконечными последовательностями. Непотоковые (OrderBy, GroupBy) при первом же MoveNext вынуждены прочитать весь источник - на бесконечной последовательности они не завершатся. Пример с замыканием связывает LINQ с первой частью лекции: лямбда-выражение захватывает переменную min по ссылке, поэтому при выполнении используется её текущее значение.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Синтаксис запросов похож на SQL, но порядок другой: from идёт первым, чтобы IDE могла подсказывать члены переменной диапазона s. Любой запрос можно записать в форме методов, обратное неверно: у Take, Skip, Count, First и многих других методов нет ключевых слов. Компилятор не требует, чтобы источник реализовывал IEnumerable: достаточно, чтобы у него были методы Where, Select и т. д. с нужными сигнатурами (query expression pattern). На этом, например, основаны провайдеры для собственных типов.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… by … into сохраняет результат группировки в новую переменную диапазона, после чего запрос продолжается над группами. В join используется ключевое слово equals, а не ==: это подчёркивает, что слева ключ первой последовательности, а справа - второй. let вводит промежуточную переменную; компилятор реализует это через Select в анонимный тип, хранящий исходный элемент и новое значение. Два from подряд транслируются в SelectMany.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вопрос, откуда берётся отложенное исполнение: методы LINQ to Objects реализованы через итераторы. Без yield пришлось бы вручную писать класс-перечислитель с полями Current и состоянием и методом MoveNext, как в лекции о коллекциях. Компилятор генерирует такой класс автоматически: локальные переменные метода становятся его полями, а номер текущей позиции хранится в поле состояния. Можно показать сгенерированный код в SharpLab.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yield break завершает последовательность: MoveNext возвращает false. Порядок проверок в MyTake важен: если проверять счётчик в начале цикла, метод запросит у источника лишний (n+1)-й элемент; для дорогих источников это лишние вычисления. Ещё одна тонкость итераторов: проверка аргументов внутри метода с yield тоже откладывается до первого MoveNext. Поэтому в стандартной библиотеке используется схема «внешний метод проверяет аргументы и возвращает результат локальной функции-итератора». Это хороший материал для домашнего задания с ленивыми GetPrimes, Take и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Внешне вызовы совпадают, но выбирается разный метод: Queryable.Where для IQueryable и Enumerable.Where для IEnumerable. Ключевая разница - тип параметра: Func - это скомпилированный код, его нельзя разобрать; Expression of Func - описание кода в виде дерева объектов, которое провайдер может проанализировать и перевести на другой язык. IQueryable of T наследует IEnumerable of T и дополнительно хранит три свойства: Expression (дерево запроса), ElementType и Provider. Типичная ошибка производительности - приведение IQueryable к IEnumerable до фильтрации: фильтр перестаёт попадать в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Одно и то же лямбда-выражение компилятор превращает либо в делегат, либо в дерево выражений - в зависимости от типа переменной, которой оно присваивается. Справа показано дерево для x =&gt; x * 2 + 1: корень - LambdaExpression с параметром x, тело - BinaryExpression сложения, левый операнд которого - умножение параметра на константу 2. Метод Compile генерирует из дерева исполняемый код, поэтому дерево можно и проанализировать, и выполнить. Деревья выражений поддерживают только лямбда-выражения с телом-выражением: лямбду с блоком инструкций в фигурных скобках в Expression преобразовать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Минимальный пример того, что делает LINQ-провайдер: рекурсивный обход дерева с сопоставлением с образцом по типам узлов. Тело фильтра - BinaryExpression с типом AndAlso, его операнды - сравнения GreaterThan и Equal, листья - MemberExpression (обращение к свойству s.Age) и ConstantExpression. Ограничение примера: если в условии используется локальная переменная, например s.Age &gt; minAge, она попадает в дерево как MemberExpression над объектом замыкания, и функция выведет имя поля вместо значения. Настоящие провайдеры вычисляют такие поддеревья заранее. В стандартной библиотеке для обхода деревьев предназначен базовый класс ExpressionVisitor.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собственного провайдера нужно реализовать два интерфейса: IQueryable of T (хранит Expression, ElementType и ссылку на Provider) и IQueryProvider. Методы класса Queryable сами ничего не фильтруют: каждый из них вызывает Provider.CreateQuery с деревом, в которое добавлен узел вызова соответствующего метода. Когда результат запрашивается (foreach, ToList, Count), вызывается Provider.Execute, и провайдер обходит накопленное дерево, как в примере с ToSql на предыдущем слайде. Реализация полноценного провайдера трудоёмка; для изучения подходит серия статей Matt Warren «Building an IQueryable Provider».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задач рассчитан примерно на 50 минут. Задача 1 как разминка, около 5 минут. Задача 2 основная, на неё стоит отвести 20 минут. Задачи 3 и 4 около 10 минут вместе. Задача 5 на вариантность около 5 минут. Задачи 6 и 7 дополнительные: их стоит разобрать, если останется время, или дать на дом. Задачи на вывод удобно решать всей группой: показать код, собрать варианты ответов, затем открыть ответ. Map, Filter и Fold вынесены в домашнее задание.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14, 9, 6. Sum и Max - немедленные операции, и каждая из них заново проходит по отложенному запросу, поэтому лямбда-выражение вызывается 3 раза для Sum и ещё 3 раза для Max. Обычный ответ студентов: calls = 3. Исправление: материализовать результат один раз, var squares = ....ToList(); тогда calls будет равно 3. Вывод: отложенный запрос - это описание вычисления, и каждая немедленная операция выполняет его заново; для дорогих источников (база данных, файл, сеть) это означает повторные обращения.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Ответы. 1: students.Where(s =&gt; s.Age &gt; 18).OrderByDescending(s =&gt; s.Age).Select(s =&gt; s.Name.ToUpper()) - БОРИС, ДИНА, АННА, ГЛЕБ. 2: students.GroupJoin(grades, s =&gt; s.Name, g =&gt; g.StudentName, (s, gs) =&gt; new { s.Name, Count = gs.Count() }) - у Егора 0; обычный Join Егора бы потерял. 3: grades.GroupBy(g =&gt; g.Course).MaxBy(gr =&gt; gr.Average(g =&gt; g.Score))!.Key - Матан, 4,33. 4: grades.GroupBy(g =&gt; g.StudentName).Where(gr =&gt; gr.All(g =&gt; g.Score == 5)).Select(gr =&gt; gr.Key) - Вера; стоит обсудить, что Егор не попадает в результат, хотя All на пустой последовательности возвращает true. 5: группировка по студенту, средний балл, OrderByDescending, Take(3) - Вера 5, Анна 4,5, Глеб 4 (у Дины тоже 4, но сортировка устойчива). 6: students.GroupBy(s =&gt; s.Group).ToDictionary(g =&gt; g.Key, g =&gt; g.Count()) - по 2 студента. 7: Join с students, затем GroupBy по группе - 25.Б41: 4,0; 25.Б42: 4,67; 25.Б43: 4,0. 8: grades.GroupBy(g =&gt; g.Course).Where(gr =&gt; gr.All(g =&gt; g.Score &gt;= 4)).Select(gr =&gt; gr.Key) - Матан.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«запрос построен», 10, 15, затем DivideByZeroException в строке с Count. Деление на ноль не происходит при построении запроса: Select ничего не вычисляет. First вычисляет только первый элемент (10 / 1 = 10). Take(2).Sum() вычисляет только два элемента (10 + 5 = 15) и до нуля не доходит. Count проходит по всей последовательности и вызывает лямбда-выражение для каждого элемента, поэтому на третьем элементе возникает исключение. Вывод: ошибка в лямбда-выражении проявляется не там, где написан запрос, а там, где он выполняется; в стеке вызовов исключение будет указывать на Count. Тонкость для сильной группы: количество элементов списка известно и без вызова лямбда-выражений, но реализация .NET намеренно выполняет селектор при Count, чтобы сохранить побочные эффекты.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w1 w2 w3 w4 s4 [40] w5 s5 [50]. Разбор по пунктам. До foreach ничего не печатается: запрос отложен. Фильтр использует limit = 3, а не 2: лямбда-выражение захватило переменную, а не её значение, поэтому тройка не проходит фильтр. Where и Select чередуются (w4 s4): операции потоковые, каждый элемент проходит всю цепочку, прежде чем запрашивается следующий. Take(2) после второго элемента прекращает обход, поэтому шестёрка, добавленная после построения запроса, хотя и видна запросу, не проверяется: w6 не печатается. Задача хорошо подводит к домашнему заданию с ленивыми Take и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Ответы. 1: компилируется, IEnumerable ковариантен (out T): из него только читают, а любая строка является объектом. 2: ошибка, List of T является классом, а классы в C# инвариантны; иначе через b можно было бы добавить в список строк число. 3: компилируется, Action контравариантен (in T): обработчик любого объекта подходит и для строк. 4: ошибка, обработчик только строк нельзя использовать для произвольных объектов. Строки 1 и 2 проверяют ковариантность, строки 3 и 4 проверяют контравариантность. Для сильной группы можно добавить устно: IEnumerable of object c = new List of int() не компилируется, потому что вариантность не применяется к типам-значениям; object[] h = new string[3] компилируется, потому что массивы ковариантны.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w5 w3 w8 w1 [3] [5] [8]. В отличие от задачи 4, где Where и Select чередовались, OrderBy является отложенной непотоковой операцией: чтобы выдать первый элемент, она должна прочитать весь источник. Поэтому сначала Where проходит по всем четырём числам, и только после этого начинается выдача элементов. Стоит заметить: на бесконечной последовательности такой запрос никогда не выдаст ни одного элемента.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первая строка 4, 8; вторая строка 6. Задача объединяет отложенное исполнение и замыкания из первой части лекции. В цикле for переменная i одна на весь цикл, и оба лямбда-выражения захватывают именно её. Запрос выполняется в string.Join, когда цикл уже завершился и i равно 4, поэтому оба фильтра проверяют делимость на 4. В foreach начиная с C# 5 переменная d создаётся заново на каждой итерации, поэтому фильтры захватывают 2 и 3, и результат - числа, делящиеся на 6. Исправление для for: копировать счётчик в локальную переменную внутри тела цикла, var divisor =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Короткое подведение итогов: по одной главной мысли на каждую часть. Если остаётся время, стоит ещё раз показать, как три части связаны: лямбда-выражение из первой части, генерик-метод из второй и метод-расширение образуют вызов students.Where(s =&gt; s.Age &gt;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0077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24670"/>
            <a:ext cx="10566400" cy="432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0077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24670"/>
            <a:ext cx="10566400" cy="432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2723397/what-is-pecs-producer-extends-consumer-super/19739576#19739576" TargetMode="Externa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7F8FA"/>
              </a:gs>
              <a:gs pos="50000">
                <a:srgbClr val="F7F8FA"/>
              </a:gs>
              <a:gs pos="100000">
                <a:srgbClr val="DCEFE1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747000" y="1968500"/>
            <a:ext cx="3741166" cy="265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C9E2C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event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C9E2C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&lt;out T&gt;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C9E2C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yield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1397000"/>
            <a:ext cx="533400" cy="50800"/>
          </a:xfrm>
          <a:prstGeom prst="roundRect">
            <a:avLst>
              <a:gd name="adj" fmla="val 50000"/>
            </a:avLst>
          </a:prstGeom>
          <a:solidFill>
            <a:srgbClr val="1E7D3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651000"/>
            <a:ext cx="1054328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spc="2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 НА C#</a:t>
            </a:r>
            <a:endParaRPr lang="en-US" sz="17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1143000" y="2156460"/>
            <a:ext cx="10543286" cy="167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События,</a:t>
            </a:r>
            <a:endParaRPr lang="en-US" sz="6200" dirty="0"/>
          </a:p>
          <a:p>
            <a:pPr algn="l" indent="0" marL="0">
              <a:lnSpc>
                <a:spcPts val="6510"/>
              </a:lnSpc>
              <a:buNone/>
            </a:pPr>
            <a:r>
              <a:rPr lang="en-US" sz="6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генерики, LINQ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1143000" y="4013200"/>
            <a:ext cx="575564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слово event, вариантность и PECS, отложенное исполнение запросов, yield и деревья выражений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5176520"/>
            <a:ext cx="1054328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Юрий Уфимцев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поговорим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12240"/>
            <a:ext cx="5207000" cy="1912620"/>
          </a:xfrm>
          <a:prstGeom prst="roundRect">
            <a:avLst>
              <a:gd name="adj" fmla="val 5312"/>
            </a:avLst>
          </a:prstGeom>
          <a:solidFill>
            <a:srgbClr val="ECEFF3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666240"/>
            <a:ext cx="4839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6800" y="2118360"/>
            <a:ext cx="48399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и делегаты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481580"/>
            <a:ext cx="483997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слово event, add и remove, Delegate.Combine, события в Qt и Java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412240"/>
            <a:ext cx="5207000" cy="1912620"/>
          </a:xfrm>
          <a:prstGeom prst="roundRect">
            <a:avLst>
              <a:gd name="adj" fmla="val 5312"/>
            </a:avLst>
          </a:prstGeom>
          <a:solidFill>
            <a:srgbClr val="ECEFF3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1666240"/>
            <a:ext cx="4839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26200" y="2118360"/>
            <a:ext cx="48399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26200" y="2481580"/>
            <a:ext cx="483997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типов, вариантность и PECS в C#, Java и Kotlin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477260"/>
            <a:ext cx="5207000" cy="1912620"/>
          </a:xfrm>
          <a:prstGeom prst="roundRect">
            <a:avLst>
              <a:gd name="adj" fmla="val 5312"/>
            </a:avLst>
          </a:prstGeom>
          <a:solidFill>
            <a:srgbClr val="EC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3731260"/>
            <a:ext cx="4839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66800" y="4183380"/>
            <a:ext cx="48399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800" y="4546600"/>
            <a:ext cx="483997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Отложенное исполнение, yield, IQueryable, деревья выражений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477260"/>
            <a:ext cx="5207000" cy="1912620"/>
          </a:xfrm>
          <a:prstGeom prst="roundRect">
            <a:avLst>
              <a:gd name="adj" fmla="val 5312"/>
            </a:avLst>
          </a:prstGeom>
          <a:solidFill>
            <a:srgbClr val="ECEFF3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200" y="3731260"/>
            <a:ext cx="4839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26200" y="4183380"/>
            <a:ext cx="48399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6200" y="4546600"/>
            <a:ext cx="4839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Вариантность, запросы LINQ, вывод программ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66400" y="63398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0000">
                <a:srgbClr val="F7F8FA"/>
              </a:gs>
            </a:gsLst>
            <a:lin ang="1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476500"/>
            <a:ext cx="254279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719195" y="2921000"/>
            <a:ext cx="788980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и делегаты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719195" y="3634741"/>
            <a:ext cx="788980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слово event, аксессоры add и remove, события в Qt и Java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Вспомним про делегаты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1"/>
            <a:ext cx="10566400" cy="2395220"/>
          </a:xfrm>
          <a:prstGeom prst="roundRect">
            <a:avLst>
              <a:gd name="adj" fmla="val 4242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delegate void ArrowHandler();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ArrowHandler handler = game.OnLeft; 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 += logger.LeftPressed;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теперь в цепочке два метода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handler();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вызовутся оба, в порядке подписки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 left = game.OnLeft;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Console.WriteLine(left.Target);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game - у кого вызывать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Console.WriteLine(left.Method.Name);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OnLeft - что вызывать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4224655"/>
            <a:ext cx="3414157" cy="1544320"/>
          </a:xfrm>
          <a:prstGeom prst="roundRect">
            <a:avLst>
              <a:gd name="adj" fmla="val 637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4429761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1080" y="4752341"/>
            <a:ext cx="309406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Делегат можно положить в переменную, передать, вернуть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8882" y="4224655"/>
            <a:ext cx="3414236" cy="1544320"/>
          </a:xfrm>
          <a:prstGeom prst="roundRect">
            <a:avLst>
              <a:gd name="adj" fmla="val 637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3987" y="4429761"/>
            <a:ext cx="30941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Типобезопасность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3987" y="4752341"/>
            <a:ext cx="309414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Сигнатуру метода проверяет компилятор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61868" y="4224655"/>
            <a:ext cx="3414157" cy="1544320"/>
          </a:xfrm>
          <a:prstGeom prst="roundRect">
            <a:avLst>
              <a:gd name="adj" fmla="val 637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6974" y="4429761"/>
            <a:ext cx="309406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делегатов (delegate chaining)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66974" y="5011420"/>
            <a:ext cx="309406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 собирает цепочку, один вызов вызывает всех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66400" y="63398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Недостатки публичного делегата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1"/>
            <a:ext cx="5435600" cy="3279140"/>
          </a:xfrm>
          <a:prstGeom prst="roundRect">
            <a:avLst>
              <a:gd name="adj" fmla="val 3098"/>
            </a:avLst>
          </a:prstGeom>
          <a:solidFill>
            <a:srgbClr val="EEF1F5"/>
          </a:solidFill>
          <a:ln/>
        </p:spPr>
        <p:txBody>
          <a:bodyPr wrap="none" lIns="224242" tIns="173442" rIns="76414" bIns="148043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class EventLoop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public Action? LeftHandler { get; set;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+= game.OnLeft;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+= logger.LeftPressed;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= null;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все подписчики потеряны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loop.LeftHandler?.Invoke();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событие вызвано извне класса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54775" y="1626236"/>
            <a:ext cx="4921250" cy="1221740"/>
          </a:xfrm>
          <a:prstGeom prst="roundRect">
            <a:avLst>
              <a:gd name="adj" fmla="val 8056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34480" y="1805939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вместо +=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34480" y="2115821"/>
            <a:ext cx="469869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Присваивание вместо += удаляет всех подписчиков без предупреждения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54775" y="2981325"/>
            <a:ext cx="4921250" cy="945515"/>
          </a:xfrm>
          <a:prstGeom prst="roundRect">
            <a:avLst>
              <a:gd name="adj" fmla="val 1041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4480" y="3161032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извне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34480" y="3470911"/>
            <a:ext cx="469869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Событие может вызвать любой внешний код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54775" y="4060189"/>
            <a:ext cx="4921250" cy="1221740"/>
          </a:xfrm>
          <a:prstGeom prst="roundRect">
            <a:avLst>
              <a:gd name="adj" fmla="val 8056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4480" y="4239896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инкапсуляции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34480" y="4549775"/>
            <a:ext cx="469869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не контролирует собственный список подписчиков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66400" y="63398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делегата: () и ?.Invoke()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61"/>
            <a:ext cx="5207000" cy="1539240"/>
          </a:xfrm>
          <a:prstGeom prst="roundRect">
            <a:avLst>
              <a:gd name="adj" fmla="val 6601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61"/>
            <a:ext cx="5207000" cy="1539240"/>
          </a:xfrm>
          <a:custGeom>
            <a:avLst/>
            <a:gdLst/>
            <a:ahLst/>
            <a:cxnLst/>
            <a:rect l="l" t="t" r="r" b="b"/>
            <a:pathLst>
              <a:path w="5207000" h="1539240">
                <a:moveTo>
                  <a:pt x="101600" y="1539240"/>
                </a:moveTo>
                <a:lnTo>
                  <a:pt x="101600" y="15392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37640"/>
                </a:lnTo>
                <a:arcTo hR="101600" wR="63500" stAng="10800000" swAng="-5400000"/>
                <a:close/>
              </a:path>
            </a:pathLst>
          </a:custGeom>
          <a:solidFill>
            <a:srgbClr val="B4541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26261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вызов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174239"/>
            <a:ext cx="4765040" cy="695960"/>
          </a:xfrm>
          <a:prstGeom prst="roundRect">
            <a:avLst>
              <a:gd name="adj" fmla="val 10949"/>
            </a:avLst>
          </a:prstGeom>
          <a:solidFill>
            <a:srgbClr val="F7F8FA"/>
          </a:solidFill>
          <a:ln/>
        </p:spPr>
        <p:txBody>
          <a:bodyPr wrap="none" lIns="155482" tIns="104682" rIns="23199" bIns="7928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Action? handler = null;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handler();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NullReferenceException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23061"/>
            <a:ext cx="5207000" cy="1539240"/>
          </a:xfrm>
          <a:prstGeom prst="roundRect">
            <a:avLst>
              <a:gd name="adj" fmla="val 6601"/>
            </a:avLst>
          </a:prstGeom>
          <a:solidFill>
            <a:srgbClr val="ECEFF3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623061"/>
            <a:ext cx="5207000" cy="1539240"/>
          </a:xfrm>
          <a:custGeom>
            <a:avLst/>
            <a:gdLst/>
            <a:ahLst/>
            <a:cxnLst/>
            <a:rect l="l" t="t" r="r" b="b"/>
            <a:pathLst>
              <a:path w="5207000" h="1539240">
                <a:moveTo>
                  <a:pt x="101600" y="1539240"/>
                </a:moveTo>
                <a:lnTo>
                  <a:pt x="101600" y="15392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37640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0" name="Text 8"/>
          <p:cNvSpPr/>
          <p:nvPr/>
        </p:nvSpPr>
        <p:spPr>
          <a:xfrm>
            <a:off x="6410960" y="1826261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Безопасный вызов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10960" y="2174239"/>
            <a:ext cx="4765040" cy="695960"/>
          </a:xfrm>
          <a:prstGeom prst="roundRect">
            <a:avLst>
              <a:gd name="adj" fmla="val 10949"/>
            </a:avLst>
          </a:prstGeom>
          <a:solidFill>
            <a:srgbClr val="F7F8FA"/>
          </a:solidFill>
          <a:ln/>
        </p:spPr>
        <p:txBody>
          <a:bodyPr wrap="none" lIns="155481" tIns="104682" rIns="23199" bIns="7928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Action? handler = null;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handler?.Invoke();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ничего не происходит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365500"/>
            <a:ext cx="10566400" cy="1005205"/>
          </a:xfrm>
          <a:prstGeom prst="roundRect">
            <a:avLst>
              <a:gd name="adj" fmla="val 10107"/>
            </a:avLst>
          </a:prstGeom>
          <a:solidFill>
            <a:srgbClr val="ECEFF3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568700"/>
            <a:ext cx="104648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if (handler != null) handler()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6000" y="3891282"/>
            <a:ext cx="104648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атомарно, нужен lock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66400" y="63398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слово event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1"/>
            <a:ext cx="5036026" cy="2616200"/>
          </a:xfrm>
          <a:prstGeom prst="roundRect">
            <a:avLst>
              <a:gd name="adj" fmla="val 3883"/>
            </a:avLst>
          </a:prstGeom>
          <a:solidFill>
            <a:srgbClr val="EEF1F5"/>
          </a:solidFill>
          <a:ln/>
        </p:spPr>
        <p:txBody>
          <a:bodyPr wrap="none" lIns="224242" tIns="173442" rIns="88402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class EventLoop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public event Action? LeftHandler;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public void Run()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внутри класса допустимо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LeftHandler?.Invoke();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52026" y="1623061"/>
            <a:ext cx="5327174" cy="1290320"/>
          </a:xfrm>
          <a:prstGeom prst="roundRect">
            <a:avLst>
              <a:gd name="adj" fmla="val 7874"/>
            </a:avLst>
          </a:prstGeom>
          <a:solidFill>
            <a:srgbClr val="EEF1F5"/>
          </a:solidFill>
          <a:ln/>
        </p:spPr>
        <p:txBody>
          <a:bodyPr wrap="none" lIns="224242" tIns="173442" rIns="79667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+= game.OnLeft;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-= game.OnLeft;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= null;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CS0070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loop.LeftHandler?.Invoke();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CS0070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55201" y="3068957"/>
            <a:ext cx="5320824" cy="1285240"/>
          </a:xfrm>
          <a:prstGeom prst="roundRect">
            <a:avLst>
              <a:gd name="adj" fmla="val 7658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0306" y="3274061"/>
            <a:ext cx="50579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компилятор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60306" y="3596639"/>
            <a:ext cx="505793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CS0070: вне объявившего класса событие допустимо только слева от += или −=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55201" y="4512946"/>
            <a:ext cx="5320824" cy="1285240"/>
          </a:xfrm>
          <a:prstGeom prst="roundRect">
            <a:avLst>
              <a:gd name="adj" fmla="val 7658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0306" y="4718050"/>
            <a:ext cx="50579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Наследникам вызов недоступен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60306" y="5040632"/>
            <a:ext cx="505793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принято объявлять protected virtual void OnLeftPressed(...)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66400" y="63398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что компилятор превращает event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Исходный код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91361"/>
            <a:ext cx="10566400" cy="576580"/>
          </a:xfrm>
          <a:prstGeom prst="roundRect">
            <a:avLst>
              <a:gd name="adj" fmla="val 17621"/>
            </a:avLst>
          </a:prstGeom>
          <a:solidFill>
            <a:srgbClr val="EEF1F5"/>
          </a:solidFill>
          <a:ln/>
        </p:spPr>
        <p:txBody>
          <a:bodyPr wrap="none" lIns="224242" tIns="148042" rIns="0" bIns="1226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event Action? LeftHandler;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77113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генерирует компилятор (упрощённо)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139439"/>
            <a:ext cx="10566400" cy="1902460"/>
          </a:xfrm>
          <a:prstGeom prst="roundRect">
            <a:avLst>
              <a:gd name="adj" fmla="val 5340"/>
            </a:avLst>
          </a:prstGeom>
          <a:solidFill>
            <a:srgbClr val="EEF1F5"/>
          </a:solidFill>
          <a:ln/>
        </p:spPr>
        <p:txBody>
          <a:bodyPr wrap="none" lIns="224242" tIns="148042" rIns="0" bIns="1226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 Action? leftHandler;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скрытое поле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void add_LeftHandler(Action? value)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=&gt; leftHandler = (Action?)Delegate.Combine(leftHandler, value);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void remove_LeftHandler(Action? value)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=&gt; leftHandler = (Action?)Delegate.Remove(leftHandler, value);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5245100"/>
            <a:ext cx="10883392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 свойства: скрытое поле и пара методов. Оператор += вне класса вызывает add_LeftHandler, оператор −= вызывает remove_LeftHandler.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 и −= вызывают Delegate.Combine и Delegate.Remove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4"/>
            <a:ext cx="10566400" cy="3721100"/>
          </a:xfrm>
          <a:prstGeom prst="roundRect">
            <a:avLst>
              <a:gd name="adj" fmla="val 2730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DELEGATE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Action? handler = null;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 += game.OnLeft;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компилируется в: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 = (Action?)Delegate.Combine(handler, game.OnLeft);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 -= game.OnLeft;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компилируется в: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handler = (Action?)Delegate.Remove(handler, game.OnLeft);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</a:t>
            </a:r>
            <a:r>
              <a:rPr lang="en-US" sz="1200" b="1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EVENT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+= и −= - вызовы add и remove: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loop.LeftHandler += game.OnLeft;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loop.add_LeftHandler(game.OnLeft)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внутри add - тот же Delegate.Combine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5547364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EVENT: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Delegate.Combine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Для простого delegate шаг с add пропускается.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ведёт себя цепочка делегатов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64"/>
            <a:ext cx="10566400" cy="3830320"/>
          </a:xfrm>
          <a:prstGeom prst="roundRect">
            <a:avLst>
              <a:gd name="adj" fmla="val 2653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64"/>
            <a:ext cx="10566400" cy="3830320"/>
          </a:xfrm>
          <a:custGeom>
            <a:avLst/>
            <a:gdLst/>
            <a:ahLst/>
            <a:cxnLst/>
            <a:rect l="l" t="t" r="r" b="b"/>
            <a:pathLst>
              <a:path w="10566400" h="3830320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3728720"/>
                </a:lnTo>
                <a:arcTo hR="101600" wR="101600" stAng="0" swAng="5400000"/>
                <a:lnTo>
                  <a:pt x="101600" y="3830320"/>
                </a:lnTo>
                <a:arcTo hR="101600" wR="101600" stAng="5400000" swAng="5400000"/>
                <a:lnTo>
                  <a:pt x="0" y="3728720"/>
                </a:lnTo>
                <a:arcTo hR="95250" wR="101600" stAng="10800000" swAng="-5400000"/>
                <a:lnTo>
                  <a:pt x="10464800" y="3823970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623064"/>
            <a:ext cx="10566400" cy="3830320"/>
          </a:xfrm>
          <a:custGeom>
            <a:avLst/>
            <a:gdLst/>
            <a:ahLst/>
            <a:cxnLst/>
            <a:rect l="l" t="t" r="r" b="b"/>
            <a:pathLst>
              <a:path w="10566400" h="3830320">
                <a:moveTo>
                  <a:pt x="101600" y="3830320"/>
                </a:moveTo>
                <a:lnTo>
                  <a:pt x="101600" y="383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3728720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3224"/>
          <a:ext cx="10551160" cy="3815080"/>
        </p:xfrm>
        <a:graphic>
          <a:graphicData uri="http://schemas.openxmlformats.org/drawingml/2006/table">
            <a:tbl>
              <a:tblPr/>
              <a:tblGrid>
                <a:gridCol w="3587394"/>
                <a:gridCol w="6963766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Ситуация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происходит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и Remove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Делегаты неизменяемы: каждая операция создаёт новый объект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Повторная подписка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 будет вызван дважды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Удаляет последнее вхождение; если метода нет, цепочка не меняется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Удаление последнего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 - null, поэтому вызов выполняется через ?.Invoke()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−= game.OnLeft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Делегаты сравниваются по паре Target и Method, поэтому новый делегат находит ранее добавленный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Цепочка с результатом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Возвращается результат последнего делегата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Исключение в обработчике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Остальные обработчики не вызываются; решение - GetInvocationList() и try/catch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и remove вручную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4"/>
            <a:ext cx="6340634" cy="3058160"/>
          </a:xfrm>
          <a:prstGeom prst="roundRect">
            <a:avLst>
              <a:gd name="adj" fmla="val 3322"/>
            </a:avLst>
          </a:prstGeom>
          <a:solidFill>
            <a:srgbClr val="EEF1F5"/>
          </a:solidFill>
          <a:ln/>
        </p:spPr>
        <p:txBody>
          <a:bodyPr wrap="none" lIns="224242" tIns="173442" rIns="49263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System.ComponentModel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 readonly EventHandlerList events = new();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 static readonly object LeftKey = new();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event EventHandler LeftPressed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 =&gt; events.AddHandler(LeftKey, value);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remove =&gt; events.RemoveHandler(LeftKey, value);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protected virtual void OnLeftPressed(EventArgs 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=&gt; (events[LeftKey] as EventHandler)?.Invoke(this, e);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56634" y="1623064"/>
            <a:ext cx="41432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40454" y="2009142"/>
            <a:ext cx="4051803" cy="2511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Разреженное хранение: у элемента управления WinForms десятки событий, но подписки есть у немногих - один словарь вместо десятков полей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Перенаправление подписки во вложенный объект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и журналирование при подписке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Слабые подписки (weak events)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56634" y="4596767"/>
            <a:ext cx="414324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Скрытое поле не создаётся: вызвать LeftPressed(...) напрямую нельзя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Переопределение в наследнике: событие и делегат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4"/>
            <a:ext cx="53370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Событие: add и remove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009142"/>
            <a:ext cx="5181600" cy="3500120"/>
          </a:xfrm>
          <a:prstGeom prst="roundRect">
            <a:avLst>
              <a:gd name="adj" fmla="val 2903"/>
            </a:avLst>
          </a:prstGeom>
          <a:solidFill>
            <a:srgbClr val="EEF1F5"/>
          </a:solidFill>
          <a:ln/>
        </p:spPr>
        <p:txBody>
          <a:bodyPr wrap="none" lIns="198842" tIns="173442" rIns="57110" bIns="1734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override event Action? MyEvent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add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Console.WriteLine("Лог подписки");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base.MyEvent += value;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remove =&gt; base.MyEvent -= value;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obj.MyEvent += h;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вызывается только add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97600" y="1623064"/>
            <a:ext cx="53370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Свойство-делегат: get и 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7600" y="2009142"/>
            <a:ext cx="5181600" cy="3500120"/>
          </a:xfrm>
          <a:prstGeom prst="roundRect">
            <a:avLst>
              <a:gd name="adj" fmla="val 2903"/>
            </a:avLst>
          </a:prstGeom>
          <a:solidFill>
            <a:srgbClr val="EEF1F5"/>
          </a:solidFill>
          <a:ln/>
        </p:spPr>
        <p:txBody>
          <a:bodyPr wrap="none" lIns="198842" tIns="173442" rIns="5711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override Action? MyDelegate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get =&gt; base.MyDelegate;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Console.WriteLine("Лог изменения");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base.MyDelegate = value;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obj.MyDelegate += h;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компилятор разворачивает в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obj.MyDelegate = obj.MyDelegate + h;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вызываются и get, и 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 add и remove перед get и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64"/>
            <a:ext cx="10566400" cy="3066415"/>
          </a:xfrm>
          <a:prstGeom prst="roundRect">
            <a:avLst>
              <a:gd name="adj" fmla="val 3313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64"/>
            <a:ext cx="10566400" cy="3066415"/>
          </a:xfrm>
          <a:custGeom>
            <a:avLst/>
            <a:gdLst/>
            <a:ahLst/>
            <a:cxnLst/>
            <a:rect l="l" t="t" r="r" b="b"/>
            <a:pathLst>
              <a:path w="10566400" h="3066415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2964815"/>
                </a:lnTo>
                <a:arcTo hR="101600" wR="101600" stAng="0" swAng="5400000"/>
                <a:lnTo>
                  <a:pt x="101600" y="3066415"/>
                </a:lnTo>
                <a:arcTo hR="101600" wR="101600" stAng="5400000" swAng="5400000"/>
                <a:lnTo>
                  <a:pt x="0" y="2964815"/>
                </a:lnTo>
                <a:arcTo hR="95250" wR="101600" stAng="10800000" swAng="-5400000"/>
                <a:lnTo>
                  <a:pt x="10464800" y="3060065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623064"/>
            <a:ext cx="10566400" cy="3066415"/>
          </a:xfrm>
          <a:custGeom>
            <a:avLst/>
            <a:gdLst/>
            <a:ahLst/>
            <a:cxnLst/>
            <a:rect l="l" t="t" r="r" b="b"/>
            <a:pathLst>
              <a:path w="10566400" h="3066415">
                <a:moveTo>
                  <a:pt x="101600" y="3066415"/>
                </a:moveTo>
                <a:lnTo>
                  <a:pt x="101600" y="30664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2964815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3224"/>
          <a:ext cx="10551160" cy="3051175"/>
        </p:xfrm>
        <a:graphic>
          <a:graphicData uri="http://schemas.openxmlformats.org/drawingml/2006/table">
            <a:tbl>
              <a:tblPr/>
              <a:tblGrid>
                <a:gridCol w="2110232"/>
                <a:gridCol w="4220464"/>
                <a:gridCol w="4220464"/>
              </a:tblGrid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с add и remove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Свойство-делегат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85026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Инкапсуляция вызова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Вызвать событие может только объявивший его класс; наследник этого правила нарушить не может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Любой код, получивший делегат через get, может вызвать его в обход логики базового класса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Присваивание =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 класса запрещено (CS0070)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Разрешено и удаляет всех подписчиков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23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Перехват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и remove получают конкретный обработчик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получает готовую цепочку: неизвестно, была это подписка или отписка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26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Потоко­безопасность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Сгенерированные add и remove атомарны; при перенаправлении в base это сохраняется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+= состоит из get, Combine и set; lock только внутри set не помогает, блокировка должна охватывать всю операцию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ПЛАТФОРМЫ · C++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Qt: сигналы и слоты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4"/>
            <a:ext cx="5670233" cy="3721100"/>
          </a:xfrm>
          <a:prstGeom prst="roundRect">
            <a:avLst>
              <a:gd name="adj" fmla="val 2730"/>
            </a:avLst>
          </a:prstGeom>
          <a:solidFill>
            <a:srgbClr val="EEF1F5"/>
          </a:solidFill>
          <a:ln/>
        </p:spPr>
        <p:txBody>
          <a:bodyPr wrap="none" lIns="224242" tIns="173442" rIns="69375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EventLoop : public QObject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Q_OBJECT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signals: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leftPressed();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Game : public QObject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Q_OBJECT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slots: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onLeft();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connect(&amp;loop, &amp;EventLoop::leftPressed,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&amp;game, &amp;Game::onLeft);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emit loop.leftPressed();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89408" y="1626239"/>
            <a:ext cx="4686617" cy="1234440"/>
          </a:xfrm>
          <a:prstGeom prst="roundRect">
            <a:avLst>
              <a:gd name="adj" fmla="val 797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69113" y="1805942"/>
            <a:ext cx="445702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52933" y="2128521"/>
            <a:ext cx="43655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Слот выполняется в потоке получателя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Автоматический разрыв при удалении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89408" y="2994025"/>
            <a:ext cx="4686617" cy="1786890"/>
          </a:xfrm>
          <a:prstGeom prst="roundRect">
            <a:avLst>
              <a:gd name="adj" fmla="val 5508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69113" y="3173729"/>
            <a:ext cx="445702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Недостатки по сравнению с C#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52933" y="3496314"/>
            <a:ext cx="436558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Требуется генератор кода moc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наследники QObject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код может вызвать сигнал (в отличие от C# event)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ПЛАТФОРМЫ · JAVA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Spring: @EventListener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64"/>
            <a:ext cx="6078300" cy="3942080"/>
          </a:xfrm>
          <a:prstGeom prst="roundRect">
            <a:avLst>
              <a:gd name="adj" fmla="val 2577"/>
            </a:avLst>
          </a:prstGeom>
          <a:solidFill>
            <a:srgbClr val="EEF1F5"/>
          </a:solidFill>
          <a:ln/>
        </p:spPr>
        <p:txBody>
          <a:bodyPr wrap="none" lIns="224242" tIns="173442" rIns="57133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record LeftPressed() 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@Component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EventLoop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private final ApplicationEventPublisher pub;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EventLoop(ApplicationEventPublisher pub)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this.pub = pub;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onKey() { pub.publishEvent(new LeftPressed());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@Component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Game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@EventListener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onLeft(LeftPressed event) { /* ... */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97475" y="1626239"/>
            <a:ext cx="4278551" cy="1510665"/>
          </a:xfrm>
          <a:prstGeom prst="roundRect">
            <a:avLst>
              <a:gd name="adj" fmla="val 6515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77180" y="1805942"/>
            <a:ext cx="403671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61000" y="2128521"/>
            <a:ext cx="3945275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по типу события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подписчиков рефлексией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Издатель не знает подписчиков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97475" y="3270250"/>
            <a:ext cx="4278551" cy="1786890"/>
          </a:xfrm>
          <a:prstGeom prst="roundRect">
            <a:avLst>
              <a:gd name="adj" fmla="val 5508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77180" y="3449954"/>
            <a:ext cx="403671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Недостатки по сравнению с C#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61000" y="3772539"/>
            <a:ext cx="3945275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только для бинов Spring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Неявная связь издателя и подписчиков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Динамическая отписка не предусмотрена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ПЛАТФОРМЫ · JAVA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без фреймворков: список подписчиков вручную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6644243" cy="3058160"/>
          </a:xfrm>
          <a:prstGeom prst="roundRect">
            <a:avLst>
              <a:gd name="adj" fmla="val 3322"/>
            </a:avLst>
          </a:prstGeom>
          <a:solidFill>
            <a:srgbClr val="EEF1F5"/>
          </a:solidFill>
          <a:ln/>
        </p:spPr>
        <p:txBody>
          <a:bodyPr wrap="none" lIns="224242" tIns="173442" rIns="40155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ArrowListener { void onArrow();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EventLoop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private final List&lt;ArrowListener&gt; left = new ArrayList&lt;&gt;();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addLeft(ArrowListener l) { left.add(l);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removeLeft(ArrowListener l) { left.remove(l);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fireLeft() { for (var l : left) l.onArrow();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loop.addLeft(game::onLeft);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loop.addLeft(() -&gt; log.add("left"));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loop.removeLeft(game::onLeft);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подписка не удалится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63418" y="1626233"/>
            <a:ext cx="3712607" cy="1234440"/>
          </a:xfrm>
          <a:prstGeom prst="roundRect">
            <a:avLst>
              <a:gd name="adj" fmla="val 797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3124" y="1805942"/>
            <a:ext cx="345379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delegate chaining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43124" y="2128527"/>
            <a:ext cx="34537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события нужны свой список и три метода: add, remove, fire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63418" y="2994025"/>
            <a:ext cx="3712607" cy="1786890"/>
          </a:xfrm>
          <a:prstGeom prst="roundRect">
            <a:avLst>
              <a:gd name="adj" fmla="val 5508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3124" y="3173735"/>
            <a:ext cx="345379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отписки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43124" y="3496308"/>
            <a:ext cx="3453793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выражение game::onLeft создаёт новый объект без equals, поэтому ссылку на него нужно сохранить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ПЛАТФОРМЫ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подходов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58"/>
            <a:ext cx="10566400" cy="4076700"/>
          </a:xfrm>
          <a:prstGeom prst="roundRect">
            <a:avLst>
              <a:gd name="adj" fmla="val 2492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58"/>
            <a:ext cx="10566400" cy="4076700"/>
          </a:xfrm>
          <a:custGeom>
            <a:avLst/>
            <a:gdLst/>
            <a:ahLst/>
            <a:cxnLst/>
            <a:rect l="l" t="t" r="r" b="b"/>
            <a:pathLst>
              <a:path w="10566400" h="4076700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3975100"/>
                </a:lnTo>
                <a:arcTo hR="101600" wR="101600" stAng="0" swAng="5400000"/>
                <a:lnTo>
                  <a:pt x="101600" y="4076700"/>
                </a:lnTo>
                <a:arcTo hR="101600" wR="101600" stAng="5400000" swAng="5400000"/>
                <a:lnTo>
                  <a:pt x="0" y="3975100"/>
                </a:lnTo>
                <a:arcTo hR="95250" wR="101600" stAng="10800000" swAng="-5400000"/>
                <a:lnTo>
                  <a:pt x="10464800" y="4070350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623058"/>
            <a:ext cx="10566400" cy="4076700"/>
          </a:xfrm>
          <a:custGeom>
            <a:avLst/>
            <a:gdLst/>
            <a:ahLst/>
            <a:cxnLst/>
            <a:rect l="l" t="t" r="r" b="b"/>
            <a:pathLst>
              <a:path w="10566400" h="4076700">
                <a:moveTo>
                  <a:pt x="101600" y="4076700"/>
                </a:moveTo>
                <a:lnTo>
                  <a:pt x="101600" y="40767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3975100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3218"/>
          <a:ext cx="10551160" cy="4061460"/>
        </p:xfrm>
        <a:graphic>
          <a:graphicData uri="http://schemas.openxmlformats.org/drawingml/2006/table">
            <a:tbl>
              <a:tblPr/>
              <a:tblGrid>
                <a:gridCol w="2321255"/>
                <a:gridCol w="2110232"/>
                <a:gridCol w="2110232"/>
                <a:gridCol w="2004720"/>
                <a:gridCol w="2004720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 event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вручную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Реализация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Язык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Язык и генератор moc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Фреймворк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приложения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36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 может вызвать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объявивший класс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Любой код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Любой код с доступом к publisher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Зависит от реализации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+=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connect(...)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@EventListener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addXxx(...)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36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Отписка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−= с тем же методом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disconnect или автоматически при удалении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предусмотрена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по сохранённой ссылке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Несколько подписчиков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Встроено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Встроено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Встроено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Список вручную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0000">
                <a:srgbClr val="F7F8FA"/>
              </a:gs>
            </a:gsLst>
            <a:lin ang="1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476500"/>
            <a:ext cx="254279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719195" y="2921000"/>
            <a:ext cx="788980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719195" y="3634742"/>
            <a:ext cx="847280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типов, частичный порядок, PECS и вариантность в C#, Java и Kotlin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ТЕОРИЯ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задаёт интерпретацию данных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5033078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памяти хранится байт 0x41. Это число 65, символ A или часть машинной инструкции?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64742"/>
            <a:ext cx="503307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определяет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интерпретацию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значения и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допустимых операций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Система типов запрещает бессмысленные операции, например сложение числа с функцией.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695700"/>
            <a:ext cx="5033078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типов противоречивой оказывается даже математика: парадокс Рассела в наивной теории множеств.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07259" y="1626233"/>
            <a:ext cx="2617708" cy="1497965"/>
          </a:xfrm>
          <a:prstGeom prst="roundRect">
            <a:avLst>
              <a:gd name="adj" fmla="val 657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86964" y="1805942"/>
            <a:ext cx="23260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Статическая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86964" y="2115827"/>
            <a:ext cx="232604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известны при компиляции: C#, Java, Kotlin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58317" y="1626233"/>
            <a:ext cx="2617708" cy="1497965"/>
          </a:xfrm>
          <a:prstGeom prst="roundRect">
            <a:avLst>
              <a:gd name="adj" fmla="val 657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38022" y="1805942"/>
            <a:ext cx="23260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Динамическая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38022" y="2115827"/>
            <a:ext cx="232604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проверяются при исполнении: Python, JavaScript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07259" y="3257550"/>
            <a:ext cx="2617708" cy="1497965"/>
          </a:xfrm>
          <a:prstGeom prst="roundRect">
            <a:avLst>
              <a:gd name="adj" fmla="val 657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6964" y="3437260"/>
            <a:ext cx="23260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6964" y="3747133"/>
            <a:ext cx="232604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Неявных небезопасных преобразований нет: в Python "1" + 1 - ошибка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58317" y="3257550"/>
            <a:ext cx="2617708" cy="1497965"/>
          </a:xfrm>
          <a:prstGeom prst="roundRect">
            <a:avLst>
              <a:gd name="adj" fmla="val 657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8022" y="3437260"/>
            <a:ext cx="23260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Слабая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38022" y="3747133"/>
            <a:ext cx="232604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приводятся неявно: в JavaScript "1" + 1 - это "11"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ТЕОРИЯ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Полиморфизм: одна операция, много типов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533704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1920242"/>
            <a:ext cx="533704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Конечный набор типов, для каждого своя реализация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975" y="2326642"/>
            <a:ext cx="5175250" cy="1242695"/>
          </a:xfrm>
          <a:prstGeom prst="roundRect">
            <a:avLst>
              <a:gd name="adj" fmla="val 792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5680" y="2506352"/>
            <a:ext cx="496031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5680" y="2828925"/>
            <a:ext cx="496031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Math.Abs(-1); Math.Abs(-1.5);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5680" y="3113410"/>
            <a:ext cx="496031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методы под одним именем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702683"/>
            <a:ext cx="5175250" cy="1242695"/>
          </a:xfrm>
          <a:prstGeom prst="roundRect">
            <a:avLst>
              <a:gd name="adj" fmla="val 792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3882392"/>
            <a:ext cx="496031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Приведение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95680" y="4204977"/>
            <a:ext cx="496031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+ 1.0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5680" y="4489450"/>
            <a:ext cx="496031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неявно становится double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7600" y="1623058"/>
            <a:ext cx="533704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Универсальный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7600" y="1920242"/>
            <a:ext cx="533704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Бесконечно много типов, один и тот же код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00775" y="2326642"/>
            <a:ext cx="5175250" cy="1242695"/>
          </a:xfrm>
          <a:prstGeom prst="roundRect">
            <a:avLst>
              <a:gd name="adj" fmla="val 792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0480" y="2506352"/>
            <a:ext cx="496031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Подтипы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80480" y="2828925"/>
            <a:ext cx="496031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 Feed(Animal a); Feed(cat);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0480" y="3113410"/>
            <a:ext cx="496031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Наследник подходит везде, где ждут предка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0775" y="3702683"/>
            <a:ext cx="5175250" cy="1518920"/>
          </a:xfrm>
          <a:prstGeom prst="roundRect">
            <a:avLst>
              <a:gd name="adj" fmla="val 648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0480" y="3882392"/>
            <a:ext cx="496031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Параметрический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0480" y="4204977"/>
            <a:ext cx="496031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 Max&lt;T&gt;(T a, T b)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0480" y="4489450"/>
            <a:ext cx="496031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- параметр, его подставят при вызове. Это и есть генерики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ТЕОРИЯ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Элементарные типы, конструкторы и равенство типов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26233"/>
            <a:ext cx="5048885" cy="902970"/>
          </a:xfrm>
          <a:prstGeom prst="roundRect">
            <a:avLst>
              <a:gd name="adj" fmla="val 1090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05942"/>
            <a:ext cx="483015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Элементарные типы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5680" y="2128527"/>
            <a:ext cx="4830159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· bool · char · double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2662560"/>
            <a:ext cx="5048885" cy="1242695"/>
          </a:xfrm>
          <a:prstGeom prst="roundRect">
            <a:avLst>
              <a:gd name="adj" fmla="val 792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2842258"/>
            <a:ext cx="483015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Конструкторы типов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5680" y="3164842"/>
            <a:ext cx="4830159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Строят новые типы из имеющихся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5680" y="3504567"/>
            <a:ext cx="4830159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T[] · T? · (T1, T2) · Func&lt;T, R&gt; · class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4038600"/>
            <a:ext cx="5048885" cy="902970"/>
          </a:xfrm>
          <a:prstGeom prst="roundRect">
            <a:avLst>
              <a:gd name="adj" fmla="val 10900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5680" y="4218310"/>
            <a:ext cx="483015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Выражение над типами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5680" y="4540883"/>
            <a:ext cx="4830159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Dictionary&lt;string, List&lt;(int, bool)&gt;&gt;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71235" y="1623058"/>
            <a:ext cx="54672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имени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(номинальное): типы равны, если совпадают имена.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Структурное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если совпадает устройство.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71235" y="2277108"/>
            <a:ext cx="5307965" cy="2616200"/>
          </a:xfrm>
          <a:prstGeom prst="roundRect">
            <a:avLst>
              <a:gd name="adj" fmla="val 3883"/>
            </a:avLst>
          </a:prstGeom>
          <a:solidFill>
            <a:srgbClr val="EEF1F5"/>
          </a:solidFill>
          <a:ln/>
        </p:spPr>
        <p:txBody>
          <a:bodyPr wrap="none" lIns="224242" tIns="173442" rIns="80243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record A(int X);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record B(int X);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 a = new B(1);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ошибка: по имени (record)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(int X, string Y) p = (1, "a");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(int A, string B) q = p;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допустимо: структурно (кортеж)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delegate int F(int x);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Func&lt;int, int&gt; f = x =&gt; x;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 g = f;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ошибка: тоже по имени (delegate)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ТЕОРИЯ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 как функция над типами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1088339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 : T ↦ List&lt;T&gt;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2800" y="2255527"/>
            <a:ext cx="10566400" cy="1656080"/>
          </a:xfrm>
          <a:prstGeom prst="roundRect">
            <a:avLst>
              <a:gd name="adj" fmla="val 6135"/>
            </a:avLst>
          </a:pr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255527"/>
            <a:ext cx="10566400" cy="1656080"/>
          </a:xfrm>
          <a:custGeom>
            <a:avLst/>
            <a:gdLst/>
            <a:ahLst/>
            <a:cxnLst/>
            <a:rect l="l" t="t" r="r" b="b"/>
            <a:pathLst>
              <a:path w="10566400" h="1656080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1554480"/>
                </a:lnTo>
                <a:arcTo hR="101600" wR="101600" stAng="0" swAng="5400000"/>
                <a:lnTo>
                  <a:pt x="101600" y="1656080"/>
                </a:lnTo>
                <a:arcTo hR="101600" wR="101600" stAng="5400000" swAng="5400000"/>
                <a:lnTo>
                  <a:pt x="0" y="1554480"/>
                </a:lnTo>
                <a:arcTo hR="95250" wR="101600" stAng="10800000" swAng="-5400000"/>
                <a:lnTo>
                  <a:pt x="10464800" y="1649730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ECEFF3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255527"/>
            <a:ext cx="10566400" cy="1656080"/>
          </a:xfrm>
          <a:custGeom>
            <a:avLst/>
            <a:gdLst/>
            <a:ahLst/>
            <a:cxnLst/>
            <a:rect l="l" t="t" r="r" b="b"/>
            <a:pathLst>
              <a:path w="10566400" h="1656080">
                <a:moveTo>
                  <a:pt x="101600" y="1656080"/>
                </a:moveTo>
                <a:lnTo>
                  <a:pt x="101600" y="16560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1554480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65687"/>
          <a:ext cx="10551160" cy="1640840"/>
        </p:xfrm>
        <a:graphic>
          <a:graphicData uri="http://schemas.openxmlformats.org/drawingml/2006/table">
            <a:tbl>
              <a:tblPr/>
              <a:tblGrid>
                <a:gridCol w="3165348"/>
                <a:gridCol w="3165348"/>
                <a:gridCol w="4220464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Генерик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«Сигнатура»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Применение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List&lt;T&gt;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→ Тип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List&lt;int&gt;, List&lt;string&gt;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Dictionary&lt;K, V&gt;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× Тип → Тип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Dictionary&lt;string, int&gt;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Func&lt;T, R&gt;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× Тип → Тип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Func&lt;int, bool&gt;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4114800"/>
            <a:ext cx="10566400" cy="848360"/>
          </a:xfrm>
          <a:prstGeom prst="roundRect">
            <a:avLst>
              <a:gd name="adj" fmla="val 11976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typeof(List&lt;&gt;)  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открытый тип: функция, ещё не применённая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typeof(List&lt;int&gt;)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закрытый тип: результат применения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ТЕОРИЯ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Подтипы: частичный порядок на типах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49707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≤ B</a:t>
            </a:r>
            <a:r>
              <a:rPr lang="en-US" sz="17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- подтип B, B - надтип A. Где ждут B, можно передать 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96620" y="2401577"/>
            <a:ext cx="487934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Рефлексивность: A ≤ A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Транзитивность: Cat ≤ Animal ≤ object ⇒ Cat ≤ object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Антисимметричность: A ≤ B и B ≤ A ⇒ A = 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658877"/>
            <a:ext cx="497078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Частичный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Cat и Dog несравнимы. object - наибольший элемент.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74000" y="20955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76200" y="0"/>
                </a:moveTo>
                <a:lnTo>
                  <a:pt x="1447800" y="0"/>
                </a:lnTo>
                <a:arcTo hR="76200" wR="76200" stAng="16200000" swAng="5400000"/>
                <a:lnTo>
                  <a:pt x="1524000" y="400050"/>
                </a:lnTo>
                <a:arcTo hR="76200" wR="76200" stAng="0" swAng="5400000"/>
                <a:lnTo>
                  <a:pt x="76200" y="47625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114300" rIns="0" bIns="8890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7F8F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37350" y="3308350"/>
            <a:ext cx="1511300" cy="483870"/>
          </a:xfrm>
          <a:custGeom>
            <a:avLst/>
            <a:gdLst/>
            <a:ahLst/>
            <a:cxnLst/>
            <a:rect l="l" t="t" r="r" b="b"/>
            <a:pathLst>
              <a:path w="1511300" h="483870">
                <a:moveTo>
                  <a:pt x="69850" y="0"/>
                </a:moveTo>
                <a:lnTo>
                  <a:pt x="1441450" y="0"/>
                </a:lnTo>
                <a:arcTo hR="69850" wR="69850" stAng="16200000" swAng="5400000"/>
                <a:lnTo>
                  <a:pt x="1511300" y="414020"/>
                </a:lnTo>
                <a:arcTo hR="69850" wR="69850" stAng="0" swAng="5400000"/>
                <a:lnTo>
                  <a:pt x="69850" y="48387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3F1E7"/>
          </a:solidFill>
          <a:ln w="12700">
            <a:solidFill>
              <a:srgbClr val="1E7D3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Animal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23350" y="3308350"/>
            <a:ext cx="1511300" cy="483870"/>
          </a:xfrm>
          <a:custGeom>
            <a:avLst/>
            <a:gdLst/>
            <a:ahLst/>
            <a:cxnLst/>
            <a:rect l="l" t="t" r="r" b="b"/>
            <a:pathLst>
              <a:path w="1511300" h="483870">
                <a:moveTo>
                  <a:pt x="69850" y="0"/>
                </a:moveTo>
                <a:lnTo>
                  <a:pt x="1441450" y="0"/>
                </a:lnTo>
                <a:arcTo hR="69850" wR="69850" stAng="16200000" swAng="5400000"/>
                <a:lnTo>
                  <a:pt x="1511300" y="414020"/>
                </a:lnTo>
                <a:arcTo hR="69850" wR="69850" stAng="0" swAng="5400000"/>
                <a:lnTo>
                  <a:pt x="69850" y="48387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3F1E7"/>
          </a:solidFill>
          <a:ln w="12700">
            <a:solidFill>
              <a:srgbClr val="1E7D3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75350" y="4514850"/>
            <a:ext cx="1511300" cy="483870"/>
          </a:xfrm>
          <a:custGeom>
            <a:avLst/>
            <a:gdLst/>
            <a:ahLst/>
            <a:cxnLst/>
            <a:rect l="l" t="t" r="r" b="b"/>
            <a:pathLst>
              <a:path w="1511300" h="483870">
                <a:moveTo>
                  <a:pt x="69850" y="0"/>
                </a:moveTo>
                <a:lnTo>
                  <a:pt x="1441450" y="0"/>
                </a:lnTo>
                <a:arcTo hR="69850" wR="69850" stAng="16200000" swAng="5400000"/>
                <a:lnTo>
                  <a:pt x="1511300" y="414020"/>
                </a:lnTo>
                <a:arcTo hR="69850" wR="69850" stAng="0" swAng="5400000"/>
                <a:lnTo>
                  <a:pt x="69850" y="48387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CEFF3"/>
          </a:solidFill>
          <a:ln w="12700">
            <a:solidFill>
              <a:srgbClr val="1E7D3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6350" y="4514850"/>
            <a:ext cx="1511300" cy="483870"/>
          </a:xfrm>
          <a:custGeom>
            <a:avLst/>
            <a:gdLst/>
            <a:ahLst/>
            <a:cxnLst/>
            <a:rect l="l" t="t" r="r" b="b"/>
            <a:pathLst>
              <a:path w="1511300" h="483870">
                <a:moveTo>
                  <a:pt x="69850" y="0"/>
                </a:moveTo>
                <a:lnTo>
                  <a:pt x="1441450" y="0"/>
                </a:lnTo>
                <a:arcTo hR="69850" wR="69850" stAng="16200000" swAng="5400000"/>
                <a:lnTo>
                  <a:pt x="1511300" y="414020"/>
                </a:lnTo>
                <a:arcTo hR="69850" wR="69850" stAng="0" swAng="5400000"/>
                <a:lnTo>
                  <a:pt x="69850" y="48387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CEFF3"/>
          </a:solidFill>
          <a:ln w="12700">
            <a:solidFill>
              <a:srgbClr val="1E7D3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Dog</a:t>
            </a:r>
            <a:endParaRPr lang="en-US" sz="1500" dirty="0"/>
          </a:p>
        </p:txBody>
      </p:sp>
      <p:pic>
        <p:nvPicPr>
          <p:cNvPr id="12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42200" y="2514600"/>
            <a:ext cx="1054100" cy="838200"/>
          </a:xfrm>
          <a:prstGeom prst="rect">
            <a:avLst/>
          </a:prstGeom>
        </p:spPr>
      </p:pic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75700" y="2514600"/>
            <a:ext cx="1054100" cy="838200"/>
          </a:xfrm>
          <a:prstGeom prst="rect">
            <a:avLst/>
          </a:prstGeom>
        </p:spPr>
      </p:pic>
      <p:pic>
        <p:nvPicPr>
          <p:cNvPr id="1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80200" y="3721100"/>
            <a:ext cx="673100" cy="838200"/>
          </a:xfrm>
          <a:prstGeom prst="rect">
            <a:avLst/>
          </a:prstGeom>
        </p:spPr>
      </p:pic>
      <p:pic>
        <p:nvPicPr>
          <p:cNvPr id="1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32700" y="3721100"/>
            <a:ext cx="800100" cy="838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ТЕОРИЯ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Надтипы и подтипы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58"/>
            <a:ext cx="10566400" cy="806450"/>
          </a:xfrm>
          <a:prstGeom prst="roundRect">
            <a:avLst>
              <a:gd name="adj" fmla="val 9449"/>
            </a:avLst>
          </a:prstGeom>
          <a:solidFill>
            <a:srgbClr val="ECEFF3"/>
          </a:solidFill>
          <a:ln/>
        </p:spPr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" y="1911983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50058"/>
            <a:ext cx="1012469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типов в Java определён частичный порядок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&gt; B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является надтипом B, B является подтипом A. Запись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:&gt; B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допускает равенство A = B.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2505708"/>
            <a:ext cx="10566400" cy="806450"/>
          </a:xfrm>
          <a:prstGeom prst="roundRect">
            <a:avLst>
              <a:gd name="adj" fmla="val 9449"/>
            </a:avLst>
          </a:prstGeom>
          <a:solidFill>
            <a:srgbClr val="ECEFF3"/>
          </a:solidFill>
          <a:ln/>
        </p:spPr>
      </p:sp>
      <p:pic>
        <p:nvPicPr>
          <p:cNvPr id="8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" y="2794633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632708"/>
            <a:ext cx="1012469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:&gt; B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рефлексивно, антисимметрично и транзитивно: это рефлексивно-транзитивное замыкание отношения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&gt;₁ B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(прямой надтип).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12800" y="3388358"/>
            <a:ext cx="10566400" cy="530225"/>
          </a:xfrm>
          <a:prstGeom prst="roundRect">
            <a:avLst>
              <a:gd name="adj" fmla="val 14371"/>
            </a:avLst>
          </a:prstGeom>
          <a:solidFill>
            <a:srgbClr val="ECEFF3"/>
          </a:solidFill>
          <a:ln/>
        </p:spPr>
      </p:sp>
      <p:pic>
        <p:nvPicPr>
          <p:cNvPr id="11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0600" y="353917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515358"/>
            <a:ext cx="101246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&gt; B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антирефлексивно, антисимметрично и транзитивно.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2800" y="3994783"/>
            <a:ext cx="10566400" cy="530225"/>
          </a:xfrm>
          <a:prstGeom prst="roundRect">
            <a:avLst>
              <a:gd name="adj" fmla="val 14371"/>
            </a:avLst>
          </a:prstGeom>
          <a:solidFill>
            <a:srgbClr val="ECEFF3"/>
          </a:solidFill>
          <a:ln/>
        </p:spPr>
      </p:sp>
      <p:pic>
        <p:nvPicPr>
          <p:cNvPr id="14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0600" y="4145595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121783"/>
            <a:ext cx="1012469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Надтип не должен предоставлять больше возможностей, чем предоставляет подтип.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2800" y="4728208"/>
            <a:ext cx="10566400" cy="1071245"/>
          </a:xfrm>
          <a:prstGeom prst="roundRect">
            <a:avLst>
              <a:gd name="adj" fmla="val 9484"/>
            </a:avLst>
          </a:prstGeom>
          <a:solidFill>
            <a:srgbClr val="E3F1E7"/>
          </a:solidFill>
          <a:ln/>
        </p:spPr>
      </p:sp>
      <p:sp>
        <p:nvSpPr>
          <p:cNvPr id="17" name="Shape 11"/>
          <p:cNvSpPr/>
          <p:nvPr/>
        </p:nvSpPr>
        <p:spPr>
          <a:xfrm>
            <a:off x="812800" y="4728208"/>
            <a:ext cx="10566400" cy="1071245"/>
          </a:xfrm>
          <a:custGeom>
            <a:avLst/>
            <a:gdLst/>
            <a:ahLst/>
            <a:cxnLst/>
            <a:rect l="l" t="t" r="r" b="b"/>
            <a:pathLst>
              <a:path w="10566400" h="1071245">
                <a:moveTo>
                  <a:pt x="101600" y="1071245"/>
                </a:moveTo>
                <a:lnTo>
                  <a:pt x="101600" y="107124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969645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8" name="Text 12"/>
          <p:cNvSpPr/>
          <p:nvPr/>
        </p:nvSpPr>
        <p:spPr>
          <a:xfrm>
            <a:off x="1102360" y="4906008"/>
            <a:ext cx="1032352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 :&gt; T </a:t>
            </a:r>
            <a:r>
              <a:rPr lang="en-US" sz="2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⇏</a:t>
            </a:r>
            <a:r>
              <a:rPr lang="en-US" sz="2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X&lt;S&gt; :&gt; X&lt;T&gt;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102360" y="5345435"/>
            <a:ext cx="1032352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отношения между типами в общем случае не следует такое же отношение между генериками.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ли генерик порядок на типах?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73858"/>
            <a:ext cx="1088339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 ≤ Animal ⇒ G&lt;Cat&gt; ? G&lt;Animal&gt;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5975" y="2360302"/>
            <a:ext cx="3414157" cy="1726565"/>
          </a:xfrm>
          <a:prstGeom prst="roundRect">
            <a:avLst>
              <a:gd name="adj" fmla="val 570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2565400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Ковариантность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1080" y="2900685"/>
            <a:ext cx="309406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G&lt;Cat&gt; ≤ G&lt;Animal&gt;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1080" y="3253110"/>
            <a:ext cx="309406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сохраняется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1080" y="3605535"/>
            <a:ext cx="309406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IEnumerable&lt;T&gt;, Func&lt;TResult&gt;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8882" y="2360302"/>
            <a:ext cx="3414236" cy="1726565"/>
          </a:xfrm>
          <a:prstGeom prst="roundRect">
            <a:avLst>
              <a:gd name="adj" fmla="val 570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3987" y="2565400"/>
            <a:ext cx="30941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Контравариантность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3987" y="2900685"/>
            <a:ext cx="309414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G&lt;Animal&gt; ≤ G&lt;Cat&gt;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3987" y="3253110"/>
            <a:ext cx="309414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переворачивается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3987" y="3605535"/>
            <a:ext cx="309414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IComparer&lt;T&gt;, Action&lt;T&gt;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61868" y="2360302"/>
            <a:ext cx="3414157" cy="1726565"/>
          </a:xfrm>
          <a:prstGeom prst="roundRect">
            <a:avLst>
              <a:gd name="adj" fmla="val 5701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6974" y="2565400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Инвариантность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66974" y="2900685"/>
            <a:ext cx="309406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G&lt;Cat&gt; и G&lt;Animal&gt;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66974" y="3253110"/>
            <a:ext cx="309406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 не связаны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66974" y="3605535"/>
            <a:ext cx="309406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List&lt;Cat&gt; не является List&lt;Animal&gt;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10566400" cy="1981200"/>
          </a:xfrm>
          <a:prstGeom prst="roundRect">
            <a:avLst>
              <a:gd name="adj" fmla="val 5128"/>
            </a:avLst>
          </a:prstGeom>
          <a:solidFill>
            <a:srgbClr val="EEF1F5"/>
          </a:solidFill>
          <a:ln/>
        </p:spPr>
        <p:txBody>
          <a:bodyPr wrap="none" lIns="249642" tIns="198842" rIns="0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List&lt;Cat&gt; cats = new() { new Cat() };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List&lt;Animal&gt; animals = cats;  </a:t>
            </a:r>
            <a:r>
              <a:rPr lang="en-US" sz="16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допустим, компилятор разрешил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animals.Add(new Dog());  </a:t>
            </a:r>
            <a:r>
              <a:rPr lang="en-US" sz="16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собака - тоже животное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 cat = cats[1];  </a:t>
            </a:r>
            <a:r>
              <a:rPr lang="en-US" sz="16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в списке кошек оказалась собака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3810633"/>
            <a:ext cx="3414157" cy="1561465"/>
          </a:xfrm>
          <a:prstGeom prst="roundRect">
            <a:avLst>
              <a:gd name="adj" fmla="val 630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4015742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безопасно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1080" y="4338327"/>
            <a:ext cx="3094065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Извлечённая кошка является животным: для чтения нужна ковариантность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8882" y="3810633"/>
            <a:ext cx="3414236" cy="1561465"/>
          </a:xfrm>
          <a:prstGeom prst="roundRect">
            <a:avLst>
              <a:gd name="adj" fmla="val 630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3987" y="4015742"/>
            <a:ext cx="30941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небезопасна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3987" y="4338327"/>
            <a:ext cx="309414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список кошек попадает собака: для записи нужна контравариантность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61868" y="3810633"/>
            <a:ext cx="3414157" cy="1561465"/>
          </a:xfrm>
          <a:prstGeom prst="roundRect">
            <a:avLst>
              <a:gd name="adj" fmla="val 6303"/>
            </a:avLst>
          </a:prstGeom>
          <a:solidFill>
            <a:srgbClr val="E3F1E7"/>
          </a:solidFill>
          <a:ln w="6350">
            <a:solidFill>
              <a:srgbClr val="1E7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6974" y="4015742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и запись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66974" y="4338327"/>
            <a:ext cx="309406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Допустима только инвариантность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PECS: Producer Extends, Consumer Super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73858"/>
            <a:ext cx="5181600" cy="3830320"/>
          </a:xfrm>
          <a:prstGeom prst="roundRect">
            <a:avLst>
              <a:gd name="adj" fmla="val 2653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73858"/>
            <a:ext cx="5181600" cy="3830320"/>
          </a:xfrm>
          <a:custGeom>
            <a:avLst/>
            <a:gdLst/>
            <a:ahLst/>
            <a:cxnLst/>
            <a:rect l="l" t="t" r="r" b="b"/>
            <a:pathLst>
              <a:path w="5181600" h="3830320">
                <a:moveTo>
                  <a:pt x="101600" y="3830320"/>
                </a:moveTo>
                <a:lnTo>
                  <a:pt x="101600" y="383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28720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6" name="Text 4"/>
          <p:cNvSpPr/>
          <p:nvPr/>
        </p:nvSpPr>
        <p:spPr>
          <a:xfrm>
            <a:off x="1102360" y="1927858"/>
            <a:ext cx="477718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02360" y="2364742"/>
            <a:ext cx="4777181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возвращает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значения типа T, из него только читают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12520" y="3065787"/>
          <a:ext cx="4627880" cy="2184400"/>
        </p:xfrm>
        <a:graphic>
          <a:graphicData uri="http://schemas.openxmlformats.org/drawingml/2006/table">
            <a:tbl>
              <a:tblPr/>
              <a:tblGrid>
                <a:gridCol w="2082546"/>
                <a:gridCol w="2545334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 extends 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C#, Kotlin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 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Чтение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Вариантность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Ковариантность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IEnumerable&lt;out T&gt;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97600" y="1673858"/>
            <a:ext cx="5181600" cy="3830320"/>
          </a:xfrm>
          <a:prstGeom prst="roundRect">
            <a:avLst>
              <a:gd name="adj" fmla="val 2653"/>
            </a:avLst>
          </a:prstGeom>
          <a:solidFill>
            <a:srgbClr val="ECEFF3"/>
          </a:solidFill>
          <a:ln/>
        </p:spPr>
      </p:sp>
      <p:sp>
        <p:nvSpPr>
          <p:cNvPr id="10" name="Shape 7"/>
          <p:cNvSpPr/>
          <p:nvPr/>
        </p:nvSpPr>
        <p:spPr>
          <a:xfrm>
            <a:off x="6197600" y="1673858"/>
            <a:ext cx="5181600" cy="3830320"/>
          </a:xfrm>
          <a:custGeom>
            <a:avLst/>
            <a:gdLst/>
            <a:ahLst/>
            <a:cxnLst/>
            <a:rect l="l" t="t" r="r" b="b"/>
            <a:pathLst>
              <a:path w="5181600" h="3830320">
                <a:moveTo>
                  <a:pt x="101600" y="3830320"/>
                </a:moveTo>
                <a:lnTo>
                  <a:pt x="101600" y="383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28720"/>
                </a:lnTo>
                <a:arcTo hR="101600" wR="63500" stAng="108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11" name="Text 8"/>
          <p:cNvSpPr/>
          <p:nvPr/>
        </p:nvSpPr>
        <p:spPr>
          <a:xfrm>
            <a:off x="6487160" y="1927858"/>
            <a:ext cx="477718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4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87160" y="2364742"/>
            <a:ext cx="4777181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значения типа T, в него только записывают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7320" y="3065787"/>
          <a:ext cx="4627880" cy="2184400"/>
        </p:xfrm>
        <a:graphic>
          <a:graphicData uri="http://schemas.openxmlformats.org/drawingml/2006/table">
            <a:tbl>
              <a:tblPr/>
              <a:tblGrid>
                <a:gridCol w="2082546"/>
                <a:gridCol w="2545334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 super 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C#, Kotlin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Вариантность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Контравариантность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IComparer&lt;in T&gt;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12800" y="6238242"/>
            <a:ext cx="96799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Джошуа Блоха из книги «Effective Java». В C# и Kotlin оно выражено ключевыми словами out и in.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Producer: ковариантность,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10566400" cy="2837180"/>
          </a:xfrm>
          <a:prstGeom prst="roundRect">
            <a:avLst>
              <a:gd name="adj" fmla="val 3581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из стандартной библиотеки: T только читаем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interface IEnumerable&lt;out T&gt; { IEnumerator&lt;T&gt; GetEnumerator();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 PrintAll(IEnumerable&lt;Animal&gt; animals)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foreach (var a in animals)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Console.WriteLine(a.Name);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List&lt;Cat&gt; cats = GetCats();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PrintAll(cats);  </a:t>
            </a: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компилируется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шаг 1: List&lt;Cat&gt; → IEnumerable&lt;Cat&gt; - List реализует интерфейс, вариантность не нужна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шаг 2: IEnumerable&lt;Cat&gt; → IEnumerable&lt;Animal&gt; - ковариантность, out 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4663442"/>
            <a:ext cx="10566400" cy="581025"/>
          </a:xfrm>
          <a:prstGeom prst="roundRect">
            <a:avLst>
              <a:gd name="adj" fmla="val 17486"/>
            </a:avLst>
          </a:prstGeom>
          <a:solidFill>
            <a:srgbClr val="ECEFF3"/>
          </a:solidFill>
          <a:ln/>
        </p:spPr>
        <p:txBody>
          <a:bodyPr wrap="square" lIns="209002" tIns="122642" rIns="0" bIns="972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 задано в методе, мы под него подстраиваемся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4663442"/>
            <a:ext cx="10566400" cy="581025"/>
          </a:xfrm>
          <a:custGeom>
            <a:avLst/>
            <a:gdLst/>
            <a:ahLst/>
            <a:cxnLst/>
            <a:rect l="l" t="t" r="r" b="b"/>
            <a:pathLst>
              <a:path w="10566400" h="581025">
                <a:moveTo>
                  <a:pt x="101600" y="581025"/>
                </a:moveTo>
                <a:lnTo>
                  <a:pt x="101600" y="58102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479425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7" name="Text 5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Consumer: контравариантность,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10566400" cy="2616200"/>
          </a:xfrm>
          <a:prstGeom prst="roundRect">
            <a:avLst>
              <a:gd name="adj" fmla="val 3883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из стандартной библиотеки: T только пишем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interface IComparer&lt;in T&gt; { int Compare(T? x, T? y);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ByWeight : IComparer&lt;Animal&gt;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public int Compare(Animal? x, Animal? y) =&gt; x!.Weight.CompareTo(y!.Weight);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List&lt;Cat&gt; cats = GetCats();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cats.Sort(new ByWeight());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ожидается IComparer&lt;Cat&gt;, передан IComparer&lt;Animal&gt;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4442458"/>
            <a:ext cx="10566400" cy="581025"/>
          </a:xfrm>
          <a:prstGeom prst="roundRect">
            <a:avLst>
              <a:gd name="adj" fmla="val 17486"/>
            </a:avLst>
          </a:prstGeom>
          <a:solidFill>
            <a:srgbClr val="ECEFF3"/>
          </a:solidFill>
          <a:ln/>
        </p:spPr>
        <p:txBody>
          <a:bodyPr wrap="square" lIns="209002" tIns="122642" rIns="0" bIns="972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 задаём мы сами, и важно задать его безопасно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4442458"/>
            <a:ext cx="10566400" cy="581025"/>
          </a:xfrm>
          <a:custGeom>
            <a:avLst/>
            <a:gdLst/>
            <a:ahLst/>
            <a:cxnLst/>
            <a:rect l="l" t="t" r="r" b="b"/>
            <a:pathLst>
              <a:path w="10566400" h="581025">
                <a:moveTo>
                  <a:pt x="101600" y="581025"/>
                </a:moveTo>
                <a:lnTo>
                  <a:pt x="101600" y="58102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479425"/>
                </a:lnTo>
                <a:arcTo hR="101600" wR="63500" stAng="108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7" name="Text 5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Иллюстрация: слева контравариантность, потребители (сжигатель всего, потребитель овощей, потребитель бамбука); справа ковариантность, производители (развлечений, музыки, метала)">    </p:cNvPr>
          <p:cNvPicPr>
            <a:picLocks noChangeAspect="1"/>
          </p:cNvPicPr>
          <p:nvPr/>
        </p:nvPicPr>
        <p:blipFill>
          <a:blip r:embed="rId1"/>
          <a:srcRect l="-16" r="-16" t="0" b="0"/>
          <a:stretch/>
        </p:blipFill>
        <p:spPr>
          <a:xfrm>
            <a:off x="812800" y="711200"/>
            <a:ext cx="4749800" cy="5067300"/>
          </a:xfrm>
          <a:prstGeom prst="roundRect">
            <a:avLst>
              <a:gd name="adj" fmla="val 1604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969000" y="1579252"/>
            <a:ext cx="55725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5969000" y="1868810"/>
            <a:ext cx="557250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PECS в картинке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69000" y="2465710"/>
            <a:ext cx="5410200" cy="1133475"/>
          </a:xfrm>
          <a:prstGeom prst="roundRect">
            <a:avLst>
              <a:gd name="adj" fmla="val 8964"/>
            </a:avLst>
          </a:prstGeom>
          <a:solidFill>
            <a:srgbClr val="ECEFF3"/>
          </a:solidFill>
          <a:ln/>
        </p:spPr>
        <p:txBody>
          <a:bodyPr wrap="square" lIns="209003" tIns="122642" rIns="24395" bIns="972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Контравариантность, слева.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Нужно избавиться от бамбука: подойдёт любой потребитель, принимающий бамбук, в том числе тот, кто сжигает всё.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69000" y="2465710"/>
            <a:ext cx="5410200" cy="1133475"/>
          </a:xfrm>
          <a:custGeom>
            <a:avLst/>
            <a:gdLst/>
            <a:ahLst/>
            <a:cxnLst/>
            <a:rect l="l" t="t" r="r" b="b"/>
            <a:pathLst>
              <a:path w="5410200" h="1133475">
                <a:moveTo>
                  <a:pt x="101600" y="1133475"/>
                </a:moveTo>
                <a:lnTo>
                  <a:pt x="101600" y="113347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031875"/>
                </a:lnTo>
                <a:arcTo hR="101600" wR="63500" stAng="108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7" name="Text 4"/>
          <p:cNvSpPr/>
          <p:nvPr/>
        </p:nvSpPr>
        <p:spPr>
          <a:xfrm>
            <a:off x="5969000" y="3776985"/>
            <a:ext cx="5410200" cy="1133475"/>
          </a:xfrm>
          <a:prstGeom prst="roundRect">
            <a:avLst>
              <a:gd name="adj" fmla="val 8964"/>
            </a:avLst>
          </a:prstGeom>
          <a:solidFill>
            <a:srgbClr val="ECEFF3"/>
          </a:solidFill>
          <a:ln/>
        </p:spPr>
        <p:txBody>
          <a:bodyPr wrap="square" lIns="209003" tIns="122642" rIns="24395" bIns="972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Ковариантность, справа.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Нужна музыка: подойдёт производитель музыки или более конкретный производитель метала.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69000" y="3776985"/>
            <a:ext cx="5410200" cy="1133475"/>
          </a:xfrm>
          <a:custGeom>
            <a:avLst/>
            <a:gdLst/>
            <a:ahLst/>
            <a:cxnLst/>
            <a:rect l="l" t="t" r="r" b="b"/>
            <a:pathLst>
              <a:path w="5410200" h="1133475">
                <a:moveTo>
                  <a:pt x="101600" y="1133475"/>
                </a:moveTo>
                <a:lnTo>
                  <a:pt x="101600" y="113347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031875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9" name="Text 6"/>
          <p:cNvSpPr/>
          <p:nvPr/>
        </p:nvSpPr>
        <p:spPr>
          <a:xfrm>
            <a:off x="812800" y="6111242"/>
            <a:ext cx="967994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u="sng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https://stackoverflow.com/questions/2723397/what-is-pecs-producer-extends-consumer-super/19739576#19739576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66400" y="63398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DECLARATION-SITE VARIANCE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C#: in и out в объявлении типа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58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Стандартная библиотека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91358"/>
            <a:ext cx="5181600" cy="1953260"/>
          </a:xfrm>
          <a:prstGeom prst="roundRect">
            <a:avLst>
              <a:gd name="adj" fmla="val 5202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IEnumerable&lt;out T&gt;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IComparer&lt;in T&gt;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delegate void Action&lt;in T&gt;(T obj)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delegate TResult Func&lt;in T, out TResult&gt;(T arg)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Func&lt;object, string&gt; f = o =&gt; o.ToString()!;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Func&lt;string, object&gt; g = f;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97600" y="1623058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Компилятор проверяет позиции 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7600" y="1991358"/>
            <a:ext cx="5181600" cy="1511300"/>
          </a:xfrm>
          <a:prstGeom prst="roundRect">
            <a:avLst>
              <a:gd name="adj" fmla="val 6723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IBox&lt;out T&gt;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 Get();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допустимо: T на выходе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void Put(T item);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CS1961: T на входе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4150990"/>
            <a:ext cx="5200650" cy="1561465"/>
          </a:xfrm>
          <a:prstGeom prst="roundRect">
            <a:avLst>
              <a:gd name="adj" fmla="val 630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080" y="4356100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интерфейсы и делегаты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1080" y="4678685"/>
            <a:ext cx="493415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Классы и структуры всегда инвариантны: List&lt;T&gt;, Tuple&lt;T1, T2&gt;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5375" y="4150990"/>
            <a:ext cx="5200650" cy="1561465"/>
          </a:xfrm>
          <a:prstGeom prst="roundRect">
            <a:avLst>
              <a:gd name="adj" fmla="val 6303"/>
            </a:avLst>
          </a:prstGeom>
          <a:solidFill>
            <a:srgbClr val="ECEFF3"/>
          </a:solidFill>
          <a:ln w="6350">
            <a:solidFill>
              <a:srgbClr val="ECEF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0480" y="4356100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ссылочные типы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0480" y="4678685"/>
            <a:ext cx="493415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IEnumerable&lt;int&gt; не приводится к IEnumerable&lt;object&gt;: потребовалась бы упаковка каждого элемента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USE-SITE VARIANCE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вариантность в месте использования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3721100"/>
          </a:xfrm>
          <a:prstGeom prst="roundRect">
            <a:avLst>
              <a:gd name="adj" fmla="val 2730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List&lt;T&gt; инвариантен; вариантность выбирают в сигнатуре метода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double totalWeight(List&lt;? extends Animal&gt; animals)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double sum = 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(Animal a : animals) sum += a.weight();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читать можно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animals.add(new Cat());  писать нельзя: ошибка компиляции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sum;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void addCats(List&lt;? super Cat&gt; sink)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sink.add(new Cat());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писать можно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Object o = sink.get(0);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читать - только как Object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java.util.Collections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static &lt;T&gt; void copy(List&lt;? super T&gt; dest, List&lt;? extends T&gt; src)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УПРАВЛЕНИЕ ВАРИАНТНОСТЬЮ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Kotlin: и declaration-site, и use-site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объявлении, как в C#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91370"/>
            <a:ext cx="5181600" cy="2837180"/>
          </a:xfrm>
          <a:prstGeom prst="roundRect">
            <a:avLst>
              <a:gd name="adj" fmla="val 3581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Source&lt;out T&gt;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fun next(): 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Comparable&lt;in T&gt;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operator fun compareTo(other: T): Int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List только для чтения: List&lt;out E&gt;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 cats: List&lt;Cat&gt; = listOf(Cat())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 animals: List&lt;Animal&gt; = cats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допустимо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97600" y="162307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использовании, как в Java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7600" y="1991370"/>
            <a:ext cx="5181600" cy="3058160"/>
          </a:xfrm>
          <a:prstGeom prst="roundRect">
            <a:avLst>
              <a:gd name="adj" fmla="val 3322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Array&lt;T&gt;, MutableList&lt;T&gt; инвариантны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 copy(from: Array&lt;out Any&gt;,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to: Array&lt;Any&gt;)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 in from.indices)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to[i] = from[i]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 fill(dest: Array&lt;in String&gt;,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value: String)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 in dest.indices)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dest[i] = value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5252715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Use-site variance в Kotlin называется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projections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ВАРИАНТНОСТЬ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Ковариантность массивов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Массивы допускают запись, но в C# и Java они ковариантны. Ошибка типов, которую должен был обнаружить компилятор, проявляется </a:t>
            </a:r>
            <a:r>
              <a:rPr lang="en-US" sz="1600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во время выполнения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415555"/>
            <a:ext cx="10566400" cy="1371600"/>
          </a:xfrm>
          <a:prstGeom prst="roundRect">
            <a:avLst>
              <a:gd name="adj" fmla="val 7407"/>
            </a:avLst>
          </a:prstGeom>
          <a:solidFill>
            <a:srgbClr val="EEF1F5"/>
          </a:solidFill>
          <a:ln/>
        </p:spPr>
        <p:txBody>
          <a:bodyPr wrap="none" lIns="249642" tIns="198842" rIns="0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string[] strings = new string[1];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object[] objects = strings;  </a:t>
            </a:r>
            <a:r>
              <a:rPr lang="en-US" sz="16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компилируется: массивы ковариантны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objects[0] = 42;  </a:t>
            </a:r>
            <a:r>
              <a:rPr lang="en-US" sz="16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ArrayTypeMismatchException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3990355"/>
            <a:ext cx="3420507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990355"/>
            <a:ext cx="3420507" cy="1557655"/>
          </a:xfrm>
          <a:custGeom>
            <a:avLst/>
            <a:gdLst/>
            <a:ahLst/>
            <a:cxnLst/>
            <a:rect l="l" t="t" r="r" b="b"/>
            <a:pathLst>
              <a:path w="3420507" h="1557655">
                <a:moveTo>
                  <a:pt x="101600" y="1557655"/>
                </a:moveTo>
                <a:lnTo>
                  <a:pt x="101600" y="155765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56055"/>
                </a:lnTo>
                <a:arcTo hR="101600" wR="63500" stAng="10800000" swAng="-5400000"/>
                <a:close/>
              </a:path>
            </a:pathLst>
          </a:custGeom>
          <a:solidFill>
            <a:srgbClr val="B4541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193555"/>
            <a:ext cx="30679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Наследие Java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516115"/>
            <a:ext cx="306790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 заимствовано из Java, где массивы ковариантны с первой версии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5707" y="3990355"/>
            <a:ext cx="3420586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3990355"/>
            <a:ext cx="3420586" cy="1557655"/>
          </a:xfrm>
          <a:custGeom>
            <a:avLst/>
            <a:gdLst/>
            <a:ahLst/>
            <a:cxnLst/>
            <a:rect l="l" t="t" r="r" b="b"/>
            <a:pathLst>
              <a:path w="3420586" h="1557655">
                <a:moveTo>
                  <a:pt x="101600" y="1557655"/>
                </a:moveTo>
                <a:lnTo>
                  <a:pt x="101600" y="155765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56055"/>
                </a:lnTo>
                <a:arcTo hR="101600" wR="63500" stAng="10800000" swAng="-5400000"/>
                <a:close/>
              </a:path>
            </a:pathLst>
          </a:custGeom>
          <a:solidFill>
            <a:srgbClr val="B45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624467" y="4193555"/>
            <a:ext cx="306798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при записи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4467" y="4516115"/>
            <a:ext cx="3067985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запись в массив ссылочного типа проверяет тип элемента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8693" y="3990355"/>
            <a:ext cx="3420507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93" y="3990355"/>
            <a:ext cx="3420507" cy="1557655"/>
          </a:xfrm>
          <a:custGeom>
            <a:avLst/>
            <a:gdLst/>
            <a:ahLst/>
            <a:cxnLst/>
            <a:rect l="l" t="t" r="r" b="b"/>
            <a:pathLst>
              <a:path w="3420507" h="1557655">
                <a:moveTo>
                  <a:pt x="101600" y="1557655"/>
                </a:moveTo>
                <a:lnTo>
                  <a:pt x="101600" y="155765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56055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97453" y="4193555"/>
            <a:ext cx="30679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97453" y="4516115"/>
            <a:ext cx="30679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Array&lt;T&gt; инвариантен: ошибка обнаруживается при компиляции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 · УПРАВЛЕНИЕ ВАРИАНТНОСТЬЮ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C#, Java и Kotlin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70"/>
            <a:ext cx="10566400" cy="3538220"/>
          </a:xfrm>
          <a:prstGeom prst="roundRect">
            <a:avLst>
              <a:gd name="adj" fmla="val 2872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70"/>
            <a:ext cx="10566400" cy="3538220"/>
          </a:xfrm>
          <a:custGeom>
            <a:avLst/>
            <a:gdLst/>
            <a:ahLst/>
            <a:cxnLst/>
            <a:rect l="l" t="t" r="r" b="b"/>
            <a:pathLst>
              <a:path w="10566400" h="3538220">
                <a:moveTo>
                  <a:pt x="101600" y="3538220"/>
                </a:moveTo>
                <a:lnTo>
                  <a:pt x="101600" y="35382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3436620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3230"/>
          <a:ext cx="10556240" cy="352806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Kotlin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задаётся вариантность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объявлении: in, out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использовании: ? extends, ? super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объявлении и в использовании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Вариантные типы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Интерфейсы и делегаты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Любые генерики через wildcard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Классы и интерфейсы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Изменяемые коллекции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Инвариантны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Инвариантны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Инвариантны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Коллекции только для чтения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IEnumerable&lt;out T&gt;, IReadOnlyList&lt;out T&gt;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Отдельных интерфейсов 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List&lt;out E&gt;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Массивы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Ковариантны, проверка при выполнении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Ковариантны, проверка при выполнении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Инвариантны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0000">
                <a:srgbClr val="F7F8FA"/>
              </a:gs>
            </a:gsLst>
            <a:lin ang="1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476500"/>
            <a:ext cx="254279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719195" y="2769865"/>
            <a:ext cx="788980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719195" y="3483620"/>
            <a:ext cx="7889805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Language-Integrated Query: методы, отложенное исполнение, язык запросов, yield, IQueryable и деревья выражений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LINQ и зачем он нужен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Императивный подход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91370"/>
            <a:ext cx="5181600" cy="1953260"/>
          </a:xfrm>
          <a:prstGeom prst="roundRect">
            <a:avLst>
              <a:gd name="adj" fmla="val 5202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result = new List&lt;string&gt;();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foreach (var s in students)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(s.Group == "25.Б41")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result.Add(s.Name.ToUpper());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result.Sort();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97600" y="162307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использованием LINQ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7600" y="1991370"/>
            <a:ext cx="5181600" cy="1290320"/>
          </a:xfrm>
          <a:prstGeom prst="roundRect">
            <a:avLst>
              <a:gd name="adj" fmla="val 7874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result = students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.Where(s =&gt; s.Group == "25.Б41")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.Select(s =&gt; s.Name.ToUpper())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.OrderBy(name =&gt; name);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4147815"/>
            <a:ext cx="3420507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351015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Декларативность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6000" y="4673600"/>
            <a:ext cx="310453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Описывается требуемый результат, а не способ обхода коллекции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5707" y="4147815"/>
            <a:ext cx="3420586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4351015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синтаксис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8907" y="4673600"/>
            <a:ext cx="310461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и те же операции для коллекций, XML и баз данных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8693" y="4147815"/>
            <a:ext cx="3420507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8161893" y="4351015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в язык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61893" y="4673600"/>
            <a:ext cx="310453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проверяется компилятором, в отличие от SQL в строке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как набор методов-расширений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2174240"/>
          </a:xfrm>
          <a:prstGeom prst="roundRect">
            <a:avLst>
              <a:gd name="adj" fmla="val 4673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System.Linq.Enumerable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static IEnumerable&lt;TSource&gt; Where&lt;TSource&gt;(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this IEnumerable&lt;TSource&gt; source,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Func&lt;TSource, bool&gt; predicate)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students.Where(s =&gt; s.Age &gt; 18)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компилятор преобразует в вызов статического метода: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Enumerable.Where(students, s =&gt; s.Age &gt; 18)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4000500"/>
            <a:ext cx="3420507" cy="1565910"/>
          </a:xfrm>
          <a:prstGeom prst="roundRect">
            <a:avLst>
              <a:gd name="adj" fmla="val 6488"/>
            </a:avLst>
          </a:pr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4000500"/>
            <a:ext cx="3420507" cy="1565910"/>
          </a:xfrm>
          <a:custGeom>
            <a:avLst/>
            <a:gdLst/>
            <a:ahLst/>
            <a:cxnLst/>
            <a:rect l="l" t="t" r="r" b="b"/>
            <a:pathLst>
              <a:path w="3420507" h="1565910">
                <a:moveTo>
                  <a:pt x="101600" y="1565910"/>
                </a:moveTo>
                <a:lnTo>
                  <a:pt x="101600" y="15659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64310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03700"/>
            <a:ext cx="30679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4526285"/>
            <a:ext cx="3067903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Where&lt;TSource&gt;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810770"/>
            <a:ext cx="30679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метод для коллекций любого типа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5707" y="4000500"/>
            <a:ext cx="3420586" cy="1565910"/>
          </a:xfrm>
          <a:prstGeom prst="roundRect">
            <a:avLst>
              <a:gd name="adj" fmla="val 6488"/>
            </a:avLst>
          </a:prstGeom>
          <a:solidFill>
            <a:srgbClr val="ECEFF3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4000500"/>
            <a:ext cx="3420586" cy="1565910"/>
          </a:xfrm>
          <a:custGeom>
            <a:avLst/>
            <a:gdLst/>
            <a:ahLst/>
            <a:cxnLst/>
            <a:rect l="l" t="t" r="r" b="b"/>
            <a:pathLst>
              <a:path w="3420586" h="1565910">
                <a:moveTo>
                  <a:pt x="101600" y="1565910"/>
                </a:moveTo>
                <a:lnTo>
                  <a:pt x="101600" y="15659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64310"/>
                </a:lnTo>
                <a:arcTo hR="101600" wR="63500" stAng="108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12" name="Text 10"/>
          <p:cNvSpPr/>
          <p:nvPr/>
        </p:nvSpPr>
        <p:spPr>
          <a:xfrm>
            <a:off x="4624467" y="4203700"/>
            <a:ext cx="306798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Делегаты и лямбды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4467" y="4526285"/>
            <a:ext cx="306798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56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Func&lt;TSource, bool&gt;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4467" y="4810770"/>
            <a:ext cx="306798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передаётся как значение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8693" y="4000500"/>
            <a:ext cx="3420507" cy="1565910"/>
          </a:xfrm>
          <a:prstGeom prst="roundRect">
            <a:avLst>
              <a:gd name="adj" fmla="val 6488"/>
            </a:avLst>
          </a:prstGeom>
          <a:solidFill>
            <a:srgbClr val="ECEFF3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93" y="4000500"/>
            <a:ext cx="3420507" cy="1565910"/>
          </a:xfrm>
          <a:custGeom>
            <a:avLst/>
            <a:gdLst/>
            <a:ahLst/>
            <a:cxnLst/>
            <a:rect l="l" t="t" r="r" b="b"/>
            <a:pathLst>
              <a:path w="3420507" h="1565910">
                <a:moveTo>
                  <a:pt x="101600" y="1565910"/>
                </a:moveTo>
                <a:lnTo>
                  <a:pt x="101600" y="15659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64310"/>
                </a:lnTo>
                <a:arcTo hR="101600" wR="63500" stAng="10800000" swAng="-5400000"/>
                <a:close/>
              </a:path>
            </a:pathLst>
          </a:custGeom>
          <a:solidFill>
            <a:srgbClr val="B4541A"/>
          </a:solidFill>
          <a:ln/>
        </p:spPr>
      </p:sp>
      <p:sp>
        <p:nvSpPr>
          <p:cNvPr id="17" name="Text 15"/>
          <p:cNvSpPr/>
          <p:nvPr/>
        </p:nvSpPr>
        <p:spPr>
          <a:xfrm>
            <a:off x="8197453" y="4203700"/>
            <a:ext cx="30679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Методы-расширения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97453" y="4526285"/>
            <a:ext cx="3067903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this IEnumerable&lt;TSource&gt;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97453" y="4810770"/>
            <a:ext cx="30679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через точку без изменения типа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методы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70"/>
            <a:ext cx="10566400" cy="4082415"/>
          </a:xfrm>
          <a:prstGeom prst="roundRect">
            <a:avLst>
              <a:gd name="adj" fmla="val 2489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70"/>
            <a:ext cx="10566400" cy="4082415"/>
          </a:xfrm>
          <a:custGeom>
            <a:avLst/>
            <a:gdLst/>
            <a:ahLst/>
            <a:cxnLst/>
            <a:rect l="l" t="t" r="r" b="b"/>
            <a:pathLst>
              <a:path w="10566400" h="4082415">
                <a:moveTo>
                  <a:pt x="101600" y="4082415"/>
                </a:moveTo>
                <a:lnTo>
                  <a:pt x="101600" y="40824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3980815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3230"/>
          <a:ext cx="10556240" cy="4072255"/>
        </p:xfrm>
        <a:graphic>
          <a:graphicData uri="http://schemas.openxmlformats.org/drawingml/2006/table">
            <a:tbl>
              <a:tblPr/>
              <a:tblGrid>
                <a:gridCol w="3166872"/>
                <a:gridCol w="7389368"/>
              </a:tblGrid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Категория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Фильтрация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Where, OfType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Проекция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Select, SelectMany, Zip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Сортировка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OrderBy, OrderByDescending, ThenBy, Reverse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Разбиение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Take, Skip, TakeWhile, SkipWhile, Chunk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Множества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Distinct, Union, Intersect, Except и их варианты …By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Группировка и соединение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GroupBy, ToLookup, Join, GroupJoin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Квантификаторы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Any, All, Contains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Агрегирование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Count, Sum, Min, Max, MinBy, MaxBy, Average, Aggregate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Получение элемента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First, Last, Single, ElementAt и их варианты …OrDefault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Материализация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ToList, ToArray, ToDictionary, ToHashSet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ПРИМЕРЫ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для примеров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3942080"/>
          </a:xfrm>
          <a:prstGeom prst="roundRect">
            <a:avLst>
              <a:gd name="adj" fmla="val 2577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record Student(string Name, string Group, int Age);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record Grade(string StudentName, string Course, int Score);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List&lt;Student&gt; students 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new("Анна", "25.Б41", 19), new("Борис", "25.Б41", 20),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new("Вера", "25.Б42", 18), new("Глеб", "25.Б42", 19),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new("Дина", "25.Б43", 20), new("Егор", "25.Б43", 18),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List&lt;Grade&gt; grades 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new("Анна", "C#", 5), new("Анна", "Матан", 4), new("Борис", "C#", 3),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new("Вера", "C#", 5), new("Вера", "Матан", 5), new("Глеб", "C#", 4),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new("Дина", "Матан", 4),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ПРИМЕРЫ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Фильтрация, проекция, агрегирование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3279140"/>
          </a:xfrm>
          <a:prstGeom prst="roundRect">
            <a:avLst>
              <a:gd name="adj" fmla="val 3098"/>
            </a:avLst>
          </a:prstGeom>
          <a:solidFill>
            <a:srgbClr val="EEF1F5"/>
          </a:solidFill>
          <a:ln/>
        </p:spPr>
        <p:txBody>
          <a:bodyPr wrap="none" lIns="224242" tIns="173442" rIns="0" bIns="148043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Студенты группы 25.Б42 в алфавитном порядке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b42 = students.Where(s =&gt; s.Group == "25.Б42").OrderBy(s =&gt; s.Name);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Оценки по C# в виде строк «Анна: 5»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csharp = grades.Where(g =&gt; g.Course == "C#").Select(g =&gt; $"{g.StudentName}: {g.Score}");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Квантификаторы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bool anyTwo = grades.Any(g =&gt; g.Score == 2);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false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bool allAdults = students.All(s =&gt; s.Age &gt;= 18);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true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Агрегирование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double average = grades.Average(g =&gt; g.Score);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4.29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best = grades.Where(g =&gt; g.Course == "C#").MaxBy(g =&gt; g.Score);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Анна,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ПРИМЕРЫ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Группировка и соединение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3500120"/>
          </a:xfrm>
          <a:prstGeom prst="roundRect">
            <a:avLst>
              <a:gd name="adj" fmla="val 2903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Средний балл по каждому курсу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byCourse = grades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.GroupBy(g =&gt; g.Course)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.Select(gr =&gt; new { Course = gr.Key, Average = gr.Average(g =&gt; g.Score) });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C#: 4.25, Матан: 4.33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Оценка вместе с группой студента: соединение двух коллекций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withGroup = grades.Join(students,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g =&gt; g.StudentName, s =&gt; s.Name,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(g, s) =&gt; new { s.Name, s.Group, g.Course, g.Score });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Студенты без оценок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noGrades = students.ExceptBy(grades.Select(g =&gt; g.StudentName), s =&gt; s.Name);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Егор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ПРИМЕРЫ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SelectMany, Zip, Aggregate, материализация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3721100"/>
          </a:xfrm>
          <a:prstGeom prst="roundRect">
            <a:avLst>
              <a:gd name="adj" fmla="val 2730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SelectMany: последовательность последовательностей в одну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string[] phrases = ["an apple a day", "the quick brown fox"];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words = phrases.SelectMany(p =&gt; p.Split(' '));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an, apple, a, day, the, …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Zip: попарное объединение двух последовательностей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int[] numbers = [1, 2, 3];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string[] letters = ["a", "b", "c"];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pairs = numbers.Zip(letters, (n, l) =&gt; $"{n}{l}");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1a, 2b, 3c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Aggregate: свёртка (fold)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product = numbers.Aggregate(1, (acc, x) =&gt; acc * x);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6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Материализация в словарь и в таблицу соответствия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byName = students.ToDictionary(s =&gt; s.Name);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byGroup = students.ToLookup(s =&gt; s.Group);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byGroup["25.Б41"]: Анна, Борис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ОТЛОЖЕННОЕ ИСПОЛНЕНИЕ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Отложенное исполнение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64044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91370"/>
            <a:ext cx="6217920" cy="2395220"/>
          </a:xfrm>
          <a:prstGeom prst="roundRect">
            <a:avLst>
              <a:gd name="adj" fmla="val 4242"/>
            </a:avLst>
          </a:prstGeom>
          <a:solidFill>
            <a:srgbClr val="EEF1F5"/>
          </a:solidFill>
          <a:ln/>
        </p:spPr>
        <p:txBody>
          <a:bodyPr wrap="none" lIns="224242" tIns="173442" rIns="52945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numbers = new List&lt;int&gt; { 1, 2, 3 };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query = numbers.Where(n =&gt;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Console.WriteLine($"проверка {n}");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n &gt; 1;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numbers.Add(4);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Console.WriteLine(query.Count());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Console.WriteLine(query.Count());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33920" y="1623070"/>
            <a:ext cx="42696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33920" y="1991370"/>
            <a:ext cx="4145280" cy="1290320"/>
          </a:xfrm>
          <a:prstGeom prst="roundRect">
            <a:avLst>
              <a:gd name="adj" fmla="val 7874"/>
            </a:avLst>
          </a:prstGeom>
          <a:solidFill>
            <a:srgbClr val="EEF1F5"/>
          </a:solidFill>
          <a:ln/>
        </p:spPr>
        <p:txBody>
          <a:bodyPr wrap="none" lIns="224242" tIns="173442" rIns="115124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проверка 1 … проверка 4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проверка 1 … проверка 4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4589785"/>
            <a:ext cx="3420507" cy="1281430"/>
          </a:xfrm>
          <a:prstGeom prst="roundRect">
            <a:avLst>
              <a:gd name="adj" fmla="val 7929"/>
            </a:avLst>
          </a:prstGeom>
          <a:solidFill>
            <a:srgbClr val="ECEFF3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792985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только в Count()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6000" y="5115570"/>
            <a:ext cx="310453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только запомнил источник и условие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5707" y="4589785"/>
            <a:ext cx="3420586" cy="1281430"/>
          </a:xfrm>
          <a:prstGeom prst="roundRect">
            <a:avLst>
              <a:gd name="adj" fmla="val 7929"/>
            </a:avLst>
          </a:prstGeom>
          <a:solidFill>
            <a:srgbClr val="EC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4792985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Учтён новый элемент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8907" y="5115570"/>
            <a:ext cx="310461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читает источник в момент выполнения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8693" y="4589785"/>
            <a:ext cx="3420507" cy="1281430"/>
          </a:xfrm>
          <a:prstGeom prst="roundRect">
            <a:avLst>
              <a:gd name="adj" fmla="val 7929"/>
            </a:avLst>
          </a:prstGeom>
          <a:solidFill>
            <a:srgbClr val="EC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8161893" y="4792985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обход заново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61893" y="5115570"/>
            <a:ext cx="310453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повторного использования результата нужен ToList()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ОТЛОЖЕННОЕ ИСПОЛНЕНИЕ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Немедленные и отложенные операции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70"/>
            <a:ext cx="3420507" cy="2088515"/>
          </a:xfrm>
          <a:prstGeom prst="roundRect">
            <a:avLst>
              <a:gd name="adj" fmla="val 4865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70"/>
            <a:ext cx="3420507" cy="2088515"/>
          </a:xfrm>
          <a:custGeom>
            <a:avLst/>
            <a:gdLst/>
            <a:ahLst/>
            <a:cxnLst/>
            <a:rect l="l" t="t" r="r" b="b"/>
            <a:pathLst>
              <a:path w="3420507" h="2088515">
                <a:moveTo>
                  <a:pt x="101600" y="2088515"/>
                </a:moveTo>
                <a:lnTo>
                  <a:pt x="101600" y="20885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986915"/>
                </a:lnTo>
                <a:arcTo hR="101600" wR="63500" stAng="10800000" swAng="-5400000"/>
                <a:close/>
              </a:path>
            </a:pathLst>
          </a:custGeom>
          <a:solidFill>
            <a:srgbClr val="B4541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26270"/>
            <a:ext cx="30679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Немедленные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161555"/>
            <a:ext cx="306790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Выполняются сразу и возвращают значение или коллекцию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066430"/>
            <a:ext cx="306790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Count, Sum, First, ToList, ToArray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1623070"/>
            <a:ext cx="3420586" cy="2088515"/>
          </a:xfrm>
          <a:prstGeom prst="roundRect">
            <a:avLst>
              <a:gd name="adj" fmla="val 4865"/>
            </a:avLst>
          </a:prstGeom>
          <a:solidFill>
            <a:srgbClr val="ECEFF3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707" y="1623070"/>
            <a:ext cx="3420586" cy="2088515"/>
          </a:xfrm>
          <a:custGeom>
            <a:avLst/>
            <a:gdLst/>
            <a:ahLst/>
            <a:cxnLst/>
            <a:rect l="l" t="t" r="r" b="b"/>
            <a:pathLst>
              <a:path w="3420586" h="2088515">
                <a:moveTo>
                  <a:pt x="101600" y="2088515"/>
                </a:moveTo>
                <a:lnTo>
                  <a:pt x="101600" y="20885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986915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1" name="Text 9"/>
          <p:cNvSpPr/>
          <p:nvPr/>
        </p:nvSpPr>
        <p:spPr>
          <a:xfrm>
            <a:off x="4624467" y="1826270"/>
            <a:ext cx="306798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Отложенные потоковые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4467" y="2161555"/>
            <a:ext cx="306798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Выдают элементы по одному, по мере запроса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4467" y="2790205"/>
            <a:ext cx="306798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Where, Select, Take, Skip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8693" y="1623070"/>
            <a:ext cx="3420507" cy="2088515"/>
          </a:xfrm>
          <a:prstGeom prst="roundRect">
            <a:avLst>
              <a:gd name="adj" fmla="val 4865"/>
            </a:avLst>
          </a:prstGeom>
          <a:solidFill>
            <a:srgbClr val="EC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93" y="1623070"/>
            <a:ext cx="3420507" cy="2088515"/>
          </a:xfrm>
          <a:custGeom>
            <a:avLst/>
            <a:gdLst/>
            <a:ahLst/>
            <a:cxnLst/>
            <a:rect l="l" t="t" r="r" b="b"/>
            <a:pathLst>
              <a:path w="3420507" h="2088515">
                <a:moveTo>
                  <a:pt x="101600" y="2088515"/>
                </a:moveTo>
                <a:lnTo>
                  <a:pt x="101600" y="20885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986915"/>
                </a:lnTo>
                <a:arcTo hR="101600" wR="63500" stAng="108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16" name="Text 14"/>
          <p:cNvSpPr/>
          <p:nvPr/>
        </p:nvSpPr>
        <p:spPr>
          <a:xfrm>
            <a:off x="8197453" y="1826270"/>
            <a:ext cx="306790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Отложенные непотоковые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97453" y="2161555"/>
            <a:ext cx="30679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первом запросе читают весь источник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97453" y="2790205"/>
            <a:ext cx="3067903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56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OrderBy, GroupBy, Reverse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91477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Замыкание захватывает переменную, а не её значение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4283075"/>
            <a:ext cx="10566400" cy="1290320"/>
          </a:xfrm>
          <a:prstGeom prst="roundRect">
            <a:avLst>
              <a:gd name="adj" fmla="val 7874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min = 3;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large = numbers.Where(n =&gt; n &gt; min);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min = 10;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list = large.ToList();  </a:t>
            </a: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фильтрация выполняется с условием n &gt; 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ЯЗЫК ЗАПРОСОВ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язык запросов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 запроса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1991370"/>
            <a:ext cx="5181600" cy="1787525"/>
          </a:xfrm>
          <a:prstGeom prst="roundRect">
            <a:avLst>
              <a:gd name="adj" fmla="val 5684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query =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from s in students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where s.Age &gt;= 19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orderby s.Name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select s.Name.ToUpper();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97600" y="162307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 методов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7600" y="1991370"/>
            <a:ext cx="5181600" cy="1511300"/>
          </a:xfrm>
          <a:prstGeom prst="roundRect">
            <a:avLst>
              <a:gd name="adj" fmla="val 6723"/>
            </a:avLst>
          </a:prstGeom>
          <a:solidFill>
            <a:srgbClr val="EEF1F5"/>
          </a:solidFill>
          <a:ln/>
        </p:spPr>
        <p:txBody>
          <a:bodyPr wrap="none" lIns="224242" tIns="173442" rIns="84034" bIns="1480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query = students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.Where(s =&gt; s.Age &gt;= 19)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.OrderBy(s =&gt; s.Name)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.Select(s =&gt; s.Name.ToUpper());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3982095"/>
            <a:ext cx="3420507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185295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Синтаксический сахар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6000" y="4507880"/>
            <a:ext cx="310453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Компилятор переводит запрос в вызовы методов; формы можно сочетать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5707" y="3982095"/>
            <a:ext cx="3420586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4185295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запроса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8907" y="4507880"/>
            <a:ext cx="310461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Начинается с from, заканчивается select или group; внутри - where, orderby, join, let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8693" y="3982095"/>
            <a:ext cx="3420507" cy="1557655"/>
          </a:xfrm>
          <a:prstGeom prst="roundRect">
            <a:avLst>
              <a:gd name="adj" fmla="val 6523"/>
            </a:avLst>
          </a:prstGeom>
          <a:solidFill>
            <a:srgbClr val="EC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8161893" y="4185295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Утиная типизация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61893" y="4507880"/>
            <a:ext cx="310453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Достаточно методов Where, Select и других с подходящими сигнатурами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ЯЗЫК ЗАПРОСОВ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group, join, let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6713141" cy="3058160"/>
          </a:xfrm>
          <a:prstGeom prst="roundRect">
            <a:avLst>
              <a:gd name="adj" fmla="val 3322"/>
            </a:avLst>
          </a:prstGeom>
          <a:solidFill>
            <a:srgbClr val="EEF1F5"/>
          </a:solidFill>
          <a:ln/>
        </p:spPr>
        <p:txBody>
          <a:bodyPr wrap="none" lIns="224242" tIns="173442" rIns="38088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Средний балл по курсам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byCourse 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from g in grades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group g.Score by g.Course into scores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select new { Course = scores.Key, Avg = scores.Average() };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Соединение с промежуточной переменной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withGroup 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from g in grades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join s in students on g.StudentName equals s.Name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let name = s.Name.ToUpper()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select new { name, s.Group, g.Score };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29141" y="1623070"/>
            <a:ext cx="3650059" cy="2865120"/>
          </a:xfrm>
          <a:prstGeom prst="roundRect">
            <a:avLst>
              <a:gd name="adj" fmla="val 3546"/>
            </a:avLst>
          </a:pr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7729141" y="1623070"/>
            <a:ext cx="3650059" cy="2865120"/>
          </a:xfrm>
          <a:custGeom>
            <a:avLst/>
            <a:gdLst/>
            <a:ahLst/>
            <a:cxnLst/>
            <a:rect l="l" t="t" r="r" b="b"/>
            <a:pathLst>
              <a:path w="3650059" h="2865120">
                <a:moveTo>
                  <a:pt x="101600" y="2865120"/>
                </a:moveTo>
                <a:lnTo>
                  <a:pt x="101600" y="2865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3548459" y="0"/>
                </a:lnTo>
                <a:arcTo hR="101600" wR="101600" stAng="16200000" swAng="5400000"/>
                <a:lnTo>
                  <a:pt x="3650059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2763520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39301" y="1633230"/>
          <a:ext cx="3639899" cy="2854960"/>
        </p:xfrm>
        <a:graphic>
          <a:graphicData uri="http://schemas.openxmlformats.org/drawingml/2006/table">
            <a:tbl>
              <a:tblPr/>
              <a:tblGrid>
                <a:gridCol w="1892748"/>
                <a:gridCol w="1747152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Ключевое слово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E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orderby … descending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OrderByDescending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… by … into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 … on … equals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в анонимный тип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второй from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SelectMany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РЕАЛИЗАЦИЯ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return: как реализован 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5983129" cy="3058160"/>
          </a:xfrm>
          <a:prstGeom prst="roundRect">
            <a:avLst>
              <a:gd name="adj" fmla="val 3322"/>
            </a:avLst>
          </a:prstGeom>
          <a:solidFill>
            <a:srgbClr val="EEF1F5"/>
          </a:solidFill>
          <a:ln/>
        </p:spPr>
        <p:txBody>
          <a:bodyPr wrap="none" lIns="224242" tIns="173442" rIns="59989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static IEnumerable&lt;T&gt; MyWhere&lt;T&gt;(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this IEnumerable&lt;T&gt; source,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Func&lt;T, bool&gt; predicate)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foreach (var item in source)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if (predicate(item))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yield return item;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99129" y="1623070"/>
            <a:ext cx="4380071" cy="954405"/>
          </a:xfrm>
          <a:prstGeom prst="roundRect">
            <a:avLst>
              <a:gd name="adj" fmla="val 10645"/>
            </a:avLst>
          </a:prstGeom>
          <a:solidFill>
            <a:srgbClr val="ECEFF3"/>
          </a:solidFill>
          <a:ln/>
        </p:spPr>
      </p:sp>
      <p:sp>
        <p:nvSpPr>
          <p:cNvPr id="6" name="Shape 4"/>
          <p:cNvSpPr/>
          <p:nvPr/>
        </p:nvSpPr>
        <p:spPr>
          <a:xfrm>
            <a:off x="6999129" y="1623070"/>
            <a:ext cx="4380071" cy="954405"/>
          </a:xfrm>
          <a:custGeom>
            <a:avLst/>
            <a:gdLst/>
            <a:ahLst/>
            <a:cxnLst/>
            <a:rect l="l" t="t" r="r" b="b"/>
            <a:pathLst>
              <a:path w="4380071" h="954405">
                <a:moveTo>
                  <a:pt x="101600" y="954405"/>
                </a:moveTo>
                <a:lnTo>
                  <a:pt x="101600" y="95440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852805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7" name="Text 5"/>
          <p:cNvSpPr/>
          <p:nvPr/>
        </p:nvSpPr>
        <p:spPr>
          <a:xfrm>
            <a:off x="7212489" y="1800870"/>
            <a:ext cx="410857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Конечный автомат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12489" y="2123455"/>
            <a:ext cx="416671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становится классом-перечислителем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9129" y="2704480"/>
            <a:ext cx="4380071" cy="1230630"/>
          </a:xfrm>
          <a:prstGeom prst="roundRect">
            <a:avLst>
              <a:gd name="adj" fmla="val 8256"/>
            </a:avLst>
          </a:prstGeom>
          <a:solidFill>
            <a:srgbClr val="ECEFF3"/>
          </a:solidFill>
          <a:ln/>
        </p:spPr>
      </p:sp>
      <p:sp>
        <p:nvSpPr>
          <p:cNvPr id="10" name="Shape 8"/>
          <p:cNvSpPr/>
          <p:nvPr/>
        </p:nvSpPr>
        <p:spPr>
          <a:xfrm>
            <a:off x="6999129" y="2704480"/>
            <a:ext cx="4380071" cy="1230630"/>
          </a:xfrm>
          <a:custGeom>
            <a:avLst/>
            <a:gdLst/>
            <a:ahLst/>
            <a:cxnLst/>
            <a:rect l="l" t="t" r="r" b="b"/>
            <a:pathLst>
              <a:path w="4380071" h="1230630">
                <a:moveTo>
                  <a:pt x="101600" y="1230630"/>
                </a:moveTo>
                <a:lnTo>
                  <a:pt x="101600" y="12306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29030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1" name="Text 9"/>
          <p:cNvSpPr/>
          <p:nvPr/>
        </p:nvSpPr>
        <p:spPr>
          <a:xfrm>
            <a:off x="7212489" y="2882280"/>
            <a:ext cx="410857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не выполняет тело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12489" y="3204840"/>
            <a:ext cx="41085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MyWhere(...) только создаёт объект-перечислитель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9129" y="4062090"/>
            <a:ext cx="4380071" cy="1230630"/>
          </a:xfrm>
          <a:prstGeom prst="roundRect">
            <a:avLst>
              <a:gd name="adj" fmla="val 8256"/>
            </a:avLst>
          </a:prstGeom>
          <a:solidFill>
            <a:srgbClr val="ECEFF3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9129" y="4062090"/>
            <a:ext cx="4380071" cy="1230630"/>
          </a:xfrm>
          <a:custGeom>
            <a:avLst/>
            <a:gdLst/>
            <a:ahLst/>
            <a:cxnLst/>
            <a:rect l="l" t="t" r="r" b="b"/>
            <a:pathLst>
              <a:path w="4380071" h="1230630">
                <a:moveTo>
                  <a:pt x="101600" y="1230630"/>
                </a:moveTo>
                <a:lnTo>
                  <a:pt x="101600" y="12306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29030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5" name="Text 13"/>
          <p:cNvSpPr/>
          <p:nvPr/>
        </p:nvSpPr>
        <p:spPr>
          <a:xfrm>
            <a:off x="7212489" y="4239890"/>
            <a:ext cx="410857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по частям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212489" y="4562475"/>
            <a:ext cx="41085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MoveNext() выполняет тело до следующего yield return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РЕАЛИЗАЦИЯ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break и бесконечные последовательности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2837180"/>
          </a:xfrm>
          <a:prstGeom prst="roundRect">
            <a:avLst>
              <a:gd name="adj" fmla="val 3581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IEnumerable&lt;int&gt; Naturals()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(var i = 1; ; i++)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yield return i;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бесконечная последовательность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IEnumerable&lt;T&gt; MyTake&lt;T&gt;(this IEnumerable&lt;T&gt; source, int n)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(n &lt;= 0) yield break;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завершить последовательность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...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ПРОВАЙДЕРЫ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IEnumerable и IQueryable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23070"/>
            <a:ext cx="5207000" cy="1591310"/>
          </a:xfrm>
          <a:prstGeom prst="roundRect">
            <a:avLst>
              <a:gd name="adj" fmla="val 6385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23070"/>
            <a:ext cx="5207000" cy="1591310"/>
          </a:xfrm>
          <a:custGeom>
            <a:avLst/>
            <a:gdLst/>
            <a:ahLst/>
            <a:cxnLst/>
            <a:rect l="l" t="t" r="r" b="b"/>
            <a:pathLst>
              <a:path w="5207000" h="1591310">
                <a:moveTo>
                  <a:pt x="101600" y="1591310"/>
                </a:moveTo>
                <a:lnTo>
                  <a:pt x="101600" y="15913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89710"/>
                </a:lnTo>
                <a:arcTo hR="101600" wR="63500" stAng="108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26270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IEnumerable&lt;T&gt; · LINQ to Objects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161555"/>
            <a:ext cx="4907991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Where(Func&lt;T, bool&gt; predicate)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458715"/>
            <a:ext cx="490799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Лямбда-выражение компилируется в делегат и выполняется в процессе приложения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23070"/>
            <a:ext cx="5207000" cy="1591310"/>
          </a:xfrm>
          <a:prstGeom prst="roundRect">
            <a:avLst>
              <a:gd name="adj" fmla="val 6385"/>
            </a:avLst>
          </a:prstGeom>
          <a:solidFill>
            <a:srgbClr val="ECEFF3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623070"/>
            <a:ext cx="5207000" cy="1591310"/>
          </a:xfrm>
          <a:custGeom>
            <a:avLst/>
            <a:gdLst/>
            <a:ahLst/>
            <a:cxnLst/>
            <a:rect l="l" t="t" r="r" b="b"/>
            <a:pathLst>
              <a:path w="5207000" h="1591310">
                <a:moveTo>
                  <a:pt x="101600" y="1591310"/>
                </a:moveTo>
                <a:lnTo>
                  <a:pt x="101600" y="15913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489710"/>
                </a:lnTo>
                <a:arcTo hR="101600" wR="63500" stAng="108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11" name="Text 9"/>
          <p:cNvSpPr/>
          <p:nvPr/>
        </p:nvSpPr>
        <p:spPr>
          <a:xfrm>
            <a:off x="6410960" y="1826270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IQueryable&lt;T&gt; · LINQ-провайдеры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0960" y="2161555"/>
            <a:ext cx="4907991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56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Where(Expression&lt;Func&lt;T, bool&gt;&gt; predicate)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0960" y="2458715"/>
            <a:ext cx="490799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Лямбда-выражение становится деревом выражений, провайдер транслирует его, например, в SQL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417565"/>
            <a:ext cx="10566400" cy="1732280"/>
          </a:xfrm>
          <a:prstGeom prst="roundRect">
            <a:avLst>
              <a:gd name="adj" fmla="val 5865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IQueryable&lt;Student&gt; q = db.Students.Where(s =&gt; s.Age &gt; 18);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EF Core: SELECT ... FROM Students WHERE Age &gt; 18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IEnumerable&lt;Student&gt; e = db.Students;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adults = e.Where(s =&gt; s.Age &gt; 18);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Enumerable.Where: вся таблица загружается в память и фильтруется там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ДЕРЕВЬЯ ВЫРАЖЕНИЙ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Expression: лямбда-выражение как данные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6096000" cy="2837180"/>
          </a:xfrm>
          <a:prstGeom prst="roundRect">
            <a:avLst>
              <a:gd name="adj" fmla="val 3581"/>
            </a:avLst>
          </a:prstGeom>
          <a:solidFill>
            <a:srgbClr val="EEF1F5"/>
          </a:solidFill>
          <a:ln/>
        </p:spPr>
        <p:txBody>
          <a:bodyPr wrap="none" lIns="224242" tIns="173442" rIns="56602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Func&lt;int, int&gt; f = x =&gt; x * 2 + 1;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код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Expression&lt;Func&lt;int, int&gt;&gt; e = x =&gt; x * 2 + 1;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дерево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Console.WriteLine(e);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x =&gt; ((x * 2) + 1)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body = (BinaryExpression)e.Body;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Console.WriteLine(body.NodeType);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Add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Console.WriteLine(body.Left);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(x * 2)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Console.WriteLine(body.Right);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compiled = e.Compile();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Console.WriteLine(compiled(5));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4612655"/>
            <a:ext cx="627888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Expression компилятор строит не код, а дерево объектов. Его можно обойти, проанализировать, перевести на другой язык или скомпилировать.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75750" y="1993900"/>
            <a:ext cx="1270000" cy="426720"/>
          </a:xfrm>
          <a:custGeom>
            <a:avLst/>
            <a:gdLst/>
            <a:ahLst/>
            <a:cxnLst/>
            <a:rect l="l" t="t" r="r" b="b"/>
            <a:pathLst>
              <a:path w="1270000" h="426720">
                <a:moveTo>
                  <a:pt x="76200" y="0"/>
                </a:moveTo>
                <a:lnTo>
                  <a:pt x="1193800" y="0"/>
                </a:lnTo>
                <a:arcTo hR="76200" wR="76200" stAng="16200000" swAng="5400000"/>
                <a:lnTo>
                  <a:pt x="1270000" y="350520"/>
                </a:lnTo>
                <a:arcTo hR="76200" wR="76200" stAng="0" swAng="5400000"/>
                <a:lnTo>
                  <a:pt x="76200" y="426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0" tIns="114300" rIns="0" bIns="8890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7F8F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Lambda 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82100" y="2952750"/>
            <a:ext cx="1257300" cy="434340"/>
          </a:xfrm>
          <a:custGeom>
            <a:avLst/>
            <a:gdLst/>
            <a:ahLst/>
            <a:cxnLst/>
            <a:rect l="l" t="t" r="r" b="b"/>
            <a:pathLst>
              <a:path w="1257300" h="434340">
                <a:moveTo>
                  <a:pt x="69850" y="0"/>
                </a:moveTo>
                <a:lnTo>
                  <a:pt x="1187450" y="0"/>
                </a:lnTo>
                <a:arcTo hR="69850" wR="69850" stAng="16200000" swAng="5400000"/>
                <a:lnTo>
                  <a:pt x="1257300" y="364490"/>
                </a:lnTo>
                <a:arcTo hR="69850" wR="69850" stAng="0" swAng="5400000"/>
                <a:lnTo>
                  <a:pt x="69850" y="43434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3F1E7"/>
          </a:solidFill>
          <a:ln w="12700">
            <a:solidFill>
              <a:srgbClr val="1E7D3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4850" y="3968750"/>
            <a:ext cx="1257300" cy="434340"/>
          </a:xfrm>
          <a:custGeom>
            <a:avLst/>
            <a:gdLst/>
            <a:ahLst/>
            <a:cxnLst/>
            <a:rect l="l" t="t" r="r" b="b"/>
            <a:pathLst>
              <a:path w="1257300" h="434340">
                <a:moveTo>
                  <a:pt x="69850" y="0"/>
                </a:moveTo>
                <a:lnTo>
                  <a:pt x="1187450" y="0"/>
                </a:lnTo>
                <a:arcTo hR="69850" wR="69850" stAng="16200000" swAng="5400000"/>
                <a:lnTo>
                  <a:pt x="1257300" y="364490"/>
                </a:lnTo>
                <a:arcTo hR="69850" wR="69850" stAng="0" swAng="5400000"/>
                <a:lnTo>
                  <a:pt x="69850" y="43434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3F1E7"/>
          </a:solidFill>
          <a:ln w="12700">
            <a:solidFill>
              <a:srgbClr val="1E7D3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Multiply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39350" y="3968750"/>
            <a:ext cx="1257300" cy="434340"/>
          </a:xfrm>
          <a:custGeom>
            <a:avLst/>
            <a:gdLst/>
            <a:ahLst/>
            <a:cxnLst/>
            <a:rect l="l" t="t" r="r" b="b"/>
            <a:pathLst>
              <a:path w="1257300" h="434340">
                <a:moveTo>
                  <a:pt x="69850" y="0"/>
                </a:moveTo>
                <a:lnTo>
                  <a:pt x="1187450" y="0"/>
                </a:lnTo>
                <a:arcTo hR="69850" wR="69850" stAng="16200000" swAng="5400000"/>
                <a:lnTo>
                  <a:pt x="1257300" y="364490"/>
                </a:lnTo>
                <a:arcTo hR="69850" wR="69850" stAng="0" swAng="5400000"/>
                <a:lnTo>
                  <a:pt x="69850" y="43434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CEFF3"/>
          </a:solidFill>
          <a:ln w="12700">
            <a:solidFill>
              <a:srgbClr val="5F6B7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Constant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6350" y="4984750"/>
            <a:ext cx="1257300" cy="434340"/>
          </a:xfrm>
          <a:custGeom>
            <a:avLst/>
            <a:gdLst/>
            <a:ahLst/>
            <a:cxnLst/>
            <a:rect l="l" t="t" r="r" b="b"/>
            <a:pathLst>
              <a:path w="1257300" h="434340">
                <a:moveTo>
                  <a:pt x="69850" y="0"/>
                </a:moveTo>
                <a:lnTo>
                  <a:pt x="1187450" y="0"/>
                </a:lnTo>
                <a:arcTo hR="69850" wR="69850" stAng="16200000" swAng="5400000"/>
                <a:lnTo>
                  <a:pt x="1257300" y="364490"/>
                </a:lnTo>
                <a:arcTo hR="69850" wR="69850" stAng="0" swAng="5400000"/>
                <a:lnTo>
                  <a:pt x="69850" y="43434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CEFF3"/>
          </a:solidFill>
          <a:ln w="12700">
            <a:solidFill>
              <a:srgbClr val="5F6B7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Parameter 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23350" y="4984750"/>
            <a:ext cx="1257300" cy="434340"/>
          </a:xfrm>
          <a:custGeom>
            <a:avLst/>
            <a:gdLst/>
            <a:ahLst/>
            <a:cxnLst/>
            <a:rect l="l" t="t" r="r" b="b"/>
            <a:pathLst>
              <a:path w="1257300" h="434340">
                <a:moveTo>
                  <a:pt x="69850" y="0"/>
                </a:moveTo>
                <a:lnTo>
                  <a:pt x="1187450" y="0"/>
                </a:lnTo>
                <a:arcTo hR="69850" wR="69850" stAng="16200000" swAng="5400000"/>
                <a:lnTo>
                  <a:pt x="1257300" y="364490"/>
                </a:lnTo>
                <a:arcTo hR="69850" wR="69850" stAng="0" swAng="5400000"/>
                <a:lnTo>
                  <a:pt x="69850" y="43434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ECEFF3"/>
          </a:solidFill>
          <a:ln w="12700">
            <a:solidFill>
              <a:srgbClr val="5F6B7A"/>
            </a:solidFill>
            <a:prstDash val="solid"/>
          </a:ln>
        </p:spPr>
        <p:txBody>
          <a:bodyPr wrap="square" lIns="0" tIns="118110" rIns="0" bIns="9271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Constant 2</a:t>
            </a:r>
            <a:endParaRPr lang="en-US" sz="1200" dirty="0"/>
          </a:p>
        </p:txBody>
      </p:sp>
      <p:pic>
        <p:nvPicPr>
          <p:cNvPr id="12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59950" y="2381250"/>
            <a:ext cx="101600" cy="615950"/>
          </a:xfrm>
          <a:prstGeom prst="rect">
            <a:avLst/>
          </a:prstGeom>
        </p:spPr>
      </p:pic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02700" y="3333750"/>
            <a:ext cx="958850" cy="679450"/>
          </a:xfrm>
          <a:prstGeom prst="rect">
            <a:avLst/>
          </a:prstGeom>
        </p:spPr>
      </p:pic>
      <p:pic>
        <p:nvPicPr>
          <p:cNvPr id="1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59950" y="3333750"/>
            <a:ext cx="958850" cy="679450"/>
          </a:xfrm>
          <a:prstGeom prst="rect">
            <a:avLst/>
          </a:prstGeom>
        </p:spPr>
      </p:pic>
      <p:pic>
        <p:nvPicPr>
          <p:cNvPr id="1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04200" y="4349750"/>
            <a:ext cx="800100" cy="679450"/>
          </a:xfrm>
          <a:prstGeom prst="rect">
            <a:avLst/>
          </a:prstGeom>
        </p:spPr>
      </p:pic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02700" y="4349750"/>
            <a:ext cx="800100" cy="679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ДЕРЕВЬЯ ВЫРАЖЕНИЙ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дерева: транслятор условия в SQL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566400" cy="4033520"/>
          </a:xfrm>
          <a:prstGeom prst="roundRect">
            <a:avLst>
              <a:gd name="adj" fmla="val 2519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string ToSql(Expression e) =&gt; e switch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BinaryExpression b =&gt; $"({ToSql(b.Left)} {Op(b.NodeType)} {ToSql(b.Right)})",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MemberExpression m =&gt; m.Member.Name,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ConstantExpression { Value: string s } =&gt; $"'{s}'",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ConstantExpression c =&gt; $"{c.Value}",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_ =&gt; throw new NotSupportedException(e.NodeType.ToString())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string Op(ExpressionType t) =&gt; t switch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ExpressionType.GreaterThan =&gt; "&gt;", ExpressionType.Equal =&gt; "=",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ExpressionType.AndAlso =&gt; "AND", _ =&gt; throw new NotSupportedException()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Expression&lt;Func&lt;Student, bool&gt;&gt; filter = s =&gt; s.Age &gt; 18 &amp;&amp; s.Group == "25.Б41";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ToSql(filter.Body);  </a:t>
            </a:r>
            <a:r>
              <a:rPr lang="en-US" sz="1200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((Age &gt; 18) AND (Group = '25.Б41'))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· ПРОВАЙДЕРЫ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 LINQ-провайдер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61182"/>
            <a:ext cx="2260600" cy="1542415"/>
          </a:xfrm>
          <a:prstGeom prst="roundRect">
            <a:avLst>
              <a:gd name="adj" fmla="val 6587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61182"/>
            <a:ext cx="2260600" cy="1542415"/>
          </a:xfrm>
          <a:custGeom>
            <a:avLst/>
            <a:gdLst/>
            <a:ahLst/>
            <a:cxnLst/>
            <a:rect l="l" t="t" r="r" b="b"/>
            <a:pathLst>
              <a:path w="2260600" h="154241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974528"/>
            <a:ext cx="19621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Запрос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0600" y="2297113"/>
            <a:ext cx="196215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вызовов методов класса Queryable</a:t>
            </a:r>
            <a:endParaRPr lang="en-US" sz="15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5000" y="2443485"/>
            <a:ext cx="3048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81400" y="1761182"/>
            <a:ext cx="2260600" cy="1542415"/>
          </a:xfrm>
          <a:prstGeom prst="roundRect">
            <a:avLst>
              <a:gd name="adj" fmla="val 6587"/>
            </a:avLst>
          </a:prstGeom>
          <a:solidFill>
            <a:srgbClr val="ECEFF3"/>
          </a:solidFill>
          <a:ln/>
        </p:spPr>
      </p:sp>
      <p:sp>
        <p:nvSpPr>
          <p:cNvPr id="10" name="Shape 7"/>
          <p:cNvSpPr/>
          <p:nvPr/>
        </p:nvSpPr>
        <p:spPr>
          <a:xfrm>
            <a:off x="3581400" y="1761182"/>
            <a:ext cx="2260600" cy="1542415"/>
          </a:xfrm>
          <a:custGeom>
            <a:avLst/>
            <a:gdLst/>
            <a:ahLst/>
            <a:cxnLst/>
            <a:rect l="l" t="t" r="r" b="b"/>
            <a:pathLst>
              <a:path w="2260600" h="154241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11" name="Text 8"/>
          <p:cNvSpPr/>
          <p:nvPr/>
        </p:nvSpPr>
        <p:spPr>
          <a:xfrm>
            <a:off x="3759200" y="1974528"/>
            <a:ext cx="19621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Дерево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59200" y="2297113"/>
            <a:ext cx="196215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вызов добавляет узел в Expression</a:t>
            </a:r>
            <a:endParaRPr lang="en-US" sz="15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443485"/>
            <a:ext cx="3048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0000" y="1761182"/>
            <a:ext cx="2260600" cy="1542415"/>
          </a:xfrm>
          <a:prstGeom prst="roundRect">
            <a:avLst>
              <a:gd name="adj" fmla="val 6587"/>
            </a:avLst>
          </a:prstGeom>
          <a:solidFill>
            <a:srgbClr val="ECEFF3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0000" y="1761182"/>
            <a:ext cx="2260600" cy="1542415"/>
          </a:xfrm>
          <a:custGeom>
            <a:avLst/>
            <a:gdLst/>
            <a:ahLst/>
            <a:cxnLst/>
            <a:rect l="l" t="t" r="r" b="b"/>
            <a:pathLst>
              <a:path w="2260600" h="154241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16" name="Text 12"/>
          <p:cNvSpPr/>
          <p:nvPr/>
        </p:nvSpPr>
        <p:spPr>
          <a:xfrm>
            <a:off x="6527800" y="1974528"/>
            <a:ext cx="19621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Выполнение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27800" y="2297113"/>
            <a:ext cx="196215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или ToList() вызывает Provider.Execute</a:t>
            </a:r>
            <a:endParaRPr lang="en-US" sz="15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2443485"/>
            <a:ext cx="3048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18600" y="1623070"/>
            <a:ext cx="2260600" cy="1818640"/>
          </a:xfrm>
          <a:prstGeom prst="roundRect">
            <a:avLst>
              <a:gd name="adj" fmla="val 5587"/>
            </a:avLst>
          </a:prstGeom>
          <a:solidFill>
            <a:srgbClr val="ECEFF3"/>
          </a:solidFill>
          <a:ln/>
        </p:spPr>
      </p:sp>
      <p:sp>
        <p:nvSpPr>
          <p:cNvPr id="20" name="Shape 15"/>
          <p:cNvSpPr/>
          <p:nvPr/>
        </p:nvSpPr>
        <p:spPr>
          <a:xfrm>
            <a:off x="9118600" y="1623070"/>
            <a:ext cx="2260600" cy="1818640"/>
          </a:xfrm>
          <a:custGeom>
            <a:avLst/>
            <a:gdLst/>
            <a:ahLst/>
            <a:cxnLst/>
            <a:rect l="l" t="t" r="r" b="b"/>
            <a:pathLst>
              <a:path w="2260600" h="18186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21" name="Text 16"/>
          <p:cNvSpPr/>
          <p:nvPr/>
        </p:nvSpPr>
        <p:spPr>
          <a:xfrm>
            <a:off x="9296400" y="1836415"/>
            <a:ext cx="19621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Трансляция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296400" y="2159000"/>
            <a:ext cx="196215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Провайдер строит SQL, HTTP-запрос или запрос к MongoDB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12800" y="3644900"/>
            <a:ext cx="6049407" cy="1732280"/>
          </a:xfrm>
          <a:prstGeom prst="roundRect">
            <a:avLst>
              <a:gd name="adj" fmla="val 5865"/>
            </a:avLst>
          </a:prstGeom>
          <a:solidFill>
            <a:srgbClr val="EEF1F5"/>
          </a:solidFill>
          <a:ln/>
        </p:spPr>
        <p:txBody>
          <a:bodyPr wrap="none" lIns="224242" tIns="173442" rIns="58000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 interface IQueryProvider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IQueryable&lt;T&gt; CreateQuery&lt;T&gt;(Expression expression);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TResult Execute&lt;TResult&gt;(Expression expression);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и негенерические версии этих методов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065407" y="3644900"/>
            <a:ext cx="4313793" cy="1506855"/>
          </a:xfrm>
          <a:prstGeom prst="roundRect">
            <a:avLst>
              <a:gd name="adj" fmla="val 6743"/>
            </a:avLst>
          </a:prstGeom>
          <a:solidFill>
            <a:srgbClr val="ECEFF3"/>
          </a:solidFill>
          <a:ln/>
        </p:spPr>
      </p:sp>
      <p:sp>
        <p:nvSpPr>
          <p:cNvPr id="25" name="Text 20"/>
          <p:cNvSpPr/>
          <p:nvPr/>
        </p:nvSpPr>
        <p:spPr>
          <a:xfrm>
            <a:off x="7243207" y="3822700"/>
            <a:ext cx="407693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провайдеров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7327027" y="4145285"/>
            <a:ext cx="3985499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 - SQL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C# Driver - запросы MongoDB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OData - параметры URL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0000">
                <a:srgbClr val="F7F8FA"/>
              </a:gs>
            </a:gsLst>
            <a:lin ang="1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476500"/>
            <a:ext cx="254279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719195" y="2921000"/>
            <a:ext cx="788980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719195" y="3634755"/>
            <a:ext cx="788980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Вариантность, запросы LINQ и отложенное исполнение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выведет программа?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раз будет вызвано лямбда-выражение внутри Select?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20900"/>
            <a:ext cx="10566400" cy="2457450"/>
          </a:xfrm>
          <a:prstGeom prst="roundRect">
            <a:avLst>
              <a:gd name="adj" fmla="val 4134"/>
            </a:avLst>
          </a:prstGeom>
          <a:solidFill>
            <a:srgbClr val="EEF1F5"/>
          </a:solidFill>
          <a:ln/>
        </p:spPr>
        <p:txBody>
          <a:bodyPr wrap="none" lIns="249642" tIns="198842" rIns="0" bIns="1734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calls =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squares = Enumerable.Range(1, 3)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.Select(x =&gt; { calls++; return x * x; });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Console.WriteLine(squares.Sum());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Console.WriteLine(squares.Max());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Console.WriteLine(calls);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Запросы к данным о студентах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Используйте коллекции students и grades со слайда «Данные для примеров». Каждую задачу решите одним запросом LINQ.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415555"/>
            <a:ext cx="5232400" cy="812800"/>
          </a:xfrm>
          <a:prstGeom prst="roundRect">
            <a:avLst>
              <a:gd name="adj" fmla="val 9375"/>
            </a:avLst>
          </a:prstGeom>
          <a:solidFill>
            <a:srgbClr val="ECEFF3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555255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9599" y="2555255"/>
            <a:ext cx="47666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Имена студентов старше 18 лет в верхнем регистре, по убыванию возраста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46800" y="2415555"/>
            <a:ext cx="5232400" cy="812800"/>
          </a:xfrm>
          <a:prstGeom prst="roundRect">
            <a:avLst>
              <a:gd name="adj" fmla="val 9375"/>
            </a:avLst>
          </a:prstGeom>
          <a:solidFill>
            <a:srgbClr val="ECEFF3"/>
          </a:solidFill>
          <a:ln/>
        </p:spPr>
      </p:sp>
      <p:sp>
        <p:nvSpPr>
          <p:cNvPr id="9" name="Text 7"/>
          <p:cNvSpPr/>
          <p:nvPr/>
        </p:nvSpPr>
        <p:spPr>
          <a:xfrm>
            <a:off x="6324600" y="2555255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3600" y="2555255"/>
            <a:ext cx="47666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оценок у каждого студента, включая студентов без оценок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00" y="3329955"/>
            <a:ext cx="5232400" cy="563880"/>
          </a:xfrm>
          <a:prstGeom prst="roundRect">
            <a:avLst>
              <a:gd name="adj" fmla="val 13514"/>
            </a:avLst>
          </a:prstGeom>
          <a:solidFill>
            <a:srgbClr val="EC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469655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9599" y="3469655"/>
            <a:ext cx="47666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с наибольшим средним баллом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6800" y="3329955"/>
            <a:ext cx="5232400" cy="563880"/>
          </a:xfrm>
          <a:prstGeom prst="roundRect">
            <a:avLst>
              <a:gd name="adj" fmla="val 13514"/>
            </a:avLst>
          </a:prstGeom>
          <a:solidFill>
            <a:srgbClr val="EC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600" y="3469655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3600" y="3469655"/>
            <a:ext cx="47666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Студенты, у которых все оценки равны 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00" y="3995415"/>
            <a:ext cx="5232400" cy="563880"/>
          </a:xfrm>
          <a:prstGeom prst="roundRect">
            <a:avLst>
              <a:gd name="adj" fmla="val 13514"/>
            </a:avLst>
          </a:prstGeom>
          <a:solidFill>
            <a:srgbClr val="ECEFF3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4135115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9599" y="4135115"/>
            <a:ext cx="47666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студента с наибольшим средним баллом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46800" y="3995415"/>
            <a:ext cx="5232400" cy="563880"/>
          </a:xfrm>
          <a:prstGeom prst="roundRect">
            <a:avLst>
              <a:gd name="adj" fmla="val 13514"/>
            </a:avLst>
          </a:prstGeom>
          <a:solidFill>
            <a:srgbClr val="EC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600" y="4135115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3600" y="4135115"/>
            <a:ext cx="47666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 «группа → количество студентов»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2800" y="4660900"/>
            <a:ext cx="5232400" cy="563880"/>
          </a:xfrm>
          <a:prstGeom prst="roundRect">
            <a:avLst>
              <a:gd name="adj" fmla="val 13514"/>
            </a:avLst>
          </a:prstGeom>
          <a:solidFill>
            <a:srgbClr val="ECEFF3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4800600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9599" y="4800600"/>
            <a:ext cx="47666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балл по каждой группе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46800" y="4660900"/>
            <a:ext cx="5232400" cy="563880"/>
          </a:xfrm>
          <a:prstGeom prst="roundRect">
            <a:avLst>
              <a:gd name="adj" fmla="val 13514"/>
            </a:avLst>
          </a:prstGeom>
          <a:solidFill>
            <a:srgbClr val="ECEFF3"/>
          </a:solidFill>
          <a:ln/>
        </p:spPr>
      </p:sp>
      <p:sp>
        <p:nvSpPr>
          <p:cNvPr id="27" name="Text 25"/>
          <p:cNvSpPr/>
          <p:nvPr/>
        </p:nvSpPr>
        <p:spPr>
          <a:xfrm>
            <a:off x="6324600" y="4800600"/>
            <a:ext cx="17279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3600" y="4800600"/>
            <a:ext cx="47666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Курсы, по которым все оценки не ниже 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2800" y="5427985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Дополнительно:</a:t>
            </a:r>
            <a:r>
              <a:rPr lang="en-US" sz="1500" dirty="0">
                <a:solidFill>
                  <a:srgbClr val="245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запишите задачи 5 и 7 в синтаксисе запросов.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выведет программа?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какой строке возникнет исключение и возникнет ли оно вообще?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20900"/>
            <a:ext cx="10566400" cy="2457450"/>
          </a:xfrm>
          <a:prstGeom prst="roundRect">
            <a:avLst>
              <a:gd name="adj" fmla="val 4134"/>
            </a:avLst>
          </a:prstGeom>
          <a:solidFill>
            <a:srgbClr val="EEF1F5"/>
          </a:solidFill>
          <a:ln/>
        </p:spPr>
        <p:txBody>
          <a:bodyPr wrap="none" lIns="249642" tIns="198842" rIns="0" bIns="1734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numbers = new List&lt;int&gt; { 1, 2, 0, 4 };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query = numbers.Select(n =&gt; 10 / n);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Console.WriteLine("запрос построен");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Console.WriteLine(query.First());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Console.WriteLine(query.Take(2).Sum());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Console.WriteLine(query.Count());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выведет программа?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Предскажите вывод, не запуская код, и объясните порядок строк.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20900"/>
            <a:ext cx="10566400" cy="3263900"/>
          </a:xfrm>
          <a:prstGeom prst="roundRect">
            <a:avLst>
              <a:gd name="adj" fmla="val 3113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source = new List&lt;int&gt; { 1, 2, 3, 4, 5 };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limit = 2;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query = source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.Where(n =&gt; { Console.Write($"w{n} "); return n &gt; limit; })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.Select(n =&gt; { Console.Write($"s{n} "); return n * 10; });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limit = 3;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source.Add(6);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foreach (var x in query.Take(2))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Console.Write($"[{x}] ");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строки скомпилируются?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каждой строки определите, скомпилируется ли она, и объясните почему.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20900"/>
            <a:ext cx="10566400" cy="1549400"/>
          </a:xfrm>
          <a:prstGeom prst="roundRect">
            <a:avLst>
              <a:gd name="adj" fmla="val 6557"/>
            </a:avLst>
          </a:prstGeom>
          <a:solidFill>
            <a:srgbClr val="EEF1F5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IEnumerable&lt;object&gt; a = new List&lt;string&gt;();  </a:t>
            </a:r>
            <a:r>
              <a:rPr lang="en-US" sz="15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List&lt;object&gt; b = new List&lt;string&gt;();  </a:t>
            </a:r>
            <a:r>
              <a:rPr lang="en-US" sz="15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2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Action&lt;string&gt; c = (Action&lt;object&gt;)(o =&gt; { });  </a:t>
            </a:r>
            <a:r>
              <a:rPr lang="en-US" sz="15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3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Action&lt;object&gt; d = (Action&lt;string&gt;)(s =&gt; { });  </a:t>
            </a:r>
            <a:r>
              <a:rPr lang="en-US" sz="1500" dirty="0">
                <a:solidFill>
                  <a:srgbClr val="5F6B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6 · ДОПОЛНИТЕЛЬНО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выведет программа?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 с задачей 4: в каком порядке будут напечатаны w и элементы?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20900"/>
            <a:ext cx="10566400" cy="2590800"/>
          </a:xfrm>
          <a:prstGeom prst="roundRect">
            <a:avLst>
              <a:gd name="adj" fmla="val 3922"/>
            </a:avLst>
          </a:prstGeom>
          <a:solidFill>
            <a:srgbClr val="EEF1F5"/>
          </a:solidFill>
          <a:ln/>
        </p:spPr>
        <p:txBody>
          <a:bodyPr wrap="non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int[] numbers = [5, 3, 8, 1];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 query = numbers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.Where(n =&gt; { Console.Write($"w{n} "); return n &gt; 2; })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.OrderBy(n =&gt; n);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foreach (var x in query)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Console.Write($"[{x}] ");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5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ЗАДАЧА 7 · ДОПОЛНИТЕЛЬНО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00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выведет программа?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23070"/>
            <a:ext cx="1088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фрагмента строят фильтр «делится на 2 и на 3». Совпадёт ли результат?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20900"/>
            <a:ext cx="10566400" cy="2857500"/>
          </a:xfrm>
          <a:prstGeom prst="roundRect">
            <a:avLst>
              <a:gd name="adj" fmla="val 3556"/>
            </a:avLst>
          </a:prstGeom>
          <a:solidFill>
            <a:srgbClr val="EEF1F5"/>
          </a:solidFill>
          <a:ln/>
        </p:spPr>
        <p:txBody>
          <a:bodyPr wrap="non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IEnumerable&lt;int&gt; a = Enumerable.Range(1, 10);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 (int i = 2; i &lt;= 3; i++)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 = a.Where(x =&gt; x % i == 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Console.WriteLine(string.Join(", ", a));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IEnumerable&lt;int&gt; b = Enumerable.Range(1, 10);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foreach (var d in new[] { 2, 3 })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b = b.Where(x =&gt; x % d == 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Console.WriteLine(string.Join(", ", b));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66400" y="633983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7F8FA"/>
              </a:gs>
              <a:gs pos="55000">
                <a:srgbClr val="F7F8FA"/>
              </a:gs>
              <a:gs pos="100000">
                <a:srgbClr val="DCEFE1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7112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412230"/>
            <a:ext cx="3420507" cy="3381375"/>
          </a:xfrm>
          <a:prstGeom prst="roundRect">
            <a:avLst>
              <a:gd name="adj" fmla="val 3005"/>
            </a:avLst>
          </a:prstGeom>
          <a:solidFill>
            <a:srgbClr val="ECEFF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412230"/>
            <a:ext cx="3420507" cy="3381375"/>
          </a:xfrm>
          <a:custGeom>
            <a:avLst/>
            <a:gdLst/>
            <a:ahLst/>
            <a:cxnLst/>
            <a:rect l="l" t="t" r="r" b="b"/>
            <a:pathLst>
              <a:path w="3420507" h="338137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E7D3A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676400"/>
            <a:ext cx="305220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7D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2169170"/>
            <a:ext cx="305220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1400" y="2529830"/>
            <a:ext cx="3052206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ограничивает доступ к делегату: извне доступны только += и −=.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1400" y="3460105"/>
            <a:ext cx="3052206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Операторы += и −= вызывают add и remove, а те вызывают Delegate.Combine и Delegate.Remove.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5707" y="1412230"/>
            <a:ext cx="3420586" cy="3381375"/>
          </a:xfrm>
          <a:prstGeom prst="roundRect">
            <a:avLst>
              <a:gd name="adj" fmla="val 3005"/>
            </a:avLst>
          </a:prstGeom>
          <a:solidFill>
            <a:srgbClr val="ECEFF3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1412230"/>
            <a:ext cx="3420586" cy="3381375"/>
          </a:xfrm>
          <a:custGeom>
            <a:avLst/>
            <a:gdLst/>
            <a:ahLst/>
            <a:cxnLst/>
            <a:rect l="l" t="t" r="r" b="b"/>
            <a:pathLst>
              <a:path w="3420586" h="338137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86" y="0"/>
                </a:lnTo>
                <a:arcTo hR="101600" wR="101600" stAng="16200000" swAng="5400000"/>
                <a:lnTo>
                  <a:pt x="3420586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456B8"/>
          </a:solidFill>
          <a:ln/>
        </p:spPr>
      </p:sp>
      <p:sp>
        <p:nvSpPr>
          <p:cNvPr id="12" name="Text 10"/>
          <p:cNvSpPr/>
          <p:nvPr/>
        </p:nvSpPr>
        <p:spPr>
          <a:xfrm>
            <a:off x="4614307" y="1676400"/>
            <a:ext cx="305228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456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4307" y="2169170"/>
            <a:ext cx="305228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4307" y="2529830"/>
            <a:ext cx="305228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 является функцией над типами.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4307" y="3183880"/>
            <a:ext cx="305228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Чтение: out и ковариантность. Запись: in и контравариантность. Чтение и запись: инвариантность.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8693" y="1412230"/>
            <a:ext cx="3420507" cy="3381375"/>
          </a:xfrm>
          <a:prstGeom prst="roundRect">
            <a:avLst>
              <a:gd name="adj" fmla="val 3005"/>
            </a:avLst>
          </a:prstGeom>
          <a:solidFill>
            <a:srgbClr val="ECEF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8693" y="1412230"/>
            <a:ext cx="3420507" cy="3381375"/>
          </a:xfrm>
          <a:custGeom>
            <a:avLst/>
            <a:gdLst/>
            <a:ahLst/>
            <a:cxnLst/>
            <a:rect l="l" t="t" r="r" b="b"/>
            <a:pathLst>
              <a:path w="3420507" h="338137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B4541A"/>
          </a:solidFill>
          <a:ln/>
        </p:spPr>
      </p:sp>
      <p:sp>
        <p:nvSpPr>
          <p:cNvPr id="18" name="Text 16"/>
          <p:cNvSpPr/>
          <p:nvPr/>
        </p:nvSpPr>
        <p:spPr>
          <a:xfrm>
            <a:off x="8187293" y="1676400"/>
            <a:ext cx="305220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41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87293" y="2169170"/>
            <a:ext cx="305220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87293" y="2529830"/>
            <a:ext cx="3052206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Генерики, делегаты и методы-расширения; запрос выполняется отложенно.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87293" y="3460105"/>
            <a:ext cx="3052206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IQueryable передаёт провайдеру дерево выражений вместо скомпилированного кода.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66400" y="633983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обытия, генерики, LINQ">
  <a:themeElements>
    <a:clrScheme name="События, генерики, LINQ">
      <a:dk1>
        <a:srgbClr val="14213D"/>
      </a:dk1>
      <a:lt1>
        <a:srgbClr val="F7F8FA"/>
      </a:lt1>
      <a:dk2>
        <a:srgbClr val="4D576C"/>
      </a:dk2>
      <a:lt2>
        <a:srgbClr val="E0E3E7"/>
      </a:lt2>
      <a:accent1>
        <a:srgbClr val="1E7D3A"/>
      </a:accent1>
      <a:accent2>
        <a:srgbClr val="B4541A"/>
      </a:accent2>
      <a:accent3>
        <a:srgbClr val="2456B8"/>
      </a:accent3>
      <a:accent4>
        <a:srgbClr val="4A5568"/>
      </a:accent4>
      <a:accent5>
        <a:srgbClr val="5A6577"/>
      </a:accent5>
      <a:accent6>
        <a:srgbClr val="DCEFE1"/>
      </a:accent6>
      <a:hlink>
        <a:srgbClr val="0563C1"/>
      </a:hlink>
      <a:folHlink>
        <a:srgbClr val="954F72"/>
      </a:folHlink>
    </a:clrScheme>
    <a:fontScheme name="События, генерики, LINQ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События, генерики, LINQ</dc:title>
  <dc:subject/>
  <dc:creator/>
  <cp:lastModifiedBy/>
  <cp:revision>1</cp:revision>
  <dcterms:created xsi:type="dcterms:W3CDTF">2026-10-24T14:39:24Z</dcterms:created>
  <dcterms:modified xsi:type="dcterms:W3CDTF">2026-10-24T14:39:24Z</dcterms:modified>
</cp:coreProperties>
</file>