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embeddedFontLst>
    <p:embeddedFont>
      <p:font typeface="JetBrains Mono" panose="02000009000000000000" pitchFamily="49" charset="0"/>
      <p:regular r:id="rId69"/>
      <p:bold r:id="rId7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69" Type="http://schemas.openxmlformats.org/officeDocument/2006/relationships/font" Target="fonts/font1.fntdata"/><Relationship Id="rId7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Пара состоит из трёх теоретических частей и практики. События продолжают прошлую лекцию о делегатах: сегодня рассматриваем ключевое слово event, аксессоры add и remove и сравниваем подход C# с другими платформами. Раздел о генериках начинается с краткого теоретического введения, чтобы вариантность и PECS опирались на понятные определения. LINQ объединяет обе темы: генерики, делегаты и методы-расширения. В конце - практика по всем трём темам.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теоретические части и практика. Связь между частями: делегаты и лямбда-выражения из первой части вместе с генериками из второй - это те механизмы, на которых построен LINQ. Это стоит обозначить в начале, чтобы студенты видели общую цель.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Делегаты и цепочки делегатов рассматривались на прошлой лекции. Сегодня: зачем для событий введено отдельное ключевое слово и какие гарантии оно даёт.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Короткое напоминание. Главное: делегат хранит пару «объект + метод» (Target и Method), поэтому game.OnLeft вызовется именно у этого game, а не у какого-то абстрактного. Это отличие от указателя на функцию в C. Можно спросить аудиторию: что вернёт handler.Target для цепочки из двух? Ответ: цель последнего делегата, то есть logger.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прошлой лекции рассматривался вариант с методами RegisterLeftHandler: он безопасен, но требует однотипного кода для каждого события. Публичное поле избавляет от этого кода, но создаёт три проблемы. Главная из них - вторая: по смыслу событие может инициировать только объявивший его класс. Если событие вызывается посторонним кодом, установить причину поведения программы становится значительно сложнее.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Запись handler() является сокращением для handler.Invoke(). Оператор условного доступа ?. появился в C# 6; синтаксиса handler?() в языке нет, поэтому при безопасном вызове метод Invoke пишется явно. Делегат, на который никто не подписан, равен null, а не пустой цепочке, поэтому прямой вызов события без проверки является частой причиной NullReferenceException. До C# 6 потокобезопасный вариант выглядел так: var temp = handler; if (temp != null) temp(); Значение сначала копируется в локальную переменную, и её уже не изменит другой поток. Оператор ?. делает то же самое автоматически. Альтернатива: инициализировать событие пустым обработчиком, public event Action LeftHandler = () =&gt; { };, тогда оно никогда не равно null, но каждый вызов выполняет лишний пустой метод.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Ключевой слайд части. event - модификатор поля-делегата, который вне класса оставляет только две операции: += и −=. Присваивание, обнуление, вызов и чтение списка подписчиков извне запрещены: ошибка CS0070 «The event can only appear on the left hand side of += or -= (except when used from within the type)». Важная деталь: класс-наследник также считается внешним кодом и не может вызвать событие базового класса. Отсюда канонический шаблон с методом protected virtual OnXxx(EventArgs e): наследники вызывают событие через него и могут переопределить поведение.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Аналогия со свойствами: автосвойство порождает скрытое поле и методы get_X и set_X, событие, объявленное как поле, порождает скрытое поле и методы add_X и remove_X. В метаданных сборки дополнительно хранится запись о событии LeftHandler, которая связывает имя события с этими двумя методами; поэтому снаружи видно именно событие, а не два произвольных метода. Внутри класса имя LeftHandler обращается непосредственно к полю, поэтому там событие можно вызывать и обнулять. В ILSpy или dotPeek это хорошо видно. Код на слайде упрощён: настоящий add читает поле в цикле, вызывает Delegate.Combine и записывает результат через Interlocked.CompareExchange, чтобы одновременные подписки из разных потоков не терялись.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Важно различать два случая. Для обычной переменной или поля типа делегата оператор += сразу компилируется в Delegate.Combine с приведением типа (Combine возвращает Delegate). Для события снаружи класса += компилируется в вызов аксессора add, а уже внутри add (сгенерированного или вашего) обычно стоит тот же Combine. Если add написан вручную, там может быть что угодно - следующий слайд про это. Можно показать в SharpLab (sharplab.io), во что компилируется каждая строчка: это очень наглядно.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Главное свойство - неизменяемость: handler += x не изменяет существующий объект, а создаёт новый и присваивает его. Отсюда потокобезопасный приём var temp = handler; temp?.Invoke(): копия не изменится, даже если другой поток отменит подписку. Пункт о −= понадобится при сравнении с Java: в C# выражение game.OnLeft каждый раз создаёт новый делегат, но делегаты сравниваются по содержимому (объект и метод), поэтому отписка работает. Порядок вызова совпадает с порядком подписки, однако полагаться на него не следует: отправитель события не знает, кто на него подписан.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Ключевые слова add и remove - полный аналог get и set у свойства. Классический пример из книги Рихтера и из WinForms: у класса Control около сотни событий, а на форме могут быть сотни элементов управления; хранить отдельное поле для каждого события расточительно, поэтому все подписки хранятся в одном EventHandlerList, а ключом служит статический объект, свой для каждого события. Пример перенаправления: public event Action Clicked { add =&gt; innerButton.Clicked += value; remove =&gt; innerButton.Clicked -= value; }. Важное следствие: если add и remove реализованы явно, компилятор не создаёт поле, поэтому внутри класса нельзя написать LeftPressed(this, e) - вызывать обработчики нужно через собственное хранилище.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Слева подписка и отписка перехватываются ровно в тех точках, где они происходят: add получает добавляемый обработчик, remove получает удаляемый. Справа set получает уже готовую новую цепочку, и по ней нельзя понять, была ли это операция +=, -= или обычное присваивание. Кроме того, += для свойства состоит из трёх шагов: чтение через get, Delegate.Combine и запись через set; между ними значение может измениться. Предостережение: документация Microsoft не рекомендует переопределять виртуальные события, объявленные как поле (public virtual event Action MyEvent;), так как поведение подписки в таком случае трудно предсказать. Если переопределение необходимо, add и remove нужно явно перенаправлять в base, как на слайде. Стандартная альтернатива: невиртуальное событие и защищённый виртуальный метод protected virtual void OnMyEvent(), который наследник переопределяет.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Инкапсуляция вызова: событие базового класса нельзя вызвать даже из наследника, ошибка будет той же, CS0070. Поэтому в .NET принят шаблон protected virtual void OnMyEvent(EventArgs e): базовый класс сам решает, когда и как вызывать обработчики, а наследник может расширить это поведение, переопределив метод. Потокобезопасность: начиная с C# 4 компилятор генерирует add и remove для событий, объявленных как поле, через цикл с Interlocked.CompareExchange, поэтому одновременные подписки из разных потоков не теряются. Для свойства-делегата два потока могут одновременно прочитать старую цепочку через get, и одна из подписок будет потеряна при записи через set; lock внутри set этого не предотвращает, потому что чтение происходит до входа в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C++ делегатов нет, поэтому Qt расширяет язык с помощью генератора кода: moc (Meta-Object Compiler) обрабатывает заголовочные файлы с Q_OBJECT, signals и slots и генерирует C++-код с таблицами метаинформации. Начиная с Qt 5 функция connect принимает указатели на методы, и сигнатуры проверяются при компиляции; ранее использовались строковые макросы SIGNAL/SLOT с проверкой только во время выполнения. Преимущества стоит назвать: QueuedConnection позволяет безопасно вызвать слот в GUI-потоке из рабочего потока (в C# для этого нужен SynchronizationContext или Dispatcher), а при удалении объекта соединения разрываются автоматически (в C# неотменённая подписка приводит к утечке памяти). Главный недостаток по сравнению с event: в Qt 5 сигналы являются публичными методами, поэтому компилятор не гарантирует, что событие вызывает только его владелец.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Ближайший аналог событий C# в экосистеме Java - механизм событий Spring. Издатель получает ApplicationEventPublisher через внедрение зависимостей и публикует объект события; при запуске контейнера Spring находит все методы бинов с аннотацией @EventListener и группирует их по типу параметра. По сути это шина сообщений внутри приложения, а не событие конкретного объекта: подписаться на нажатие стрелки у определённого экземпляра EventLoop нельзя, подписка оформляется на тип LeftPressed от любого источника. Преимущества: слабая связность, асинхронная обработка через @Async, транзакционные события (@TransactionalEventListener). Недостаток: без Spring механизм недоступен, тогда как event в C# - часть языка и работает для любого объекта.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Ссылки на методы (game::onLeft) и лямбда-выражения появились в Java 8 и внешне похожи на C#. Однако за ними стоит объект, реализующий функциональный интерфейс, и у этого объекта нет содержательного equals: два вычисления game::onLeft, как правило, дают два разных объекта, и List.remove не находит первый. Корректный вариант: ArrowListener l = game::onLeft; loop.addLeft(l); ... loop.removeLeft(l). В C# делегаты сравниваются по паре Target и Method, поэтому −= game.OnLeft работает. Мультикаста в языке нет: java.beans.PropertyChangeSupport и EventListenerList из Swing - библиотечные реализации того же списка подписчиков.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Итог сравнения. У Qt есть возможности, которых нет в C# без дополнительных средств: межпоточные соединения и автоматическая отписка при удалении объекта. Однако по главному критерию - событие объявлено средствами языка, доступно любому классу и может быть вызвано только владельцем - подход C# предпочтительнее. Можно также упомянуть JavaScript (addEventListener и removeEventListener - та же проблема с отпиской анонимной функции, что и в Java) и Kotlin (собственного механизма событий нет, обычно используются Flow или списки лямбда-выражений).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Синтаксис генериков (List of T, собственные генерик-методы и классы, ограничения where) студентам знаком. Сегодня - что такое генерики с точки зрения теории типов и как они взаимодействуют с наследованием. Теоретическая часть занимает около десяти минут.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Две независимые оси: статическая/динамическая - когда проверяются типы; сильная/слабая - насколько язык позволяет неявные преобразования. Python динамический, но сильный; C - статический, но довольно слабый (указатели приводятся к произвольным типам). Парадокс Рассела: множество всех множеств, не содержащих себя, - содержит ли оно себя? Решение Рассела - теория типов, в которой множество и его элементы находятся на разных «уровнях». Отсюда и само слово «тип». Литература: Cardelli, Wegner, On understanding types, data abstraction, and polymorphism, 1985.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Классификация Карделли и Вегнера. Ad-hoc полиморфизм: набор типов заранее известен и конечен, а реализации могут быть совсем разными (Math.Abs для int и для double - разные методы). Пример 1 + 1.0 можно поддержать по-разному: перегрузить + четыре раза, перегрузить дважды и разрешить int → double, или вообще оставить только double + double. Универсальный полиморфизм применим к потенциально бесконечному множеству типов и исполняет один и тот же код. Подтипы - это наследование и принцип Лисков. Параметрический - функция с параметром-типом: id: T → T. Параметрический полиморфизм выразительнее: например, «возвращает тот же тип, что принял» через наследование не выразить - object Id(object x) теряет тип.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Язык - это несколько элементарных типов плюс конструкторы, из которых собираются сложные типы. Получается маленький «подъязык выражений над типами». На нём можно определить равенство. C# в основном использует равенство по имени: два record-а с одинаковыми полями - разные типы. Исключение - кортежи: (int, string) с любыми именами элементов - один и тот же тип ValueTuple of int, string. Пример с делегатом связывает с первой частью: Func of int, int и свой delegate F с той же сигнатурой несовместимы, потому что делегаты - классы и сравниваются по имени. Именно поэтому в библиотеке когда-то было много одинаковых несовместимых типов-делегатов, и появились Func и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Главная мысль теоретической части: генерик - не «класс с дыркой», а функция, которая принимает типы и возвращает тип. List сам по себе не тип - нельзя создать объект List без параметра. typeof(List с пустыми скобками) возвращает «открытый тип», это и есть функция до применения. List of int - закрытый тип, результат применения, и для CLR это полноценный отдельный тип со своим объектом Type и своими статическими полями. Отсюда ловушка: статическое поле в генерик-классе у каждого закрытого типа своё. В .NET для ссылочных параметров код генерируется один (как в Java), для value-типов - отдельный (как в C++), но, в отличие от Java, без стирания: тип T известен во время выполнения.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Отношение «быть подтипом» - частичный порядок: рефлексивно, транзитивно, антисимметрично. Но не полный: не любые два типа сравнимы. Cat и Dog - оба животные, но друг другу не подтипы; string и Animal вообще из разных ветвей. Стрелки на схеме идут от подтипа к надтипу, как в UML. Этот порядок нужен, чтобы задать главный вопрос следующего слайда: если на типах есть порядок, а генерик - функция над типами, то сохраняет ли эта функция порядок? То есть монотонна ли она.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 же понятия в обозначениях спецификации Java (JLS, раздел 4.10). На предыдущем слайде порядок записывался как A ≤ B (A является подтипом B); в спецификации Java он записывается в обратную сторону: B :&gt; A. Нестрогий порядок :&gt; допускает равенство, строгий &gt; его исключает. Отношение строится из прямых надтипов (&gt;₁: например, непосредственный базовый класс или реализуемый интерфейс) замыканием по рефлексивности и транзитивности. Последний пункт связывает отношение с принципом Лисков: подтип можно подставить вместо надтипа, только если надтип не обещает больше, чем умеет подтип. Формула внизу подводит к главному вопросу следующих слайдов: при каких условиях из S :&gt; T следует X of S :&gt; X of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Формальное определение. Генерик - функция над типами, на типах есть частичный порядок. Функция ковариантна, если монотонна: сохраняет порядок. Контравариантна, если антимонотонна: переворачивает. Инвариантна - если результаты вообще не связаны. Массивы по смыслу должны быть инвариантными, но в C# и Java они ковариантны; этому посвящён отдельный слайд. Перед следующим слайдом стоит спросить аудиторию: можно ли передать List of Cat туда, где ожидается List of Animal?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Центральный пример темы. Интуитивно кажется, что если кошка - животное, то и список кошек - список животных. Пример показывает, что в этом случае система типов оказалась бы некорректной: через ссылку animals в тот же объект добавляется собака. Вывод: вариантность определяется тем, какие операции выполняются над объектом - чтение или запись. Это и формулирует правило PECS на следующем слайде.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Мнемоника PECS предложена Джошуа Блохом для wildcard-типов Java, но применима к любому языку. Producer производит значения типа T, из него читают; вместо него можно подставить производителя более конкретного типа: источник кошек подходит туда, где ожидается источник животных. Consumer потребляет значения, в него записывают; вместо него можно подставить потребителя более общего типа: ветеринар для любых животных подходит туда, где нужен ветеринар для кошек. Ключевые слова C# out и in выражают то же самое: T только возвращается или только принимается. Наглядная аналогия: приют (выдаёт животных), ветеринар (принимает), вольер (и принимает, и выдаёт - инвариантен).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Главная мысль слайда: при ковариантности поведение уже определено внутри метода (PrintAll только читает), и вызывающий код подстраивается под него, передавая производителя более конкретного типа.Из IEnumerable элементы только читаются, поэтому код, работающий с животными, корректно работает и с кошками. Важно разделить два шага: List of Cat приводится к IEnumerable of Cat потому, что класс реализует интерфейс (вариантность здесь не участвует), а IEnumerable of Cat приводится к IEnumerable of Animal благодаря ковариантности. Инвариантность List проявилась бы, если бы метод принимал List of Animal: тогда этот вызов не скомпилировался бы. Практический вывод для студентов: параметры методов стоит объявлять самым общим подходящим интерфейсом. Если бы PrintAll принимал List of Animal, передать список кошек было бы нельзя. Другие ковариантные типы из BCL: IReadOnlyList of out T, IReadOnlyCollection of out T, Func of out TResult, IQueryable of out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Главная мысль слайда: при контравариантности поведение передаёт вызывающий код (компаратор, обработчик, Action), а метод будет его вызывать со своими значениями. Задача - передать поведение, безопасное для этих значений: обработчик более общего типа это гарантирует.Направление переворачивается: Cat ≤ Animal, но IComparer of Animal ≤ IComparer of Cat. Объект с более общей функциональностью (работает с любыми животными) подходит туда, где требуется более узкая (только кошки). Ещё примеры контравариантности из BCL: Action of in T, IEqualityComparer of in T, Predicate of in T. Самый короткий пример на доске: Action of object print = o =&gt; Console.WriteLine(o); Action of string printString = print; - кто печатает любой объект, напечатает и строку.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Иллюстрация из ответа на Stack Overflow. Левая половина: иерархия «источник энергии &gt; овощ &gt; бамбук», и для потребителей порядок переворачивается: потребитель всего, что горит, может заменить потребителя бамбука. Это контравариантность (in, ? super). Правая половина: «развлечения &gt; музыка &gt; метал», и порядок производителей совпадает с порядком типов: производитель метала может заменить производителя музыки. Это ковариантность (out, ? extends). Ссылку на тред стоит дать студентам для самостоятельного чтения.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Declaration-site variance: автор типа один раз решает, как тип ведёт себя относительно наследования, и пишет это в объявлении. Пользователям типа ничего указывать не нужно - преобразования выполняются автоматически. Func of in T, out TResult: контравариантен по аргументу, ковариантен по результату; поэтому Func of object, string подходит туда, где ждут Func of string, object. Здесь же ответ на вопрос из прошлой лекции, почему Func и Action не работают с ref и out параметрами: такой параметр и входит, и выходит, значит может быть только инвариантным. Ограничение на ссылочные типы: вариантное преобразование - это переиспользование того же объекта без копирования, а int и ссылка на object в памяти устроены по-разному. CS1961 - Invalid variance: T must be contravariantly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Java нет in и out в объявлении классов и интерфейсов. Вместо этого вариантность указывают каждый раз, когда тип используется, через wildcard: ? extends T - «какой-то подтип T», из такого списка можно читать как T, но нельзя писать (компилятор не знает, какой именно подтип там); ? super T - «какой-то надтип T», в него можно писать T, а читать только как Object. Collections.copy - каноничный пример PECS: dest - потребитель (super), src - производитель (extends). Плюс подхода: один и тот же изменяемый List можно использовать и ковариантно, и контравариантно, в зависимости от метода. Минус: wildcards в каждой сигнатуре, и пользователь API должен о них помнить; сигнатуры стандартной библиотеки становятся трудночитаемыми (посмотрите на Collections.max).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Kotlin сочетает оба подхода. Declaration-site: out и in можно писать прямо в объявлении классов и интерфейсов, причём, в отличие от C#, и у классов тоже. Поэтому стандартный read-only List в Kotlin объявлен как List of out E и ковариантен, а MutableList of E инвариантен - разделение по PECS прямо в типах коллекций. Use-site: для типов, объявленных инвариантными (Array, MutableList), можно на месте сказать Array of out Any («только читаю») или Array of in String («только пишу») - это аналог Java-шных ? extends и ? super. Есть ещё star-projection Array of * - аналог Java-шного ?. Примеры copy и fill взяты из документации Kotlin.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ровно тот сценарий, от которого инвариантность защищает List of T, только проверка перенесена в среду выполнения. Поэтому при каждой записи в массив ссылочного типа CLR проверяет совместимость типа элемента, что немного замедляет запись. Ковариантность массивов появилась в Java до генериков: без неё нельзя было бы написать, например, общий метод сортировки Object[]. C# унаследовал это поведение. В Kotlin массивы инвариантны, а для случаев «только чтение» используется проекция Array of out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Итог блока о вариантности. В C# вариантность объявляет автор интерфейса или делегата, и пользователю ничего указывать не нужно; ограничение - классы всегда инвариантны. В Java тип инвариантен, а вариантность выбирается в сигнатуре каждого метода через wildcard: гибко, но многословно. Kotlin поддерживает оба механизма и разделяет коллекции на List (только чтение, ковариантен) и MutableList (инвариантен) - это прямое применение PECS в стандартной библиотеке.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LINQ объединяет обе предыдущие темы: это набор генерик-методов-расширений, принимающих делегаты. Сначала рассматриваем использование LINQ, затем - как он устроен внутри: yield return, IQueryable и деревья выражений.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LINQ (Language-Integrated Query) появился в C# 3.0 и .NET Framework 3.5 в 2007 году. Изначальная цель - писать запросы к базам данных не строками SQL, а кодом, который проверяет компилятор. Для обычных коллекций используется LINQ to Objects, пространство имён System.Linq. Ближайший аналог в Java - Stream API, в Kotlin - функции-расширения коллекций и Sequence. Стоит обратить внимание: в варианте с LINQ отсутствует изменяемое состояние, и порядок операций читается сверху вниз.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Ключевой слайд, связывающий части лекции: LINQ не является отдельным механизмом языка, это обычные статические генерик-методы класса Enumerable, принимающие делегаты. Модификатор this перед первым параметром делает метод методом-расширением: его можно вызывать через точку у любого IEnumerable of T, хотя сам интерфейс IEnumerable этих методов не содержит. Метод-расширение должен быть объявлен в статическом классе, и его видимость определяется директивой using. Если удалить using System.Linq, методы Where и Select у списка «исчезнут».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Обзорный слайд, подробно разбирать каждый метод не требуется: примеры следуют далее. Полезно отметить соответствие с функциональным программированием: Where - это filter, Select - map, Aggregate - fold (или reduce), SelectMany - flatMap. Это пригодится в домашнем задании про Map, Filter и Fold. Методы с суффиксом By (DistinctBy, MinBy, MaxBy и другие) появились в .NET 6 и принимают функцию-ключ.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Эти данные используются во всех примерах и в практической задаче. У Егора намеренно нет оценок: на нём проверяются соединения и поиск студентов без оценок. Коллекции заданы через collection expressions (C# 12): квадратные скобки вместо new List with initializer.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MaxBy возвращает первый из элементов с максимальным ключом, поэтому из Анны и Веры с оценкой 5 будет выбрана Анна. Средний балл: сумма оценок 30, количество 7, результат около 4,29. Стоит обратить внимание, что переменные b42 и csharp - ещё не результаты, а описания запросов; они будут выполнены только при обходе. Подробнее - на слайде об отложенном исполнении.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GroupBy возвращает последовательность групп IGrouping of TKey, TElement: у каждой группы есть свойство Key, и сама группа является последовательностью элементов. Join - внутреннее соединение: студенты без оценок в результат не попадают. Для внешнего соединения используется GroupJoin. ExceptBy (начиная с .NET 6) возвращает элементы первой коллекции, ключи которых отсутствуют во второй; внутри он строит HashSet, поэтому работает за линейное время. Альтернатива students.Where(s =&gt; !grades.Any(g =&gt; g.StudentName == s.Name)) даёт тот же результат за квадратичное время.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Aggregate с начальным значением - это ровно функция Fold из домашнего задания: аккумулятор, начальное значение и функция, которая по аккумулятору и очередному элементу вычисляет новый аккумулятор. ToDictionary бросает исключение при повторяющемся ключе, ToLookup допускает несколько элементов с одним ключом и возвращает для отсутствующего ключа пустую последовательность. Методы To… выполняются немедленно: это мостик к следующему слайду.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Перед показом вывода стоит попросить студентов предсказать результат. Типичный ответ: «проверка» напечатается трижды до Add, затем дважды выведется 2. Фактически до первого Count не выполняется ничего, запрос видит добавленную четвёрку (результат 3), а каждый вызов Count повторно проходит по источнику и вызывает лямбда-выражение для всех элементов. Практический вывод: если результат запроса используется несколько раз или источник может измениться, результат следует материализовать через ToList или ToArray. Особенно это важно, когда запрос обращается к базе данных: повторный обход означает повторный запрос.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Отложенный запрос можно представлять как перечислитель, надетый на исходную последовательность. Потоковые операции (Where, Select) обрабатывают элементы по одному и могут работать с бесконечными последовательностями. Непотоковые (OrderBy, GroupBy) при первом же MoveNext вынуждены прочитать весь источник - на бесконечной последовательности они не завершатся. Пример с замыканием связывает LINQ с первой частью лекции: лямбда-выражение захватывает переменную min по ссылке, поэтому при выполнении используется её текущее значение.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Синтаксис запросов похож на SQL, но порядок другой: from идёт первым, чтобы IDE могла подсказывать члены переменной диапазона s. Любой запрос можно записать в форме методов, обратное неверно: у Take, Skip, Count, First и многих других методов нет ключевых слов. Компилятор не требует, чтобы источник реализовывал IEnumerable: достаточно, чтобы у него были методы Where, Select и т. д. с нужными сигнатурами (query expression pattern). На этом, например, основаны провайдеры для собственных типов.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 by … into сохраняет результат группировки в новую переменную диапазона, после чего запрос продолжается над группами. В join используется ключевое слово equals, а не ==: это подчёркивает, что слева ключ первой последовательности, а справа - второй. let вводит промежуточную переменную; компилятор реализует это через Select в анонимный тип, хранящий исходный элемент и новое значение. Два from подряд транслируются в SelectMany.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ответ на вопрос, откуда берётся отложенное исполнение: методы LINQ to Objects реализованы через итераторы. Без yield пришлось бы вручную писать класс-перечислитель с полями Current и состоянием и методом MoveNext, как в лекции о коллекциях. Компилятор генерирует такой класс автоматически: локальные переменные метода становятся его полями, а номер текущей позиции хранится в поле состояния. Можно показать сгенерированный код в SharpLab.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yield break завершает последовательность: MoveNext возвращает false. Порядок проверок в MyTake важен: если проверять счётчик в начале цикла, метод запросит у источника лишний (n+1)-й элемент; для дорогих источников это лишние вычисления. Ещё одна тонкость итераторов: проверка аргументов внутри метода с yield тоже откладывается до первого MoveNext. Поэтому в стандартной библиотеке используется схема «внешний метод проверяет аргументы и возвращает результат локальной функции-итератора». Это хороший материал для домашнего задания с ленивыми GetPrimes, Take и Skip.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Внешне вызовы совпадают, но выбирается разный метод: Queryable.Where для IQueryable и Enumerable.Where для IEnumerable. Ключевая разница - тип параметра: Func - это скомпилированный код, его нельзя разобрать; Expression of Func - описание кода в виде дерева объектов, которое провайдер может проанализировать и перевести на другой язык. IQueryable of T наследует IEnumerable of T и дополнительно хранит три свойства: Expression (дерево запроса), ElementType и Provider. Типичная ошибка производительности - приведение IQueryable к IEnumerable до фильтрации: фильтр перестаёт попадать в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Одно и то же лямбда-выражение компилятор превращает либо в делегат, либо в дерево выражений - в зависимости от типа переменной, которой оно присваивается. Справа показано дерево для x =&gt; x * 2 + 1: корень - LambdaExpression с параметром x, тело - BinaryExpression сложения, левый операнд которого - умножение параметра на константу 2. Метод Compile генерирует из дерева исполняемый код, поэтому дерево можно и проанализировать, и выполнить. Деревья выражений поддерживают только лямбда-выражения с телом-выражением: лямбду с блоком инструкций в фигурных скобках в Expression преобразовать нельзя.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Минимальный пример того, что делает LINQ-провайдер: рекурсивный обход дерева с сопоставлением с образцом по типам узлов. Тело фильтра - BinaryExpression с типом AndAlso, его операнды - сравнения GreaterThan и Equal, листья - MemberExpression (обращение к свойству s.Age) и ConstantExpression. Ограничение примера: если в условии используется локальная переменная, например s.Age &gt; minAge, она попадает в дерево как MemberExpression над объектом замыкания, и функция выведет имя поля вместо значения. Настоящие провайдеры вычисляют такие поддеревья заранее. В стандартной библиотеке для обхода деревьев предназначен базовый класс ExpressionVisitor.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собственного провайдера нужно реализовать два интерфейса: IQueryable of T (хранит Expression, ElementType и ссылку на Provider) и IQueryProvider. Методы класса Queryable сами ничего не фильтруют: каждый из них вызывает Provider.CreateQuery с деревом, в которое добавлен узел вызова соответствующего метода. Когда результат запрашивается (foreach, ToList, Count), вызывается Provider.Execute, и провайдер обходит накопленное дерево, как в примере с ToSql на предыдущем слайде. Реализация полноценного провайдера трудоёмка; для изучения подходит серия статей Matt Warren «Building an IQueryable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Порядок задач рассчитан примерно на 50 минут. Задача 1 как разминка, около 5 минут. Задача 2 основная, на неё стоит отвести 20 минут. Задачи 3 и 4 около 10 минут вместе. Задача 5 на вариантность около 5 минут. Задачи 6 и 7 дополнительные: их стоит разобрать, если останется время, или дать на дом. Задачи на вывод удобно решать всей группой: показать код, собрать варианты ответов, затем открыть ответ. Map, Filter и Fold вынесены в домашнее задание.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 14, 9, 6. Sum и Max - немедленные операции, и каждая из них заново проходит по отложенному запросу, поэтому лямбда-выражение вызывается 3 раза для Sum и ещё 3 раза для Max. Обычный ответ студентов: calls = 3. Исправление: материализовать результат один раз, var squares = ....ToList(); тогда calls будет равно 3. Вывод: отложенный запрос - это описание вычисления, и каждая немедленная операция выполняет его заново; для дорогих источников (база данных, файл, сеть) это означает повторные обращения.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Ответы. 1: students.Where(s =&gt; s.Age &gt; 18).OrderByDescending(s =&gt; s.Age).Select(s =&gt; s.Name.ToUpper()) - БОРИС, ДИНА, АННА, ГЛЕБ. 2: students.GroupJoin(grades, s =&gt; s.Name, g =&gt; g.StudentName, (s, gs) =&gt; new { s.Name, Count = gs.Count() }) - у Егора 0; обычный Join Егора бы потерял. 3: grades.GroupBy(g =&gt; g.Course).MaxBy(gr =&gt; gr.Average(g =&gt; g.Score))!.Key - Матан, 4,33. 4: grades.GroupBy(g =&gt; g.StudentName).Where(gr =&gt; gr.All(g =&gt; g.Score == 5)).Select(gr =&gt; gr.Key) - Вера; стоит обсудить, что Егор не попадает в результат, хотя All на пустой последовательности возвращает true. 5: группировка по студенту, средний балл, OrderByDescending, Take(3) - Вера 5, Анна 4,5, Глеб 4 (у Дины тоже 4, но сортировка устойчива). 6: students.GroupBy(s =&gt; s.Group).ToDictionary(g =&gt; g.Key, g =&gt; g.Count()) - по 2 студента. 7: Join с students, затем GroupBy по группе - 25.Б41: 4,0; 25.Б42: 4,67; 25.Б43: 4,0. 8: grades.GroupBy(g =&gt; g.Course).Where(gr =&gt; gr.All(g =&gt; g.Score &gt;= 4)).Select(gr =&gt; gr.Key) - Матан.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 «запрос построен», 10, 15, затем DivideByZeroException в строке с Count. Деление на ноль не происходит при построении запроса: Select ничего не вычисляет. First вычисляет только первый элемент (10 / 1 = 10). Take(2).Sum() вычисляет только два элемента (10 + 5 = 15) и до нуля не доходит. Count проходит по всей последовательности и вызывает лямбда-выражение для каждого элемента, поэтому на третьем элементе возникает исключение. Вывод: ошибка в лямбда-выражении проявляется не там, где написан запрос, а там, где он выполняется; в стеке вызовов исключение будет указывать на Count. Тонкость для сильной группы: количество элементов списка известно и без вызова лямбда-выражений, но реализация .NET намеренно выполняет селектор при Count, чтобы сохранить побочные эффекты.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 w1 w2 w3 w4 s4 [40] w5 s5 [50]. Разбор по пунктам. До foreach ничего не печатается: запрос отложен. Фильтр использует limit = 3, а не 2: лямбда-выражение захватило переменную, а не её значение, поэтому тройка не проходит фильтр. Where и Select чередуются (w4 s4): операции потоковые, каждый элемент проходит всю цепочку, прежде чем запрашивается следующий. Take(2) после второго элемента прекращает обход, поэтому шестёрка, добавленная после построения запроса, хотя и видна запросу, не проверяется: w6 не печатается. Задача хорошо подводит к домашнему заданию с ленивыми Take и Skip.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Ответы. 1: компилируется, IEnumerable ковариантен (out T): из него только читают, а любая строка является объектом. 2: ошибка, List of T является классом, а классы в C# инвариантны; иначе через b можно было бы добавить в список строк число. 3: компилируется, Action контравариантен (in T): обработчик любого объекта подходит и для строк. 4: ошибка, обработчик только строк нельзя использовать для произвольных объектов. Строки 1 и 2 проверяют ковариантность, строки 3 и 4 проверяют контравариантность. Для сильной группы можно добавить устно: IEnumerable of object c = new List of int() не компилируется, потому что вариантность не применяется к типам-значениям; object[] h = new string[3] компилируется, потому что массивы ковариантны.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 w5 w3 w8 w1 [3] [5] [8]. В отличие от задачи 4, где Where и Select чередовались, OrderBy является отложенной непотоковой операцией: чтобы выдать первый элемент, она должна прочитать весь источник. Поэтому сначала Where проходит по всем четырём числам, и только после этого начинается выдача элементов. Стоит заметить: на бесконечной последовательности такой запрос никогда не выдаст ни одного элемента.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Ответ: первая строка 4, 8; вторая строка 6. Задача объединяет отложенное исполнение и замыкания из первой части лекции. В цикле for переменная i одна на весь цикл, и оба лямбда-выражения захватывают именно её. Запрос выполняется в string.Join, когда цикл уже завершился и i равно 4, поэтому оба фильтра проверяют делимость на 4. В foreach начиная с C# 5 переменная d создаётся заново на каждой итерации, поэтому фильтры захватывают 2 и 3, и результат - числа, делящиеся на 6. Исправление для for: копировать счётчик в локальную переменную внутри тела цикла, var divisor =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Короткое подведение итогов: по одной главной мысли на каждую часть. Если остаётся время, стоит ещё раз показать, как три части связаны: лямбда-выражение из первой части, генерик-метод из второй и метод-расширение образуют вызов students.Where(s =&gt; s.Age &gt;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7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70"/>
            <a:ext cx="10566400" cy="432053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7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70"/>
            <a:ext cx="10566400" cy="432053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hyperlink" Target="https://stackoverflow.com/questions/2723397/what-is-pecs-producer-extends-consumer-super/19739576#19739576" TargetMode="External"/><Relationship Id="rId1" Type="http://schemas.openxmlformats.org/officeDocument/2006/relationships/image" Target="../media/image-30-1.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slideLayout" Target="../slideLayouts/slideLayout2.xml"/><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2.xml"/><Relationship Id="rId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7F8FA"/>
              </a:gs>
              <a:gs pos="50000">
                <a:srgbClr val="F7F8FA"/>
              </a:gs>
              <a:gs pos="100000">
                <a:srgbClr val="DCEFE1"/>
              </a:gs>
            </a:gsLst>
            <a:lin ang="2700000" scaled="0"/>
          </a:gradFill>
          <a:ln/>
        </p:spPr>
      </p:sp>
      <p:sp>
        <p:nvSpPr>
          <p:cNvPr id="3" name="Text 1"/>
          <p:cNvSpPr/>
          <p:nvPr/>
        </p:nvSpPr>
        <p:spPr>
          <a:xfrm>
            <a:off x="7747000" y="1968500"/>
            <a:ext cx="3741166" cy="2654300"/>
          </a:xfrm>
          <a:prstGeom prst="rect">
            <a:avLst/>
          </a:prstGeom>
          <a:noFill/>
          <a:ln/>
        </p:spPr>
        <p:txBody>
          <a:bodyPr wrap="none" lIns="0" tIns="0" rIns="0" bIns="0" rtlCol="0" anchor="t">
            <a:normAutofit/>
          </a:bodyPr>
          <a:lstStyle/>
          <a:p>
            <a:pPr algn="l" indent="0" marL="0">
              <a:lnSpc>
                <a:spcPts val="6900"/>
              </a:lnSpc>
              <a:buNone/>
            </a:pPr>
            <a:r>
              <a:rPr lang="en-US" sz="6000" dirty="0">
                <a:solidFill>
                  <a:srgbClr val="C9E2CF"/>
                </a:solidFill>
                <a:latin typeface="JetBrains Mono" pitchFamily="49" charset="0"/>
                <a:ea typeface="JetBrains Mono" pitchFamily="49" charset="-122"/>
                <a:cs typeface="JetBrains Mono" pitchFamily="49" charset="-120"/>
              </a:rPr>
              <a:t>event</a:t>
            </a:r>
            <a:endParaRPr lang="en-US" sz="6000" dirty="0"/>
          </a:p>
          <a:p>
            <a:pPr algn="l" indent="0" marL="0">
              <a:lnSpc>
                <a:spcPts val="6900"/>
              </a:lnSpc>
              <a:buNone/>
            </a:pPr>
            <a:r>
              <a:rPr lang="en-US" sz="6000" dirty="0">
                <a:solidFill>
                  <a:srgbClr val="C9E2CF"/>
                </a:solidFill>
                <a:latin typeface="JetBrains Mono" pitchFamily="49" charset="0"/>
                <a:ea typeface="JetBrains Mono" pitchFamily="49" charset="-122"/>
                <a:cs typeface="JetBrains Mono" pitchFamily="49" charset="-120"/>
              </a:rPr>
              <a:t>&lt;out T&gt;</a:t>
            </a:r>
            <a:endParaRPr lang="en-US" sz="6000" dirty="0"/>
          </a:p>
          <a:p>
            <a:pPr algn="l" indent="0" marL="0">
              <a:lnSpc>
                <a:spcPts val="6900"/>
              </a:lnSpc>
              <a:buNone/>
            </a:pPr>
            <a:r>
              <a:rPr lang="en-US" sz="6000" dirty="0">
                <a:solidFill>
                  <a:srgbClr val="C9E2CF"/>
                </a:solidFill>
                <a:latin typeface="JetBrains Mono" pitchFamily="49" charset="0"/>
                <a:ea typeface="JetBrains Mono" pitchFamily="49" charset="-122"/>
                <a:cs typeface="JetBrains Mono" pitchFamily="49" charset="-120"/>
              </a:rPr>
              <a:t>yield</a:t>
            </a:r>
            <a:endParaRPr lang="en-US" sz="6000" dirty="0"/>
          </a:p>
        </p:txBody>
      </p:sp>
      <p:sp>
        <p:nvSpPr>
          <p:cNvPr id="4" name="Shape 2"/>
          <p:cNvSpPr/>
          <p:nvPr/>
        </p:nvSpPr>
        <p:spPr>
          <a:xfrm>
            <a:off x="1143000" y="1397000"/>
            <a:ext cx="533400" cy="50800"/>
          </a:xfrm>
          <a:prstGeom prst="roundRect">
            <a:avLst>
              <a:gd name="adj" fmla="val 50000"/>
            </a:avLst>
          </a:prstGeom>
          <a:solidFill>
            <a:srgbClr val="1E7D3A"/>
          </a:solidFill>
          <a:ln/>
        </p:spPr>
      </p:sp>
      <p:sp>
        <p:nvSpPr>
          <p:cNvPr id="5" name="Text 3"/>
          <p:cNvSpPr/>
          <p:nvPr/>
        </p:nvSpPr>
        <p:spPr>
          <a:xfrm>
            <a:off x="1143000" y="1651000"/>
            <a:ext cx="10543286" cy="327660"/>
          </a:xfrm>
          <a:prstGeom prst="rect">
            <a:avLst/>
          </a:prstGeom>
          <a:noFill/>
          <a:ln/>
        </p:spPr>
        <p:txBody>
          <a:bodyPr wrap="square" lIns="0" tIns="0" rIns="0" bIns="0" rtlCol="0" anchor="t">
            <a:normAutofit/>
          </a:bodyPr>
          <a:lstStyle/>
          <a:p>
            <a:pPr algn="l" indent="0" marL="0">
              <a:lnSpc>
                <a:spcPts val="2380"/>
              </a:lnSpc>
              <a:buNone/>
            </a:pPr>
            <a:r>
              <a:rPr lang="en-US" sz="1700" b="1" spc="200" kern="0" dirty="0">
                <a:solidFill>
                  <a:srgbClr val="1E7D3A"/>
                </a:solidFill>
                <a:latin typeface="IBM Plex Sans" pitchFamily="34" charset="0"/>
                <a:ea typeface="IBM Plex Sans" pitchFamily="34" charset="-122"/>
                <a:cs typeface="IBM Plex Sans" pitchFamily="34" charset="-120"/>
              </a:rPr>
              <a:t>ПРОГРАММИРОВАНИЕ НА C#</a:t>
            </a:r>
            <a:endParaRPr lang="en-US" sz="1700" dirty="0"/>
          </a:p>
        </p:txBody>
      </p:sp>
      <p:sp>
        <p:nvSpPr>
          <p:cNvPr id="6" name="Text 4"/>
          <p:cNvSpPr/>
          <p:nvPr>
            <p:ph type="title"/>
          </p:nvPr>
        </p:nvSpPr>
        <p:spPr>
          <a:xfrm>
            <a:off x="1143000" y="2156460"/>
            <a:ext cx="10543286" cy="1678940"/>
          </a:xfrm>
          <a:prstGeom prst="rect">
            <a:avLst/>
          </a:prstGeom>
          <a:noFill/>
          <a:ln/>
        </p:spPr>
        <p:txBody>
          <a:bodyPr wrap="square" lIns="0" tIns="0" rIns="0" bIns="0" rtlCol="0" anchor="t">
            <a:normAutofit/>
          </a:bodyPr>
          <a:lstStyle/>
          <a:p>
            <a:pPr algn="l" indent="0" marL="0">
              <a:lnSpc>
                <a:spcPts val="6510"/>
              </a:lnSpc>
              <a:buNone/>
            </a:pPr>
            <a:r>
              <a:rPr lang="en-US" sz="6200" b="1" i="0" dirty="0">
                <a:solidFill>
                  <a:srgbClr val="14213D"/>
                </a:solidFill>
                <a:latin typeface="IBM Plex Sans" pitchFamily="34" charset="0"/>
                <a:ea typeface="IBM Plex Sans" pitchFamily="34" charset="-122"/>
                <a:cs typeface="IBM Plex Sans" pitchFamily="34" charset="-120"/>
              </a:rPr>
              <a:t>События,</a:t>
            </a:r>
            <a:endParaRPr lang="en-US" sz="6200" dirty="0"/>
          </a:p>
          <a:p>
            <a:pPr algn="l" indent="0" marL="0">
              <a:lnSpc>
                <a:spcPts val="6510"/>
              </a:lnSpc>
              <a:buNone/>
            </a:pPr>
            <a:r>
              <a:rPr lang="en-US" sz="6200" b="1" i="0" dirty="0">
                <a:solidFill>
                  <a:srgbClr val="14213D"/>
                </a:solidFill>
                <a:latin typeface="IBM Plex Sans" pitchFamily="34" charset="0"/>
                <a:ea typeface="IBM Plex Sans" pitchFamily="34" charset="-122"/>
                <a:cs typeface="IBM Plex Sans" pitchFamily="34" charset="-120"/>
              </a:rPr>
              <a:t>генерики, LINQ</a:t>
            </a:r>
            <a:endParaRPr lang="en-US" sz="6200" dirty="0"/>
          </a:p>
        </p:txBody>
      </p:sp>
      <p:sp>
        <p:nvSpPr>
          <p:cNvPr id="7" name="Text 5"/>
          <p:cNvSpPr/>
          <p:nvPr/>
        </p:nvSpPr>
        <p:spPr>
          <a:xfrm>
            <a:off x="1143000" y="4013200"/>
            <a:ext cx="5755640" cy="98552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IBM Plex Sans" pitchFamily="34" charset="0"/>
                <a:ea typeface="IBM Plex Sans" pitchFamily="34" charset="-122"/>
                <a:cs typeface="IBM Plex Sans" pitchFamily="34" charset="-120"/>
              </a:rPr>
              <a:t>Ключевое слово event, вариантность и PECS, отложенное исполнение запросов, yield и деревья выражений</a:t>
            </a:r>
            <a:endParaRPr lang="en-US" sz="1800" dirty="0"/>
          </a:p>
        </p:txBody>
      </p:sp>
      <p:sp>
        <p:nvSpPr>
          <p:cNvPr id="8" name="Text 6"/>
          <p:cNvSpPr/>
          <p:nvPr/>
        </p:nvSpPr>
        <p:spPr>
          <a:xfrm>
            <a:off x="1143000" y="5176520"/>
            <a:ext cx="1054328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Юрий Уфимцев</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О чём поговорим</a:t>
            </a:r>
            <a:endParaRPr lang="en-US" sz="3200" dirty="0"/>
          </a:p>
        </p:txBody>
      </p:sp>
      <p:sp>
        <p:nvSpPr>
          <p:cNvPr id="3" name="Shape 1"/>
          <p:cNvSpPr/>
          <p:nvPr/>
        </p:nvSpPr>
        <p:spPr>
          <a:xfrm>
            <a:off x="812800" y="1412240"/>
            <a:ext cx="5207000" cy="1912620"/>
          </a:xfrm>
          <a:prstGeom prst="roundRect">
            <a:avLst>
              <a:gd name="adj" fmla="val 5312"/>
            </a:avLst>
          </a:prstGeom>
          <a:solidFill>
            <a:srgbClr val="ECEFF3"/>
          </a:solidFill>
          <a:ln/>
        </p:spPr>
      </p:sp>
      <p:sp>
        <p:nvSpPr>
          <p:cNvPr id="4" name="Text 2"/>
          <p:cNvSpPr/>
          <p:nvPr/>
        </p:nvSpPr>
        <p:spPr>
          <a:xfrm>
            <a:off x="1066800" y="1666240"/>
            <a:ext cx="4839970"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E7D3A"/>
                </a:solidFill>
                <a:latin typeface="JetBrains Mono" pitchFamily="49" charset="0"/>
                <a:ea typeface="JetBrains Mono" pitchFamily="49" charset="-122"/>
                <a:cs typeface="JetBrains Mono" pitchFamily="49" charset="-120"/>
              </a:rPr>
              <a:t>01</a:t>
            </a:r>
            <a:endParaRPr lang="en-US" sz="2600" dirty="0"/>
          </a:p>
        </p:txBody>
      </p:sp>
      <p:sp>
        <p:nvSpPr>
          <p:cNvPr id="5" name="Text 3"/>
          <p:cNvSpPr/>
          <p:nvPr/>
        </p:nvSpPr>
        <p:spPr>
          <a:xfrm>
            <a:off x="1066800" y="2118360"/>
            <a:ext cx="48399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События и делегаты</a:t>
            </a:r>
            <a:endParaRPr lang="en-US" sz="1800" dirty="0"/>
          </a:p>
        </p:txBody>
      </p:sp>
      <p:sp>
        <p:nvSpPr>
          <p:cNvPr id="6" name="Text 4"/>
          <p:cNvSpPr/>
          <p:nvPr/>
        </p:nvSpPr>
        <p:spPr>
          <a:xfrm>
            <a:off x="1066800" y="2481580"/>
            <a:ext cx="483997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Ключевое слово event, add и remove, Delegate.Combine, события в Qt и Java</a:t>
            </a:r>
            <a:endParaRPr lang="en-US" sz="1600" dirty="0"/>
          </a:p>
        </p:txBody>
      </p:sp>
      <p:sp>
        <p:nvSpPr>
          <p:cNvPr id="7" name="Shape 5"/>
          <p:cNvSpPr/>
          <p:nvPr/>
        </p:nvSpPr>
        <p:spPr>
          <a:xfrm>
            <a:off x="6172200" y="1412240"/>
            <a:ext cx="5207000" cy="1912620"/>
          </a:xfrm>
          <a:prstGeom prst="roundRect">
            <a:avLst>
              <a:gd name="adj" fmla="val 5312"/>
            </a:avLst>
          </a:prstGeom>
          <a:solidFill>
            <a:srgbClr val="ECEFF3"/>
          </a:solidFill>
          <a:ln/>
        </p:spPr>
      </p:sp>
      <p:sp>
        <p:nvSpPr>
          <p:cNvPr id="8" name="Text 6"/>
          <p:cNvSpPr/>
          <p:nvPr/>
        </p:nvSpPr>
        <p:spPr>
          <a:xfrm>
            <a:off x="6426200" y="1666240"/>
            <a:ext cx="4839970"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E7D3A"/>
                </a:solidFill>
                <a:latin typeface="JetBrains Mono" pitchFamily="49" charset="0"/>
                <a:ea typeface="JetBrains Mono" pitchFamily="49" charset="-122"/>
                <a:cs typeface="JetBrains Mono" pitchFamily="49" charset="-120"/>
              </a:rPr>
              <a:t>02</a:t>
            </a:r>
            <a:endParaRPr lang="en-US" sz="2600" dirty="0"/>
          </a:p>
        </p:txBody>
      </p:sp>
      <p:sp>
        <p:nvSpPr>
          <p:cNvPr id="9" name="Text 7"/>
          <p:cNvSpPr/>
          <p:nvPr/>
        </p:nvSpPr>
        <p:spPr>
          <a:xfrm>
            <a:off x="6426200" y="2118360"/>
            <a:ext cx="48399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Генерики</a:t>
            </a:r>
            <a:endParaRPr lang="en-US" sz="1800" dirty="0"/>
          </a:p>
        </p:txBody>
      </p:sp>
      <p:sp>
        <p:nvSpPr>
          <p:cNvPr id="10" name="Text 8"/>
          <p:cNvSpPr/>
          <p:nvPr/>
        </p:nvSpPr>
        <p:spPr>
          <a:xfrm>
            <a:off x="6426200" y="2481580"/>
            <a:ext cx="483997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Теория типов, вариантность и PECS в C#, Java и Kotlin</a:t>
            </a:r>
            <a:endParaRPr lang="en-US" sz="1600" dirty="0"/>
          </a:p>
        </p:txBody>
      </p:sp>
      <p:sp>
        <p:nvSpPr>
          <p:cNvPr id="11" name="Shape 9"/>
          <p:cNvSpPr/>
          <p:nvPr/>
        </p:nvSpPr>
        <p:spPr>
          <a:xfrm>
            <a:off x="812800" y="3477260"/>
            <a:ext cx="5207000" cy="1912620"/>
          </a:xfrm>
          <a:prstGeom prst="roundRect">
            <a:avLst>
              <a:gd name="adj" fmla="val 5312"/>
            </a:avLst>
          </a:prstGeom>
          <a:solidFill>
            <a:srgbClr val="ECEFF3"/>
          </a:solidFill>
          <a:ln/>
        </p:spPr>
      </p:sp>
      <p:sp>
        <p:nvSpPr>
          <p:cNvPr id="12" name="Text 10"/>
          <p:cNvSpPr/>
          <p:nvPr/>
        </p:nvSpPr>
        <p:spPr>
          <a:xfrm>
            <a:off x="1066800" y="3731260"/>
            <a:ext cx="4839970"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E7D3A"/>
                </a:solidFill>
                <a:latin typeface="JetBrains Mono" pitchFamily="49" charset="0"/>
                <a:ea typeface="JetBrains Mono" pitchFamily="49" charset="-122"/>
                <a:cs typeface="JetBrains Mono" pitchFamily="49" charset="-120"/>
              </a:rPr>
              <a:t>03</a:t>
            </a:r>
            <a:endParaRPr lang="en-US" sz="2600" dirty="0"/>
          </a:p>
        </p:txBody>
      </p:sp>
      <p:sp>
        <p:nvSpPr>
          <p:cNvPr id="13" name="Text 11"/>
          <p:cNvSpPr/>
          <p:nvPr/>
        </p:nvSpPr>
        <p:spPr>
          <a:xfrm>
            <a:off x="1066800" y="4183380"/>
            <a:ext cx="48399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LINQ</a:t>
            </a:r>
            <a:endParaRPr lang="en-US" sz="1800" dirty="0"/>
          </a:p>
        </p:txBody>
      </p:sp>
      <p:sp>
        <p:nvSpPr>
          <p:cNvPr id="14" name="Text 12"/>
          <p:cNvSpPr/>
          <p:nvPr/>
        </p:nvSpPr>
        <p:spPr>
          <a:xfrm>
            <a:off x="1066800" y="4546600"/>
            <a:ext cx="483997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Отложенное исполнение, yield, IQueryable, деревья выражений</a:t>
            </a:r>
            <a:endParaRPr lang="en-US" sz="1600" dirty="0"/>
          </a:p>
        </p:txBody>
      </p:sp>
      <p:sp>
        <p:nvSpPr>
          <p:cNvPr id="15" name="Shape 13"/>
          <p:cNvSpPr/>
          <p:nvPr/>
        </p:nvSpPr>
        <p:spPr>
          <a:xfrm>
            <a:off x="6172200" y="3477260"/>
            <a:ext cx="5207000" cy="1912620"/>
          </a:xfrm>
          <a:prstGeom prst="roundRect">
            <a:avLst>
              <a:gd name="adj" fmla="val 5312"/>
            </a:avLst>
          </a:prstGeom>
          <a:solidFill>
            <a:srgbClr val="ECEFF3"/>
          </a:solidFill>
          <a:ln/>
        </p:spPr>
      </p:sp>
      <p:sp>
        <p:nvSpPr>
          <p:cNvPr id="16" name="Text 14"/>
          <p:cNvSpPr/>
          <p:nvPr/>
        </p:nvSpPr>
        <p:spPr>
          <a:xfrm>
            <a:off x="6426200" y="3731260"/>
            <a:ext cx="4839970" cy="388620"/>
          </a:xfrm>
          <a:prstGeom prst="rect">
            <a:avLst/>
          </a:prstGeom>
          <a:noFill/>
          <a:ln/>
        </p:spPr>
        <p:txBody>
          <a:bodyPr wrap="square" lIns="0" tIns="0" rIns="0" bIns="0" rtlCol="0" anchor="t">
            <a:normAutofit/>
          </a:bodyPr>
          <a:lstStyle/>
          <a:p>
            <a:pPr algn="l" indent="0" marL="0">
              <a:lnSpc>
                <a:spcPts val="2860"/>
              </a:lnSpc>
              <a:buNone/>
            </a:pPr>
            <a:r>
              <a:rPr lang="en-US" sz="2600" b="1" dirty="0">
                <a:solidFill>
                  <a:srgbClr val="1E7D3A"/>
                </a:solidFill>
                <a:latin typeface="JetBrains Mono" pitchFamily="49" charset="0"/>
                <a:ea typeface="JetBrains Mono" pitchFamily="49" charset="-122"/>
                <a:cs typeface="JetBrains Mono" pitchFamily="49" charset="-120"/>
              </a:rPr>
              <a:t>04</a:t>
            </a:r>
            <a:endParaRPr lang="en-US" sz="2600" dirty="0"/>
          </a:p>
        </p:txBody>
      </p:sp>
      <p:sp>
        <p:nvSpPr>
          <p:cNvPr id="17" name="Text 15"/>
          <p:cNvSpPr/>
          <p:nvPr/>
        </p:nvSpPr>
        <p:spPr>
          <a:xfrm>
            <a:off x="6426200" y="4183380"/>
            <a:ext cx="483997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Практика</a:t>
            </a:r>
            <a:endParaRPr lang="en-US" sz="1800" dirty="0"/>
          </a:p>
        </p:txBody>
      </p:sp>
      <p:sp>
        <p:nvSpPr>
          <p:cNvPr id="18" name="Text 16"/>
          <p:cNvSpPr/>
          <p:nvPr/>
        </p:nvSpPr>
        <p:spPr>
          <a:xfrm>
            <a:off x="6426200" y="4546600"/>
            <a:ext cx="4839970" cy="32004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Вариантность, запросы LINQ, вывод программ</a:t>
            </a:r>
            <a:endParaRPr lang="en-US" sz="1600" dirty="0"/>
          </a:p>
        </p:txBody>
      </p:sp>
      <p:sp>
        <p:nvSpPr>
          <p:cNvPr id="19" name="Text 17"/>
          <p:cNvSpPr/>
          <p:nvPr/>
        </p:nvSpPr>
        <p:spPr>
          <a:xfrm>
            <a:off x="10566400" y="63398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CEF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FE1"/>
              </a:gs>
              <a:gs pos="60000">
                <a:srgbClr val="F7F8FA"/>
              </a:gs>
            </a:gsLst>
            <a:lin ang="1200000" scaled="0"/>
          </a:gradFill>
          <a:ln/>
        </p:spPr>
      </p:sp>
      <p:sp>
        <p:nvSpPr>
          <p:cNvPr id="3" name="Text 1"/>
          <p:cNvSpPr/>
          <p:nvPr/>
        </p:nvSpPr>
        <p:spPr>
          <a:xfrm>
            <a:off x="1143000" y="2476500"/>
            <a:ext cx="2743279" cy="1930400"/>
          </a:xfrm>
          <a:prstGeom prst="rect">
            <a:avLst/>
          </a:prstGeom>
          <a:noFill/>
          <a:ln/>
        </p:spPr>
        <p:txBody>
          <a:bodyPr wrap="square" lIns="0" tIns="0" rIns="0" bIns="0" rtlCol="0" anchor="t">
            <a:normAutofit/>
          </a:bodyPr>
          <a:lstStyle/>
          <a:p>
            <a:pPr algn="l" indent="0" marL="0">
              <a:lnSpc>
                <a:spcPts val="15000"/>
              </a:lnSpc>
              <a:buNone/>
            </a:pPr>
            <a:r>
              <a:rPr lang="en-US" sz="15000" dirty="0">
                <a:solidFill>
                  <a:srgbClr val="1E7D3A"/>
                </a:solidFill>
                <a:latin typeface="IBM Plex Sans" pitchFamily="34" charset="0"/>
                <a:ea typeface="IBM Plex Sans" pitchFamily="34" charset="-122"/>
                <a:cs typeface="IBM Plex Sans" pitchFamily="34" charset="-120"/>
              </a:rPr>
              <a:t>01</a:t>
            </a:r>
            <a:endParaRPr lang="en-US" sz="15000" dirty="0"/>
          </a:p>
        </p:txBody>
      </p:sp>
      <p:sp>
        <p:nvSpPr>
          <p:cNvPr id="4" name="Text 2"/>
          <p:cNvSpPr/>
          <p:nvPr>
            <p:ph type="title"/>
          </p:nvPr>
        </p:nvSpPr>
        <p:spPr>
          <a:xfrm>
            <a:off x="3886279" y="2921000"/>
            <a:ext cx="7717709" cy="612140"/>
          </a:xfrm>
          <a:prstGeom prst="rect">
            <a:avLst/>
          </a:prstGeom>
          <a:noFill/>
          <a:ln/>
        </p:spPr>
        <p:txBody>
          <a:bodyPr wrap="square" lIns="0" tIns="0" rIns="0" bIns="0" rtlCol="0" anchor="t">
            <a:normAutofit/>
          </a:bodyPr>
          <a:lstStyle/>
          <a:p>
            <a:pPr algn="l" indent="0" marL="0">
              <a:lnSpc>
                <a:spcPts val="4620"/>
              </a:lnSpc>
              <a:buNone/>
            </a:pPr>
            <a:r>
              <a:rPr lang="en-US" sz="4200" b="1" i="0" dirty="0">
                <a:solidFill>
                  <a:srgbClr val="14213D"/>
                </a:solidFill>
                <a:latin typeface="IBM Plex Sans" pitchFamily="34" charset="0"/>
                <a:ea typeface="IBM Plex Sans" pitchFamily="34" charset="-122"/>
                <a:cs typeface="IBM Plex Sans" pitchFamily="34" charset="-120"/>
              </a:rPr>
              <a:t>События и делегаты</a:t>
            </a:r>
            <a:endParaRPr lang="en-US" sz="4200" dirty="0"/>
          </a:p>
        </p:txBody>
      </p:sp>
      <p:sp>
        <p:nvSpPr>
          <p:cNvPr id="5" name="Text 3"/>
          <p:cNvSpPr/>
          <p:nvPr/>
        </p:nvSpPr>
        <p:spPr>
          <a:xfrm>
            <a:off x="3886279" y="3634741"/>
            <a:ext cx="771770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A6577"/>
                </a:solidFill>
                <a:latin typeface="IBM Plex Sans" pitchFamily="34" charset="0"/>
                <a:ea typeface="IBM Plex Sans" pitchFamily="34" charset="-122"/>
                <a:cs typeface="IBM Plex Sans" pitchFamily="34" charset="-120"/>
              </a:rPr>
              <a:t>Ключевое слово event, аксессоры add и remove, события в Qt и Java</a:t>
            </a:r>
            <a:endParaRPr lang="en-US" sz="1700" dirty="0"/>
          </a:p>
        </p:txBody>
      </p:sp>
      <p:sp>
        <p:nvSpPr>
          <p:cNvPr id="6" name="Text 4"/>
          <p:cNvSpPr/>
          <p:nvPr/>
        </p:nvSpPr>
        <p:spPr>
          <a:xfrm>
            <a:off x="10566400" y="63398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СОБЫТИЯ</a:t>
            </a:r>
            <a:endParaRPr lang="en-US" sz="1200" dirty="0"/>
          </a:p>
        </p:txBody>
      </p:sp>
      <p:sp>
        <p:nvSpPr>
          <p:cNvPr id="3" name="Text 1"/>
          <p:cNvSpPr/>
          <p:nvPr>
            <p:ph type="title"/>
          </p:nvPr>
        </p:nvSpPr>
        <p:spPr>
          <a:xfrm>
            <a:off x="812800" y="1000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Вспомним про делегаты</a:t>
            </a:r>
            <a:endParaRPr lang="en-US" sz="3000" dirty="0"/>
          </a:p>
        </p:txBody>
      </p:sp>
      <p:sp>
        <p:nvSpPr>
          <p:cNvPr id="4" name="Text 2"/>
          <p:cNvSpPr/>
          <p:nvPr/>
        </p:nvSpPr>
        <p:spPr>
          <a:xfrm>
            <a:off x="812800" y="1623061"/>
            <a:ext cx="10566400" cy="2395220"/>
          </a:xfrm>
          <a:prstGeom prst="roundRect">
            <a:avLst>
              <a:gd name="adj" fmla="val 4242"/>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delegate void ArrowHandler();</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ArrowHandler handler = game.OnLeft;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handler += logger.LeftPressed;  </a:t>
            </a:r>
            <a:r>
              <a:rPr lang="en-US" sz="1200" dirty="0">
                <a:solidFill>
                  <a:srgbClr val="5F6B7A"/>
                </a:solidFill>
                <a:latin typeface="JetBrains Mono" pitchFamily="49" charset="0"/>
                <a:ea typeface="JetBrains Mono" pitchFamily="49" charset="-122"/>
                <a:cs typeface="JetBrains Mono" pitchFamily="49" charset="-120"/>
              </a:rPr>
              <a:t>// теперь в цепочке два метода</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handler();  </a:t>
            </a:r>
            <a:r>
              <a:rPr lang="en-US" sz="1200" dirty="0">
                <a:solidFill>
                  <a:srgbClr val="5F6B7A"/>
                </a:solidFill>
                <a:latin typeface="JetBrains Mono" pitchFamily="49" charset="0"/>
                <a:ea typeface="JetBrains Mono" pitchFamily="49" charset="-122"/>
                <a:cs typeface="JetBrains Mono" pitchFamily="49" charset="-120"/>
              </a:rPr>
              <a:t>// вызовутся оба, в порядке подписки</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Action left = game.OnLeft;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Console.WriteLine(left.Target);  </a:t>
            </a:r>
            <a:r>
              <a:rPr lang="en-US" sz="1200" dirty="0">
                <a:solidFill>
                  <a:srgbClr val="5F6B7A"/>
                </a:solidFill>
                <a:latin typeface="JetBrains Mono" pitchFamily="49" charset="0"/>
                <a:ea typeface="JetBrains Mono" pitchFamily="49" charset="-122"/>
                <a:cs typeface="JetBrains Mono" pitchFamily="49" charset="-120"/>
              </a:rPr>
              <a:t>// game - у кого вызывать</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Console.WriteLine(left.Method.Name);  </a:t>
            </a:r>
            <a:r>
              <a:rPr lang="en-US" sz="1200" dirty="0">
                <a:solidFill>
                  <a:srgbClr val="5F6B7A"/>
                </a:solidFill>
                <a:latin typeface="JetBrains Mono" pitchFamily="49" charset="0"/>
                <a:ea typeface="JetBrains Mono" pitchFamily="49" charset="-122"/>
                <a:cs typeface="JetBrains Mono" pitchFamily="49" charset="-120"/>
              </a:rPr>
              <a:t>// OnLeft - что вызывать</a:t>
            </a:r>
            <a:endParaRPr lang="en-US" sz="1200" dirty="0"/>
          </a:p>
        </p:txBody>
      </p:sp>
      <p:sp>
        <p:nvSpPr>
          <p:cNvPr id="5" name="Shape 3"/>
          <p:cNvSpPr/>
          <p:nvPr/>
        </p:nvSpPr>
        <p:spPr>
          <a:xfrm>
            <a:off x="815975" y="4224655"/>
            <a:ext cx="3414157" cy="1544320"/>
          </a:xfrm>
          <a:prstGeom prst="roundRect">
            <a:avLst>
              <a:gd name="adj" fmla="val 6373"/>
            </a:avLst>
          </a:prstGeom>
          <a:solidFill>
            <a:srgbClr val="ECEFF3"/>
          </a:solidFill>
          <a:ln w="6350">
            <a:solidFill>
              <a:srgbClr val="ECEFF3"/>
            </a:solidFill>
            <a:prstDash val="solid"/>
          </a:ln>
        </p:spPr>
      </p:sp>
      <p:sp>
        <p:nvSpPr>
          <p:cNvPr id="6" name="Text 4"/>
          <p:cNvSpPr/>
          <p:nvPr/>
        </p:nvSpPr>
        <p:spPr>
          <a:xfrm>
            <a:off x="1021080" y="4429761"/>
            <a:ext cx="309406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Значение</a:t>
            </a:r>
            <a:endParaRPr lang="en-US" sz="1700" dirty="0"/>
          </a:p>
        </p:txBody>
      </p:sp>
      <p:sp>
        <p:nvSpPr>
          <p:cNvPr id="7" name="Text 5"/>
          <p:cNvSpPr/>
          <p:nvPr/>
        </p:nvSpPr>
        <p:spPr>
          <a:xfrm>
            <a:off x="1021080" y="4752341"/>
            <a:ext cx="3094065"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Делегат можно положить в переменную, передать, вернуть</a:t>
            </a:r>
            <a:endParaRPr lang="en-US" sz="1500" dirty="0"/>
          </a:p>
        </p:txBody>
      </p:sp>
      <p:sp>
        <p:nvSpPr>
          <p:cNvPr id="8" name="Shape 6"/>
          <p:cNvSpPr/>
          <p:nvPr/>
        </p:nvSpPr>
        <p:spPr>
          <a:xfrm>
            <a:off x="4388882" y="4224655"/>
            <a:ext cx="3414236" cy="1544320"/>
          </a:xfrm>
          <a:prstGeom prst="roundRect">
            <a:avLst>
              <a:gd name="adj" fmla="val 6373"/>
            </a:avLst>
          </a:prstGeom>
          <a:solidFill>
            <a:srgbClr val="ECEFF3"/>
          </a:solidFill>
          <a:ln w="6350">
            <a:solidFill>
              <a:srgbClr val="ECEFF3"/>
            </a:solidFill>
            <a:prstDash val="solid"/>
          </a:ln>
        </p:spPr>
      </p:sp>
      <p:sp>
        <p:nvSpPr>
          <p:cNvPr id="9" name="Text 7"/>
          <p:cNvSpPr/>
          <p:nvPr/>
        </p:nvSpPr>
        <p:spPr>
          <a:xfrm>
            <a:off x="4593987" y="4429761"/>
            <a:ext cx="309414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Типобезопасность</a:t>
            </a:r>
            <a:endParaRPr lang="en-US" sz="1700" dirty="0"/>
          </a:p>
        </p:txBody>
      </p:sp>
      <p:sp>
        <p:nvSpPr>
          <p:cNvPr id="10" name="Text 8"/>
          <p:cNvSpPr/>
          <p:nvPr/>
        </p:nvSpPr>
        <p:spPr>
          <a:xfrm>
            <a:off x="4593987" y="4752341"/>
            <a:ext cx="3094147"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Сигнатуру метода проверяет компилятор</a:t>
            </a:r>
            <a:endParaRPr lang="en-US" sz="1500" dirty="0"/>
          </a:p>
        </p:txBody>
      </p:sp>
      <p:sp>
        <p:nvSpPr>
          <p:cNvPr id="11" name="Shape 9"/>
          <p:cNvSpPr/>
          <p:nvPr/>
        </p:nvSpPr>
        <p:spPr>
          <a:xfrm>
            <a:off x="7961868" y="4224655"/>
            <a:ext cx="3414157" cy="1544320"/>
          </a:xfrm>
          <a:prstGeom prst="roundRect">
            <a:avLst>
              <a:gd name="adj" fmla="val 6373"/>
            </a:avLst>
          </a:prstGeom>
          <a:solidFill>
            <a:srgbClr val="ECEFF3"/>
          </a:solidFill>
          <a:ln w="6350">
            <a:solidFill>
              <a:srgbClr val="ECEFF3"/>
            </a:solidFill>
            <a:prstDash val="solid"/>
          </a:ln>
        </p:spPr>
      </p:sp>
      <p:sp>
        <p:nvSpPr>
          <p:cNvPr id="12" name="Text 10"/>
          <p:cNvSpPr/>
          <p:nvPr/>
        </p:nvSpPr>
        <p:spPr>
          <a:xfrm>
            <a:off x="8166974" y="4429761"/>
            <a:ext cx="3094065"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Цепочка делегатов (delegate chaining)</a:t>
            </a:r>
            <a:endParaRPr lang="en-US" sz="1700" dirty="0"/>
          </a:p>
        </p:txBody>
      </p:sp>
      <p:sp>
        <p:nvSpPr>
          <p:cNvPr id="13" name="Text 11"/>
          <p:cNvSpPr/>
          <p:nvPr/>
        </p:nvSpPr>
        <p:spPr>
          <a:xfrm>
            <a:off x="8166974" y="5011420"/>
            <a:ext cx="3094065"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 собирает цепочку, один вызов вызывает всех</a:t>
            </a:r>
            <a:endParaRPr lang="en-US" sz="1500" dirty="0"/>
          </a:p>
        </p:txBody>
      </p:sp>
      <p:sp>
        <p:nvSpPr>
          <p:cNvPr id="14" name="Text 12"/>
          <p:cNvSpPr/>
          <p:nvPr/>
        </p:nvSpPr>
        <p:spPr>
          <a:xfrm>
            <a:off x="10566400" y="63398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СОБЫТИЯ</a:t>
            </a:r>
            <a:endParaRPr lang="en-US" sz="1200" dirty="0"/>
          </a:p>
        </p:txBody>
      </p:sp>
      <p:sp>
        <p:nvSpPr>
          <p:cNvPr id="3" name="Text 1"/>
          <p:cNvSpPr/>
          <p:nvPr>
            <p:ph type="title"/>
          </p:nvPr>
        </p:nvSpPr>
        <p:spPr>
          <a:xfrm>
            <a:off x="812800" y="1000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Недостатки публичного делегата</a:t>
            </a:r>
            <a:endParaRPr lang="en-US" sz="3000" dirty="0"/>
          </a:p>
        </p:txBody>
      </p:sp>
      <p:sp>
        <p:nvSpPr>
          <p:cNvPr id="4" name="Text 2"/>
          <p:cNvSpPr/>
          <p:nvPr/>
        </p:nvSpPr>
        <p:spPr>
          <a:xfrm>
            <a:off x="812800" y="1623061"/>
            <a:ext cx="5435600" cy="3279140"/>
          </a:xfrm>
          <a:prstGeom prst="roundRect">
            <a:avLst>
              <a:gd name="adj" fmla="val 3098"/>
            </a:avLst>
          </a:prstGeom>
          <a:solidFill>
            <a:srgbClr val="EEF1F5"/>
          </a:solidFill>
          <a:ln/>
        </p:spPr>
        <p:txBody>
          <a:bodyPr wrap="none" lIns="224242" tIns="173442" rIns="76414" bIns="148043"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class EventLoop</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public Action? LeftHandler { get; set;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loop.LeftHandler += game.OnLeft;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loop.LeftHandler += logger.LeftPressed;</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loop.LeftHandler = null;</a:t>
            </a:r>
            <a:endParaRPr lang="en-US" sz="1200" dirty="0"/>
          </a:p>
          <a:p>
            <a:pPr algn="l" indent="0" marL="0">
              <a:lnSpc>
                <a:spcPts val="1740"/>
              </a:lnSpc>
              <a:buNone/>
            </a:pPr>
            <a:r>
              <a:rPr lang="en-US" sz="1200" dirty="0">
                <a:solidFill>
                  <a:srgbClr val="B4541A"/>
                </a:solidFill>
                <a:latin typeface="JetBrains Mono" pitchFamily="49" charset="0"/>
                <a:ea typeface="JetBrains Mono" pitchFamily="49" charset="-122"/>
                <a:cs typeface="JetBrains Mono" pitchFamily="49" charset="-120"/>
              </a:rPr>
              <a:t>// все подписчики потеряны</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loop.LeftHandler?.Invoke();</a:t>
            </a:r>
            <a:endParaRPr lang="en-US" sz="1200" dirty="0"/>
          </a:p>
          <a:p>
            <a:pPr algn="l" indent="0" marL="0">
              <a:lnSpc>
                <a:spcPts val="1740"/>
              </a:lnSpc>
              <a:buNone/>
            </a:pPr>
            <a:r>
              <a:rPr lang="en-US" sz="1200" dirty="0">
                <a:solidFill>
                  <a:srgbClr val="B4541A"/>
                </a:solidFill>
                <a:latin typeface="JetBrains Mono" pitchFamily="49" charset="0"/>
                <a:ea typeface="JetBrains Mono" pitchFamily="49" charset="-122"/>
                <a:cs typeface="JetBrains Mono" pitchFamily="49" charset="-120"/>
              </a:rPr>
              <a:t>// событие вызвано извне класса</a:t>
            </a:r>
            <a:endParaRPr lang="en-US" sz="1200" dirty="0"/>
          </a:p>
        </p:txBody>
      </p:sp>
      <p:sp>
        <p:nvSpPr>
          <p:cNvPr id="5" name="Shape 3"/>
          <p:cNvSpPr/>
          <p:nvPr/>
        </p:nvSpPr>
        <p:spPr>
          <a:xfrm>
            <a:off x="6454775" y="1626236"/>
            <a:ext cx="4921250" cy="1221740"/>
          </a:xfrm>
          <a:prstGeom prst="roundRect">
            <a:avLst>
              <a:gd name="adj" fmla="val 8056"/>
            </a:avLst>
          </a:prstGeom>
          <a:solidFill>
            <a:srgbClr val="ECEFF3"/>
          </a:solidFill>
          <a:ln w="6350">
            <a:solidFill>
              <a:srgbClr val="ECEFF3"/>
            </a:solidFill>
            <a:prstDash val="solid"/>
          </a:ln>
        </p:spPr>
      </p:sp>
      <p:sp>
        <p:nvSpPr>
          <p:cNvPr id="6" name="Text 4"/>
          <p:cNvSpPr/>
          <p:nvPr/>
        </p:nvSpPr>
        <p:spPr>
          <a:xfrm>
            <a:off x="6634480" y="1805939"/>
            <a:ext cx="469869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 вместо +=</a:t>
            </a:r>
            <a:endParaRPr lang="en-US" sz="1700" dirty="0"/>
          </a:p>
        </p:txBody>
      </p:sp>
      <p:sp>
        <p:nvSpPr>
          <p:cNvPr id="7" name="Text 5"/>
          <p:cNvSpPr/>
          <p:nvPr/>
        </p:nvSpPr>
        <p:spPr>
          <a:xfrm>
            <a:off x="6634480" y="2115821"/>
            <a:ext cx="4698695"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Присваивание вместо += удаляет всех подписчиков без предупреждения</a:t>
            </a:r>
            <a:endParaRPr lang="en-US" sz="1500" dirty="0"/>
          </a:p>
        </p:txBody>
      </p:sp>
      <p:sp>
        <p:nvSpPr>
          <p:cNvPr id="8" name="Shape 6"/>
          <p:cNvSpPr/>
          <p:nvPr/>
        </p:nvSpPr>
        <p:spPr>
          <a:xfrm>
            <a:off x="6454775" y="2981325"/>
            <a:ext cx="4921250" cy="945515"/>
          </a:xfrm>
          <a:prstGeom prst="roundRect">
            <a:avLst>
              <a:gd name="adj" fmla="val 10410"/>
            </a:avLst>
          </a:prstGeom>
          <a:solidFill>
            <a:srgbClr val="ECEFF3"/>
          </a:solidFill>
          <a:ln w="6350">
            <a:solidFill>
              <a:srgbClr val="ECEFF3"/>
            </a:solidFill>
            <a:prstDash val="solid"/>
          </a:ln>
        </p:spPr>
      </p:sp>
      <p:sp>
        <p:nvSpPr>
          <p:cNvPr id="9" name="Text 7"/>
          <p:cNvSpPr/>
          <p:nvPr/>
        </p:nvSpPr>
        <p:spPr>
          <a:xfrm>
            <a:off x="6634480" y="3161032"/>
            <a:ext cx="469869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Вызов извне</a:t>
            </a:r>
            <a:endParaRPr lang="en-US" sz="1700" dirty="0"/>
          </a:p>
        </p:txBody>
      </p:sp>
      <p:sp>
        <p:nvSpPr>
          <p:cNvPr id="10" name="Text 8"/>
          <p:cNvSpPr/>
          <p:nvPr/>
        </p:nvSpPr>
        <p:spPr>
          <a:xfrm>
            <a:off x="6634480" y="3470911"/>
            <a:ext cx="4698695"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Событие может вызвать любой внешний код</a:t>
            </a:r>
            <a:endParaRPr lang="en-US" sz="1500" dirty="0"/>
          </a:p>
        </p:txBody>
      </p:sp>
      <p:sp>
        <p:nvSpPr>
          <p:cNvPr id="11" name="Shape 9"/>
          <p:cNvSpPr/>
          <p:nvPr/>
        </p:nvSpPr>
        <p:spPr>
          <a:xfrm>
            <a:off x="6454775" y="4060189"/>
            <a:ext cx="4921250" cy="1221740"/>
          </a:xfrm>
          <a:prstGeom prst="roundRect">
            <a:avLst>
              <a:gd name="adj" fmla="val 8056"/>
            </a:avLst>
          </a:prstGeom>
          <a:solidFill>
            <a:srgbClr val="ECEFF3"/>
          </a:solidFill>
          <a:ln w="6350">
            <a:solidFill>
              <a:srgbClr val="ECEFF3"/>
            </a:solidFill>
            <a:prstDash val="solid"/>
          </a:ln>
        </p:spPr>
      </p:sp>
      <p:sp>
        <p:nvSpPr>
          <p:cNvPr id="12" name="Text 10"/>
          <p:cNvSpPr/>
          <p:nvPr/>
        </p:nvSpPr>
        <p:spPr>
          <a:xfrm>
            <a:off x="6634480" y="4239896"/>
            <a:ext cx="469869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Нарушение инкапсуляции</a:t>
            </a:r>
            <a:endParaRPr lang="en-US" sz="1700" dirty="0"/>
          </a:p>
        </p:txBody>
      </p:sp>
      <p:sp>
        <p:nvSpPr>
          <p:cNvPr id="13" name="Text 11"/>
          <p:cNvSpPr/>
          <p:nvPr/>
        </p:nvSpPr>
        <p:spPr>
          <a:xfrm>
            <a:off x="6634480" y="4549775"/>
            <a:ext cx="4698695"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Класс не контролирует собственный список подписчиков</a:t>
            </a:r>
            <a:endParaRPr lang="en-US" sz="1500" dirty="0"/>
          </a:p>
        </p:txBody>
      </p:sp>
      <p:sp>
        <p:nvSpPr>
          <p:cNvPr id="14" name="Text 12"/>
          <p:cNvSpPr/>
          <p:nvPr/>
        </p:nvSpPr>
        <p:spPr>
          <a:xfrm>
            <a:off x="10566400" y="63398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СОБЫТИЯ</a:t>
            </a:r>
            <a:endParaRPr lang="en-US" sz="1200" dirty="0"/>
          </a:p>
        </p:txBody>
      </p:sp>
      <p:sp>
        <p:nvSpPr>
          <p:cNvPr id="3" name="Text 1"/>
          <p:cNvSpPr/>
          <p:nvPr>
            <p:ph type="title"/>
          </p:nvPr>
        </p:nvSpPr>
        <p:spPr>
          <a:xfrm>
            <a:off x="812800" y="1000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Вызов делегата: () и ?.Invoke()</a:t>
            </a:r>
            <a:endParaRPr lang="en-US" sz="3000" dirty="0"/>
          </a:p>
        </p:txBody>
      </p:sp>
      <p:sp>
        <p:nvSpPr>
          <p:cNvPr id="4" name="Shape 2"/>
          <p:cNvSpPr/>
          <p:nvPr/>
        </p:nvSpPr>
        <p:spPr>
          <a:xfrm>
            <a:off x="812800" y="1623061"/>
            <a:ext cx="5207000" cy="1539240"/>
          </a:xfrm>
          <a:prstGeom prst="roundRect">
            <a:avLst>
              <a:gd name="adj" fmla="val 6601"/>
            </a:avLst>
          </a:prstGeom>
          <a:solidFill>
            <a:srgbClr val="ECEFF3"/>
          </a:solidFill>
          <a:ln/>
        </p:spPr>
      </p:sp>
      <p:sp>
        <p:nvSpPr>
          <p:cNvPr id="5" name="Shape 3"/>
          <p:cNvSpPr/>
          <p:nvPr/>
        </p:nvSpPr>
        <p:spPr>
          <a:xfrm>
            <a:off x="812800" y="1623061"/>
            <a:ext cx="5207000" cy="1539240"/>
          </a:xfrm>
          <a:custGeom>
            <a:avLst/>
            <a:gdLst/>
            <a:ahLst/>
            <a:cxnLst/>
            <a:rect l="l" t="t" r="r" b="b"/>
            <a:pathLst>
              <a:path w="5207000" h="1539240">
                <a:moveTo>
                  <a:pt x="101600" y="1539240"/>
                </a:moveTo>
                <a:lnTo>
                  <a:pt x="101600" y="1539240"/>
                </a:lnTo>
                <a:arcTo hR="101600" wR="101600" stAng="5400000" swAng="5400000"/>
                <a:lnTo>
                  <a:pt x="0" y="101600"/>
                </a:lnTo>
                <a:arcTo hR="101600" wR="101600" stAng="10800000" swAng="5400000"/>
                <a:lnTo>
                  <a:pt x="101600" y="0"/>
                </a:lnTo>
                <a:arcTo hR="101600" wR="63500" stAng="16200000" swAng="-5400000"/>
                <a:lnTo>
                  <a:pt x="38100" y="1437640"/>
                </a:lnTo>
                <a:arcTo hR="101600" wR="63500" stAng="10800000" swAng="-5400000"/>
                <a:close/>
              </a:path>
            </a:pathLst>
          </a:custGeom>
          <a:solidFill>
            <a:srgbClr val="B4541A"/>
          </a:solidFill>
          <a:ln/>
        </p:spPr>
      </p:sp>
      <p:sp>
        <p:nvSpPr>
          <p:cNvPr id="6" name="Text 4"/>
          <p:cNvSpPr/>
          <p:nvPr/>
        </p:nvSpPr>
        <p:spPr>
          <a:xfrm>
            <a:off x="1051560" y="1826261"/>
            <a:ext cx="490799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541A"/>
                </a:solidFill>
                <a:latin typeface="IBM Plex Sans" pitchFamily="34" charset="0"/>
                <a:ea typeface="IBM Plex Sans" pitchFamily="34" charset="-122"/>
                <a:cs typeface="IBM Plex Sans" pitchFamily="34" charset="-120"/>
              </a:rPr>
              <a:t>Прямой вызов</a:t>
            </a:r>
            <a:endParaRPr lang="en-US" sz="1700" dirty="0"/>
          </a:p>
        </p:txBody>
      </p:sp>
      <p:sp>
        <p:nvSpPr>
          <p:cNvPr id="7" name="Text 5"/>
          <p:cNvSpPr/>
          <p:nvPr/>
        </p:nvSpPr>
        <p:spPr>
          <a:xfrm>
            <a:off x="1051560" y="2174239"/>
            <a:ext cx="4765040" cy="695960"/>
          </a:xfrm>
          <a:prstGeom prst="roundRect">
            <a:avLst>
              <a:gd name="adj" fmla="val 10949"/>
            </a:avLst>
          </a:prstGeom>
          <a:solidFill>
            <a:srgbClr val="F7F8FA"/>
          </a:solidFill>
          <a:ln/>
        </p:spPr>
        <p:txBody>
          <a:bodyPr wrap="none" lIns="155482" tIns="104682" rIns="23199" bIns="7928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Action? handler = null;</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handler();  </a:t>
            </a:r>
            <a:r>
              <a:rPr lang="en-US" sz="1200" dirty="0">
                <a:solidFill>
                  <a:srgbClr val="B4541A"/>
                </a:solidFill>
                <a:latin typeface="JetBrains Mono" pitchFamily="49" charset="0"/>
                <a:ea typeface="JetBrains Mono" pitchFamily="49" charset="-122"/>
                <a:cs typeface="JetBrains Mono" pitchFamily="49" charset="-120"/>
              </a:rPr>
              <a:t>// NullReferenceException</a:t>
            </a:r>
            <a:endParaRPr lang="en-US" sz="1200" dirty="0"/>
          </a:p>
        </p:txBody>
      </p:sp>
      <p:sp>
        <p:nvSpPr>
          <p:cNvPr id="8" name="Shape 6"/>
          <p:cNvSpPr/>
          <p:nvPr/>
        </p:nvSpPr>
        <p:spPr>
          <a:xfrm>
            <a:off x="6172200" y="1623061"/>
            <a:ext cx="5207000" cy="1539240"/>
          </a:xfrm>
          <a:prstGeom prst="roundRect">
            <a:avLst>
              <a:gd name="adj" fmla="val 6601"/>
            </a:avLst>
          </a:prstGeom>
          <a:solidFill>
            <a:srgbClr val="ECEFF3"/>
          </a:solidFill>
          <a:ln/>
        </p:spPr>
      </p:sp>
      <p:sp>
        <p:nvSpPr>
          <p:cNvPr id="9" name="Shape 7"/>
          <p:cNvSpPr/>
          <p:nvPr/>
        </p:nvSpPr>
        <p:spPr>
          <a:xfrm>
            <a:off x="6172200" y="1623061"/>
            <a:ext cx="5207000" cy="1539240"/>
          </a:xfrm>
          <a:custGeom>
            <a:avLst/>
            <a:gdLst/>
            <a:ahLst/>
            <a:cxnLst/>
            <a:rect l="l" t="t" r="r" b="b"/>
            <a:pathLst>
              <a:path w="5207000" h="1539240">
                <a:moveTo>
                  <a:pt x="101600" y="1539240"/>
                </a:moveTo>
                <a:lnTo>
                  <a:pt x="101600" y="1539240"/>
                </a:lnTo>
                <a:arcTo hR="101600" wR="101600" stAng="5400000" swAng="5400000"/>
                <a:lnTo>
                  <a:pt x="0" y="101600"/>
                </a:lnTo>
                <a:arcTo hR="101600" wR="101600" stAng="10800000" swAng="5400000"/>
                <a:lnTo>
                  <a:pt x="101600" y="0"/>
                </a:lnTo>
                <a:arcTo hR="101600" wR="63500" stAng="16200000" swAng="-5400000"/>
                <a:lnTo>
                  <a:pt x="38100" y="1437640"/>
                </a:lnTo>
                <a:arcTo hR="101600" wR="63500" stAng="10800000" swAng="-5400000"/>
                <a:close/>
              </a:path>
            </a:pathLst>
          </a:custGeom>
          <a:solidFill>
            <a:srgbClr val="1E7D3A"/>
          </a:solidFill>
          <a:ln/>
        </p:spPr>
      </p:sp>
      <p:sp>
        <p:nvSpPr>
          <p:cNvPr id="10" name="Text 8"/>
          <p:cNvSpPr/>
          <p:nvPr/>
        </p:nvSpPr>
        <p:spPr>
          <a:xfrm>
            <a:off x="6410960" y="1826261"/>
            <a:ext cx="490799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7D3A"/>
                </a:solidFill>
                <a:latin typeface="IBM Plex Sans" pitchFamily="34" charset="0"/>
                <a:ea typeface="IBM Plex Sans" pitchFamily="34" charset="-122"/>
                <a:cs typeface="IBM Plex Sans" pitchFamily="34" charset="-120"/>
              </a:rPr>
              <a:t>Безопасный вызов</a:t>
            </a:r>
            <a:endParaRPr lang="en-US" sz="1700" dirty="0"/>
          </a:p>
        </p:txBody>
      </p:sp>
      <p:sp>
        <p:nvSpPr>
          <p:cNvPr id="11" name="Text 9"/>
          <p:cNvSpPr/>
          <p:nvPr/>
        </p:nvSpPr>
        <p:spPr>
          <a:xfrm>
            <a:off x="6410960" y="2174239"/>
            <a:ext cx="4765040" cy="695960"/>
          </a:xfrm>
          <a:prstGeom prst="roundRect">
            <a:avLst>
              <a:gd name="adj" fmla="val 10949"/>
            </a:avLst>
          </a:prstGeom>
          <a:solidFill>
            <a:srgbClr val="F7F8FA"/>
          </a:solidFill>
          <a:ln/>
        </p:spPr>
        <p:txBody>
          <a:bodyPr wrap="none" lIns="155481" tIns="104682" rIns="23199" bIns="7928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Action? handler = null;</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handler?.Invoke();  </a:t>
            </a:r>
            <a:r>
              <a:rPr lang="en-US" sz="1200" dirty="0">
                <a:solidFill>
                  <a:srgbClr val="5F6B7A"/>
                </a:solidFill>
                <a:latin typeface="JetBrains Mono" pitchFamily="49" charset="0"/>
                <a:ea typeface="JetBrains Mono" pitchFamily="49" charset="-122"/>
                <a:cs typeface="JetBrains Mono" pitchFamily="49" charset="-120"/>
              </a:rPr>
              <a:t>// ничего не происходит</a:t>
            </a:r>
            <a:endParaRPr lang="en-US" sz="1200" dirty="0"/>
          </a:p>
        </p:txBody>
      </p:sp>
      <p:sp>
        <p:nvSpPr>
          <p:cNvPr id="12" name="Shape 10"/>
          <p:cNvSpPr/>
          <p:nvPr/>
        </p:nvSpPr>
        <p:spPr>
          <a:xfrm>
            <a:off x="812800" y="3365500"/>
            <a:ext cx="10566400" cy="1005205"/>
          </a:xfrm>
          <a:prstGeom prst="roundRect">
            <a:avLst>
              <a:gd name="adj" fmla="val 10107"/>
            </a:avLst>
          </a:prstGeom>
          <a:solidFill>
            <a:srgbClr val="ECEFF3"/>
          </a:solidFill>
          <a:ln/>
        </p:spPr>
      </p:sp>
      <p:sp>
        <p:nvSpPr>
          <p:cNvPr id="13" name="Text 11"/>
          <p:cNvSpPr/>
          <p:nvPr/>
        </p:nvSpPr>
        <p:spPr>
          <a:xfrm>
            <a:off x="1016000" y="3568700"/>
            <a:ext cx="1046480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Почему не if (handler != null) handler()</a:t>
            </a:r>
            <a:endParaRPr lang="en-US" sz="1700" dirty="0"/>
          </a:p>
        </p:txBody>
      </p:sp>
      <p:sp>
        <p:nvSpPr>
          <p:cNvPr id="14" name="Text 12"/>
          <p:cNvSpPr/>
          <p:nvPr/>
        </p:nvSpPr>
        <p:spPr>
          <a:xfrm>
            <a:off x="1016000" y="3891282"/>
            <a:ext cx="1046480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Не атомарно, нужен lock </a:t>
            </a:r>
            <a:endParaRPr lang="en-US" sz="1500" dirty="0"/>
          </a:p>
        </p:txBody>
      </p:sp>
      <p:sp>
        <p:nvSpPr>
          <p:cNvPr id="15" name="Text 13"/>
          <p:cNvSpPr/>
          <p:nvPr/>
        </p:nvSpPr>
        <p:spPr>
          <a:xfrm>
            <a:off x="10566400" y="63398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СОБЫТИЯ</a:t>
            </a:r>
            <a:endParaRPr lang="en-US" sz="1200" dirty="0"/>
          </a:p>
        </p:txBody>
      </p:sp>
      <p:sp>
        <p:nvSpPr>
          <p:cNvPr id="3" name="Text 1"/>
          <p:cNvSpPr/>
          <p:nvPr>
            <p:ph type="title"/>
          </p:nvPr>
        </p:nvSpPr>
        <p:spPr>
          <a:xfrm>
            <a:off x="812800" y="1000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Ключевое слово event</a:t>
            </a:r>
            <a:endParaRPr lang="en-US" sz="3000" dirty="0"/>
          </a:p>
        </p:txBody>
      </p:sp>
      <p:sp>
        <p:nvSpPr>
          <p:cNvPr id="4" name="Text 2"/>
          <p:cNvSpPr/>
          <p:nvPr/>
        </p:nvSpPr>
        <p:spPr>
          <a:xfrm>
            <a:off x="812800" y="1623061"/>
            <a:ext cx="5036026" cy="2616200"/>
          </a:xfrm>
          <a:prstGeom prst="roundRect">
            <a:avLst>
              <a:gd name="adj" fmla="val 3883"/>
            </a:avLst>
          </a:prstGeom>
          <a:solidFill>
            <a:srgbClr val="EEF1F5"/>
          </a:solidFill>
          <a:ln/>
        </p:spPr>
        <p:txBody>
          <a:bodyPr wrap="none" lIns="224242" tIns="173442" rIns="88402"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class EventLoop</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public event Action? LeftHandler;</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public void Run()</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r>
              <a:rPr lang="en-US" sz="1200" dirty="0">
                <a:solidFill>
                  <a:srgbClr val="5F6B7A"/>
                </a:solidFill>
                <a:latin typeface="JetBrains Mono" pitchFamily="49" charset="0"/>
                <a:ea typeface="JetBrains Mono" pitchFamily="49" charset="-122"/>
                <a:cs typeface="JetBrains Mono" pitchFamily="49" charset="-120"/>
              </a:rPr>
              <a:t>// внутри класса допустимо</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LeftHandler?.Invoke();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p:txBody>
      </p:sp>
      <p:sp>
        <p:nvSpPr>
          <p:cNvPr id="5" name="Text 3"/>
          <p:cNvSpPr/>
          <p:nvPr/>
        </p:nvSpPr>
        <p:spPr>
          <a:xfrm>
            <a:off x="6052026" y="1623061"/>
            <a:ext cx="5327174" cy="1290320"/>
          </a:xfrm>
          <a:prstGeom prst="roundRect">
            <a:avLst>
              <a:gd name="adj" fmla="val 7874"/>
            </a:avLst>
          </a:prstGeom>
          <a:solidFill>
            <a:srgbClr val="EEF1F5"/>
          </a:solidFill>
          <a:ln/>
        </p:spPr>
        <p:txBody>
          <a:bodyPr wrap="none" lIns="224242" tIns="173442" rIns="79667"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loop.LeftHandler += game.OnLeft;  </a:t>
            </a:r>
            <a:r>
              <a:rPr lang="en-US" sz="1200" dirty="0">
                <a:solidFill>
                  <a:srgbClr val="5F6B7A"/>
                </a:solidFill>
                <a:latin typeface="JetBrains Mono" pitchFamily="49" charset="0"/>
                <a:ea typeface="JetBrains Mono" pitchFamily="49" charset="-122"/>
                <a:cs typeface="JetBrains Mono" pitchFamily="49" charset="-120"/>
              </a:rPr>
              <a:t>// допустимо</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loop.LeftHandler -= game.OnLeft;  </a:t>
            </a:r>
            <a:r>
              <a:rPr lang="en-US" sz="1200" dirty="0">
                <a:solidFill>
                  <a:srgbClr val="5F6B7A"/>
                </a:solidFill>
                <a:latin typeface="JetBrains Mono" pitchFamily="49" charset="0"/>
                <a:ea typeface="JetBrains Mono" pitchFamily="49" charset="-122"/>
                <a:cs typeface="JetBrains Mono" pitchFamily="49" charset="-120"/>
              </a:rPr>
              <a:t>// допустимо</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loop.LeftHandler = null;  </a:t>
            </a:r>
            <a:r>
              <a:rPr lang="en-US" sz="1200" dirty="0">
                <a:solidFill>
                  <a:srgbClr val="B4541A"/>
                </a:solidFill>
                <a:latin typeface="JetBrains Mono" pitchFamily="49" charset="0"/>
                <a:ea typeface="JetBrains Mono" pitchFamily="49" charset="-122"/>
                <a:cs typeface="JetBrains Mono" pitchFamily="49" charset="-120"/>
              </a:rPr>
              <a:t>// CS0070</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loop.LeftHandler?.Invoke();  </a:t>
            </a:r>
            <a:r>
              <a:rPr lang="en-US" sz="1200" dirty="0">
                <a:solidFill>
                  <a:srgbClr val="B4541A"/>
                </a:solidFill>
                <a:latin typeface="JetBrains Mono" pitchFamily="49" charset="0"/>
                <a:ea typeface="JetBrains Mono" pitchFamily="49" charset="-122"/>
                <a:cs typeface="JetBrains Mono" pitchFamily="49" charset="-120"/>
              </a:rPr>
              <a:t>// CS0070</a:t>
            </a:r>
            <a:endParaRPr lang="en-US" sz="1200" dirty="0"/>
          </a:p>
        </p:txBody>
      </p:sp>
      <p:sp>
        <p:nvSpPr>
          <p:cNvPr id="6" name="Shape 4"/>
          <p:cNvSpPr/>
          <p:nvPr/>
        </p:nvSpPr>
        <p:spPr>
          <a:xfrm>
            <a:off x="6055201" y="3068957"/>
            <a:ext cx="5320824" cy="1285240"/>
          </a:xfrm>
          <a:prstGeom prst="roundRect">
            <a:avLst>
              <a:gd name="adj" fmla="val 7658"/>
            </a:avLst>
          </a:prstGeom>
          <a:solidFill>
            <a:srgbClr val="ECEFF3"/>
          </a:solidFill>
          <a:ln w="6350">
            <a:solidFill>
              <a:srgbClr val="ECEFF3"/>
            </a:solidFill>
            <a:prstDash val="solid"/>
          </a:ln>
        </p:spPr>
      </p:sp>
      <p:sp>
        <p:nvSpPr>
          <p:cNvPr id="7" name="Text 5"/>
          <p:cNvSpPr/>
          <p:nvPr/>
        </p:nvSpPr>
        <p:spPr>
          <a:xfrm>
            <a:off x="6260306" y="3274061"/>
            <a:ext cx="505793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Проверяет компилятор</a:t>
            </a:r>
            <a:endParaRPr lang="en-US" sz="1700" dirty="0"/>
          </a:p>
        </p:txBody>
      </p:sp>
      <p:sp>
        <p:nvSpPr>
          <p:cNvPr id="8" name="Text 6"/>
          <p:cNvSpPr/>
          <p:nvPr/>
        </p:nvSpPr>
        <p:spPr>
          <a:xfrm>
            <a:off x="6260306" y="3596639"/>
            <a:ext cx="505793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CS0070: вне объявившего класса событие допустимо только слева от += или −=</a:t>
            </a:r>
            <a:endParaRPr lang="en-US" sz="1500" dirty="0"/>
          </a:p>
        </p:txBody>
      </p:sp>
      <p:sp>
        <p:nvSpPr>
          <p:cNvPr id="9" name="Shape 7"/>
          <p:cNvSpPr/>
          <p:nvPr/>
        </p:nvSpPr>
        <p:spPr>
          <a:xfrm>
            <a:off x="6055201" y="4512946"/>
            <a:ext cx="5320824" cy="1285240"/>
          </a:xfrm>
          <a:prstGeom prst="roundRect">
            <a:avLst>
              <a:gd name="adj" fmla="val 7658"/>
            </a:avLst>
          </a:prstGeom>
          <a:solidFill>
            <a:srgbClr val="ECEFF3"/>
          </a:solidFill>
          <a:ln w="6350">
            <a:solidFill>
              <a:srgbClr val="ECEFF3"/>
            </a:solidFill>
            <a:prstDash val="solid"/>
          </a:ln>
        </p:spPr>
      </p:sp>
      <p:sp>
        <p:nvSpPr>
          <p:cNvPr id="10" name="Text 8"/>
          <p:cNvSpPr/>
          <p:nvPr/>
        </p:nvSpPr>
        <p:spPr>
          <a:xfrm>
            <a:off x="6260306" y="4718050"/>
            <a:ext cx="505793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Наследникам вызов недоступен</a:t>
            </a:r>
            <a:endParaRPr lang="en-US" sz="1700" dirty="0"/>
          </a:p>
        </p:txBody>
      </p:sp>
      <p:sp>
        <p:nvSpPr>
          <p:cNvPr id="11" name="Text 9"/>
          <p:cNvSpPr/>
          <p:nvPr/>
        </p:nvSpPr>
        <p:spPr>
          <a:xfrm>
            <a:off x="6260306" y="5040632"/>
            <a:ext cx="505793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Поэтому принято объявлять protected virtual void OnLeftPressed(...)</a:t>
            </a:r>
            <a:endParaRPr lang="en-US" sz="1500" dirty="0"/>
          </a:p>
        </p:txBody>
      </p:sp>
      <p:sp>
        <p:nvSpPr>
          <p:cNvPr id="12" name="Text 10"/>
          <p:cNvSpPr/>
          <p:nvPr/>
        </p:nvSpPr>
        <p:spPr>
          <a:xfrm>
            <a:off x="10566400" y="63398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СОБЫТИЯ</a:t>
            </a:r>
            <a:endParaRPr lang="en-US" sz="1200" dirty="0"/>
          </a:p>
        </p:txBody>
      </p:sp>
      <p:sp>
        <p:nvSpPr>
          <p:cNvPr id="3" name="Text 1"/>
          <p:cNvSpPr/>
          <p:nvPr>
            <p:ph type="title"/>
          </p:nvPr>
        </p:nvSpPr>
        <p:spPr>
          <a:xfrm>
            <a:off x="812800" y="1000761"/>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Во что компилятор превращает event</a:t>
            </a:r>
            <a:endParaRPr lang="en-US" sz="3000" dirty="0"/>
          </a:p>
        </p:txBody>
      </p:sp>
      <p:sp>
        <p:nvSpPr>
          <p:cNvPr id="4" name="Text 2"/>
          <p:cNvSpPr/>
          <p:nvPr/>
        </p:nvSpPr>
        <p:spPr>
          <a:xfrm>
            <a:off x="812800" y="162306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Исходный код</a:t>
            </a:r>
            <a:endParaRPr lang="en-US" sz="1500" dirty="0"/>
          </a:p>
        </p:txBody>
      </p:sp>
      <p:sp>
        <p:nvSpPr>
          <p:cNvPr id="5" name="Text 3"/>
          <p:cNvSpPr/>
          <p:nvPr/>
        </p:nvSpPr>
        <p:spPr>
          <a:xfrm>
            <a:off x="812800" y="1991361"/>
            <a:ext cx="10566400" cy="576580"/>
          </a:xfrm>
          <a:prstGeom prst="roundRect">
            <a:avLst>
              <a:gd name="adj" fmla="val 17621"/>
            </a:avLst>
          </a:prstGeom>
          <a:solidFill>
            <a:srgbClr val="EEF1F5"/>
          </a:solidFill>
          <a:ln/>
        </p:spPr>
        <p:txBody>
          <a:bodyPr wrap="none" lIns="224242" tIns="148042" rIns="0" bIns="1226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event Action? LeftHandler;</a:t>
            </a:r>
            <a:endParaRPr lang="en-US" sz="1200" dirty="0"/>
          </a:p>
        </p:txBody>
      </p:sp>
      <p:sp>
        <p:nvSpPr>
          <p:cNvPr id="6" name="Text 4"/>
          <p:cNvSpPr/>
          <p:nvPr/>
        </p:nvSpPr>
        <p:spPr>
          <a:xfrm>
            <a:off x="812800" y="277113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Что генерирует компилятор (упрощённо)</a:t>
            </a:r>
            <a:endParaRPr lang="en-US" sz="1500" dirty="0"/>
          </a:p>
        </p:txBody>
      </p:sp>
      <p:sp>
        <p:nvSpPr>
          <p:cNvPr id="7" name="Text 5"/>
          <p:cNvSpPr/>
          <p:nvPr/>
        </p:nvSpPr>
        <p:spPr>
          <a:xfrm>
            <a:off x="812800" y="3139439"/>
            <a:ext cx="10566400" cy="1902460"/>
          </a:xfrm>
          <a:prstGeom prst="roundRect">
            <a:avLst>
              <a:gd name="adj" fmla="val 5340"/>
            </a:avLst>
          </a:prstGeom>
          <a:solidFill>
            <a:srgbClr val="EEF1F5"/>
          </a:solidFill>
          <a:ln/>
        </p:spPr>
        <p:txBody>
          <a:bodyPr wrap="none" lIns="224242" tIns="148042" rIns="0" bIns="1226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private Action? leftHandler;  </a:t>
            </a:r>
            <a:r>
              <a:rPr lang="en-US" sz="1200" dirty="0">
                <a:solidFill>
                  <a:srgbClr val="5F6B7A"/>
                </a:solidFill>
                <a:latin typeface="JetBrains Mono" pitchFamily="49" charset="0"/>
                <a:ea typeface="JetBrains Mono" pitchFamily="49" charset="-122"/>
                <a:cs typeface="JetBrains Mono" pitchFamily="49" charset="-120"/>
              </a:rPr>
              <a:t>// скрытое поле</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void add_LeftHandler(Action? value)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=&gt; leftHandler = (Action?)Delegate.Combine(leftHandler, value);</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void remove_LeftHandler(Action? value)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=&gt; leftHandler = (Action?)Delegate.Remove(leftHandler, value);</a:t>
            </a:r>
            <a:endParaRPr lang="en-US" sz="1200" dirty="0"/>
          </a:p>
        </p:txBody>
      </p:sp>
      <p:sp>
        <p:nvSpPr>
          <p:cNvPr id="8" name="Text 6"/>
          <p:cNvSpPr/>
          <p:nvPr/>
        </p:nvSpPr>
        <p:spPr>
          <a:xfrm>
            <a:off x="812800" y="5245100"/>
            <a:ext cx="10883392"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Как у свойства: скрытое поле и пара методов. Оператор += вне класса вызывает add_LeftHandler, оператор −= вызывает remove_LeftHandler.</a:t>
            </a:r>
            <a:endParaRPr lang="en-US" sz="1600" dirty="0"/>
          </a:p>
        </p:txBody>
      </p:sp>
      <p:sp>
        <p:nvSpPr>
          <p:cNvPr id="9" name="Text 7"/>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СОБЫТИЯ</a:t>
            </a:r>
            <a:endParaRPr lang="en-US" sz="1200" dirty="0"/>
          </a:p>
        </p:txBody>
      </p:sp>
      <p:sp>
        <p:nvSpPr>
          <p:cNvPr id="3" name="Text 1"/>
          <p:cNvSpPr/>
          <p:nvPr>
            <p:ph type="title"/>
          </p:nvPr>
        </p:nvSpPr>
        <p:spPr>
          <a:xfrm>
            <a:off x="812800" y="1000764"/>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 и −= вызывают Delegate.Combine и Delegate.Remove</a:t>
            </a:r>
            <a:endParaRPr lang="en-US" sz="3000" dirty="0"/>
          </a:p>
        </p:txBody>
      </p:sp>
      <p:sp>
        <p:nvSpPr>
          <p:cNvPr id="4" name="Text 2"/>
          <p:cNvSpPr/>
          <p:nvPr/>
        </p:nvSpPr>
        <p:spPr>
          <a:xfrm>
            <a:off x="812800" y="1623064"/>
            <a:ext cx="10566400" cy="3721100"/>
          </a:xfrm>
          <a:prstGeom prst="roundRect">
            <a:avLst>
              <a:gd name="adj" fmla="val 2730"/>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DELEGATE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Action? handler = null;</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handler += game.OnLeft;</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компилируется в:</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handler = (Action?)Delegate.Combine(handler, game.OnLeft);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handler -= game.OnLeft;</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компилируется в:</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handler = (Action?)Delegate.Remove(handler, game.OnLeft);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r>
              <a:rPr lang="en-US" sz="1200" b="1" dirty="0">
                <a:solidFill>
                  <a:srgbClr val="1B2433"/>
                </a:solidFill>
                <a:latin typeface="JetBrains Mono" pitchFamily="49" charset="0"/>
                <a:ea typeface="JetBrains Mono" pitchFamily="49" charset="-122"/>
                <a:cs typeface="JetBrains Mono" pitchFamily="49" charset="-120"/>
              </a:rPr>
              <a:t>EVENT</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 и −= - вызовы add и remove: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loop.LeftHandler += game.OnLeft;  </a:t>
            </a:r>
            <a:r>
              <a:rPr lang="en-US" sz="1200" dirty="0">
                <a:solidFill>
                  <a:srgbClr val="5F6B7A"/>
                </a:solidFill>
                <a:latin typeface="JetBrains Mono" pitchFamily="49" charset="0"/>
                <a:ea typeface="JetBrains Mono" pitchFamily="49" charset="-122"/>
                <a:cs typeface="JetBrains Mono" pitchFamily="49" charset="-120"/>
              </a:rPr>
              <a:t>// loop.add_LeftHandler(game.OnLeft)</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внутри add - тот же Delegate.Combine</a:t>
            </a:r>
            <a:endParaRPr lang="en-US" sz="1200" dirty="0"/>
          </a:p>
        </p:txBody>
      </p:sp>
      <p:sp>
        <p:nvSpPr>
          <p:cNvPr id="5" name="Text 3"/>
          <p:cNvSpPr/>
          <p:nvPr/>
        </p:nvSpPr>
        <p:spPr>
          <a:xfrm>
            <a:off x="812800" y="5547364"/>
            <a:ext cx="10883392" cy="32004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EVENT: </a:t>
            </a:r>
            <a:r>
              <a:rPr lang="en-US" sz="1600" b="1" dirty="0">
                <a:solidFill>
                  <a:srgbClr val="4A5568"/>
                </a:solidFill>
                <a:latin typeface="IBM Plex Sans" pitchFamily="34" charset="0"/>
                <a:ea typeface="IBM Plex Sans" pitchFamily="34" charset="-122"/>
                <a:cs typeface="IBM Plex Sans" pitchFamily="34" charset="-120"/>
              </a:rPr>
              <a:t>+=</a:t>
            </a:r>
            <a:r>
              <a:rPr lang="en-US" sz="1600" dirty="0">
                <a:solidFill>
                  <a:srgbClr val="4A5568"/>
                </a:solidFill>
                <a:latin typeface="IBM Plex Sans" pitchFamily="34" charset="0"/>
                <a:ea typeface="IBM Plex Sans" pitchFamily="34" charset="-122"/>
                <a:cs typeface="IBM Plex Sans" pitchFamily="34" charset="-120"/>
              </a:rPr>
              <a:t> → </a:t>
            </a:r>
            <a:r>
              <a:rPr lang="en-US" sz="1600" b="1" dirty="0">
                <a:solidFill>
                  <a:srgbClr val="4A5568"/>
                </a:solidFill>
                <a:latin typeface="IBM Plex Sans" pitchFamily="34" charset="0"/>
                <a:ea typeface="IBM Plex Sans" pitchFamily="34" charset="-122"/>
                <a:cs typeface="IBM Plex Sans" pitchFamily="34" charset="-120"/>
              </a:rPr>
              <a:t>add</a:t>
            </a:r>
            <a:r>
              <a:rPr lang="en-US" sz="1600" dirty="0">
                <a:solidFill>
                  <a:srgbClr val="4A5568"/>
                </a:solidFill>
                <a:latin typeface="IBM Plex Sans" pitchFamily="34" charset="0"/>
                <a:ea typeface="IBM Plex Sans" pitchFamily="34" charset="-122"/>
                <a:cs typeface="IBM Plex Sans" pitchFamily="34" charset="-120"/>
              </a:rPr>
              <a:t> → </a:t>
            </a:r>
            <a:r>
              <a:rPr lang="en-US" sz="1600" b="1" dirty="0">
                <a:solidFill>
                  <a:srgbClr val="4A5568"/>
                </a:solidFill>
                <a:latin typeface="IBM Plex Sans" pitchFamily="34" charset="0"/>
                <a:ea typeface="IBM Plex Sans" pitchFamily="34" charset="-122"/>
                <a:cs typeface="IBM Plex Sans" pitchFamily="34" charset="-120"/>
              </a:rPr>
              <a:t>Delegate.Combine</a:t>
            </a:r>
            <a:r>
              <a:rPr lang="en-US" sz="1600" dirty="0">
                <a:solidFill>
                  <a:srgbClr val="4A5568"/>
                </a:solidFill>
                <a:latin typeface="IBM Plex Sans" pitchFamily="34" charset="0"/>
                <a:ea typeface="IBM Plex Sans" pitchFamily="34" charset="-122"/>
                <a:cs typeface="IBM Plex Sans" pitchFamily="34" charset="-120"/>
              </a:rPr>
              <a:t>. Для простого delegate шаг с add пропускается.</a:t>
            </a:r>
            <a:endParaRPr lang="en-US" sz="1600" dirty="0"/>
          </a:p>
        </p:txBody>
      </p:sp>
      <p:sp>
        <p:nvSpPr>
          <p:cNvPr id="6" name="Text 4"/>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СОБЫТИЯ</a:t>
            </a:r>
            <a:endParaRPr lang="en-US" sz="1200" dirty="0"/>
          </a:p>
        </p:txBody>
      </p:sp>
      <p:sp>
        <p:nvSpPr>
          <p:cNvPr id="3" name="Text 1"/>
          <p:cNvSpPr/>
          <p:nvPr>
            <p:ph type="title"/>
          </p:nvPr>
        </p:nvSpPr>
        <p:spPr>
          <a:xfrm>
            <a:off x="812800" y="1000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Как ведёт себя цепочка делегатов</a:t>
            </a:r>
            <a:endParaRPr lang="en-US" sz="3000" dirty="0"/>
          </a:p>
        </p:txBody>
      </p:sp>
      <p:sp>
        <p:nvSpPr>
          <p:cNvPr id="4" name="Shape 2"/>
          <p:cNvSpPr/>
          <p:nvPr/>
        </p:nvSpPr>
        <p:spPr>
          <a:xfrm>
            <a:off x="812800" y="1623064"/>
            <a:ext cx="10566400" cy="3830320"/>
          </a:xfrm>
          <a:prstGeom prst="roundRect">
            <a:avLst>
              <a:gd name="adj" fmla="val 2653"/>
            </a:avLst>
          </a:prstGeom>
          <a:solidFill>
            <a:srgbClr val="ECEFF3"/>
          </a:solidFill>
          <a:ln/>
        </p:spPr>
      </p:sp>
      <p:sp>
        <p:nvSpPr>
          <p:cNvPr id="5" name="Shape 3"/>
          <p:cNvSpPr/>
          <p:nvPr/>
        </p:nvSpPr>
        <p:spPr>
          <a:xfrm>
            <a:off x="812800" y="1623064"/>
            <a:ext cx="10566400" cy="3830320"/>
          </a:xfrm>
          <a:custGeom>
            <a:avLst/>
            <a:gdLst/>
            <a:ahLst/>
            <a:cxnLst/>
            <a:rect l="l" t="t" r="r" b="b"/>
            <a:pathLst>
              <a:path w="10566400" h="3830320">
                <a:moveTo>
                  <a:pt x="10464800" y="0"/>
                </a:moveTo>
                <a:lnTo>
                  <a:pt x="10464800" y="0"/>
                </a:lnTo>
                <a:arcTo hR="101600" wR="101600" stAng="16200000" swAng="5400000"/>
                <a:lnTo>
                  <a:pt x="10566400" y="3728720"/>
                </a:lnTo>
                <a:arcTo hR="101600" wR="101600" stAng="0" swAng="5400000"/>
                <a:lnTo>
                  <a:pt x="101600" y="3830320"/>
                </a:lnTo>
                <a:arcTo hR="101600" wR="101600" stAng="5400000" swAng="5400000"/>
                <a:lnTo>
                  <a:pt x="0" y="3728720"/>
                </a:lnTo>
                <a:arcTo hR="95250" wR="101600" stAng="10800000" swAng="-5400000"/>
                <a:lnTo>
                  <a:pt x="10464800" y="3823970"/>
                </a:lnTo>
                <a:arcTo hR="95250" wR="95250" stAng="5400000" swAng="-5400000"/>
                <a:lnTo>
                  <a:pt x="10560050" y="101600"/>
                </a:lnTo>
                <a:arcTo hR="101600" wR="95250" stAng="0" swAng="-5400000"/>
                <a:close/>
              </a:path>
            </a:pathLst>
          </a:custGeom>
          <a:solidFill>
            <a:srgbClr val="ECEFF3"/>
          </a:solidFill>
          <a:ln/>
        </p:spPr>
      </p:sp>
      <p:sp>
        <p:nvSpPr>
          <p:cNvPr id="6" name="Shape 4"/>
          <p:cNvSpPr/>
          <p:nvPr/>
        </p:nvSpPr>
        <p:spPr>
          <a:xfrm>
            <a:off x="812800" y="1623064"/>
            <a:ext cx="10566400" cy="3830320"/>
          </a:xfrm>
          <a:custGeom>
            <a:avLst/>
            <a:gdLst/>
            <a:ahLst/>
            <a:cxnLst/>
            <a:rect l="l" t="t" r="r" b="b"/>
            <a:pathLst>
              <a:path w="10566400" h="3830320">
                <a:moveTo>
                  <a:pt x="101600" y="3830320"/>
                </a:moveTo>
                <a:lnTo>
                  <a:pt x="101600" y="3830320"/>
                </a:lnTo>
                <a:arcTo hR="101600" wR="101600" stAng="5400000" swAng="5400000"/>
                <a:lnTo>
                  <a:pt x="0" y="101600"/>
                </a:lnTo>
                <a:arcTo hR="101600" wR="101600" stAng="10800000" swAng="5400000"/>
                <a:lnTo>
                  <a:pt x="10464800" y="0"/>
                </a:lnTo>
                <a:arcTo hR="101600" wR="101600" stAng="16200000" swAng="5400000"/>
                <a:lnTo>
                  <a:pt x="10566400" y="101600"/>
                </a:lnTo>
                <a:arcTo hR="91440" wR="101600" stAng="0" swAng="-5400000"/>
                <a:lnTo>
                  <a:pt x="101600" y="10160"/>
                </a:lnTo>
                <a:arcTo hR="91440" wR="91440" stAng="16200000" swAng="-5400000"/>
                <a:lnTo>
                  <a:pt x="10160" y="3728720"/>
                </a:lnTo>
                <a:arcTo hR="101600" wR="9144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633224"/>
          <a:ext cx="10551160" cy="3815080"/>
        </p:xfrm>
        <a:graphic>
          <a:graphicData uri="http://schemas.openxmlformats.org/drawingml/2006/table">
            <a:tbl>
              <a:tblPr/>
              <a:tblGrid>
                <a:gridCol w="3587394"/>
                <a:gridCol w="6963766"/>
              </a:tblGrid>
              <a:tr h="410210">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Ситуация</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Что происходит</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Combine и Remove</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Делегаты неизменяемы: каждая операция создаёт новый объект</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Повторная подписка</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Метод будет вызван дважды</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Remove</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Удаляет последнее вхождение; если метода нет, цепочка не меняется</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Удаление последнего</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Результат - null, поэтому вызов выполняется через ?.Invoke()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6769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 game.OnLeft</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Делегаты сравниваются по паре Target и Method, поэтому новый делегат находит ранее добавленный</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Цепочка с результатом</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Возвращается результат последнего делегата</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6769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Исключение в обработчике</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Остальные обработчики не вызываются; решение - GetInvocationList() и try/catch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bl>
          </a:graphicData>
        </a:graphic>
      </p:graphicFrame>
      <p:sp>
        <p:nvSpPr>
          <p:cNvPr id="8" name="Text 5"/>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СОБЫТИЯ</a:t>
            </a:r>
            <a:endParaRPr lang="en-US" sz="1200" dirty="0"/>
          </a:p>
        </p:txBody>
      </p:sp>
      <p:sp>
        <p:nvSpPr>
          <p:cNvPr id="3" name="Text 1"/>
          <p:cNvSpPr/>
          <p:nvPr>
            <p:ph type="title"/>
          </p:nvPr>
        </p:nvSpPr>
        <p:spPr>
          <a:xfrm>
            <a:off x="812800" y="1000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add и remove вручную</a:t>
            </a:r>
            <a:endParaRPr lang="en-US" sz="3000" dirty="0"/>
          </a:p>
        </p:txBody>
      </p:sp>
      <p:sp>
        <p:nvSpPr>
          <p:cNvPr id="4" name="Text 2"/>
          <p:cNvSpPr/>
          <p:nvPr/>
        </p:nvSpPr>
        <p:spPr>
          <a:xfrm>
            <a:off x="812800" y="1623064"/>
            <a:ext cx="6340634" cy="3058160"/>
          </a:xfrm>
          <a:prstGeom prst="roundRect">
            <a:avLst>
              <a:gd name="adj" fmla="val 3322"/>
            </a:avLst>
          </a:prstGeom>
          <a:solidFill>
            <a:srgbClr val="EEF1F5"/>
          </a:solidFill>
          <a:ln/>
        </p:spPr>
        <p:txBody>
          <a:bodyPr wrap="none" lIns="224242" tIns="173442" rIns="49263" bIns="148042" rtlCol="0" anchor="t">
            <a:normAutofit/>
          </a:bodyPr>
          <a:lstStyle/>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System.ComponentModel</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private readonly EventHandlerList events = new();</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private static readonly object LeftKey = new();</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event EventHandler LeftPressed</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add =&gt; events.AddHandler(LeftKey, value);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remove =&gt; events.RemoveHandler(LeftKey, value);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protected virtual void OnLeftPressed(EventArgs 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=&gt; (events[LeftKey] as EventHandler)?.Invoke(this, e);</a:t>
            </a:r>
            <a:endParaRPr lang="en-US" sz="1200" dirty="0"/>
          </a:p>
        </p:txBody>
      </p:sp>
      <p:sp>
        <p:nvSpPr>
          <p:cNvPr id="5" name="Text 3"/>
          <p:cNvSpPr/>
          <p:nvPr/>
        </p:nvSpPr>
        <p:spPr>
          <a:xfrm>
            <a:off x="7356634" y="1623064"/>
            <a:ext cx="414324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Применение</a:t>
            </a:r>
            <a:endParaRPr lang="en-US" sz="1600" dirty="0"/>
          </a:p>
        </p:txBody>
      </p:sp>
      <p:sp>
        <p:nvSpPr>
          <p:cNvPr id="6" name="Text 4"/>
          <p:cNvSpPr/>
          <p:nvPr/>
        </p:nvSpPr>
        <p:spPr>
          <a:xfrm>
            <a:off x="7427754" y="2009142"/>
            <a:ext cx="4064503" cy="2511425"/>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Разреженное хранение: у элемента управления WinForms десятки событий, но подписки есть у немногих - один словарь вместо десятков полей</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Перенаправление подписки во вложенный объект</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Проверки и журналирование при подписке</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Слабые подписки (weak events)</a:t>
            </a:r>
            <a:endParaRPr lang="en-US" sz="1500" dirty="0"/>
          </a:p>
        </p:txBody>
      </p:sp>
      <p:sp>
        <p:nvSpPr>
          <p:cNvPr id="7" name="Text 5"/>
          <p:cNvSpPr/>
          <p:nvPr/>
        </p:nvSpPr>
        <p:spPr>
          <a:xfrm>
            <a:off x="7356634" y="4596767"/>
            <a:ext cx="414324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4541A"/>
                </a:solidFill>
                <a:latin typeface="IBM Plex Sans" pitchFamily="34" charset="0"/>
                <a:ea typeface="IBM Plex Sans" pitchFamily="34" charset="-122"/>
                <a:cs typeface="IBM Plex Sans" pitchFamily="34" charset="-120"/>
              </a:rPr>
              <a:t>Скрытое поле не создаётся: вызвать LeftPressed(...) напрямую нельзя</a:t>
            </a:r>
            <a:endParaRPr lang="en-US" sz="1500" dirty="0"/>
          </a:p>
        </p:txBody>
      </p:sp>
      <p:sp>
        <p:nvSpPr>
          <p:cNvPr id="8" name="Text 6"/>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СОБЫТИЯ</a:t>
            </a:r>
            <a:endParaRPr lang="en-US" sz="1200" dirty="0"/>
          </a:p>
        </p:txBody>
      </p:sp>
      <p:sp>
        <p:nvSpPr>
          <p:cNvPr id="3" name="Text 1"/>
          <p:cNvSpPr/>
          <p:nvPr>
            <p:ph type="title"/>
          </p:nvPr>
        </p:nvSpPr>
        <p:spPr>
          <a:xfrm>
            <a:off x="812800" y="1000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Переопределение в наследнике: событие и делегат</a:t>
            </a:r>
            <a:endParaRPr lang="en-US" sz="3000" dirty="0"/>
          </a:p>
        </p:txBody>
      </p:sp>
      <p:sp>
        <p:nvSpPr>
          <p:cNvPr id="4" name="Text 2"/>
          <p:cNvSpPr/>
          <p:nvPr/>
        </p:nvSpPr>
        <p:spPr>
          <a:xfrm>
            <a:off x="812800" y="1623064"/>
            <a:ext cx="533704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7D3A"/>
                </a:solidFill>
                <a:latin typeface="IBM Plex Sans" pitchFamily="34" charset="0"/>
                <a:ea typeface="IBM Plex Sans" pitchFamily="34" charset="-122"/>
                <a:cs typeface="IBM Plex Sans" pitchFamily="34" charset="-120"/>
              </a:rPr>
              <a:t>Событие: add и remove</a:t>
            </a:r>
            <a:endParaRPr lang="en-US" sz="1600" dirty="0"/>
          </a:p>
        </p:txBody>
      </p:sp>
      <p:sp>
        <p:nvSpPr>
          <p:cNvPr id="5" name="Text 3"/>
          <p:cNvSpPr/>
          <p:nvPr/>
        </p:nvSpPr>
        <p:spPr>
          <a:xfrm>
            <a:off x="812800" y="2009142"/>
            <a:ext cx="5181600" cy="3500120"/>
          </a:xfrm>
          <a:prstGeom prst="roundRect">
            <a:avLst>
              <a:gd name="adj" fmla="val 2903"/>
            </a:avLst>
          </a:prstGeom>
          <a:solidFill>
            <a:srgbClr val="EEF1F5"/>
          </a:solidFill>
          <a:ln/>
        </p:spPr>
        <p:txBody>
          <a:bodyPr wrap="none" lIns="198842" tIns="173442" rIns="57110" bIns="1734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override event Action? MyEvent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add</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Console.WriteLine("Лог подписки");</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base.MyEvent += value;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remove =&gt; base.MyEvent -= value;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obj.MyEvent += h;</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вызывается только add</a:t>
            </a:r>
            <a:endParaRPr lang="en-US" sz="1200" dirty="0"/>
          </a:p>
        </p:txBody>
      </p:sp>
      <p:sp>
        <p:nvSpPr>
          <p:cNvPr id="6" name="Text 4"/>
          <p:cNvSpPr/>
          <p:nvPr/>
        </p:nvSpPr>
        <p:spPr>
          <a:xfrm>
            <a:off x="6197600" y="1623064"/>
            <a:ext cx="533704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4541A"/>
                </a:solidFill>
                <a:latin typeface="IBM Plex Sans" pitchFamily="34" charset="0"/>
                <a:ea typeface="IBM Plex Sans" pitchFamily="34" charset="-122"/>
                <a:cs typeface="IBM Plex Sans" pitchFamily="34" charset="-120"/>
              </a:rPr>
              <a:t>Свойство-делегат: get и set</a:t>
            </a:r>
            <a:endParaRPr lang="en-US" sz="1600" dirty="0"/>
          </a:p>
        </p:txBody>
      </p:sp>
      <p:sp>
        <p:nvSpPr>
          <p:cNvPr id="7" name="Text 5"/>
          <p:cNvSpPr/>
          <p:nvPr/>
        </p:nvSpPr>
        <p:spPr>
          <a:xfrm>
            <a:off x="6197600" y="2009142"/>
            <a:ext cx="5181600" cy="3500120"/>
          </a:xfrm>
          <a:prstGeom prst="roundRect">
            <a:avLst>
              <a:gd name="adj" fmla="val 2903"/>
            </a:avLst>
          </a:prstGeom>
          <a:solidFill>
            <a:srgbClr val="EEF1F5"/>
          </a:solidFill>
          <a:ln/>
        </p:spPr>
        <p:txBody>
          <a:bodyPr wrap="none" lIns="198842" tIns="173442" rIns="57110"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override Action? MyDelegate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get =&gt; base.MyDelegate;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set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Console.WriteLine("Лог изменения");</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base.MyDelegate = value;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obj.MyDelegate += h;</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компилятор разворачивает в</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obj.MyDelegate = obj.MyDelegate + h;</a:t>
            </a:r>
            <a:endParaRPr lang="en-US" sz="1200" dirty="0"/>
          </a:p>
          <a:p>
            <a:pPr algn="l" indent="0" marL="0">
              <a:lnSpc>
                <a:spcPts val="1740"/>
              </a:lnSpc>
              <a:buNone/>
            </a:pPr>
            <a:r>
              <a:rPr lang="en-US" sz="1200" dirty="0">
                <a:solidFill>
                  <a:srgbClr val="B4541A"/>
                </a:solidFill>
                <a:latin typeface="JetBrains Mono" pitchFamily="49" charset="0"/>
                <a:ea typeface="JetBrains Mono" pitchFamily="49" charset="-122"/>
                <a:cs typeface="JetBrains Mono" pitchFamily="49" charset="-120"/>
              </a:rPr>
              <a:t>// вызываются и get, и set</a:t>
            </a:r>
            <a:endParaRPr lang="en-US" sz="1200" dirty="0"/>
          </a:p>
        </p:txBody>
      </p:sp>
      <p:sp>
        <p:nvSpPr>
          <p:cNvPr id="8" name="Text 6"/>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СОБЫТИЯ</a:t>
            </a:r>
            <a:endParaRPr lang="en-US" sz="1200" dirty="0"/>
          </a:p>
        </p:txBody>
      </p:sp>
      <p:sp>
        <p:nvSpPr>
          <p:cNvPr id="3" name="Text 1"/>
          <p:cNvSpPr/>
          <p:nvPr>
            <p:ph type="title"/>
          </p:nvPr>
        </p:nvSpPr>
        <p:spPr>
          <a:xfrm>
            <a:off x="812800" y="1000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Преимущества add и remove перед get и set</a:t>
            </a:r>
            <a:endParaRPr lang="en-US" sz="3000" dirty="0"/>
          </a:p>
        </p:txBody>
      </p:sp>
      <p:sp>
        <p:nvSpPr>
          <p:cNvPr id="4" name="Shape 2"/>
          <p:cNvSpPr/>
          <p:nvPr/>
        </p:nvSpPr>
        <p:spPr>
          <a:xfrm>
            <a:off x="812800" y="1623064"/>
            <a:ext cx="10566400" cy="3066415"/>
          </a:xfrm>
          <a:prstGeom prst="roundRect">
            <a:avLst>
              <a:gd name="adj" fmla="val 3313"/>
            </a:avLst>
          </a:prstGeom>
          <a:solidFill>
            <a:srgbClr val="ECEFF3"/>
          </a:solidFill>
          <a:ln/>
        </p:spPr>
      </p:sp>
      <p:sp>
        <p:nvSpPr>
          <p:cNvPr id="5" name="Shape 3"/>
          <p:cNvSpPr/>
          <p:nvPr/>
        </p:nvSpPr>
        <p:spPr>
          <a:xfrm>
            <a:off x="812800" y="1623064"/>
            <a:ext cx="10566400" cy="3066415"/>
          </a:xfrm>
          <a:custGeom>
            <a:avLst/>
            <a:gdLst/>
            <a:ahLst/>
            <a:cxnLst/>
            <a:rect l="l" t="t" r="r" b="b"/>
            <a:pathLst>
              <a:path w="10566400" h="3066415">
                <a:moveTo>
                  <a:pt x="10464800" y="0"/>
                </a:moveTo>
                <a:lnTo>
                  <a:pt x="10464800" y="0"/>
                </a:lnTo>
                <a:arcTo hR="101600" wR="101600" stAng="16200000" swAng="5400000"/>
                <a:lnTo>
                  <a:pt x="10566400" y="2964815"/>
                </a:lnTo>
                <a:arcTo hR="101600" wR="101600" stAng="0" swAng="5400000"/>
                <a:lnTo>
                  <a:pt x="101600" y="3066415"/>
                </a:lnTo>
                <a:arcTo hR="101600" wR="101600" stAng="5400000" swAng="5400000"/>
                <a:lnTo>
                  <a:pt x="0" y="2964815"/>
                </a:lnTo>
                <a:arcTo hR="95250" wR="101600" stAng="10800000" swAng="-5400000"/>
                <a:lnTo>
                  <a:pt x="10464800" y="3060065"/>
                </a:lnTo>
                <a:arcTo hR="95250" wR="95250" stAng="5400000" swAng="-5400000"/>
                <a:lnTo>
                  <a:pt x="10560050" y="101600"/>
                </a:lnTo>
                <a:arcTo hR="101600" wR="95250" stAng="0" swAng="-5400000"/>
                <a:close/>
              </a:path>
            </a:pathLst>
          </a:custGeom>
          <a:solidFill>
            <a:srgbClr val="ECEFF3"/>
          </a:solidFill>
          <a:ln/>
        </p:spPr>
      </p:sp>
      <p:sp>
        <p:nvSpPr>
          <p:cNvPr id="6" name="Shape 4"/>
          <p:cNvSpPr/>
          <p:nvPr/>
        </p:nvSpPr>
        <p:spPr>
          <a:xfrm>
            <a:off x="812800" y="1623064"/>
            <a:ext cx="10566400" cy="3066415"/>
          </a:xfrm>
          <a:custGeom>
            <a:avLst/>
            <a:gdLst/>
            <a:ahLst/>
            <a:cxnLst/>
            <a:rect l="l" t="t" r="r" b="b"/>
            <a:pathLst>
              <a:path w="10566400" h="3066415">
                <a:moveTo>
                  <a:pt x="101600" y="3066415"/>
                </a:moveTo>
                <a:lnTo>
                  <a:pt x="101600" y="3066415"/>
                </a:lnTo>
                <a:arcTo hR="101600" wR="101600" stAng="5400000" swAng="5400000"/>
                <a:lnTo>
                  <a:pt x="0" y="101600"/>
                </a:lnTo>
                <a:arcTo hR="101600" wR="101600" stAng="10800000" swAng="5400000"/>
                <a:lnTo>
                  <a:pt x="10464800" y="0"/>
                </a:lnTo>
                <a:arcTo hR="101600" wR="101600" stAng="16200000" swAng="5400000"/>
                <a:lnTo>
                  <a:pt x="10566400" y="101600"/>
                </a:lnTo>
                <a:arcTo hR="91440" wR="101600" stAng="0" swAng="-5400000"/>
                <a:lnTo>
                  <a:pt x="101600" y="10160"/>
                </a:lnTo>
                <a:arcTo hR="91440" wR="91440" stAng="16200000" swAng="-5400000"/>
                <a:lnTo>
                  <a:pt x="10160" y="2964815"/>
                </a:lnTo>
                <a:arcTo hR="101600" wR="9144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633224"/>
          <a:ext cx="10551160" cy="3051175"/>
        </p:xfrm>
        <a:graphic>
          <a:graphicData uri="http://schemas.openxmlformats.org/drawingml/2006/table">
            <a:tbl>
              <a:tblPr/>
              <a:tblGrid>
                <a:gridCol w="2110232"/>
                <a:gridCol w="4220464"/>
                <a:gridCol w="4220464"/>
              </a:tblGrid>
              <a:tr h="370205">
                <a:tc>
                  <a:txBody>
                    <a:bodyPr/>
                    <a:lstStyle/>
                    <a:p>
                      <a:pPr indent="0" marL="0">
                        <a:lnSpc>
                          <a:spcPts val="1890"/>
                        </a:lnSpc>
                        <a:buNone/>
                      </a:pPr>
                      <a:r>
                        <a:rPr lang="en-US" sz="1350" b="1" dirty="0">
                          <a:solidFill>
                            <a:srgbClr val="14213D"/>
                          </a:solidFill>
                          <a:latin typeface="IBM Plex Sans" pitchFamily="34" charset="0"/>
                          <a:ea typeface="IBM Plex Sans" pitchFamily="34" charset="-122"/>
                          <a:cs typeface="IBM Plex Sans" pitchFamily="34" charset="-120"/>
                        </a:rPr>
                        <a:t>Критерий</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1890"/>
                        </a:lnSpc>
                        <a:buNone/>
                      </a:pPr>
                      <a:r>
                        <a:rPr lang="en-US" sz="1350" b="1" dirty="0">
                          <a:solidFill>
                            <a:srgbClr val="14213D"/>
                          </a:solidFill>
                          <a:latin typeface="IBM Plex Sans" pitchFamily="34" charset="0"/>
                          <a:ea typeface="IBM Plex Sans" pitchFamily="34" charset="-122"/>
                          <a:cs typeface="IBM Plex Sans" pitchFamily="34" charset="-120"/>
                        </a:rPr>
                        <a:t>event с add и remove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1890"/>
                        </a:lnSpc>
                        <a:buNone/>
                      </a:pPr>
                      <a:r>
                        <a:rPr lang="en-US" sz="1350" b="1" dirty="0">
                          <a:solidFill>
                            <a:srgbClr val="14213D"/>
                          </a:solidFill>
                          <a:latin typeface="IBM Plex Sans" pitchFamily="34" charset="0"/>
                          <a:ea typeface="IBM Plex Sans" pitchFamily="34" charset="-122"/>
                          <a:cs typeface="IBM Plex Sans" pitchFamily="34" charset="-120"/>
                        </a:rPr>
                        <a:t>Свойство-делегат</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r>
              <a:tr h="85026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Инкапсуляция вызова</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Вызвать событие может только объявивший его класс; наследник этого правила нарушить не может</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Любой код, получивший делегат через get, может вызвать его в обход логики базового класса</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7020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Присваивание =</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Вне класса запрещено (CS0070)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Разрешено и удаляет всех подписчиков</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61023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Перехват</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add и remove получают конкретный обработчик</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set получает готовую цепочку: неизвестно, была это подписка или отписка</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85026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Потоко­безопасность</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Сгенерированные add и remove атомарны; при перенаправлении в base это сохраняется</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 состоит из get, Combine и set; lock только внутри set не помогает, блокировка должна охватывать всю операцию</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bl>
          </a:graphicData>
        </a:graphic>
      </p:graphicFrame>
      <p:sp>
        <p:nvSpPr>
          <p:cNvPr id="8" name="Text 5"/>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ДРУГИЕ ПЛАТФОРМЫ · C++</a:t>
            </a:r>
            <a:endParaRPr lang="en-US" sz="1200" dirty="0"/>
          </a:p>
        </p:txBody>
      </p:sp>
      <p:sp>
        <p:nvSpPr>
          <p:cNvPr id="3" name="Text 1"/>
          <p:cNvSpPr/>
          <p:nvPr>
            <p:ph type="title"/>
          </p:nvPr>
        </p:nvSpPr>
        <p:spPr>
          <a:xfrm>
            <a:off x="812800" y="1000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Qt: сигналы и слоты</a:t>
            </a:r>
            <a:endParaRPr lang="en-US" sz="3000" dirty="0"/>
          </a:p>
        </p:txBody>
      </p:sp>
      <p:sp>
        <p:nvSpPr>
          <p:cNvPr id="4" name="Text 2"/>
          <p:cNvSpPr/>
          <p:nvPr/>
        </p:nvSpPr>
        <p:spPr>
          <a:xfrm>
            <a:off x="812800" y="1623064"/>
            <a:ext cx="5670233" cy="3721100"/>
          </a:xfrm>
          <a:prstGeom prst="roundRect">
            <a:avLst>
              <a:gd name="adj" fmla="val 2730"/>
            </a:avLst>
          </a:prstGeom>
          <a:solidFill>
            <a:srgbClr val="EEF1F5"/>
          </a:solidFill>
          <a:ln/>
        </p:spPr>
        <p:txBody>
          <a:bodyPr wrap="none" lIns="224242" tIns="173442" rIns="69375"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class EventLoop : public QObject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Q_OBJECT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signals: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void leftPressed();</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class Game : public QObject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Q_OBJECT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slots: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void onLeft();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connect(&amp;loop, &amp;EventLoop::leftPressed,</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&amp;game, &amp;Game::onLeft);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emit loop.leftPressed();</a:t>
            </a:r>
            <a:endParaRPr lang="en-US" sz="1200" dirty="0"/>
          </a:p>
        </p:txBody>
      </p:sp>
      <p:sp>
        <p:nvSpPr>
          <p:cNvPr id="5" name="Shape 3"/>
          <p:cNvSpPr/>
          <p:nvPr/>
        </p:nvSpPr>
        <p:spPr>
          <a:xfrm>
            <a:off x="6689408" y="1626239"/>
            <a:ext cx="4686617" cy="1234440"/>
          </a:xfrm>
          <a:prstGeom prst="roundRect">
            <a:avLst>
              <a:gd name="adj" fmla="val 7973"/>
            </a:avLst>
          </a:prstGeom>
          <a:solidFill>
            <a:srgbClr val="ECEFF3"/>
          </a:solidFill>
          <a:ln w="6350">
            <a:solidFill>
              <a:srgbClr val="ECEFF3"/>
            </a:solidFill>
            <a:prstDash val="solid"/>
          </a:ln>
        </p:spPr>
      </p:sp>
      <p:sp>
        <p:nvSpPr>
          <p:cNvPr id="6" name="Text 4"/>
          <p:cNvSpPr/>
          <p:nvPr/>
        </p:nvSpPr>
        <p:spPr>
          <a:xfrm>
            <a:off x="6869113" y="1805942"/>
            <a:ext cx="445702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7D3A"/>
                </a:solidFill>
                <a:latin typeface="IBM Plex Sans" pitchFamily="34" charset="0"/>
                <a:ea typeface="IBM Plex Sans" pitchFamily="34" charset="-122"/>
                <a:cs typeface="IBM Plex Sans" pitchFamily="34" charset="-120"/>
              </a:rPr>
              <a:t>Преимущества</a:t>
            </a:r>
            <a:endParaRPr lang="en-US" sz="1700" dirty="0"/>
          </a:p>
        </p:txBody>
      </p:sp>
      <p:sp>
        <p:nvSpPr>
          <p:cNvPr id="7" name="Text 5"/>
          <p:cNvSpPr/>
          <p:nvPr/>
        </p:nvSpPr>
        <p:spPr>
          <a:xfrm>
            <a:off x="6940233" y="2128521"/>
            <a:ext cx="4378284" cy="577850"/>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Слот выполняется в потоке получателя</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Автоматический разрыв при удалении</a:t>
            </a:r>
            <a:endParaRPr lang="en-US" sz="1500" dirty="0"/>
          </a:p>
        </p:txBody>
      </p:sp>
      <p:sp>
        <p:nvSpPr>
          <p:cNvPr id="8" name="Shape 6"/>
          <p:cNvSpPr/>
          <p:nvPr/>
        </p:nvSpPr>
        <p:spPr>
          <a:xfrm>
            <a:off x="6689408" y="2994025"/>
            <a:ext cx="4686617" cy="1786890"/>
          </a:xfrm>
          <a:prstGeom prst="roundRect">
            <a:avLst>
              <a:gd name="adj" fmla="val 5508"/>
            </a:avLst>
          </a:prstGeom>
          <a:solidFill>
            <a:srgbClr val="ECEFF3"/>
          </a:solidFill>
          <a:ln w="6350">
            <a:solidFill>
              <a:srgbClr val="ECEFF3"/>
            </a:solidFill>
            <a:prstDash val="solid"/>
          </a:ln>
        </p:spPr>
      </p:sp>
      <p:sp>
        <p:nvSpPr>
          <p:cNvPr id="9" name="Text 7"/>
          <p:cNvSpPr/>
          <p:nvPr/>
        </p:nvSpPr>
        <p:spPr>
          <a:xfrm>
            <a:off x="6869113" y="3173729"/>
            <a:ext cx="445702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541A"/>
                </a:solidFill>
                <a:latin typeface="IBM Plex Sans" pitchFamily="34" charset="0"/>
                <a:ea typeface="IBM Plex Sans" pitchFamily="34" charset="-122"/>
                <a:cs typeface="IBM Plex Sans" pitchFamily="34" charset="-120"/>
              </a:rPr>
              <a:t>Недостатки по сравнению с C#</a:t>
            </a:r>
            <a:endParaRPr lang="en-US" sz="1700" dirty="0"/>
          </a:p>
        </p:txBody>
      </p:sp>
      <p:sp>
        <p:nvSpPr>
          <p:cNvPr id="10" name="Text 8"/>
          <p:cNvSpPr/>
          <p:nvPr/>
        </p:nvSpPr>
        <p:spPr>
          <a:xfrm>
            <a:off x="6940233" y="3496314"/>
            <a:ext cx="4378284" cy="1130300"/>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Требуется генератор кода moc</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Только наследники QObject</a:t>
            </a:r>
            <a:endParaRPr lang="en-US" sz="1500" dirty="0"/>
          </a:p>
          <a:p>
            <a:pPr algn="l" marL="182880" indent="-182880">
              <a:lnSpc>
                <a:spcPts val="2175"/>
              </a:lnSpc>
              <a:buSzPct val="100000"/>
              <a:buChar char="•"/>
            </a:pPr>
            <a:r>
              <a:rPr lang="en-US" sz="1500" b="1" dirty="0">
                <a:solidFill>
                  <a:srgbClr val="4A5568"/>
                </a:solidFill>
                <a:latin typeface="IBM Plex Sans" pitchFamily="34" charset="0"/>
                <a:ea typeface="IBM Plex Sans" pitchFamily="34" charset="-122"/>
                <a:cs typeface="IBM Plex Sans" pitchFamily="34" charset="-120"/>
              </a:rPr>
              <a:t>Любой код может вызвать сигнал (в отличие от C# event)</a:t>
            </a:r>
            <a:endParaRPr lang="en-US" sz="1500" dirty="0"/>
          </a:p>
        </p:txBody>
      </p:sp>
      <p:sp>
        <p:nvSpPr>
          <p:cNvPr id="11" name="Text 9"/>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ДРУГИЕ ПЛАТФОРМЫ · JAVA</a:t>
            </a:r>
            <a:endParaRPr lang="en-US" sz="1200" dirty="0"/>
          </a:p>
        </p:txBody>
      </p:sp>
      <p:sp>
        <p:nvSpPr>
          <p:cNvPr id="3" name="Text 1"/>
          <p:cNvSpPr/>
          <p:nvPr>
            <p:ph type="title"/>
          </p:nvPr>
        </p:nvSpPr>
        <p:spPr>
          <a:xfrm>
            <a:off x="812800" y="1000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Spring: @EventListener</a:t>
            </a:r>
            <a:endParaRPr lang="en-US" sz="3000" dirty="0"/>
          </a:p>
        </p:txBody>
      </p:sp>
      <p:sp>
        <p:nvSpPr>
          <p:cNvPr id="4" name="Text 2"/>
          <p:cNvSpPr/>
          <p:nvPr/>
        </p:nvSpPr>
        <p:spPr>
          <a:xfrm>
            <a:off x="812800" y="1623064"/>
            <a:ext cx="6078300" cy="3942080"/>
          </a:xfrm>
          <a:prstGeom prst="roundRect">
            <a:avLst>
              <a:gd name="adj" fmla="val 2577"/>
            </a:avLst>
          </a:prstGeom>
          <a:solidFill>
            <a:srgbClr val="EEF1F5"/>
          </a:solidFill>
          <a:ln/>
        </p:spPr>
        <p:txBody>
          <a:bodyPr wrap="none" lIns="224242" tIns="173442" rIns="57133"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record LeftPressed() {}</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@Component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class EventLoop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private final ApplicationEventPublisher pub;</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EventLoop(ApplicationEventPublisher pub)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this.pub = pub;</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void onKey() { pub.publishEvent(new LeftPressed());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@Component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class Game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@EventListener</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void onLeft(LeftPressed event) { /* ... */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p:txBody>
      </p:sp>
      <p:sp>
        <p:nvSpPr>
          <p:cNvPr id="5" name="Shape 3"/>
          <p:cNvSpPr/>
          <p:nvPr/>
        </p:nvSpPr>
        <p:spPr>
          <a:xfrm>
            <a:off x="7097475" y="1626239"/>
            <a:ext cx="4278551" cy="1510665"/>
          </a:xfrm>
          <a:prstGeom prst="roundRect">
            <a:avLst>
              <a:gd name="adj" fmla="val 6515"/>
            </a:avLst>
          </a:prstGeom>
          <a:solidFill>
            <a:srgbClr val="ECEFF3"/>
          </a:solidFill>
          <a:ln w="6350">
            <a:solidFill>
              <a:srgbClr val="ECEFF3"/>
            </a:solidFill>
            <a:prstDash val="solid"/>
          </a:ln>
        </p:spPr>
      </p:sp>
      <p:sp>
        <p:nvSpPr>
          <p:cNvPr id="6" name="Text 4"/>
          <p:cNvSpPr/>
          <p:nvPr/>
        </p:nvSpPr>
        <p:spPr>
          <a:xfrm>
            <a:off x="7277180" y="1805942"/>
            <a:ext cx="403671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7D3A"/>
                </a:solidFill>
                <a:latin typeface="IBM Plex Sans" pitchFamily="34" charset="0"/>
                <a:ea typeface="IBM Plex Sans" pitchFamily="34" charset="-122"/>
                <a:cs typeface="IBM Plex Sans" pitchFamily="34" charset="-120"/>
              </a:rPr>
              <a:t>Принцип работы</a:t>
            </a:r>
            <a:endParaRPr lang="en-US" sz="1700" dirty="0"/>
          </a:p>
        </p:txBody>
      </p:sp>
      <p:sp>
        <p:nvSpPr>
          <p:cNvPr id="7" name="Text 5"/>
          <p:cNvSpPr/>
          <p:nvPr/>
        </p:nvSpPr>
        <p:spPr>
          <a:xfrm>
            <a:off x="7348300" y="2128521"/>
            <a:ext cx="3957975" cy="854075"/>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Подписка по типу события</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Поиск подписчиков рефлексией</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Издатель не знает подписчиков</a:t>
            </a:r>
            <a:endParaRPr lang="en-US" sz="1500" dirty="0"/>
          </a:p>
        </p:txBody>
      </p:sp>
      <p:sp>
        <p:nvSpPr>
          <p:cNvPr id="8" name="Shape 6"/>
          <p:cNvSpPr/>
          <p:nvPr/>
        </p:nvSpPr>
        <p:spPr>
          <a:xfrm>
            <a:off x="7097475" y="3270250"/>
            <a:ext cx="4278551" cy="1786890"/>
          </a:xfrm>
          <a:prstGeom prst="roundRect">
            <a:avLst>
              <a:gd name="adj" fmla="val 5508"/>
            </a:avLst>
          </a:prstGeom>
          <a:solidFill>
            <a:srgbClr val="ECEFF3"/>
          </a:solidFill>
          <a:ln w="6350">
            <a:solidFill>
              <a:srgbClr val="ECEFF3"/>
            </a:solidFill>
            <a:prstDash val="solid"/>
          </a:ln>
        </p:spPr>
      </p:sp>
      <p:sp>
        <p:nvSpPr>
          <p:cNvPr id="9" name="Text 7"/>
          <p:cNvSpPr/>
          <p:nvPr/>
        </p:nvSpPr>
        <p:spPr>
          <a:xfrm>
            <a:off x="7277180" y="3449954"/>
            <a:ext cx="403671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541A"/>
                </a:solidFill>
                <a:latin typeface="IBM Plex Sans" pitchFamily="34" charset="0"/>
                <a:ea typeface="IBM Plex Sans" pitchFamily="34" charset="-122"/>
                <a:cs typeface="IBM Plex Sans" pitchFamily="34" charset="-120"/>
              </a:rPr>
              <a:t>Недостатки по сравнению с C#</a:t>
            </a:r>
            <a:endParaRPr lang="en-US" sz="1700" dirty="0"/>
          </a:p>
        </p:txBody>
      </p:sp>
      <p:sp>
        <p:nvSpPr>
          <p:cNvPr id="10" name="Text 8"/>
          <p:cNvSpPr/>
          <p:nvPr/>
        </p:nvSpPr>
        <p:spPr>
          <a:xfrm>
            <a:off x="7348300" y="3772539"/>
            <a:ext cx="3957975" cy="1130300"/>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Работает только для бинов Spring</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Неявная связь издателя и подписчиков</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Динамическая отписка не предусмотрена</a:t>
            </a:r>
            <a:endParaRPr lang="en-US" sz="1500" dirty="0"/>
          </a:p>
        </p:txBody>
      </p:sp>
      <p:sp>
        <p:nvSpPr>
          <p:cNvPr id="11" name="Text 9"/>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ДРУГИЕ ПЛАТФОРМЫ · JAVA</a:t>
            </a:r>
            <a:endParaRPr lang="en-US" sz="1200" dirty="0"/>
          </a:p>
        </p:txBody>
      </p:sp>
      <p:sp>
        <p:nvSpPr>
          <p:cNvPr id="3" name="Text 1"/>
          <p:cNvSpPr/>
          <p:nvPr>
            <p:ph type="title"/>
          </p:nvPr>
        </p:nvSpPr>
        <p:spPr>
          <a:xfrm>
            <a:off x="812800" y="1000764"/>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Java без фреймворков: список подписчиков вручную</a:t>
            </a:r>
            <a:endParaRPr lang="en-US" sz="3000" dirty="0"/>
          </a:p>
        </p:txBody>
      </p:sp>
      <p:sp>
        <p:nvSpPr>
          <p:cNvPr id="4" name="Text 2"/>
          <p:cNvSpPr/>
          <p:nvPr/>
        </p:nvSpPr>
        <p:spPr>
          <a:xfrm>
            <a:off x="812800" y="1623058"/>
            <a:ext cx="6644243" cy="3058160"/>
          </a:xfrm>
          <a:prstGeom prst="roundRect">
            <a:avLst>
              <a:gd name="adj" fmla="val 3322"/>
            </a:avLst>
          </a:prstGeom>
          <a:solidFill>
            <a:srgbClr val="EEF1F5"/>
          </a:solidFill>
          <a:ln/>
        </p:spPr>
        <p:txBody>
          <a:bodyPr wrap="none" lIns="224242" tIns="173442" rIns="40155"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interface ArrowListener { void onArrow(); }</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class EventLoop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private final List&lt;ArrowListener&gt; left = new ArrayList&lt;&gt;();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void addLeft(ArrowListener l) { left.add(l);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void removeLeft(ArrowListener l) { left.remove(l);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void fireLeft() { for (var l : left) l.onArrow();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loop.addLeft(game::onLeft);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loop.addLeft(() -&gt; log.add("left"));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loop.removeLeft(game::onLeft);  </a:t>
            </a:r>
            <a:r>
              <a:rPr lang="en-US" sz="1200" dirty="0">
                <a:solidFill>
                  <a:srgbClr val="B4541A"/>
                </a:solidFill>
                <a:latin typeface="JetBrains Mono" pitchFamily="49" charset="0"/>
                <a:ea typeface="JetBrains Mono" pitchFamily="49" charset="-122"/>
                <a:cs typeface="JetBrains Mono" pitchFamily="49" charset="-120"/>
              </a:rPr>
              <a:t>// подписка не удалится</a:t>
            </a:r>
            <a:endParaRPr lang="en-US" sz="1200" dirty="0"/>
          </a:p>
        </p:txBody>
      </p:sp>
      <p:sp>
        <p:nvSpPr>
          <p:cNvPr id="5" name="Shape 3"/>
          <p:cNvSpPr/>
          <p:nvPr/>
        </p:nvSpPr>
        <p:spPr>
          <a:xfrm>
            <a:off x="7663418" y="1626233"/>
            <a:ext cx="3712607" cy="1510665"/>
          </a:xfrm>
          <a:prstGeom prst="roundRect">
            <a:avLst>
              <a:gd name="adj" fmla="val 6515"/>
            </a:avLst>
          </a:prstGeom>
          <a:solidFill>
            <a:srgbClr val="ECEFF3"/>
          </a:solidFill>
          <a:ln w="6350">
            <a:solidFill>
              <a:srgbClr val="ECEFF3"/>
            </a:solidFill>
            <a:prstDash val="solid"/>
          </a:ln>
        </p:spPr>
      </p:sp>
      <p:sp>
        <p:nvSpPr>
          <p:cNvPr id="6" name="Text 4"/>
          <p:cNvSpPr/>
          <p:nvPr/>
        </p:nvSpPr>
        <p:spPr>
          <a:xfrm>
            <a:off x="7843124" y="1805942"/>
            <a:ext cx="345379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Нет delegate chaining</a:t>
            </a:r>
            <a:endParaRPr lang="en-US" sz="1700" dirty="0"/>
          </a:p>
        </p:txBody>
      </p:sp>
      <p:sp>
        <p:nvSpPr>
          <p:cNvPr id="7" name="Text 5"/>
          <p:cNvSpPr/>
          <p:nvPr/>
        </p:nvSpPr>
        <p:spPr>
          <a:xfrm>
            <a:off x="7843124" y="2128527"/>
            <a:ext cx="3453793"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Для каждого события нужны свой список и три метода: add, remove, fire</a:t>
            </a:r>
            <a:endParaRPr lang="en-US" sz="1500" dirty="0"/>
          </a:p>
        </p:txBody>
      </p:sp>
      <p:sp>
        <p:nvSpPr>
          <p:cNvPr id="8" name="Shape 6"/>
          <p:cNvSpPr/>
          <p:nvPr/>
        </p:nvSpPr>
        <p:spPr>
          <a:xfrm>
            <a:off x="7663418" y="3270250"/>
            <a:ext cx="3712607" cy="1786890"/>
          </a:xfrm>
          <a:prstGeom prst="roundRect">
            <a:avLst>
              <a:gd name="adj" fmla="val 5508"/>
            </a:avLst>
          </a:prstGeom>
          <a:solidFill>
            <a:srgbClr val="ECEFF3"/>
          </a:solidFill>
          <a:ln w="6350">
            <a:solidFill>
              <a:srgbClr val="ECEFF3"/>
            </a:solidFill>
            <a:prstDash val="solid"/>
          </a:ln>
        </p:spPr>
      </p:sp>
      <p:sp>
        <p:nvSpPr>
          <p:cNvPr id="9" name="Text 7"/>
          <p:cNvSpPr/>
          <p:nvPr/>
        </p:nvSpPr>
        <p:spPr>
          <a:xfrm>
            <a:off x="7843124" y="3449960"/>
            <a:ext cx="345379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541A"/>
                </a:solidFill>
                <a:latin typeface="IBM Plex Sans" pitchFamily="34" charset="0"/>
                <a:ea typeface="IBM Plex Sans" pitchFamily="34" charset="-122"/>
                <a:cs typeface="IBM Plex Sans" pitchFamily="34" charset="-120"/>
              </a:rPr>
              <a:t>Проблема отписки</a:t>
            </a:r>
            <a:endParaRPr lang="en-US" sz="1700" dirty="0"/>
          </a:p>
        </p:txBody>
      </p:sp>
      <p:sp>
        <p:nvSpPr>
          <p:cNvPr id="10" name="Text 8"/>
          <p:cNvSpPr/>
          <p:nvPr/>
        </p:nvSpPr>
        <p:spPr>
          <a:xfrm>
            <a:off x="7843124" y="3772533"/>
            <a:ext cx="3453793"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Каждое выражение game::onLeft создаёт новый объект без equals, поэтому ссылку на него нужно сохранить</a:t>
            </a:r>
            <a:endParaRPr lang="en-US" sz="1500" dirty="0"/>
          </a:p>
        </p:txBody>
      </p:sp>
      <p:sp>
        <p:nvSpPr>
          <p:cNvPr id="11" name="Text 9"/>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ДРУГИЕ ПЛАТФОРМЫ</a:t>
            </a:r>
            <a:endParaRPr lang="en-US" sz="1200" dirty="0"/>
          </a:p>
        </p:txBody>
      </p:sp>
      <p:sp>
        <p:nvSpPr>
          <p:cNvPr id="3" name="Text 1"/>
          <p:cNvSpPr/>
          <p:nvPr>
            <p:ph type="title"/>
          </p:nvPr>
        </p:nvSpPr>
        <p:spPr>
          <a:xfrm>
            <a:off x="812800" y="10007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Сравнение подходов</a:t>
            </a:r>
            <a:endParaRPr lang="en-US" sz="3000" dirty="0"/>
          </a:p>
        </p:txBody>
      </p:sp>
      <p:sp>
        <p:nvSpPr>
          <p:cNvPr id="4" name="Shape 2"/>
          <p:cNvSpPr/>
          <p:nvPr/>
        </p:nvSpPr>
        <p:spPr>
          <a:xfrm>
            <a:off x="812800" y="1623058"/>
            <a:ext cx="10566400" cy="4076700"/>
          </a:xfrm>
          <a:prstGeom prst="roundRect">
            <a:avLst>
              <a:gd name="adj" fmla="val 2492"/>
            </a:avLst>
          </a:prstGeom>
          <a:solidFill>
            <a:srgbClr val="ECEFF3"/>
          </a:solidFill>
          <a:ln/>
        </p:spPr>
      </p:sp>
      <p:sp>
        <p:nvSpPr>
          <p:cNvPr id="5" name="Shape 3"/>
          <p:cNvSpPr/>
          <p:nvPr/>
        </p:nvSpPr>
        <p:spPr>
          <a:xfrm>
            <a:off x="812800" y="1623058"/>
            <a:ext cx="10566400" cy="4076700"/>
          </a:xfrm>
          <a:custGeom>
            <a:avLst/>
            <a:gdLst/>
            <a:ahLst/>
            <a:cxnLst/>
            <a:rect l="l" t="t" r="r" b="b"/>
            <a:pathLst>
              <a:path w="10566400" h="4076700">
                <a:moveTo>
                  <a:pt x="10464800" y="0"/>
                </a:moveTo>
                <a:lnTo>
                  <a:pt x="10464800" y="0"/>
                </a:lnTo>
                <a:arcTo hR="101600" wR="101600" stAng="16200000" swAng="5400000"/>
                <a:lnTo>
                  <a:pt x="10566400" y="3975100"/>
                </a:lnTo>
                <a:arcTo hR="101600" wR="101600" stAng="0" swAng="5400000"/>
                <a:lnTo>
                  <a:pt x="101600" y="4076700"/>
                </a:lnTo>
                <a:arcTo hR="101600" wR="101600" stAng="5400000" swAng="5400000"/>
                <a:lnTo>
                  <a:pt x="0" y="3975100"/>
                </a:lnTo>
                <a:arcTo hR="95250" wR="101600" stAng="10800000" swAng="-5400000"/>
                <a:lnTo>
                  <a:pt x="10464800" y="4070350"/>
                </a:lnTo>
                <a:arcTo hR="95250" wR="95250" stAng="5400000" swAng="-5400000"/>
                <a:lnTo>
                  <a:pt x="10560050" y="101600"/>
                </a:lnTo>
                <a:arcTo hR="101600" wR="95250" stAng="0" swAng="-5400000"/>
                <a:close/>
              </a:path>
            </a:pathLst>
          </a:custGeom>
          <a:solidFill>
            <a:srgbClr val="ECEFF3"/>
          </a:solidFill>
          <a:ln/>
        </p:spPr>
      </p:sp>
      <p:sp>
        <p:nvSpPr>
          <p:cNvPr id="6" name="Shape 4"/>
          <p:cNvSpPr/>
          <p:nvPr/>
        </p:nvSpPr>
        <p:spPr>
          <a:xfrm>
            <a:off x="812800" y="1623058"/>
            <a:ext cx="10566400" cy="4076700"/>
          </a:xfrm>
          <a:custGeom>
            <a:avLst/>
            <a:gdLst/>
            <a:ahLst/>
            <a:cxnLst/>
            <a:rect l="l" t="t" r="r" b="b"/>
            <a:pathLst>
              <a:path w="10566400" h="4076700">
                <a:moveTo>
                  <a:pt x="101600" y="4076700"/>
                </a:moveTo>
                <a:lnTo>
                  <a:pt x="101600" y="4076700"/>
                </a:lnTo>
                <a:arcTo hR="101600" wR="101600" stAng="5400000" swAng="5400000"/>
                <a:lnTo>
                  <a:pt x="0" y="101600"/>
                </a:lnTo>
                <a:arcTo hR="101600" wR="101600" stAng="10800000" swAng="5400000"/>
                <a:lnTo>
                  <a:pt x="10464800" y="0"/>
                </a:lnTo>
                <a:arcTo hR="101600" wR="101600" stAng="16200000" swAng="5400000"/>
                <a:lnTo>
                  <a:pt x="10566400" y="101600"/>
                </a:lnTo>
                <a:arcTo hR="91440" wR="101600" stAng="0" swAng="-5400000"/>
                <a:lnTo>
                  <a:pt x="101600" y="10160"/>
                </a:lnTo>
                <a:arcTo hR="91440" wR="91440" stAng="16200000" swAng="-5400000"/>
                <a:lnTo>
                  <a:pt x="10160" y="3975100"/>
                </a:lnTo>
                <a:arcTo hR="101600" wR="9144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633218"/>
          <a:ext cx="10551160" cy="4061460"/>
        </p:xfrm>
        <a:graphic>
          <a:graphicData uri="http://schemas.openxmlformats.org/drawingml/2006/table">
            <a:tbl>
              <a:tblPr/>
              <a:tblGrid>
                <a:gridCol w="2321255"/>
                <a:gridCol w="2110232"/>
                <a:gridCol w="2110232"/>
                <a:gridCol w="2004720"/>
                <a:gridCol w="2004720"/>
              </a:tblGrid>
              <a:tr h="410210">
                <a:tc>
                  <a:txBody>
                    <a:bodyPr/>
                    <a:lstStyle/>
                    <a:p>
                      <a:pPr indent="0" marL="0">
                        <a:lnSpc>
                          <a:spcPts val="2100"/>
                        </a:lnSpc>
                        <a:buNone/>
                      </a:pP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 event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Qt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Spring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Java вручную</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r>
              <a:tr h="6769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Реализация</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Язык</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Язык и генератор moc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Фреймворк</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Код приложения</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9436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Кто может вызвать</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Только объявивший класс</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Любой код</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Любой код с доступом к publisher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Зависит от реализации</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Подписка</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connect(...)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@EventListener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addXxx(...)</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9436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Отписка</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 с тем же методом</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disconnect или автоматически при удалении</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Не предусмотрена</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Только по сохранённой ссылке</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6769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Несколько подписчиков</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Встроено</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Встроено</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Встроено</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Список вручную</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bl>
          </a:graphicData>
        </a:graphic>
      </p:graphicFrame>
      <p:sp>
        <p:nvSpPr>
          <p:cNvPr id="8" name="Text 5"/>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CEF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FE1"/>
              </a:gs>
              <a:gs pos="60000">
                <a:srgbClr val="F7F8FA"/>
              </a:gs>
            </a:gsLst>
            <a:lin ang="1200000" scaled="0"/>
          </a:gradFill>
          <a:ln/>
        </p:spPr>
      </p:sp>
      <p:sp>
        <p:nvSpPr>
          <p:cNvPr id="3" name="Text 1"/>
          <p:cNvSpPr/>
          <p:nvPr/>
        </p:nvSpPr>
        <p:spPr>
          <a:xfrm>
            <a:off x="1143000" y="2476500"/>
            <a:ext cx="2743279" cy="1930400"/>
          </a:xfrm>
          <a:prstGeom prst="rect">
            <a:avLst/>
          </a:prstGeom>
          <a:noFill/>
          <a:ln/>
        </p:spPr>
        <p:txBody>
          <a:bodyPr wrap="square" lIns="0" tIns="0" rIns="0" bIns="0" rtlCol="0" anchor="t">
            <a:normAutofit/>
          </a:bodyPr>
          <a:lstStyle/>
          <a:p>
            <a:pPr algn="l" indent="0" marL="0">
              <a:lnSpc>
                <a:spcPts val="15000"/>
              </a:lnSpc>
              <a:buNone/>
            </a:pPr>
            <a:r>
              <a:rPr lang="en-US" sz="15000" dirty="0">
                <a:solidFill>
                  <a:srgbClr val="1E7D3A"/>
                </a:solidFill>
                <a:latin typeface="IBM Plex Sans" pitchFamily="34" charset="0"/>
                <a:ea typeface="IBM Plex Sans" pitchFamily="34" charset="-122"/>
                <a:cs typeface="IBM Plex Sans" pitchFamily="34" charset="-120"/>
              </a:rPr>
              <a:t>02</a:t>
            </a:r>
            <a:endParaRPr lang="en-US" sz="15000" dirty="0"/>
          </a:p>
        </p:txBody>
      </p:sp>
      <p:sp>
        <p:nvSpPr>
          <p:cNvPr id="4" name="Text 2"/>
          <p:cNvSpPr/>
          <p:nvPr>
            <p:ph type="title"/>
          </p:nvPr>
        </p:nvSpPr>
        <p:spPr>
          <a:xfrm>
            <a:off x="3886279" y="2769877"/>
            <a:ext cx="7717709" cy="612140"/>
          </a:xfrm>
          <a:prstGeom prst="rect">
            <a:avLst/>
          </a:prstGeom>
          <a:noFill/>
          <a:ln/>
        </p:spPr>
        <p:txBody>
          <a:bodyPr wrap="square" lIns="0" tIns="0" rIns="0" bIns="0" rtlCol="0" anchor="t">
            <a:normAutofit/>
          </a:bodyPr>
          <a:lstStyle/>
          <a:p>
            <a:pPr algn="l" indent="0" marL="0">
              <a:lnSpc>
                <a:spcPts val="4620"/>
              </a:lnSpc>
              <a:buNone/>
            </a:pPr>
            <a:r>
              <a:rPr lang="en-US" sz="4200" b="1" i="0" dirty="0">
                <a:solidFill>
                  <a:srgbClr val="14213D"/>
                </a:solidFill>
                <a:latin typeface="IBM Plex Sans" pitchFamily="34" charset="0"/>
                <a:ea typeface="IBM Plex Sans" pitchFamily="34" charset="-122"/>
                <a:cs typeface="IBM Plex Sans" pitchFamily="34" charset="-120"/>
              </a:rPr>
              <a:t>Генерики</a:t>
            </a:r>
            <a:endParaRPr lang="en-US" sz="4200" dirty="0"/>
          </a:p>
        </p:txBody>
      </p:sp>
      <p:sp>
        <p:nvSpPr>
          <p:cNvPr id="5" name="Text 3"/>
          <p:cNvSpPr/>
          <p:nvPr/>
        </p:nvSpPr>
        <p:spPr>
          <a:xfrm>
            <a:off x="3886279" y="3483608"/>
            <a:ext cx="7717709"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A6577"/>
                </a:solidFill>
                <a:latin typeface="IBM Plex Sans" pitchFamily="34" charset="0"/>
                <a:ea typeface="IBM Plex Sans" pitchFamily="34" charset="-122"/>
                <a:cs typeface="IBM Plex Sans" pitchFamily="34" charset="-120"/>
              </a:rPr>
              <a:t>Теория типов, частичный порядок, PECS и вариантность в C#, Java и Kotlin</a:t>
            </a:r>
            <a:endParaRPr lang="en-US" sz="1700" dirty="0"/>
          </a:p>
        </p:txBody>
      </p:sp>
      <p:sp>
        <p:nvSpPr>
          <p:cNvPr id="6" name="Text 4"/>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ТЕОРИЯ</a:t>
            </a:r>
            <a:endParaRPr lang="en-US" sz="1200" dirty="0"/>
          </a:p>
        </p:txBody>
      </p:sp>
      <p:sp>
        <p:nvSpPr>
          <p:cNvPr id="3" name="Text 1"/>
          <p:cNvSpPr/>
          <p:nvPr>
            <p:ph type="title"/>
          </p:nvPr>
        </p:nvSpPr>
        <p:spPr>
          <a:xfrm>
            <a:off x="812800" y="10007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Тип задаёт интерпретацию данных</a:t>
            </a:r>
            <a:endParaRPr lang="en-US" sz="3000" dirty="0"/>
          </a:p>
        </p:txBody>
      </p:sp>
      <p:sp>
        <p:nvSpPr>
          <p:cNvPr id="4" name="Text 2"/>
          <p:cNvSpPr/>
          <p:nvPr/>
        </p:nvSpPr>
        <p:spPr>
          <a:xfrm>
            <a:off x="812800" y="1623058"/>
            <a:ext cx="5033078"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4213D"/>
                </a:solidFill>
                <a:latin typeface="IBM Plex Sans" pitchFamily="34" charset="0"/>
                <a:ea typeface="IBM Plex Sans" pitchFamily="34" charset="-122"/>
                <a:cs typeface="IBM Plex Sans" pitchFamily="34" charset="-120"/>
              </a:rPr>
              <a:t>В памяти хранится байт 0x41. Это число 65, символ A или часть машинной инструкции?</a:t>
            </a:r>
            <a:endParaRPr lang="en-US" sz="1600" dirty="0"/>
          </a:p>
        </p:txBody>
      </p:sp>
      <p:sp>
        <p:nvSpPr>
          <p:cNvPr id="5" name="Text 3"/>
          <p:cNvSpPr/>
          <p:nvPr/>
        </p:nvSpPr>
        <p:spPr>
          <a:xfrm>
            <a:off x="812800" y="2364742"/>
            <a:ext cx="5033078" cy="12039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Тип определяет </a:t>
            </a:r>
            <a:r>
              <a:rPr lang="en-US" sz="1600" b="1" dirty="0">
                <a:solidFill>
                  <a:srgbClr val="4A5568"/>
                </a:solidFill>
                <a:latin typeface="IBM Plex Sans" pitchFamily="34" charset="0"/>
                <a:ea typeface="IBM Plex Sans" pitchFamily="34" charset="-122"/>
                <a:cs typeface="IBM Plex Sans" pitchFamily="34" charset="-120"/>
              </a:rPr>
              <a:t>интерпретацию</a:t>
            </a:r>
            <a:r>
              <a:rPr lang="en-US" sz="1600" dirty="0">
                <a:solidFill>
                  <a:srgbClr val="4A5568"/>
                </a:solidFill>
                <a:latin typeface="IBM Plex Sans" pitchFamily="34" charset="0"/>
                <a:ea typeface="IBM Plex Sans" pitchFamily="34" charset="-122"/>
                <a:cs typeface="IBM Plex Sans" pitchFamily="34" charset="-120"/>
              </a:rPr>
              <a:t> значения и </a:t>
            </a:r>
            <a:r>
              <a:rPr lang="en-US" sz="1600" b="1" dirty="0">
                <a:solidFill>
                  <a:srgbClr val="4A5568"/>
                </a:solidFill>
                <a:latin typeface="IBM Plex Sans" pitchFamily="34" charset="0"/>
                <a:ea typeface="IBM Plex Sans" pitchFamily="34" charset="-122"/>
                <a:cs typeface="IBM Plex Sans" pitchFamily="34" charset="-120"/>
              </a:rPr>
              <a:t>набор допустимых операций</a:t>
            </a:r>
            <a:r>
              <a:rPr lang="en-US" sz="1600" dirty="0">
                <a:solidFill>
                  <a:srgbClr val="4A5568"/>
                </a:solidFill>
                <a:latin typeface="IBM Plex Sans" pitchFamily="34" charset="0"/>
                <a:ea typeface="IBM Plex Sans" pitchFamily="34" charset="-122"/>
                <a:cs typeface="IBM Plex Sans" pitchFamily="34" charset="-120"/>
              </a:rPr>
              <a:t>. Система типов запрещает бессмысленные операции, например сложение числа с функцией.</a:t>
            </a:r>
            <a:endParaRPr lang="en-US" sz="1600" dirty="0"/>
          </a:p>
        </p:txBody>
      </p:sp>
      <p:sp>
        <p:nvSpPr>
          <p:cNvPr id="6" name="Text 4"/>
          <p:cNvSpPr/>
          <p:nvPr/>
        </p:nvSpPr>
        <p:spPr>
          <a:xfrm>
            <a:off x="812800" y="3695700"/>
            <a:ext cx="5033078"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Без типов противоречивой оказывается даже математика: парадокс Рассела в наивной теории множеств.</a:t>
            </a:r>
            <a:endParaRPr lang="en-US" sz="1600" dirty="0"/>
          </a:p>
        </p:txBody>
      </p:sp>
      <p:sp>
        <p:nvSpPr>
          <p:cNvPr id="7" name="Shape 5"/>
          <p:cNvSpPr/>
          <p:nvPr/>
        </p:nvSpPr>
        <p:spPr>
          <a:xfrm>
            <a:off x="6007259" y="1626233"/>
            <a:ext cx="2617708" cy="1497965"/>
          </a:xfrm>
          <a:prstGeom prst="roundRect">
            <a:avLst>
              <a:gd name="adj" fmla="val 6571"/>
            </a:avLst>
          </a:prstGeom>
          <a:solidFill>
            <a:srgbClr val="ECEFF3"/>
          </a:solidFill>
          <a:ln w="6350">
            <a:solidFill>
              <a:srgbClr val="ECEFF3"/>
            </a:solidFill>
            <a:prstDash val="solid"/>
          </a:ln>
        </p:spPr>
      </p:sp>
      <p:sp>
        <p:nvSpPr>
          <p:cNvPr id="8" name="Text 6"/>
          <p:cNvSpPr/>
          <p:nvPr/>
        </p:nvSpPr>
        <p:spPr>
          <a:xfrm>
            <a:off x="6186964" y="1805942"/>
            <a:ext cx="232604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7D3A"/>
                </a:solidFill>
                <a:latin typeface="IBM Plex Sans" pitchFamily="34" charset="0"/>
                <a:ea typeface="IBM Plex Sans" pitchFamily="34" charset="-122"/>
                <a:cs typeface="IBM Plex Sans" pitchFamily="34" charset="-120"/>
              </a:rPr>
              <a:t>Статическая</a:t>
            </a:r>
            <a:endParaRPr lang="en-US" sz="1700" dirty="0"/>
          </a:p>
        </p:txBody>
      </p:sp>
      <p:sp>
        <p:nvSpPr>
          <p:cNvPr id="9" name="Text 7"/>
          <p:cNvSpPr/>
          <p:nvPr/>
        </p:nvSpPr>
        <p:spPr>
          <a:xfrm>
            <a:off x="6186964" y="2115827"/>
            <a:ext cx="2326047"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Типы известны при компиляции: C#, Java, Kotlin</a:t>
            </a:r>
            <a:endParaRPr lang="en-US" sz="1500" dirty="0"/>
          </a:p>
        </p:txBody>
      </p:sp>
      <p:sp>
        <p:nvSpPr>
          <p:cNvPr id="10" name="Shape 8"/>
          <p:cNvSpPr/>
          <p:nvPr/>
        </p:nvSpPr>
        <p:spPr>
          <a:xfrm>
            <a:off x="8758317" y="1626233"/>
            <a:ext cx="2617708" cy="1497965"/>
          </a:xfrm>
          <a:prstGeom prst="roundRect">
            <a:avLst>
              <a:gd name="adj" fmla="val 6571"/>
            </a:avLst>
          </a:prstGeom>
          <a:solidFill>
            <a:srgbClr val="ECEFF3"/>
          </a:solidFill>
          <a:ln w="6350">
            <a:solidFill>
              <a:srgbClr val="ECEFF3"/>
            </a:solidFill>
            <a:prstDash val="solid"/>
          </a:ln>
        </p:spPr>
      </p:sp>
      <p:sp>
        <p:nvSpPr>
          <p:cNvPr id="11" name="Text 9"/>
          <p:cNvSpPr/>
          <p:nvPr/>
        </p:nvSpPr>
        <p:spPr>
          <a:xfrm>
            <a:off x="8938022" y="1805942"/>
            <a:ext cx="232604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7D3A"/>
                </a:solidFill>
                <a:latin typeface="IBM Plex Sans" pitchFamily="34" charset="0"/>
                <a:ea typeface="IBM Plex Sans" pitchFamily="34" charset="-122"/>
                <a:cs typeface="IBM Plex Sans" pitchFamily="34" charset="-120"/>
              </a:rPr>
              <a:t>Динамическая</a:t>
            </a:r>
            <a:endParaRPr lang="en-US" sz="1700" dirty="0"/>
          </a:p>
        </p:txBody>
      </p:sp>
      <p:sp>
        <p:nvSpPr>
          <p:cNvPr id="12" name="Text 10"/>
          <p:cNvSpPr/>
          <p:nvPr/>
        </p:nvSpPr>
        <p:spPr>
          <a:xfrm>
            <a:off x="8938022" y="2115827"/>
            <a:ext cx="2326047"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Типы проверяются при исполнении: Python, JavaScript</a:t>
            </a:r>
            <a:endParaRPr lang="en-US" sz="1500" dirty="0"/>
          </a:p>
        </p:txBody>
      </p:sp>
      <p:sp>
        <p:nvSpPr>
          <p:cNvPr id="13" name="Shape 11"/>
          <p:cNvSpPr/>
          <p:nvPr/>
        </p:nvSpPr>
        <p:spPr>
          <a:xfrm>
            <a:off x="6007259" y="3257550"/>
            <a:ext cx="2617708" cy="1497965"/>
          </a:xfrm>
          <a:prstGeom prst="roundRect">
            <a:avLst>
              <a:gd name="adj" fmla="val 6571"/>
            </a:avLst>
          </a:prstGeom>
          <a:solidFill>
            <a:srgbClr val="ECEFF3"/>
          </a:solidFill>
          <a:ln w="6350">
            <a:solidFill>
              <a:srgbClr val="ECEFF3"/>
            </a:solidFill>
            <a:prstDash val="solid"/>
          </a:ln>
        </p:spPr>
      </p:sp>
      <p:sp>
        <p:nvSpPr>
          <p:cNvPr id="14" name="Text 12"/>
          <p:cNvSpPr/>
          <p:nvPr/>
        </p:nvSpPr>
        <p:spPr>
          <a:xfrm>
            <a:off x="6186964" y="3437260"/>
            <a:ext cx="232604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7D3A"/>
                </a:solidFill>
                <a:latin typeface="IBM Plex Sans" pitchFamily="34" charset="0"/>
                <a:ea typeface="IBM Plex Sans" pitchFamily="34" charset="-122"/>
                <a:cs typeface="IBM Plex Sans" pitchFamily="34" charset="-120"/>
              </a:rPr>
              <a:t>Сильная</a:t>
            </a:r>
            <a:endParaRPr lang="en-US" sz="1700" dirty="0"/>
          </a:p>
        </p:txBody>
      </p:sp>
      <p:sp>
        <p:nvSpPr>
          <p:cNvPr id="15" name="Text 13"/>
          <p:cNvSpPr/>
          <p:nvPr/>
        </p:nvSpPr>
        <p:spPr>
          <a:xfrm>
            <a:off x="6186964" y="3747133"/>
            <a:ext cx="2326047"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Неявных небезопасных преобразований нет: в Python "1" + 1 - ошибка</a:t>
            </a:r>
            <a:endParaRPr lang="en-US" sz="1500" dirty="0"/>
          </a:p>
        </p:txBody>
      </p:sp>
      <p:sp>
        <p:nvSpPr>
          <p:cNvPr id="16" name="Shape 14"/>
          <p:cNvSpPr/>
          <p:nvPr/>
        </p:nvSpPr>
        <p:spPr>
          <a:xfrm>
            <a:off x="8758317" y="3257550"/>
            <a:ext cx="2617708" cy="1497965"/>
          </a:xfrm>
          <a:prstGeom prst="roundRect">
            <a:avLst>
              <a:gd name="adj" fmla="val 6571"/>
            </a:avLst>
          </a:prstGeom>
          <a:solidFill>
            <a:srgbClr val="ECEFF3"/>
          </a:solidFill>
          <a:ln w="6350">
            <a:solidFill>
              <a:srgbClr val="ECEFF3"/>
            </a:solidFill>
            <a:prstDash val="solid"/>
          </a:ln>
        </p:spPr>
      </p:sp>
      <p:sp>
        <p:nvSpPr>
          <p:cNvPr id="17" name="Text 15"/>
          <p:cNvSpPr/>
          <p:nvPr/>
        </p:nvSpPr>
        <p:spPr>
          <a:xfrm>
            <a:off x="8938022" y="3437260"/>
            <a:ext cx="232604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7D3A"/>
                </a:solidFill>
                <a:latin typeface="IBM Plex Sans" pitchFamily="34" charset="0"/>
                <a:ea typeface="IBM Plex Sans" pitchFamily="34" charset="-122"/>
                <a:cs typeface="IBM Plex Sans" pitchFamily="34" charset="-120"/>
              </a:rPr>
              <a:t>Слабая</a:t>
            </a:r>
            <a:endParaRPr lang="en-US" sz="1700" dirty="0"/>
          </a:p>
        </p:txBody>
      </p:sp>
      <p:sp>
        <p:nvSpPr>
          <p:cNvPr id="18" name="Text 16"/>
          <p:cNvSpPr/>
          <p:nvPr/>
        </p:nvSpPr>
        <p:spPr>
          <a:xfrm>
            <a:off x="8938022" y="3747133"/>
            <a:ext cx="2326047"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Типы приводятся неявно: в JavaScript "1" + 1 - это "11"</a:t>
            </a:r>
            <a:endParaRPr lang="en-US" sz="1500" dirty="0"/>
          </a:p>
        </p:txBody>
      </p:sp>
      <p:sp>
        <p:nvSpPr>
          <p:cNvPr id="19" name="Text 17"/>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ТЕОРИЯ</a:t>
            </a:r>
            <a:endParaRPr lang="en-US" sz="1200" dirty="0"/>
          </a:p>
        </p:txBody>
      </p:sp>
      <p:sp>
        <p:nvSpPr>
          <p:cNvPr id="3" name="Text 1"/>
          <p:cNvSpPr/>
          <p:nvPr>
            <p:ph type="title"/>
          </p:nvPr>
        </p:nvSpPr>
        <p:spPr>
          <a:xfrm>
            <a:off x="812800" y="10007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Полиморфизм: одна операция, много типов</a:t>
            </a:r>
            <a:endParaRPr lang="en-US" sz="3000" dirty="0"/>
          </a:p>
        </p:txBody>
      </p:sp>
      <p:sp>
        <p:nvSpPr>
          <p:cNvPr id="4" name="Text 2"/>
          <p:cNvSpPr/>
          <p:nvPr/>
        </p:nvSpPr>
        <p:spPr>
          <a:xfrm>
            <a:off x="812800" y="1623058"/>
            <a:ext cx="533704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4541A"/>
                </a:solidFill>
                <a:latin typeface="IBM Plex Sans" pitchFamily="34" charset="0"/>
                <a:ea typeface="IBM Plex Sans" pitchFamily="34" charset="-122"/>
                <a:cs typeface="IBM Plex Sans" pitchFamily="34" charset="-120"/>
              </a:rPr>
              <a:t>Ad-hoc</a:t>
            </a:r>
            <a:endParaRPr lang="en-US" sz="1700" dirty="0"/>
          </a:p>
        </p:txBody>
      </p:sp>
      <p:sp>
        <p:nvSpPr>
          <p:cNvPr id="5" name="Text 3"/>
          <p:cNvSpPr/>
          <p:nvPr/>
        </p:nvSpPr>
        <p:spPr>
          <a:xfrm>
            <a:off x="812800" y="1920242"/>
            <a:ext cx="5337048"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Конечный набор типов, для каждого своя реализация</a:t>
            </a:r>
            <a:endParaRPr lang="en-US" sz="1500" dirty="0"/>
          </a:p>
        </p:txBody>
      </p:sp>
      <p:sp>
        <p:nvSpPr>
          <p:cNvPr id="6" name="Shape 4"/>
          <p:cNvSpPr/>
          <p:nvPr/>
        </p:nvSpPr>
        <p:spPr>
          <a:xfrm>
            <a:off x="815975" y="2326642"/>
            <a:ext cx="5175250" cy="1242695"/>
          </a:xfrm>
          <a:prstGeom prst="roundRect">
            <a:avLst>
              <a:gd name="adj" fmla="val 7920"/>
            </a:avLst>
          </a:prstGeom>
          <a:solidFill>
            <a:srgbClr val="ECEFF3"/>
          </a:solidFill>
          <a:ln w="6350">
            <a:solidFill>
              <a:srgbClr val="ECEFF3"/>
            </a:solidFill>
            <a:prstDash val="solid"/>
          </a:ln>
        </p:spPr>
      </p:sp>
      <p:sp>
        <p:nvSpPr>
          <p:cNvPr id="7" name="Text 5"/>
          <p:cNvSpPr/>
          <p:nvPr/>
        </p:nvSpPr>
        <p:spPr>
          <a:xfrm>
            <a:off x="995680" y="2506352"/>
            <a:ext cx="496031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Перегрузка</a:t>
            </a:r>
            <a:endParaRPr lang="en-US" sz="1700" dirty="0"/>
          </a:p>
        </p:txBody>
      </p:sp>
      <p:sp>
        <p:nvSpPr>
          <p:cNvPr id="8" name="Text 6"/>
          <p:cNvSpPr/>
          <p:nvPr/>
        </p:nvSpPr>
        <p:spPr>
          <a:xfrm>
            <a:off x="995680" y="2828925"/>
            <a:ext cx="496031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7D3A"/>
                </a:solidFill>
                <a:latin typeface="JetBrains Mono" pitchFamily="49" charset="0"/>
                <a:ea typeface="JetBrains Mono" pitchFamily="49" charset="-122"/>
                <a:cs typeface="JetBrains Mono" pitchFamily="49" charset="-120"/>
              </a:rPr>
              <a:t>Math.Abs(-1); Math.Abs(-1.5);</a:t>
            </a:r>
            <a:endParaRPr lang="en-US" sz="1200" dirty="0"/>
          </a:p>
        </p:txBody>
      </p:sp>
      <p:sp>
        <p:nvSpPr>
          <p:cNvPr id="9" name="Text 7"/>
          <p:cNvSpPr/>
          <p:nvPr/>
        </p:nvSpPr>
        <p:spPr>
          <a:xfrm>
            <a:off x="995680" y="3113410"/>
            <a:ext cx="4960315"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Разные методы под одним именем</a:t>
            </a:r>
            <a:endParaRPr lang="en-US" sz="1500" dirty="0"/>
          </a:p>
        </p:txBody>
      </p:sp>
      <p:sp>
        <p:nvSpPr>
          <p:cNvPr id="10" name="Shape 8"/>
          <p:cNvSpPr/>
          <p:nvPr/>
        </p:nvSpPr>
        <p:spPr>
          <a:xfrm>
            <a:off x="815975" y="3702683"/>
            <a:ext cx="5175250" cy="1242695"/>
          </a:xfrm>
          <a:prstGeom prst="roundRect">
            <a:avLst>
              <a:gd name="adj" fmla="val 7920"/>
            </a:avLst>
          </a:prstGeom>
          <a:solidFill>
            <a:srgbClr val="ECEFF3"/>
          </a:solidFill>
          <a:ln w="6350">
            <a:solidFill>
              <a:srgbClr val="ECEFF3"/>
            </a:solidFill>
            <a:prstDash val="solid"/>
          </a:ln>
        </p:spPr>
      </p:sp>
      <p:sp>
        <p:nvSpPr>
          <p:cNvPr id="11" name="Text 9"/>
          <p:cNvSpPr/>
          <p:nvPr/>
        </p:nvSpPr>
        <p:spPr>
          <a:xfrm>
            <a:off x="995680" y="3882392"/>
            <a:ext cx="496031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Приведение</a:t>
            </a:r>
            <a:endParaRPr lang="en-US" sz="1700" dirty="0"/>
          </a:p>
        </p:txBody>
      </p:sp>
      <p:sp>
        <p:nvSpPr>
          <p:cNvPr id="12" name="Text 10"/>
          <p:cNvSpPr/>
          <p:nvPr/>
        </p:nvSpPr>
        <p:spPr>
          <a:xfrm>
            <a:off x="995680" y="4204977"/>
            <a:ext cx="496031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7D3A"/>
                </a:solidFill>
                <a:latin typeface="JetBrains Mono" pitchFamily="49" charset="0"/>
                <a:ea typeface="JetBrains Mono" pitchFamily="49" charset="-122"/>
                <a:cs typeface="JetBrains Mono" pitchFamily="49" charset="-120"/>
              </a:rPr>
              <a:t>1 + 1.0</a:t>
            </a:r>
            <a:endParaRPr lang="en-US" sz="1200" dirty="0"/>
          </a:p>
        </p:txBody>
      </p:sp>
      <p:sp>
        <p:nvSpPr>
          <p:cNvPr id="13" name="Text 11"/>
          <p:cNvSpPr/>
          <p:nvPr/>
        </p:nvSpPr>
        <p:spPr>
          <a:xfrm>
            <a:off x="995680" y="4489450"/>
            <a:ext cx="4960315"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int неявно становится double</a:t>
            </a:r>
            <a:endParaRPr lang="en-US" sz="1500" dirty="0"/>
          </a:p>
        </p:txBody>
      </p:sp>
      <p:sp>
        <p:nvSpPr>
          <p:cNvPr id="14" name="Text 12"/>
          <p:cNvSpPr/>
          <p:nvPr/>
        </p:nvSpPr>
        <p:spPr>
          <a:xfrm>
            <a:off x="6197600" y="1623058"/>
            <a:ext cx="533704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7D3A"/>
                </a:solidFill>
                <a:latin typeface="IBM Plex Sans" pitchFamily="34" charset="0"/>
                <a:ea typeface="IBM Plex Sans" pitchFamily="34" charset="-122"/>
                <a:cs typeface="IBM Plex Sans" pitchFamily="34" charset="-120"/>
              </a:rPr>
              <a:t>Универсальный</a:t>
            </a:r>
            <a:endParaRPr lang="en-US" sz="1700" dirty="0"/>
          </a:p>
        </p:txBody>
      </p:sp>
      <p:sp>
        <p:nvSpPr>
          <p:cNvPr id="15" name="Text 13"/>
          <p:cNvSpPr/>
          <p:nvPr/>
        </p:nvSpPr>
        <p:spPr>
          <a:xfrm>
            <a:off x="6197600" y="1920242"/>
            <a:ext cx="5337048"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Бесконечно много типов, один и тот же код</a:t>
            </a:r>
            <a:endParaRPr lang="en-US" sz="1500" dirty="0"/>
          </a:p>
        </p:txBody>
      </p:sp>
      <p:sp>
        <p:nvSpPr>
          <p:cNvPr id="16" name="Shape 14"/>
          <p:cNvSpPr/>
          <p:nvPr/>
        </p:nvSpPr>
        <p:spPr>
          <a:xfrm>
            <a:off x="6200775" y="2326642"/>
            <a:ext cx="5175250" cy="1242695"/>
          </a:xfrm>
          <a:prstGeom prst="roundRect">
            <a:avLst>
              <a:gd name="adj" fmla="val 7920"/>
            </a:avLst>
          </a:prstGeom>
          <a:solidFill>
            <a:srgbClr val="ECEFF3"/>
          </a:solidFill>
          <a:ln w="6350">
            <a:solidFill>
              <a:srgbClr val="ECEFF3"/>
            </a:solidFill>
            <a:prstDash val="solid"/>
          </a:ln>
        </p:spPr>
      </p:sp>
      <p:sp>
        <p:nvSpPr>
          <p:cNvPr id="17" name="Text 15"/>
          <p:cNvSpPr/>
          <p:nvPr/>
        </p:nvSpPr>
        <p:spPr>
          <a:xfrm>
            <a:off x="6380480" y="2506352"/>
            <a:ext cx="496031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Подтипы</a:t>
            </a:r>
            <a:endParaRPr lang="en-US" sz="1700" dirty="0"/>
          </a:p>
        </p:txBody>
      </p:sp>
      <p:sp>
        <p:nvSpPr>
          <p:cNvPr id="18" name="Text 16"/>
          <p:cNvSpPr/>
          <p:nvPr/>
        </p:nvSpPr>
        <p:spPr>
          <a:xfrm>
            <a:off x="6380480" y="2828925"/>
            <a:ext cx="496031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7D3A"/>
                </a:solidFill>
                <a:latin typeface="JetBrains Mono" pitchFamily="49" charset="0"/>
                <a:ea typeface="JetBrains Mono" pitchFamily="49" charset="-122"/>
                <a:cs typeface="JetBrains Mono" pitchFamily="49" charset="-120"/>
              </a:rPr>
              <a:t>void Feed(Animal a); Feed(cat);</a:t>
            </a:r>
            <a:endParaRPr lang="en-US" sz="1200" dirty="0"/>
          </a:p>
        </p:txBody>
      </p:sp>
      <p:sp>
        <p:nvSpPr>
          <p:cNvPr id="19" name="Text 17"/>
          <p:cNvSpPr/>
          <p:nvPr/>
        </p:nvSpPr>
        <p:spPr>
          <a:xfrm>
            <a:off x="6380480" y="3113410"/>
            <a:ext cx="4960315"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Наследник подходит везде, где ждут предка</a:t>
            </a:r>
            <a:endParaRPr lang="en-US" sz="1500" dirty="0"/>
          </a:p>
        </p:txBody>
      </p:sp>
      <p:sp>
        <p:nvSpPr>
          <p:cNvPr id="20" name="Shape 18"/>
          <p:cNvSpPr/>
          <p:nvPr/>
        </p:nvSpPr>
        <p:spPr>
          <a:xfrm>
            <a:off x="6200775" y="3702683"/>
            <a:ext cx="5175250" cy="1518920"/>
          </a:xfrm>
          <a:prstGeom prst="roundRect">
            <a:avLst>
              <a:gd name="adj" fmla="val 6480"/>
            </a:avLst>
          </a:prstGeom>
          <a:solidFill>
            <a:srgbClr val="ECEFF3"/>
          </a:solidFill>
          <a:ln w="6350">
            <a:solidFill>
              <a:srgbClr val="ECEFF3"/>
            </a:solidFill>
            <a:prstDash val="solid"/>
          </a:ln>
        </p:spPr>
      </p:sp>
      <p:sp>
        <p:nvSpPr>
          <p:cNvPr id="21" name="Text 19"/>
          <p:cNvSpPr/>
          <p:nvPr/>
        </p:nvSpPr>
        <p:spPr>
          <a:xfrm>
            <a:off x="6380480" y="3882392"/>
            <a:ext cx="496031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Параметрический</a:t>
            </a:r>
            <a:endParaRPr lang="en-US" sz="1700" dirty="0"/>
          </a:p>
        </p:txBody>
      </p:sp>
      <p:sp>
        <p:nvSpPr>
          <p:cNvPr id="22" name="Text 20"/>
          <p:cNvSpPr/>
          <p:nvPr/>
        </p:nvSpPr>
        <p:spPr>
          <a:xfrm>
            <a:off x="6380480" y="4204977"/>
            <a:ext cx="496031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7D3A"/>
                </a:solidFill>
                <a:latin typeface="JetBrains Mono" pitchFamily="49" charset="0"/>
                <a:ea typeface="JetBrains Mono" pitchFamily="49" charset="-122"/>
                <a:cs typeface="JetBrains Mono" pitchFamily="49" charset="-120"/>
              </a:rPr>
              <a:t>T Max&lt;T&gt;(T a, T b)</a:t>
            </a:r>
            <a:endParaRPr lang="en-US" sz="1200" dirty="0"/>
          </a:p>
        </p:txBody>
      </p:sp>
      <p:sp>
        <p:nvSpPr>
          <p:cNvPr id="23" name="Text 21"/>
          <p:cNvSpPr/>
          <p:nvPr/>
        </p:nvSpPr>
        <p:spPr>
          <a:xfrm>
            <a:off x="6380480" y="4489450"/>
            <a:ext cx="4960315"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Тип - параметр, его подставят при вызове. Это и есть генерики</a:t>
            </a:r>
            <a:endParaRPr lang="en-US" sz="1500" dirty="0"/>
          </a:p>
        </p:txBody>
      </p:sp>
      <p:sp>
        <p:nvSpPr>
          <p:cNvPr id="24" name="Text 22"/>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ТЕОРИЯ</a:t>
            </a:r>
            <a:endParaRPr lang="en-US" sz="1200" dirty="0"/>
          </a:p>
        </p:txBody>
      </p:sp>
      <p:sp>
        <p:nvSpPr>
          <p:cNvPr id="3" name="Text 1"/>
          <p:cNvSpPr/>
          <p:nvPr>
            <p:ph type="title"/>
          </p:nvPr>
        </p:nvSpPr>
        <p:spPr>
          <a:xfrm>
            <a:off x="812800" y="1000758"/>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Элементарные типы, конструкторы и равенство типов</a:t>
            </a:r>
            <a:endParaRPr lang="en-US" sz="3000" dirty="0"/>
          </a:p>
        </p:txBody>
      </p:sp>
      <p:sp>
        <p:nvSpPr>
          <p:cNvPr id="4" name="Shape 2"/>
          <p:cNvSpPr/>
          <p:nvPr/>
        </p:nvSpPr>
        <p:spPr>
          <a:xfrm>
            <a:off x="815975" y="1626233"/>
            <a:ext cx="5048885" cy="902970"/>
          </a:xfrm>
          <a:prstGeom prst="roundRect">
            <a:avLst>
              <a:gd name="adj" fmla="val 10900"/>
            </a:avLst>
          </a:prstGeom>
          <a:solidFill>
            <a:srgbClr val="ECEFF3"/>
          </a:solidFill>
          <a:ln w="6350">
            <a:solidFill>
              <a:srgbClr val="ECEFF3"/>
            </a:solidFill>
            <a:prstDash val="solid"/>
          </a:ln>
        </p:spPr>
      </p:sp>
      <p:sp>
        <p:nvSpPr>
          <p:cNvPr id="5" name="Text 3"/>
          <p:cNvSpPr/>
          <p:nvPr/>
        </p:nvSpPr>
        <p:spPr>
          <a:xfrm>
            <a:off x="995680" y="1805942"/>
            <a:ext cx="483015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Элементарные типы</a:t>
            </a:r>
            <a:endParaRPr lang="en-US" sz="1700" dirty="0"/>
          </a:p>
        </p:txBody>
      </p:sp>
      <p:sp>
        <p:nvSpPr>
          <p:cNvPr id="6" name="Text 4"/>
          <p:cNvSpPr/>
          <p:nvPr/>
        </p:nvSpPr>
        <p:spPr>
          <a:xfrm>
            <a:off x="995680" y="2128527"/>
            <a:ext cx="4830159"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7D3A"/>
                </a:solidFill>
                <a:latin typeface="JetBrains Mono" pitchFamily="49" charset="0"/>
                <a:ea typeface="JetBrains Mono" pitchFamily="49" charset="-122"/>
                <a:cs typeface="JetBrains Mono" pitchFamily="49" charset="-120"/>
              </a:rPr>
              <a:t>int · bool · char · double</a:t>
            </a:r>
            <a:endParaRPr lang="en-US" sz="1200" dirty="0"/>
          </a:p>
        </p:txBody>
      </p:sp>
      <p:sp>
        <p:nvSpPr>
          <p:cNvPr id="7" name="Shape 5"/>
          <p:cNvSpPr/>
          <p:nvPr/>
        </p:nvSpPr>
        <p:spPr>
          <a:xfrm>
            <a:off x="815975" y="2662560"/>
            <a:ext cx="5048885" cy="1242695"/>
          </a:xfrm>
          <a:prstGeom prst="roundRect">
            <a:avLst>
              <a:gd name="adj" fmla="val 7920"/>
            </a:avLst>
          </a:prstGeom>
          <a:solidFill>
            <a:srgbClr val="ECEFF3"/>
          </a:solidFill>
          <a:ln w="6350">
            <a:solidFill>
              <a:srgbClr val="ECEFF3"/>
            </a:solidFill>
            <a:prstDash val="solid"/>
          </a:ln>
        </p:spPr>
      </p:sp>
      <p:sp>
        <p:nvSpPr>
          <p:cNvPr id="8" name="Text 6"/>
          <p:cNvSpPr/>
          <p:nvPr/>
        </p:nvSpPr>
        <p:spPr>
          <a:xfrm>
            <a:off x="995680" y="2842258"/>
            <a:ext cx="483015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Конструкторы типов</a:t>
            </a:r>
            <a:endParaRPr lang="en-US" sz="1700" dirty="0"/>
          </a:p>
        </p:txBody>
      </p:sp>
      <p:sp>
        <p:nvSpPr>
          <p:cNvPr id="9" name="Text 7"/>
          <p:cNvSpPr/>
          <p:nvPr/>
        </p:nvSpPr>
        <p:spPr>
          <a:xfrm>
            <a:off x="995680" y="3164842"/>
            <a:ext cx="4830159"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Строят новые типы из имеющихся</a:t>
            </a:r>
            <a:endParaRPr lang="en-US" sz="1500" dirty="0"/>
          </a:p>
        </p:txBody>
      </p:sp>
      <p:sp>
        <p:nvSpPr>
          <p:cNvPr id="10" name="Text 8"/>
          <p:cNvSpPr/>
          <p:nvPr/>
        </p:nvSpPr>
        <p:spPr>
          <a:xfrm>
            <a:off x="995680" y="3504567"/>
            <a:ext cx="4830159"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7D3A"/>
                </a:solidFill>
                <a:latin typeface="JetBrains Mono" pitchFamily="49" charset="0"/>
                <a:ea typeface="JetBrains Mono" pitchFamily="49" charset="-122"/>
                <a:cs typeface="JetBrains Mono" pitchFamily="49" charset="-120"/>
              </a:rPr>
              <a:t>T[] · T? · (T1, T2) · Func&lt;T, R&gt; · class</a:t>
            </a:r>
            <a:endParaRPr lang="en-US" sz="1200" dirty="0"/>
          </a:p>
        </p:txBody>
      </p:sp>
      <p:sp>
        <p:nvSpPr>
          <p:cNvPr id="11" name="Shape 9"/>
          <p:cNvSpPr/>
          <p:nvPr/>
        </p:nvSpPr>
        <p:spPr>
          <a:xfrm>
            <a:off x="815975" y="4038600"/>
            <a:ext cx="5048885" cy="902970"/>
          </a:xfrm>
          <a:prstGeom prst="roundRect">
            <a:avLst>
              <a:gd name="adj" fmla="val 10900"/>
            </a:avLst>
          </a:prstGeom>
          <a:solidFill>
            <a:srgbClr val="ECEFF3"/>
          </a:solidFill>
          <a:ln w="6350">
            <a:solidFill>
              <a:srgbClr val="ECEFF3"/>
            </a:solidFill>
            <a:prstDash val="solid"/>
          </a:ln>
        </p:spPr>
      </p:sp>
      <p:sp>
        <p:nvSpPr>
          <p:cNvPr id="12" name="Text 10"/>
          <p:cNvSpPr/>
          <p:nvPr/>
        </p:nvSpPr>
        <p:spPr>
          <a:xfrm>
            <a:off x="995680" y="4218310"/>
            <a:ext cx="483015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Выражение над типами</a:t>
            </a:r>
            <a:endParaRPr lang="en-US" sz="1700" dirty="0"/>
          </a:p>
        </p:txBody>
      </p:sp>
      <p:sp>
        <p:nvSpPr>
          <p:cNvPr id="13" name="Text 11"/>
          <p:cNvSpPr/>
          <p:nvPr/>
        </p:nvSpPr>
        <p:spPr>
          <a:xfrm>
            <a:off x="995680" y="4540883"/>
            <a:ext cx="4830159"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7D3A"/>
                </a:solidFill>
                <a:latin typeface="JetBrains Mono" pitchFamily="49" charset="0"/>
                <a:ea typeface="JetBrains Mono" pitchFamily="49" charset="-122"/>
                <a:cs typeface="JetBrains Mono" pitchFamily="49" charset="-120"/>
              </a:rPr>
              <a:t>Dictionary&lt;string, List&lt;(int, bool)&gt;&gt;</a:t>
            </a:r>
            <a:endParaRPr lang="en-US" sz="1200" dirty="0"/>
          </a:p>
        </p:txBody>
      </p:sp>
      <p:sp>
        <p:nvSpPr>
          <p:cNvPr id="14" name="Text 12"/>
          <p:cNvSpPr/>
          <p:nvPr/>
        </p:nvSpPr>
        <p:spPr>
          <a:xfrm>
            <a:off x="6071235" y="1623058"/>
            <a:ext cx="5467204"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4A5568"/>
                </a:solidFill>
                <a:latin typeface="IBM Plex Sans" pitchFamily="34" charset="0"/>
                <a:ea typeface="IBM Plex Sans" pitchFamily="34" charset="-122"/>
                <a:cs typeface="IBM Plex Sans" pitchFamily="34" charset="-120"/>
              </a:rPr>
              <a:t>По имени</a:t>
            </a:r>
            <a:r>
              <a:rPr lang="en-US" sz="1500" dirty="0">
                <a:solidFill>
                  <a:srgbClr val="4A5568"/>
                </a:solidFill>
                <a:latin typeface="IBM Plex Sans" pitchFamily="34" charset="0"/>
                <a:ea typeface="IBM Plex Sans" pitchFamily="34" charset="-122"/>
                <a:cs typeface="IBM Plex Sans" pitchFamily="34" charset="-120"/>
              </a:rPr>
              <a:t> (номинальное): типы равны, если совпадают имена. </a:t>
            </a:r>
            <a:r>
              <a:rPr lang="en-US" sz="1500" b="1" dirty="0">
                <a:solidFill>
                  <a:srgbClr val="4A5568"/>
                </a:solidFill>
                <a:latin typeface="IBM Plex Sans" pitchFamily="34" charset="0"/>
                <a:ea typeface="IBM Plex Sans" pitchFamily="34" charset="-122"/>
                <a:cs typeface="IBM Plex Sans" pitchFamily="34" charset="-120"/>
              </a:rPr>
              <a:t>Структурное</a:t>
            </a:r>
            <a:r>
              <a:rPr lang="en-US" sz="1500" dirty="0">
                <a:solidFill>
                  <a:srgbClr val="4A5568"/>
                </a:solidFill>
                <a:latin typeface="IBM Plex Sans" pitchFamily="34" charset="0"/>
                <a:ea typeface="IBM Plex Sans" pitchFamily="34" charset="-122"/>
                <a:cs typeface="IBM Plex Sans" pitchFamily="34" charset="-120"/>
              </a:rPr>
              <a:t>: если совпадает устройство.</a:t>
            </a:r>
            <a:endParaRPr lang="en-US" sz="1500" dirty="0"/>
          </a:p>
        </p:txBody>
      </p:sp>
      <p:sp>
        <p:nvSpPr>
          <p:cNvPr id="15" name="Text 13"/>
          <p:cNvSpPr/>
          <p:nvPr/>
        </p:nvSpPr>
        <p:spPr>
          <a:xfrm>
            <a:off x="6071235" y="2277108"/>
            <a:ext cx="5307965" cy="2616200"/>
          </a:xfrm>
          <a:prstGeom prst="roundRect">
            <a:avLst>
              <a:gd name="adj" fmla="val 3883"/>
            </a:avLst>
          </a:prstGeom>
          <a:solidFill>
            <a:srgbClr val="EEF1F5"/>
          </a:solidFill>
          <a:ln/>
        </p:spPr>
        <p:txBody>
          <a:bodyPr wrap="none" lIns="224242" tIns="173442" rIns="80243"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record A(int X);</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record B(int X);</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 a = new B(1);  </a:t>
            </a:r>
            <a:r>
              <a:rPr lang="en-US" sz="1200" dirty="0">
                <a:solidFill>
                  <a:srgbClr val="B4541A"/>
                </a:solidFill>
                <a:latin typeface="JetBrains Mono" pitchFamily="49" charset="0"/>
                <a:ea typeface="JetBrains Mono" pitchFamily="49" charset="-122"/>
                <a:cs typeface="JetBrains Mono" pitchFamily="49" charset="-120"/>
              </a:rPr>
              <a:t>// ошибка: по имени (record)</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(int X, string Y) p = (1, "a");</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(int A, string B) q = p;  </a:t>
            </a:r>
            <a:r>
              <a:rPr lang="en-US" sz="1200" dirty="0">
                <a:solidFill>
                  <a:srgbClr val="5F6B7A"/>
                </a:solidFill>
                <a:latin typeface="JetBrains Mono" pitchFamily="49" charset="0"/>
                <a:ea typeface="JetBrains Mono" pitchFamily="49" charset="-122"/>
                <a:cs typeface="JetBrains Mono" pitchFamily="49" charset="-120"/>
              </a:rPr>
              <a:t>// допустимо: структурно (кортеж)</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delegate int F(int x);</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Func&lt;int, int&gt; f = x =&gt; x;</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F g = f;  </a:t>
            </a:r>
            <a:r>
              <a:rPr lang="en-US" sz="1200" dirty="0">
                <a:solidFill>
                  <a:srgbClr val="B4541A"/>
                </a:solidFill>
                <a:latin typeface="JetBrains Mono" pitchFamily="49" charset="0"/>
                <a:ea typeface="JetBrains Mono" pitchFamily="49" charset="-122"/>
                <a:cs typeface="JetBrains Mono" pitchFamily="49" charset="-120"/>
              </a:rPr>
              <a:t>// ошибка: тоже по имени (delegate)</a:t>
            </a:r>
            <a:endParaRPr lang="en-US" sz="1200" dirty="0"/>
          </a:p>
        </p:txBody>
      </p:sp>
      <p:sp>
        <p:nvSpPr>
          <p:cNvPr id="16" name="Text 14"/>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ТЕОРИЯ</a:t>
            </a:r>
            <a:endParaRPr lang="en-US" sz="1200" dirty="0"/>
          </a:p>
        </p:txBody>
      </p:sp>
      <p:sp>
        <p:nvSpPr>
          <p:cNvPr id="3" name="Text 1"/>
          <p:cNvSpPr/>
          <p:nvPr>
            <p:ph type="title"/>
          </p:nvPr>
        </p:nvSpPr>
        <p:spPr>
          <a:xfrm>
            <a:off x="812800" y="10007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Генерик как функция над типами</a:t>
            </a:r>
            <a:endParaRPr lang="en-US" sz="3000" dirty="0"/>
          </a:p>
        </p:txBody>
      </p:sp>
      <p:sp>
        <p:nvSpPr>
          <p:cNvPr id="4" name="Text 2"/>
          <p:cNvSpPr/>
          <p:nvPr/>
        </p:nvSpPr>
        <p:spPr>
          <a:xfrm>
            <a:off x="812800" y="1623058"/>
            <a:ext cx="10883392" cy="454660"/>
          </a:xfrm>
          <a:prstGeom prst="rect">
            <a:avLst/>
          </a:prstGeom>
          <a:noFill/>
          <a:ln/>
        </p:spPr>
        <p:txBody>
          <a:bodyPr wrap="square" lIns="0" tIns="0" rIns="0" bIns="0" rtlCol="0" anchor="t">
            <a:normAutofit/>
          </a:bodyPr>
          <a:lstStyle/>
          <a:p>
            <a:pPr algn="l" indent="0" marL="0">
              <a:lnSpc>
                <a:spcPts val="3380"/>
              </a:lnSpc>
              <a:buNone/>
            </a:pPr>
            <a:r>
              <a:rPr lang="en-US" sz="2600" dirty="0">
                <a:solidFill>
                  <a:srgbClr val="1E7D3A"/>
                </a:solidFill>
                <a:latin typeface="JetBrains Mono" pitchFamily="49" charset="0"/>
                <a:ea typeface="JetBrains Mono" pitchFamily="49" charset="-122"/>
                <a:cs typeface="JetBrains Mono" pitchFamily="49" charset="-120"/>
              </a:rPr>
              <a:t>List : T ↦ List&lt;T&gt;</a:t>
            </a:r>
            <a:endParaRPr lang="en-US" sz="2600" dirty="0"/>
          </a:p>
        </p:txBody>
      </p:sp>
      <p:sp>
        <p:nvSpPr>
          <p:cNvPr id="5" name="Shape 3"/>
          <p:cNvSpPr/>
          <p:nvPr/>
        </p:nvSpPr>
        <p:spPr>
          <a:xfrm>
            <a:off x="812800" y="2255527"/>
            <a:ext cx="10566400" cy="1656080"/>
          </a:xfrm>
          <a:prstGeom prst="roundRect">
            <a:avLst>
              <a:gd name="adj" fmla="val 6135"/>
            </a:avLst>
          </a:prstGeom>
          <a:solidFill>
            <a:srgbClr val="ECEFF3"/>
          </a:solidFill>
          <a:ln/>
        </p:spPr>
      </p:sp>
      <p:sp>
        <p:nvSpPr>
          <p:cNvPr id="6" name="Shape 4"/>
          <p:cNvSpPr/>
          <p:nvPr/>
        </p:nvSpPr>
        <p:spPr>
          <a:xfrm>
            <a:off x="812800" y="2255527"/>
            <a:ext cx="10566400" cy="1656080"/>
          </a:xfrm>
          <a:custGeom>
            <a:avLst/>
            <a:gdLst/>
            <a:ahLst/>
            <a:cxnLst/>
            <a:rect l="l" t="t" r="r" b="b"/>
            <a:pathLst>
              <a:path w="10566400" h="1656080">
                <a:moveTo>
                  <a:pt x="10464800" y="0"/>
                </a:moveTo>
                <a:lnTo>
                  <a:pt x="10464800" y="0"/>
                </a:lnTo>
                <a:arcTo hR="101600" wR="101600" stAng="16200000" swAng="5400000"/>
                <a:lnTo>
                  <a:pt x="10566400" y="1554480"/>
                </a:lnTo>
                <a:arcTo hR="101600" wR="101600" stAng="0" swAng="5400000"/>
                <a:lnTo>
                  <a:pt x="101600" y="1656080"/>
                </a:lnTo>
                <a:arcTo hR="101600" wR="101600" stAng="5400000" swAng="5400000"/>
                <a:lnTo>
                  <a:pt x="0" y="1554480"/>
                </a:lnTo>
                <a:arcTo hR="95250" wR="101600" stAng="10800000" swAng="-5400000"/>
                <a:lnTo>
                  <a:pt x="10464800" y="1649730"/>
                </a:lnTo>
                <a:arcTo hR="95250" wR="95250" stAng="5400000" swAng="-5400000"/>
                <a:lnTo>
                  <a:pt x="10560050" y="101600"/>
                </a:lnTo>
                <a:arcTo hR="101600" wR="95250" stAng="0" swAng="-5400000"/>
                <a:close/>
              </a:path>
            </a:pathLst>
          </a:custGeom>
          <a:solidFill>
            <a:srgbClr val="ECEFF3"/>
          </a:solidFill>
          <a:ln/>
        </p:spPr>
      </p:sp>
      <p:sp>
        <p:nvSpPr>
          <p:cNvPr id="7" name="Shape 5"/>
          <p:cNvSpPr/>
          <p:nvPr/>
        </p:nvSpPr>
        <p:spPr>
          <a:xfrm>
            <a:off x="812800" y="2255527"/>
            <a:ext cx="10566400" cy="1656080"/>
          </a:xfrm>
          <a:custGeom>
            <a:avLst/>
            <a:gdLst/>
            <a:ahLst/>
            <a:cxnLst/>
            <a:rect l="l" t="t" r="r" b="b"/>
            <a:pathLst>
              <a:path w="10566400" h="1656080">
                <a:moveTo>
                  <a:pt x="101600" y="1656080"/>
                </a:moveTo>
                <a:lnTo>
                  <a:pt x="101600" y="1656080"/>
                </a:lnTo>
                <a:arcTo hR="101600" wR="101600" stAng="5400000" swAng="5400000"/>
                <a:lnTo>
                  <a:pt x="0" y="101600"/>
                </a:lnTo>
                <a:arcTo hR="101600" wR="101600" stAng="10800000" swAng="5400000"/>
                <a:lnTo>
                  <a:pt x="10464800" y="0"/>
                </a:lnTo>
                <a:arcTo hR="101600" wR="101600" stAng="16200000" swAng="5400000"/>
                <a:lnTo>
                  <a:pt x="10566400" y="101600"/>
                </a:lnTo>
                <a:arcTo hR="91440" wR="101600" stAng="0" swAng="-5400000"/>
                <a:lnTo>
                  <a:pt x="101600" y="10160"/>
                </a:lnTo>
                <a:arcTo hR="91440" wR="91440" stAng="16200000" swAng="-5400000"/>
                <a:lnTo>
                  <a:pt x="10160" y="1554480"/>
                </a:lnTo>
                <a:arcTo hR="101600" wR="9144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265687"/>
          <a:ext cx="10551160" cy="1640840"/>
        </p:xfrm>
        <a:graphic>
          <a:graphicData uri="http://schemas.openxmlformats.org/drawingml/2006/table">
            <a:tbl>
              <a:tblPr/>
              <a:tblGrid>
                <a:gridCol w="3165348"/>
                <a:gridCol w="3165348"/>
                <a:gridCol w="4220464"/>
              </a:tblGrid>
              <a:tr h="410210">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Генерик</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«Сигнатура»</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Применение</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List&lt;T&gt;</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Тип → Тип</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List&lt;int&gt;, List&lt;string&gt;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Dictionary&lt;K, V&gt;</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Тип × Тип → Тип</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Dictionary&lt;string, int&gt;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Func&lt;T, R&gt;</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Тип × Тип → Тип</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Func&lt;int, bool&gt;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bl>
          </a:graphicData>
        </a:graphic>
      </p:graphicFrame>
      <p:sp>
        <p:nvSpPr>
          <p:cNvPr id="9" name="Text 6"/>
          <p:cNvSpPr/>
          <p:nvPr/>
        </p:nvSpPr>
        <p:spPr>
          <a:xfrm>
            <a:off x="812800" y="4114800"/>
            <a:ext cx="10566400" cy="848360"/>
          </a:xfrm>
          <a:prstGeom prst="roundRect">
            <a:avLst>
              <a:gd name="adj" fmla="val 11976"/>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typeof(List&lt;&gt;)    </a:t>
            </a:r>
            <a:r>
              <a:rPr lang="en-US" sz="1200" dirty="0">
                <a:solidFill>
                  <a:srgbClr val="5F6B7A"/>
                </a:solidFill>
                <a:latin typeface="JetBrains Mono" pitchFamily="49" charset="0"/>
                <a:ea typeface="JetBrains Mono" pitchFamily="49" charset="-122"/>
                <a:cs typeface="JetBrains Mono" pitchFamily="49" charset="-120"/>
              </a:rPr>
              <a:t>// открытый тип: функция, ещё не применённая</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typeof(List&lt;int&gt;) </a:t>
            </a:r>
            <a:r>
              <a:rPr lang="en-US" sz="1200" dirty="0">
                <a:solidFill>
                  <a:srgbClr val="5F6B7A"/>
                </a:solidFill>
                <a:latin typeface="JetBrains Mono" pitchFamily="49" charset="0"/>
                <a:ea typeface="JetBrains Mono" pitchFamily="49" charset="-122"/>
                <a:cs typeface="JetBrains Mono" pitchFamily="49" charset="-120"/>
              </a:rPr>
              <a:t>// закрытый тип: результат применения</a:t>
            </a:r>
            <a:endParaRPr lang="en-US" sz="1200" dirty="0"/>
          </a:p>
          <a:p>
            <a:pPr algn="l" indent="0" marL="0">
              <a:lnSpc>
                <a:spcPts val="1740"/>
              </a:lnSpc>
              <a:buNone/>
            </a:pPr>
            <a:endParaRPr lang="en-US" sz="1200" dirty="0"/>
          </a:p>
        </p:txBody>
      </p:sp>
      <p:sp>
        <p:nvSpPr>
          <p:cNvPr id="10" name="Text 7"/>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ТЕОРИЯ</a:t>
            </a:r>
            <a:endParaRPr lang="en-US" sz="1200" dirty="0"/>
          </a:p>
        </p:txBody>
      </p:sp>
      <p:sp>
        <p:nvSpPr>
          <p:cNvPr id="3" name="Text 1"/>
          <p:cNvSpPr/>
          <p:nvPr>
            <p:ph type="title"/>
          </p:nvPr>
        </p:nvSpPr>
        <p:spPr>
          <a:xfrm>
            <a:off x="812800" y="10007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Подтипы: частичный порядок на типах</a:t>
            </a:r>
            <a:endParaRPr lang="en-US" sz="3000" dirty="0"/>
          </a:p>
        </p:txBody>
      </p:sp>
      <p:sp>
        <p:nvSpPr>
          <p:cNvPr id="4" name="Text 2"/>
          <p:cNvSpPr/>
          <p:nvPr/>
        </p:nvSpPr>
        <p:spPr>
          <a:xfrm>
            <a:off x="812800" y="1623058"/>
            <a:ext cx="4970780" cy="651510"/>
          </a:xfrm>
          <a:prstGeom prst="rect">
            <a:avLst/>
          </a:prstGeom>
          <a:noFill/>
          <a:ln/>
        </p:spPr>
        <p:txBody>
          <a:bodyPr wrap="square" lIns="0" tIns="0" rIns="0" bIns="0" rtlCol="0" anchor="t">
            <a:normAutofit/>
          </a:bodyPr>
          <a:lstStyle/>
          <a:p>
            <a:pPr algn="l" indent="0" marL="0">
              <a:lnSpc>
                <a:spcPts val="2465"/>
              </a:lnSpc>
              <a:buNone/>
            </a:pPr>
            <a:r>
              <a:rPr lang="en-US" sz="1700" b="1" dirty="0">
                <a:solidFill>
                  <a:srgbClr val="14213D"/>
                </a:solidFill>
                <a:latin typeface="IBM Plex Sans" pitchFamily="34" charset="0"/>
                <a:ea typeface="IBM Plex Sans" pitchFamily="34" charset="-122"/>
                <a:cs typeface="IBM Plex Sans" pitchFamily="34" charset="-120"/>
              </a:rPr>
              <a:t>A ≤ B</a:t>
            </a:r>
            <a:r>
              <a:rPr lang="en-US" sz="1700" dirty="0">
                <a:solidFill>
                  <a:srgbClr val="14213D"/>
                </a:solidFill>
                <a:latin typeface="IBM Plex Sans" pitchFamily="34" charset="0"/>
                <a:ea typeface="IBM Plex Sans" pitchFamily="34" charset="-122"/>
                <a:cs typeface="IBM Plex Sans" pitchFamily="34" charset="-120"/>
              </a:rPr>
              <a:t>: A - подтип B, B - надтип A. Где ждут B, можно передать A.</a:t>
            </a:r>
            <a:endParaRPr lang="en-US" sz="1700" dirty="0"/>
          </a:p>
        </p:txBody>
      </p:sp>
      <p:sp>
        <p:nvSpPr>
          <p:cNvPr id="5" name="Text 3"/>
          <p:cNvSpPr/>
          <p:nvPr/>
        </p:nvSpPr>
        <p:spPr>
          <a:xfrm>
            <a:off x="883920" y="2401577"/>
            <a:ext cx="4892040" cy="1130300"/>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Рефлексивность: A ≤ A</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Транзитивность: Cat ≤ Animal ≤ object ⇒ Cat ≤ object</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Антисимметричность: A ≤ B и B ≤ A ⇒ A = B</a:t>
            </a:r>
            <a:endParaRPr lang="en-US" sz="1500" dirty="0"/>
          </a:p>
        </p:txBody>
      </p:sp>
      <p:sp>
        <p:nvSpPr>
          <p:cNvPr id="6" name="Text 4"/>
          <p:cNvSpPr/>
          <p:nvPr/>
        </p:nvSpPr>
        <p:spPr>
          <a:xfrm>
            <a:off x="812800" y="3658877"/>
            <a:ext cx="4970780"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4A5568"/>
                </a:solidFill>
                <a:latin typeface="IBM Plex Sans" pitchFamily="34" charset="0"/>
                <a:ea typeface="IBM Plex Sans" pitchFamily="34" charset="-122"/>
                <a:cs typeface="IBM Plex Sans" pitchFamily="34" charset="-120"/>
              </a:rPr>
              <a:t>Частичный</a:t>
            </a:r>
            <a:r>
              <a:rPr lang="en-US" sz="1500" dirty="0">
                <a:solidFill>
                  <a:srgbClr val="4A5568"/>
                </a:solidFill>
                <a:latin typeface="IBM Plex Sans" pitchFamily="34" charset="0"/>
                <a:ea typeface="IBM Plex Sans" pitchFamily="34" charset="-122"/>
                <a:cs typeface="IBM Plex Sans" pitchFamily="34" charset="-120"/>
              </a:rPr>
              <a:t>: Cat и Dog несравнимы. object - наибольший элемент.</a:t>
            </a:r>
            <a:endParaRPr lang="en-US" sz="1500" dirty="0"/>
          </a:p>
        </p:txBody>
      </p:sp>
      <p:sp>
        <p:nvSpPr>
          <p:cNvPr id="7" name="Text 5"/>
          <p:cNvSpPr/>
          <p:nvPr/>
        </p:nvSpPr>
        <p:spPr>
          <a:xfrm>
            <a:off x="7874000" y="2095500"/>
            <a:ext cx="1524000" cy="476250"/>
          </a:xfrm>
          <a:custGeom>
            <a:avLst/>
            <a:gdLst/>
            <a:ahLst/>
            <a:cxnLst/>
            <a:rect l="l" t="t" r="r" b="b"/>
            <a:pathLst>
              <a:path w="1524000" h="476250">
                <a:moveTo>
                  <a:pt x="76200" y="0"/>
                </a:moveTo>
                <a:lnTo>
                  <a:pt x="1447800" y="0"/>
                </a:lnTo>
                <a:arcTo hR="76200" wR="76200" stAng="16200000" swAng="5400000"/>
                <a:lnTo>
                  <a:pt x="1524000" y="400050"/>
                </a:lnTo>
                <a:arcTo hR="76200" wR="76200" stAng="0" swAng="5400000"/>
                <a:lnTo>
                  <a:pt x="76200" y="476250"/>
                </a:lnTo>
                <a:arcTo hR="76200" wR="76200" stAng="5400000" swAng="5400000"/>
                <a:lnTo>
                  <a:pt x="0" y="76200"/>
                </a:lnTo>
                <a:arcTo hR="76200" wR="76200" stAng="10800000" swAng="5400000"/>
                <a:close/>
              </a:path>
            </a:pathLst>
          </a:custGeom>
          <a:solidFill>
            <a:srgbClr val="14213D"/>
          </a:solidFill>
          <a:ln/>
        </p:spPr>
        <p:txBody>
          <a:bodyPr wrap="square" lIns="0" tIns="114300" rIns="0" bIns="88900" rtlCol="0" anchor="t">
            <a:normAutofit/>
          </a:bodyPr>
          <a:lstStyle/>
          <a:p>
            <a:pPr algn="ctr" indent="0" marL="0">
              <a:lnSpc>
                <a:spcPts val="1950"/>
              </a:lnSpc>
              <a:buNone/>
            </a:pPr>
            <a:r>
              <a:rPr lang="en-US" sz="1500" dirty="0">
                <a:solidFill>
                  <a:srgbClr val="F7F8FA"/>
                </a:solidFill>
                <a:latin typeface="JetBrains Mono" pitchFamily="49" charset="0"/>
                <a:ea typeface="JetBrains Mono" pitchFamily="49" charset="-122"/>
                <a:cs typeface="JetBrains Mono" pitchFamily="49" charset="-120"/>
              </a:rPr>
              <a:t>object</a:t>
            </a:r>
            <a:endParaRPr lang="en-US" sz="1500" dirty="0"/>
          </a:p>
        </p:txBody>
      </p:sp>
      <p:sp>
        <p:nvSpPr>
          <p:cNvPr id="8" name="Text 6"/>
          <p:cNvSpPr/>
          <p:nvPr/>
        </p:nvSpPr>
        <p:spPr>
          <a:xfrm>
            <a:off x="6737350" y="3308350"/>
            <a:ext cx="1511300" cy="483870"/>
          </a:xfrm>
          <a:custGeom>
            <a:avLst/>
            <a:gdLst/>
            <a:ahLst/>
            <a:cxnLst/>
            <a:rect l="l" t="t" r="r" b="b"/>
            <a:pathLst>
              <a:path w="1511300" h="483870">
                <a:moveTo>
                  <a:pt x="69850" y="0"/>
                </a:moveTo>
                <a:lnTo>
                  <a:pt x="1441450" y="0"/>
                </a:lnTo>
                <a:arcTo hR="69850" wR="69850" stAng="16200000" swAng="5400000"/>
                <a:lnTo>
                  <a:pt x="1511300" y="414020"/>
                </a:lnTo>
                <a:arcTo hR="69850" wR="69850" stAng="0" swAng="5400000"/>
                <a:lnTo>
                  <a:pt x="69850" y="483870"/>
                </a:lnTo>
                <a:arcTo hR="69850" wR="69850" stAng="5400000" swAng="5400000"/>
                <a:lnTo>
                  <a:pt x="0" y="69850"/>
                </a:lnTo>
                <a:arcTo hR="69850" wR="69850" stAng="10800000" swAng="5400000"/>
                <a:close/>
              </a:path>
            </a:pathLst>
          </a:custGeom>
          <a:solidFill>
            <a:srgbClr val="E3F1E7"/>
          </a:solidFill>
          <a:ln w="12700">
            <a:solidFill>
              <a:srgbClr val="1E7D3A"/>
            </a:solidFill>
            <a:prstDash val="solid"/>
          </a:ln>
        </p:spPr>
        <p:txBody>
          <a:bodyPr wrap="square" lIns="0" tIns="118110" rIns="0" bIns="92710" rtlCol="0" anchor="t">
            <a:normAutofit/>
          </a:bodyPr>
          <a:lstStyle/>
          <a:p>
            <a:pPr algn="ctr" indent="0" marL="0">
              <a:lnSpc>
                <a:spcPts val="1950"/>
              </a:lnSpc>
              <a:buNone/>
            </a:pPr>
            <a:r>
              <a:rPr lang="en-US" sz="1500" dirty="0">
                <a:solidFill>
                  <a:srgbClr val="14213D"/>
                </a:solidFill>
                <a:latin typeface="JetBrains Mono" pitchFamily="49" charset="0"/>
                <a:ea typeface="JetBrains Mono" pitchFamily="49" charset="-122"/>
                <a:cs typeface="JetBrains Mono" pitchFamily="49" charset="-120"/>
              </a:rPr>
              <a:t>Animal</a:t>
            </a:r>
            <a:endParaRPr lang="en-US" sz="1500" dirty="0"/>
          </a:p>
        </p:txBody>
      </p:sp>
      <p:sp>
        <p:nvSpPr>
          <p:cNvPr id="9" name="Text 7"/>
          <p:cNvSpPr/>
          <p:nvPr/>
        </p:nvSpPr>
        <p:spPr>
          <a:xfrm>
            <a:off x="9023350" y="3308350"/>
            <a:ext cx="1511300" cy="483870"/>
          </a:xfrm>
          <a:custGeom>
            <a:avLst/>
            <a:gdLst/>
            <a:ahLst/>
            <a:cxnLst/>
            <a:rect l="l" t="t" r="r" b="b"/>
            <a:pathLst>
              <a:path w="1511300" h="483870">
                <a:moveTo>
                  <a:pt x="69850" y="0"/>
                </a:moveTo>
                <a:lnTo>
                  <a:pt x="1441450" y="0"/>
                </a:lnTo>
                <a:arcTo hR="69850" wR="69850" stAng="16200000" swAng="5400000"/>
                <a:lnTo>
                  <a:pt x="1511300" y="414020"/>
                </a:lnTo>
                <a:arcTo hR="69850" wR="69850" stAng="0" swAng="5400000"/>
                <a:lnTo>
                  <a:pt x="69850" y="483870"/>
                </a:lnTo>
                <a:arcTo hR="69850" wR="69850" stAng="5400000" swAng="5400000"/>
                <a:lnTo>
                  <a:pt x="0" y="69850"/>
                </a:lnTo>
                <a:arcTo hR="69850" wR="69850" stAng="10800000" swAng="5400000"/>
                <a:close/>
              </a:path>
            </a:pathLst>
          </a:custGeom>
          <a:solidFill>
            <a:srgbClr val="E3F1E7"/>
          </a:solidFill>
          <a:ln w="12700">
            <a:solidFill>
              <a:srgbClr val="1E7D3A"/>
            </a:solidFill>
            <a:prstDash val="solid"/>
          </a:ln>
        </p:spPr>
        <p:txBody>
          <a:bodyPr wrap="square" lIns="0" tIns="118110" rIns="0" bIns="92710" rtlCol="0" anchor="t">
            <a:normAutofit/>
          </a:bodyPr>
          <a:lstStyle/>
          <a:p>
            <a:pPr algn="ctr" indent="0" marL="0">
              <a:lnSpc>
                <a:spcPts val="1950"/>
              </a:lnSpc>
              <a:buNone/>
            </a:pPr>
            <a:r>
              <a:rPr lang="en-US" sz="1500" dirty="0">
                <a:solidFill>
                  <a:srgbClr val="14213D"/>
                </a:solidFill>
                <a:latin typeface="JetBrains Mono" pitchFamily="49" charset="0"/>
                <a:ea typeface="JetBrains Mono" pitchFamily="49" charset="-122"/>
                <a:cs typeface="JetBrains Mono" pitchFamily="49" charset="-120"/>
              </a:rPr>
              <a:t>string</a:t>
            </a:r>
            <a:endParaRPr lang="en-US" sz="1500" dirty="0"/>
          </a:p>
        </p:txBody>
      </p:sp>
      <p:sp>
        <p:nvSpPr>
          <p:cNvPr id="10" name="Text 8"/>
          <p:cNvSpPr/>
          <p:nvPr/>
        </p:nvSpPr>
        <p:spPr>
          <a:xfrm>
            <a:off x="5975350" y="4514850"/>
            <a:ext cx="1511300" cy="483870"/>
          </a:xfrm>
          <a:custGeom>
            <a:avLst/>
            <a:gdLst/>
            <a:ahLst/>
            <a:cxnLst/>
            <a:rect l="l" t="t" r="r" b="b"/>
            <a:pathLst>
              <a:path w="1511300" h="483870">
                <a:moveTo>
                  <a:pt x="69850" y="0"/>
                </a:moveTo>
                <a:lnTo>
                  <a:pt x="1441450" y="0"/>
                </a:lnTo>
                <a:arcTo hR="69850" wR="69850" stAng="16200000" swAng="5400000"/>
                <a:lnTo>
                  <a:pt x="1511300" y="414020"/>
                </a:lnTo>
                <a:arcTo hR="69850" wR="69850" stAng="0" swAng="5400000"/>
                <a:lnTo>
                  <a:pt x="69850" y="483870"/>
                </a:lnTo>
                <a:arcTo hR="69850" wR="69850" stAng="5400000" swAng="5400000"/>
                <a:lnTo>
                  <a:pt x="0" y="69850"/>
                </a:lnTo>
                <a:arcTo hR="69850" wR="69850" stAng="10800000" swAng="5400000"/>
                <a:close/>
              </a:path>
            </a:pathLst>
          </a:custGeom>
          <a:solidFill>
            <a:srgbClr val="ECEFF3"/>
          </a:solidFill>
          <a:ln w="12700">
            <a:solidFill>
              <a:srgbClr val="1E7D3A"/>
            </a:solidFill>
            <a:prstDash val="solid"/>
          </a:ln>
        </p:spPr>
        <p:txBody>
          <a:bodyPr wrap="square" lIns="0" tIns="118110" rIns="0" bIns="92710" rtlCol="0" anchor="t">
            <a:normAutofit/>
          </a:bodyPr>
          <a:lstStyle/>
          <a:p>
            <a:pPr algn="ctr" indent="0" marL="0">
              <a:lnSpc>
                <a:spcPts val="1950"/>
              </a:lnSpc>
              <a:buNone/>
            </a:pPr>
            <a:r>
              <a:rPr lang="en-US" sz="1500" dirty="0">
                <a:solidFill>
                  <a:srgbClr val="14213D"/>
                </a:solidFill>
                <a:latin typeface="JetBrains Mono" pitchFamily="49" charset="0"/>
                <a:ea typeface="JetBrains Mono" pitchFamily="49" charset="-122"/>
                <a:cs typeface="JetBrains Mono" pitchFamily="49" charset="-120"/>
              </a:rPr>
              <a:t>Cat</a:t>
            </a:r>
            <a:endParaRPr lang="en-US" sz="1500" dirty="0"/>
          </a:p>
        </p:txBody>
      </p:sp>
      <p:sp>
        <p:nvSpPr>
          <p:cNvPr id="11" name="Text 9"/>
          <p:cNvSpPr/>
          <p:nvPr/>
        </p:nvSpPr>
        <p:spPr>
          <a:xfrm>
            <a:off x="7626350" y="4514850"/>
            <a:ext cx="1511300" cy="483870"/>
          </a:xfrm>
          <a:custGeom>
            <a:avLst/>
            <a:gdLst/>
            <a:ahLst/>
            <a:cxnLst/>
            <a:rect l="l" t="t" r="r" b="b"/>
            <a:pathLst>
              <a:path w="1511300" h="483870">
                <a:moveTo>
                  <a:pt x="69850" y="0"/>
                </a:moveTo>
                <a:lnTo>
                  <a:pt x="1441450" y="0"/>
                </a:lnTo>
                <a:arcTo hR="69850" wR="69850" stAng="16200000" swAng="5400000"/>
                <a:lnTo>
                  <a:pt x="1511300" y="414020"/>
                </a:lnTo>
                <a:arcTo hR="69850" wR="69850" stAng="0" swAng="5400000"/>
                <a:lnTo>
                  <a:pt x="69850" y="483870"/>
                </a:lnTo>
                <a:arcTo hR="69850" wR="69850" stAng="5400000" swAng="5400000"/>
                <a:lnTo>
                  <a:pt x="0" y="69850"/>
                </a:lnTo>
                <a:arcTo hR="69850" wR="69850" stAng="10800000" swAng="5400000"/>
                <a:close/>
              </a:path>
            </a:pathLst>
          </a:custGeom>
          <a:solidFill>
            <a:srgbClr val="ECEFF3"/>
          </a:solidFill>
          <a:ln w="12700">
            <a:solidFill>
              <a:srgbClr val="1E7D3A"/>
            </a:solidFill>
            <a:prstDash val="solid"/>
          </a:ln>
        </p:spPr>
        <p:txBody>
          <a:bodyPr wrap="square" lIns="0" tIns="118110" rIns="0" bIns="92710" rtlCol="0" anchor="t">
            <a:normAutofit/>
          </a:bodyPr>
          <a:lstStyle/>
          <a:p>
            <a:pPr algn="ctr" indent="0" marL="0">
              <a:lnSpc>
                <a:spcPts val="1950"/>
              </a:lnSpc>
              <a:buNone/>
            </a:pPr>
            <a:r>
              <a:rPr lang="en-US" sz="1500" dirty="0">
                <a:solidFill>
                  <a:srgbClr val="14213D"/>
                </a:solidFill>
                <a:latin typeface="JetBrains Mono" pitchFamily="49" charset="0"/>
                <a:ea typeface="JetBrains Mono" pitchFamily="49" charset="-122"/>
                <a:cs typeface="JetBrains Mono" pitchFamily="49" charset="-120"/>
              </a:rPr>
              <a:t>Dog</a:t>
            </a:r>
            <a:endParaRPr lang="en-US" sz="1500" dirty="0"/>
          </a:p>
        </p:txBody>
      </p:sp>
      <p:pic>
        <p:nvPicPr>
          <p:cNvPr id="12" name="Image 0" descr="connector">    </p:cNvPr>
          <p:cNvPicPr>
            <a:picLocks noChangeAspect="1"/>
          </p:cNvPicPr>
          <p:nvPr/>
        </p:nvPicPr>
        <p:blipFill>
          <a:blip r:embed="rId1"/>
          <a:srcRect l="0" r="0" t="0" b="0"/>
          <a:stretch/>
        </p:blipFill>
        <p:spPr>
          <a:xfrm>
            <a:off x="7442200" y="2514600"/>
            <a:ext cx="1054100" cy="838200"/>
          </a:xfrm>
          <a:prstGeom prst="rect">
            <a:avLst/>
          </a:prstGeom>
        </p:spPr>
      </p:pic>
      <p:pic>
        <p:nvPicPr>
          <p:cNvPr id="13" name="Image 1" descr="connector">    </p:cNvPr>
          <p:cNvPicPr>
            <a:picLocks noChangeAspect="1"/>
          </p:cNvPicPr>
          <p:nvPr/>
        </p:nvPicPr>
        <p:blipFill>
          <a:blip r:embed="rId2"/>
          <a:srcRect l="0" r="0" t="0" b="0"/>
          <a:stretch/>
        </p:blipFill>
        <p:spPr>
          <a:xfrm>
            <a:off x="8775700" y="2514600"/>
            <a:ext cx="1054100" cy="838200"/>
          </a:xfrm>
          <a:prstGeom prst="rect">
            <a:avLst/>
          </a:prstGeom>
        </p:spPr>
      </p:pic>
      <p:pic>
        <p:nvPicPr>
          <p:cNvPr id="14" name="Image 2" descr="connector">    </p:cNvPr>
          <p:cNvPicPr>
            <a:picLocks noChangeAspect="1"/>
          </p:cNvPicPr>
          <p:nvPr/>
        </p:nvPicPr>
        <p:blipFill>
          <a:blip r:embed="rId3"/>
          <a:srcRect l="0" r="0" t="0" b="0"/>
          <a:stretch/>
        </p:blipFill>
        <p:spPr>
          <a:xfrm>
            <a:off x="6680200" y="3721100"/>
            <a:ext cx="673100" cy="838200"/>
          </a:xfrm>
          <a:prstGeom prst="rect">
            <a:avLst/>
          </a:prstGeom>
        </p:spPr>
      </p:pic>
      <p:pic>
        <p:nvPicPr>
          <p:cNvPr id="15" name="Image 3" descr="connector">    </p:cNvPr>
          <p:cNvPicPr>
            <a:picLocks noChangeAspect="1"/>
          </p:cNvPicPr>
          <p:nvPr/>
        </p:nvPicPr>
        <p:blipFill>
          <a:blip r:embed="rId4"/>
          <a:srcRect l="0" r="0" t="0" b="0"/>
          <a:stretch/>
        </p:blipFill>
        <p:spPr>
          <a:xfrm>
            <a:off x="7632700" y="3721100"/>
            <a:ext cx="800100" cy="838200"/>
          </a:xfrm>
          <a:prstGeom prst="rect">
            <a:avLst/>
          </a:prstGeom>
        </p:spPr>
      </p:pic>
      <p:sp>
        <p:nvSpPr>
          <p:cNvPr id="16" name="Text 10"/>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ТЕОРИЯ</a:t>
            </a:r>
            <a:endParaRPr lang="en-US" sz="1200" dirty="0"/>
          </a:p>
        </p:txBody>
      </p:sp>
      <p:sp>
        <p:nvSpPr>
          <p:cNvPr id="3" name="Text 1"/>
          <p:cNvSpPr/>
          <p:nvPr>
            <p:ph type="title"/>
          </p:nvPr>
        </p:nvSpPr>
        <p:spPr>
          <a:xfrm>
            <a:off x="812800" y="10007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Надтипы и подтипы</a:t>
            </a:r>
            <a:endParaRPr lang="en-US" sz="3000" dirty="0"/>
          </a:p>
        </p:txBody>
      </p:sp>
      <p:sp>
        <p:nvSpPr>
          <p:cNvPr id="4" name="Shape 2"/>
          <p:cNvSpPr/>
          <p:nvPr/>
        </p:nvSpPr>
        <p:spPr>
          <a:xfrm>
            <a:off x="812800" y="1623058"/>
            <a:ext cx="10566400" cy="806450"/>
          </a:xfrm>
          <a:prstGeom prst="roundRect">
            <a:avLst>
              <a:gd name="adj" fmla="val 9449"/>
            </a:avLst>
          </a:prstGeom>
          <a:solidFill>
            <a:srgbClr val="ECEFF3"/>
          </a:solidFill>
          <a:ln/>
        </p:spPr>
      </p:sp>
      <p:pic>
        <p:nvPicPr>
          <p:cNvPr id="5" name="Image 0" descr="CheckCircle">    </p:cNvPr>
          <p:cNvPicPr>
            <a:picLocks noChangeAspect="1"/>
          </p:cNvPicPr>
          <p:nvPr/>
        </p:nvPicPr>
        <p:blipFill>
          <a:blip r:embed="rId1"/>
          <a:srcRect l="0" r="0" t="0" b="0"/>
          <a:stretch/>
        </p:blipFill>
        <p:spPr>
          <a:xfrm>
            <a:off x="990600" y="1911983"/>
            <a:ext cx="228600" cy="228600"/>
          </a:xfrm>
          <a:prstGeom prst="rect">
            <a:avLst/>
          </a:prstGeom>
        </p:spPr>
      </p:pic>
      <p:sp>
        <p:nvSpPr>
          <p:cNvPr id="6" name="Text 3"/>
          <p:cNvSpPr/>
          <p:nvPr/>
        </p:nvSpPr>
        <p:spPr>
          <a:xfrm>
            <a:off x="1371600" y="1750058"/>
            <a:ext cx="10124694"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IBM Plex Sans" pitchFamily="34" charset="0"/>
                <a:ea typeface="IBM Plex Sans" pitchFamily="34" charset="-122"/>
                <a:cs typeface="IBM Plex Sans" pitchFamily="34" charset="-120"/>
              </a:rPr>
              <a:t>У типов в Java определён частичный порядок </a:t>
            </a:r>
            <a:r>
              <a:rPr lang="en-US" sz="1500" b="1" dirty="0">
                <a:solidFill>
                  <a:srgbClr val="14213D"/>
                </a:solidFill>
                <a:latin typeface="IBM Plex Sans" pitchFamily="34" charset="0"/>
                <a:ea typeface="IBM Plex Sans" pitchFamily="34" charset="-122"/>
                <a:cs typeface="IBM Plex Sans" pitchFamily="34" charset="-120"/>
              </a:rPr>
              <a:t>A &gt; B</a:t>
            </a:r>
            <a:r>
              <a:rPr lang="en-US" sz="1500" dirty="0">
                <a:solidFill>
                  <a:srgbClr val="14213D"/>
                </a:solidFill>
                <a:latin typeface="IBM Plex Sans" pitchFamily="34" charset="0"/>
                <a:ea typeface="IBM Plex Sans" pitchFamily="34" charset="-122"/>
                <a:cs typeface="IBM Plex Sans" pitchFamily="34" charset="-120"/>
              </a:rPr>
              <a:t>: A является надтипом B, B является подтипом A. Запись </a:t>
            </a:r>
            <a:r>
              <a:rPr lang="en-US" sz="1500" b="1" dirty="0">
                <a:solidFill>
                  <a:srgbClr val="14213D"/>
                </a:solidFill>
                <a:latin typeface="IBM Plex Sans" pitchFamily="34" charset="0"/>
                <a:ea typeface="IBM Plex Sans" pitchFamily="34" charset="-122"/>
                <a:cs typeface="IBM Plex Sans" pitchFamily="34" charset="-120"/>
              </a:rPr>
              <a:t>A :&gt; B</a:t>
            </a:r>
            <a:r>
              <a:rPr lang="en-US" sz="1500" dirty="0">
                <a:solidFill>
                  <a:srgbClr val="14213D"/>
                </a:solidFill>
                <a:latin typeface="IBM Plex Sans" pitchFamily="34" charset="0"/>
                <a:ea typeface="IBM Plex Sans" pitchFamily="34" charset="-122"/>
                <a:cs typeface="IBM Plex Sans" pitchFamily="34" charset="-120"/>
              </a:rPr>
              <a:t> допускает равенство A = B.</a:t>
            </a:r>
            <a:endParaRPr lang="en-US" sz="1500" dirty="0"/>
          </a:p>
        </p:txBody>
      </p:sp>
      <p:sp>
        <p:nvSpPr>
          <p:cNvPr id="7" name="Shape 4"/>
          <p:cNvSpPr/>
          <p:nvPr/>
        </p:nvSpPr>
        <p:spPr>
          <a:xfrm>
            <a:off x="812800" y="2505708"/>
            <a:ext cx="10566400" cy="806450"/>
          </a:xfrm>
          <a:prstGeom prst="roundRect">
            <a:avLst>
              <a:gd name="adj" fmla="val 9449"/>
            </a:avLst>
          </a:prstGeom>
          <a:solidFill>
            <a:srgbClr val="ECEFF3"/>
          </a:solidFill>
          <a:ln/>
        </p:spPr>
      </p:sp>
      <p:pic>
        <p:nvPicPr>
          <p:cNvPr id="8" name="Image 1" descr="CheckCircle">    </p:cNvPr>
          <p:cNvPicPr>
            <a:picLocks noChangeAspect="1"/>
          </p:cNvPicPr>
          <p:nvPr/>
        </p:nvPicPr>
        <p:blipFill>
          <a:blip r:embed="rId2"/>
          <a:srcRect l="0" r="0" t="0" b="0"/>
          <a:stretch/>
        </p:blipFill>
        <p:spPr>
          <a:xfrm>
            <a:off x="990600" y="2794633"/>
            <a:ext cx="228600" cy="228600"/>
          </a:xfrm>
          <a:prstGeom prst="rect">
            <a:avLst/>
          </a:prstGeom>
        </p:spPr>
      </p:pic>
      <p:sp>
        <p:nvSpPr>
          <p:cNvPr id="9" name="Text 5"/>
          <p:cNvSpPr/>
          <p:nvPr/>
        </p:nvSpPr>
        <p:spPr>
          <a:xfrm>
            <a:off x="1371600" y="2632708"/>
            <a:ext cx="10124694"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213D"/>
                </a:solidFill>
                <a:latin typeface="IBM Plex Sans" pitchFamily="34" charset="0"/>
                <a:ea typeface="IBM Plex Sans" pitchFamily="34" charset="-122"/>
                <a:cs typeface="IBM Plex Sans" pitchFamily="34" charset="-120"/>
              </a:rPr>
              <a:t>A :&gt; B</a:t>
            </a:r>
            <a:r>
              <a:rPr lang="en-US" sz="1500" dirty="0">
                <a:solidFill>
                  <a:srgbClr val="14213D"/>
                </a:solidFill>
                <a:latin typeface="IBM Plex Sans" pitchFamily="34" charset="0"/>
                <a:ea typeface="IBM Plex Sans" pitchFamily="34" charset="-122"/>
                <a:cs typeface="IBM Plex Sans" pitchFamily="34" charset="-120"/>
              </a:rPr>
              <a:t> рефлексивно, антисимметрично и транзитивно: это рефлексивно-транзитивное замыкание отношения </a:t>
            </a:r>
            <a:r>
              <a:rPr lang="en-US" sz="1500" b="1" dirty="0">
                <a:solidFill>
                  <a:srgbClr val="14213D"/>
                </a:solidFill>
                <a:latin typeface="IBM Plex Sans" pitchFamily="34" charset="0"/>
                <a:ea typeface="IBM Plex Sans" pitchFamily="34" charset="-122"/>
                <a:cs typeface="IBM Plex Sans" pitchFamily="34" charset="-120"/>
              </a:rPr>
              <a:t>A &gt;₁ B</a:t>
            </a:r>
            <a:r>
              <a:rPr lang="en-US" sz="1500" dirty="0">
                <a:solidFill>
                  <a:srgbClr val="14213D"/>
                </a:solidFill>
                <a:latin typeface="IBM Plex Sans" pitchFamily="34" charset="0"/>
                <a:ea typeface="IBM Plex Sans" pitchFamily="34" charset="-122"/>
                <a:cs typeface="IBM Plex Sans" pitchFamily="34" charset="-120"/>
              </a:rPr>
              <a:t> (прямой надтип).</a:t>
            </a:r>
            <a:endParaRPr lang="en-US" sz="1500" dirty="0"/>
          </a:p>
        </p:txBody>
      </p:sp>
      <p:sp>
        <p:nvSpPr>
          <p:cNvPr id="10" name="Shape 6"/>
          <p:cNvSpPr/>
          <p:nvPr/>
        </p:nvSpPr>
        <p:spPr>
          <a:xfrm>
            <a:off x="812800" y="3388358"/>
            <a:ext cx="10566400" cy="530225"/>
          </a:xfrm>
          <a:prstGeom prst="roundRect">
            <a:avLst>
              <a:gd name="adj" fmla="val 14371"/>
            </a:avLst>
          </a:prstGeom>
          <a:solidFill>
            <a:srgbClr val="ECEFF3"/>
          </a:solidFill>
          <a:ln/>
        </p:spPr>
      </p:sp>
      <p:pic>
        <p:nvPicPr>
          <p:cNvPr id="11" name="Image 2" descr="CheckCircle">    </p:cNvPr>
          <p:cNvPicPr>
            <a:picLocks noChangeAspect="1"/>
          </p:cNvPicPr>
          <p:nvPr/>
        </p:nvPicPr>
        <p:blipFill>
          <a:blip r:embed="rId3"/>
          <a:srcRect l="0" r="0" t="0" b="0"/>
          <a:stretch/>
        </p:blipFill>
        <p:spPr>
          <a:xfrm>
            <a:off x="990600" y="3539170"/>
            <a:ext cx="228600" cy="228600"/>
          </a:xfrm>
          <a:prstGeom prst="rect">
            <a:avLst/>
          </a:prstGeom>
        </p:spPr>
      </p:pic>
      <p:sp>
        <p:nvSpPr>
          <p:cNvPr id="12" name="Text 7"/>
          <p:cNvSpPr/>
          <p:nvPr/>
        </p:nvSpPr>
        <p:spPr>
          <a:xfrm>
            <a:off x="1371600" y="3515358"/>
            <a:ext cx="10124694"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4213D"/>
                </a:solidFill>
                <a:latin typeface="IBM Plex Sans" pitchFamily="34" charset="0"/>
                <a:ea typeface="IBM Plex Sans" pitchFamily="34" charset="-122"/>
                <a:cs typeface="IBM Plex Sans" pitchFamily="34" charset="-120"/>
              </a:rPr>
              <a:t>A &gt; B</a:t>
            </a:r>
            <a:r>
              <a:rPr lang="en-US" sz="1500" dirty="0">
                <a:solidFill>
                  <a:srgbClr val="14213D"/>
                </a:solidFill>
                <a:latin typeface="IBM Plex Sans" pitchFamily="34" charset="0"/>
                <a:ea typeface="IBM Plex Sans" pitchFamily="34" charset="-122"/>
                <a:cs typeface="IBM Plex Sans" pitchFamily="34" charset="-120"/>
              </a:rPr>
              <a:t> антирефлексивно, антисимметрично и транзитивно.</a:t>
            </a:r>
            <a:endParaRPr lang="en-US" sz="1500" dirty="0"/>
          </a:p>
        </p:txBody>
      </p:sp>
      <p:sp>
        <p:nvSpPr>
          <p:cNvPr id="13" name="Shape 8"/>
          <p:cNvSpPr/>
          <p:nvPr/>
        </p:nvSpPr>
        <p:spPr>
          <a:xfrm>
            <a:off x="812800" y="3994783"/>
            <a:ext cx="10566400" cy="530225"/>
          </a:xfrm>
          <a:prstGeom prst="roundRect">
            <a:avLst>
              <a:gd name="adj" fmla="val 14371"/>
            </a:avLst>
          </a:prstGeom>
          <a:solidFill>
            <a:srgbClr val="ECEFF3"/>
          </a:solidFill>
          <a:ln/>
        </p:spPr>
      </p:sp>
      <p:pic>
        <p:nvPicPr>
          <p:cNvPr id="14" name="Image 3" descr="CheckCircle">    </p:cNvPr>
          <p:cNvPicPr>
            <a:picLocks noChangeAspect="1"/>
          </p:cNvPicPr>
          <p:nvPr/>
        </p:nvPicPr>
        <p:blipFill>
          <a:blip r:embed="rId4"/>
          <a:srcRect l="0" r="0" t="0" b="0"/>
          <a:stretch/>
        </p:blipFill>
        <p:spPr>
          <a:xfrm>
            <a:off x="990600" y="4145595"/>
            <a:ext cx="228600" cy="228600"/>
          </a:xfrm>
          <a:prstGeom prst="rect">
            <a:avLst/>
          </a:prstGeom>
        </p:spPr>
      </p:pic>
      <p:sp>
        <p:nvSpPr>
          <p:cNvPr id="15" name="Text 9"/>
          <p:cNvSpPr/>
          <p:nvPr/>
        </p:nvSpPr>
        <p:spPr>
          <a:xfrm>
            <a:off x="1371600" y="4121783"/>
            <a:ext cx="10124694"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IBM Plex Sans" pitchFamily="34" charset="0"/>
                <a:ea typeface="IBM Plex Sans" pitchFamily="34" charset="-122"/>
                <a:cs typeface="IBM Plex Sans" pitchFamily="34" charset="-120"/>
              </a:rPr>
              <a:t>Надтип не должен предоставлять больше возможностей, чем предоставляет подтип.</a:t>
            </a:r>
            <a:endParaRPr lang="en-US" sz="1500" dirty="0"/>
          </a:p>
        </p:txBody>
      </p:sp>
      <p:sp>
        <p:nvSpPr>
          <p:cNvPr id="16" name="Shape 10"/>
          <p:cNvSpPr/>
          <p:nvPr/>
        </p:nvSpPr>
        <p:spPr>
          <a:xfrm>
            <a:off x="812800" y="4728208"/>
            <a:ext cx="10566400" cy="1071245"/>
          </a:xfrm>
          <a:prstGeom prst="roundRect">
            <a:avLst>
              <a:gd name="adj" fmla="val 9484"/>
            </a:avLst>
          </a:prstGeom>
          <a:solidFill>
            <a:srgbClr val="E3F1E7"/>
          </a:solidFill>
          <a:ln/>
        </p:spPr>
      </p:sp>
      <p:sp>
        <p:nvSpPr>
          <p:cNvPr id="17" name="Shape 11"/>
          <p:cNvSpPr/>
          <p:nvPr/>
        </p:nvSpPr>
        <p:spPr>
          <a:xfrm>
            <a:off x="812800" y="4728208"/>
            <a:ext cx="10566400" cy="1071245"/>
          </a:xfrm>
          <a:custGeom>
            <a:avLst/>
            <a:gdLst/>
            <a:ahLst/>
            <a:cxnLst/>
            <a:rect l="l" t="t" r="r" b="b"/>
            <a:pathLst>
              <a:path w="10566400" h="1071245">
                <a:moveTo>
                  <a:pt x="101600" y="1071245"/>
                </a:moveTo>
                <a:lnTo>
                  <a:pt x="101600" y="1071245"/>
                </a:lnTo>
                <a:arcTo hR="101600" wR="101600" stAng="5400000" swAng="5400000"/>
                <a:lnTo>
                  <a:pt x="0" y="101600"/>
                </a:lnTo>
                <a:arcTo hR="101600" wR="101600" stAng="10800000" swAng="5400000"/>
                <a:lnTo>
                  <a:pt x="101600" y="0"/>
                </a:lnTo>
                <a:arcTo hR="101600" wR="63500" stAng="16200000" swAng="-5400000"/>
                <a:lnTo>
                  <a:pt x="38100" y="969645"/>
                </a:lnTo>
                <a:arcTo hR="101600" wR="63500" stAng="10800000" swAng="-5400000"/>
                <a:close/>
              </a:path>
            </a:pathLst>
          </a:custGeom>
          <a:solidFill>
            <a:srgbClr val="1E7D3A"/>
          </a:solidFill>
          <a:ln/>
        </p:spPr>
      </p:sp>
      <p:sp>
        <p:nvSpPr>
          <p:cNvPr id="18" name="Text 12"/>
          <p:cNvSpPr/>
          <p:nvPr/>
        </p:nvSpPr>
        <p:spPr>
          <a:xfrm>
            <a:off x="1102360" y="4906008"/>
            <a:ext cx="10323525"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4213D"/>
                </a:solidFill>
                <a:latin typeface="JetBrains Mono" pitchFamily="49" charset="0"/>
                <a:ea typeface="JetBrains Mono" pitchFamily="49" charset="-122"/>
                <a:cs typeface="JetBrains Mono" pitchFamily="49" charset="-120"/>
              </a:rPr>
              <a:t>S :&gt; T </a:t>
            </a:r>
            <a:r>
              <a:rPr lang="en-US" sz="2200" dirty="0">
                <a:solidFill>
                  <a:srgbClr val="B4541A"/>
                </a:solidFill>
                <a:latin typeface="JetBrains Mono" pitchFamily="49" charset="0"/>
                <a:ea typeface="JetBrains Mono" pitchFamily="49" charset="-122"/>
                <a:cs typeface="JetBrains Mono" pitchFamily="49" charset="-120"/>
              </a:rPr>
              <a:t>⇏</a:t>
            </a:r>
            <a:r>
              <a:rPr lang="en-US" sz="2200" dirty="0">
                <a:solidFill>
                  <a:srgbClr val="14213D"/>
                </a:solidFill>
                <a:latin typeface="JetBrains Mono" pitchFamily="49" charset="0"/>
                <a:ea typeface="JetBrains Mono" pitchFamily="49" charset="-122"/>
                <a:cs typeface="JetBrains Mono" pitchFamily="49" charset="-120"/>
              </a:rPr>
              <a:t> X&lt;S&gt; :&gt; X&lt;T&gt;</a:t>
            </a:r>
            <a:endParaRPr lang="en-US" sz="2200" dirty="0"/>
          </a:p>
        </p:txBody>
      </p:sp>
      <p:sp>
        <p:nvSpPr>
          <p:cNvPr id="19" name="Text 13"/>
          <p:cNvSpPr/>
          <p:nvPr/>
        </p:nvSpPr>
        <p:spPr>
          <a:xfrm>
            <a:off x="1102360" y="5345435"/>
            <a:ext cx="10323525"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Из отношения между типами в общем случае не следует такое же отношение между генериками.</a:t>
            </a:r>
            <a:endParaRPr lang="en-US" sz="1500" dirty="0"/>
          </a:p>
        </p:txBody>
      </p:sp>
      <p:sp>
        <p:nvSpPr>
          <p:cNvPr id="20" name="Text 14"/>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ВАРИАНТНОСТЬ</a:t>
            </a:r>
            <a:endParaRPr lang="en-US" sz="1200" dirty="0"/>
          </a:p>
        </p:txBody>
      </p:sp>
      <p:sp>
        <p:nvSpPr>
          <p:cNvPr id="3" name="Text 1"/>
          <p:cNvSpPr/>
          <p:nvPr>
            <p:ph type="title"/>
          </p:nvPr>
        </p:nvSpPr>
        <p:spPr>
          <a:xfrm>
            <a:off x="812800" y="10007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Сохраняет ли генерик порядок на типах?</a:t>
            </a:r>
            <a:endParaRPr lang="en-US" sz="3000" dirty="0"/>
          </a:p>
        </p:txBody>
      </p:sp>
      <p:sp>
        <p:nvSpPr>
          <p:cNvPr id="4" name="Text 2"/>
          <p:cNvSpPr/>
          <p:nvPr/>
        </p:nvSpPr>
        <p:spPr>
          <a:xfrm>
            <a:off x="812800" y="1673858"/>
            <a:ext cx="10883392" cy="454660"/>
          </a:xfrm>
          <a:prstGeom prst="rect">
            <a:avLst/>
          </a:prstGeom>
          <a:noFill/>
          <a:ln/>
        </p:spPr>
        <p:txBody>
          <a:bodyPr wrap="square" lIns="0" tIns="0" rIns="0" bIns="0" rtlCol="0" anchor="t">
            <a:normAutofit/>
          </a:bodyPr>
          <a:lstStyle/>
          <a:p>
            <a:pPr algn="l" indent="0" marL="0">
              <a:lnSpc>
                <a:spcPts val="3380"/>
              </a:lnSpc>
              <a:buNone/>
            </a:pPr>
            <a:r>
              <a:rPr lang="en-US" sz="2600" dirty="0">
                <a:solidFill>
                  <a:srgbClr val="1E7D3A"/>
                </a:solidFill>
                <a:latin typeface="JetBrains Mono" pitchFamily="49" charset="0"/>
                <a:ea typeface="JetBrains Mono" pitchFamily="49" charset="-122"/>
                <a:cs typeface="JetBrains Mono" pitchFamily="49" charset="-120"/>
              </a:rPr>
              <a:t>Cat ≤ Animal ⇒ G&lt;Cat&gt; ? G&lt;Animal&gt;</a:t>
            </a:r>
            <a:endParaRPr lang="en-US" sz="2600" dirty="0"/>
          </a:p>
        </p:txBody>
      </p:sp>
      <p:sp>
        <p:nvSpPr>
          <p:cNvPr id="5" name="Shape 3"/>
          <p:cNvSpPr/>
          <p:nvPr/>
        </p:nvSpPr>
        <p:spPr>
          <a:xfrm>
            <a:off x="815975" y="2360302"/>
            <a:ext cx="3414157" cy="1726565"/>
          </a:xfrm>
          <a:prstGeom prst="roundRect">
            <a:avLst>
              <a:gd name="adj" fmla="val 5701"/>
            </a:avLst>
          </a:prstGeom>
          <a:solidFill>
            <a:srgbClr val="ECEFF3"/>
          </a:solidFill>
          <a:ln w="6350">
            <a:solidFill>
              <a:srgbClr val="ECEFF3"/>
            </a:solidFill>
            <a:prstDash val="solid"/>
          </a:ln>
        </p:spPr>
      </p:sp>
      <p:sp>
        <p:nvSpPr>
          <p:cNvPr id="6" name="Text 4"/>
          <p:cNvSpPr/>
          <p:nvPr/>
        </p:nvSpPr>
        <p:spPr>
          <a:xfrm>
            <a:off x="1021080" y="2565400"/>
            <a:ext cx="309406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Ковариантность</a:t>
            </a:r>
            <a:endParaRPr lang="en-US" sz="1700" dirty="0"/>
          </a:p>
        </p:txBody>
      </p:sp>
      <p:sp>
        <p:nvSpPr>
          <p:cNvPr id="7" name="Text 5"/>
          <p:cNvSpPr/>
          <p:nvPr/>
        </p:nvSpPr>
        <p:spPr>
          <a:xfrm>
            <a:off x="1021080" y="2900685"/>
            <a:ext cx="3094065"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E7D3A"/>
                </a:solidFill>
                <a:latin typeface="JetBrains Mono" pitchFamily="49" charset="0"/>
                <a:ea typeface="JetBrains Mono" pitchFamily="49" charset="-122"/>
                <a:cs typeface="JetBrains Mono" pitchFamily="49" charset="-120"/>
              </a:rPr>
              <a:t>G&lt;Cat&gt; ≤ G&lt;Animal&gt;</a:t>
            </a:r>
            <a:endParaRPr lang="en-US" sz="1500" dirty="0"/>
          </a:p>
        </p:txBody>
      </p:sp>
      <p:sp>
        <p:nvSpPr>
          <p:cNvPr id="8" name="Text 6"/>
          <p:cNvSpPr/>
          <p:nvPr/>
        </p:nvSpPr>
        <p:spPr>
          <a:xfrm>
            <a:off x="1021080" y="3253110"/>
            <a:ext cx="3094065"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Порядок сохраняется</a:t>
            </a:r>
            <a:endParaRPr lang="en-US" sz="1500" dirty="0"/>
          </a:p>
        </p:txBody>
      </p:sp>
      <p:sp>
        <p:nvSpPr>
          <p:cNvPr id="9" name="Text 7"/>
          <p:cNvSpPr/>
          <p:nvPr/>
        </p:nvSpPr>
        <p:spPr>
          <a:xfrm>
            <a:off x="1021080" y="3605535"/>
            <a:ext cx="3094065"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IEnumerable&lt;T&gt;, Func&lt;TResult&gt;</a:t>
            </a:r>
            <a:endParaRPr lang="en-US" sz="1500" dirty="0"/>
          </a:p>
        </p:txBody>
      </p:sp>
      <p:sp>
        <p:nvSpPr>
          <p:cNvPr id="10" name="Shape 8"/>
          <p:cNvSpPr/>
          <p:nvPr/>
        </p:nvSpPr>
        <p:spPr>
          <a:xfrm>
            <a:off x="4388882" y="2360302"/>
            <a:ext cx="3414236" cy="1726565"/>
          </a:xfrm>
          <a:prstGeom prst="roundRect">
            <a:avLst>
              <a:gd name="adj" fmla="val 5701"/>
            </a:avLst>
          </a:prstGeom>
          <a:solidFill>
            <a:srgbClr val="ECEFF3"/>
          </a:solidFill>
          <a:ln w="6350">
            <a:solidFill>
              <a:srgbClr val="ECEFF3"/>
            </a:solidFill>
            <a:prstDash val="solid"/>
          </a:ln>
        </p:spPr>
      </p:sp>
      <p:sp>
        <p:nvSpPr>
          <p:cNvPr id="11" name="Text 9"/>
          <p:cNvSpPr/>
          <p:nvPr/>
        </p:nvSpPr>
        <p:spPr>
          <a:xfrm>
            <a:off x="4593987" y="2565400"/>
            <a:ext cx="309414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Контравариантность</a:t>
            </a:r>
            <a:endParaRPr lang="en-US" sz="1700" dirty="0"/>
          </a:p>
        </p:txBody>
      </p:sp>
      <p:sp>
        <p:nvSpPr>
          <p:cNvPr id="12" name="Text 10"/>
          <p:cNvSpPr/>
          <p:nvPr/>
        </p:nvSpPr>
        <p:spPr>
          <a:xfrm>
            <a:off x="4593987" y="2900685"/>
            <a:ext cx="3094147"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E7D3A"/>
                </a:solidFill>
                <a:latin typeface="JetBrains Mono" pitchFamily="49" charset="0"/>
                <a:ea typeface="JetBrains Mono" pitchFamily="49" charset="-122"/>
                <a:cs typeface="JetBrains Mono" pitchFamily="49" charset="-120"/>
              </a:rPr>
              <a:t>G&lt;Animal&gt; ≤ G&lt;Cat&gt;</a:t>
            </a:r>
            <a:endParaRPr lang="en-US" sz="1500" dirty="0"/>
          </a:p>
        </p:txBody>
      </p:sp>
      <p:sp>
        <p:nvSpPr>
          <p:cNvPr id="13" name="Text 11"/>
          <p:cNvSpPr/>
          <p:nvPr/>
        </p:nvSpPr>
        <p:spPr>
          <a:xfrm>
            <a:off x="4593987" y="3253110"/>
            <a:ext cx="3094147"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Порядок переворачивается</a:t>
            </a:r>
            <a:endParaRPr lang="en-US" sz="1500" dirty="0"/>
          </a:p>
        </p:txBody>
      </p:sp>
      <p:sp>
        <p:nvSpPr>
          <p:cNvPr id="14" name="Text 12"/>
          <p:cNvSpPr/>
          <p:nvPr/>
        </p:nvSpPr>
        <p:spPr>
          <a:xfrm>
            <a:off x="4593987" y="3605535"/>
            <a:ext cx="3094147"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IComparer&lt;T&gt;, Action&lt;T&gt;</a:t>
            </a:r>
            <a:endParaRPr lang="en-US" sz="1500" dirty="0"/>
          </a:p>
        </p:txBody>
      </p:sp>
      <p:sp>
        <p:nvSpPr>
          <p:cNvPr id="15" name="Shape 13"/>
          <p:cNvSpPr/>
          <p:nvPr/>
        </p:nvSpPr>
        <p:spPr>
          <a:xfrm>
            <a:off x="7961868" y="2360302"/>
            <a:ext cx="3414157" cy="1726565"/>
          </a:xfrm>
          <a:prstGeom prst="roundRect">
            <a:avLst>
              <a:gd name="adj" fmla="val 5701"/>
            </a:avLst>
          </a:prstGeom>
          <a:solidFill>
            <a:srgbClr val="ECEFF3"/>
          </a:solidFill>
          <a:ln w="6350">
            <a:solidFill>
              <a:srgbClr val="ECEFF3"/>
            </a:solidFill>
            <a:prstDash val="solid"/>
          </a:ln>
        </p:spPr>
      </p:sp>
      <p:sp>
        <p:nvSpPr>
          <p:cNvPr id="16" name="Text 14"/>
          <p:cNvSpPr/>
          <p:nvPr/>
        </p:nvSpPr>
        <p:spPr>
          <a:xfrm>
            <a:off x="8166974" y="2565400"/>
            <a:ext cx="309406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Инвариантность</a:t>
            </a:r>
            <a:endParaRPr lang="en-US" sz="1700" dirty="0"/>
          </a:p>
        </p:txBody>
      </p:sp>
      <p:sp>
        <p:nvSpPr>
          <p:cNvPr id="17" name="Text 15"/>
          <p:cNvSpPr/>
          <p:nvPr/>
        </p:nvSpPr>
        <p:spPr>
          <a:xfrm>
            <a:off x="8166974" y="2900685"/>
            <a:ext cx="3094065"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E7D3A"/>
                </a:solidFill>
                <a:latin typeface="JetBrains Mono" pitchFamily="49" charset="0"/>
                <a:ea typeface="JetBrains Mono" pitchFamily="49" charset="-122"/>
                <a:cs typeface="JetBrains Mono" pitchFamily="49" charset="-120"/>
              </a:rPr>
              <a:t>G&lt;Cat&gt; и G&lt;Animal&gt;</a:t>
            </a:r>
            <a:endParaRPr lang="en-US" sz="1500" dirty="0"/>
          </a:p>
        </p:txBody>
      </p:sp>
      <p:sp>
        <p:nvSpPr>
          <p:cNvPr id="18" name="Text 16"/>
          <p:cNvSpPr/>
          <p:nvPr/>
        </p:nvSpPr>
        <p:spPr>
          <a:xfrm>
            <a:off x="8166974" y="3253110"/>
            <a:ext cx="3094065"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Никак не связаны</a:t>
            </a:r>
            <a:endParaRPr lang="en-US" sz="1500" dirty="0"/>
          </a:p>
        </p:txBody>
      </p:sp>
      <p:sp>
        <p:nvSpPr>
          <p:cNvPr id="19" name="Text 17"/>
          <p:cNvSpPr/>
          <p:nvPr/>
        </p:nvSpPr>
        <p:spPr>
          <a:xfrm>
            <a:off x="8166974" y="3605535"/>
            <a:ext cx="3094065"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List&lt;T&gt;</a:t>
            </a:r>
            <a:endParaRPr lang="en-US" sz="1500" dirty="0"/>
          </a:p>
        </p:txBody>
      </p:sp>
      <p:sp>
        <p:nvSpPr>
          <p:cNvPr id="20" name="Text 18"/>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ВАРИАНТНОСТЬ</a:t>
            </a:r>
            <a:endParaRPr lang="en-US" sz="1200" dirty="0"/>
          </a:p>
        </p:txBody>
      </p:sp>
      <p:sp>
        <p:nvSpPr>
          <p:cNvPr id="3" name="Text 1"/>
          <p:cNvSpPr/>
          <p:nvPr>
            <p:ph type="title"/>
          </p:nvPr>
        </p:nvSpPr>
        <p:spPr>
          <a:xfrm>
            <a:off x="812800" y="10007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Почему List&lt;Cat&gt; не является List&lt;Animal&gt;</a:t>
            </a:r>
            <a:endParaRPr lang="en-US" sz="3000" dirty="0"/>
          </a:p>
        </p:txBody>
      </p:sp>
      <p:sp>
        <p:nvSpPr>
          <p:cNvPr id="4" name="Text 2"/>
          <p:cNvSpPr/>
          <p:nvPr/>
        </p:nvSpPr>
        <p:spPr>
          <a:xfrm>
            <a:off x="812800" y="1623058"/>
            <a:ext cx="10566400" cy="1981200"/>
          </a:xfrm>
          <a:prstGeom prst="roundRect">
            <a:avLst>
              <a:gd name="adj" fmla="val 5128"/>
            </a:avLst>
          </a:prstGeom>
          <a:solidFill>
            <a:srgbClr val="EEF1F5"/>
          </a:solidFill>
          <a:ln/>
        </p:spPr>
        <p:txBody>
          <a:bodyPr wrap="none" lIns="249642" tIns="198842" rIns="0" bIns="173442" rtlCol="0" anchor="t">
            <a:normAutofit/>
          </a:bodyPr>
          <a:lstStyle/>
          <a:p>
            <a:pPr algn="l" indent="0" marL="0">
              <a:lnSpc>
                <a:spcPts val="2400"/>
              </a:lnSpc>
              <a:buNone/>
            </a:pPr>
            <a:r>
              <a:rPr lang="en-US" sz="1600" dirty="0">
                <a:solidFill>
                  <a:srgbClr val="1B2433"/>
                </a:solidFill>
                <a:latin typeface="JetBrains Mono" pitchFamily="49" charset="0"/>
                <a:ea typeface="JetBrains Mono" pitchFamily="49" charset="-122"/>
                <a:cs typeface="JetBrains Mono" pitchFamily="49" charset="-120"/>
              </a:rPr>
              <a:t>List&lt;Cat&gt; cats = new() { new Cat() };</a:t>
            </a:r>
            <a:endParaRPr lang="en-US" sz="1600" dirty="0"/>
          </a:p>
          <a:p>
            <a:pPr algn="l" indent="0" marL="0">
              <a:lnSpc>
                <a:spcPts val="2400"/>
              </a:lnSpc>
              <a:buNone/>
            </a:pPr>
            <a:r>
              <a:rPr lang="en-US" sz="1600" dirty="0">
                <a:solidFill>
                  <a:srgbClr val="1B2433"/>
                </a:solidFill>
                <a:latin typeface="JetBrains Mono" pitchFamily="49" charset="0"/>
                <a:ea typeface="JetBrains Mono" pitchFamily="49" charset="-122"/>
                <a:cs typeface="JetBrains Mono" pitchFamily="49" charset="-120"/>
              </a:rPr>
              <a:t>List&lt;Animal&gt; animals = cats;  </a:t>
            </a:r>
            <a:r>
              <a:rPr lang="en-US" sz="1600" dirty="0">
                <a:solidFill>
                  <a:srgbClr val="5F6B7A"/>
                </a:solidFill>
                <a:latin typeface="JetBrains Mono" pitchFamily="49" charset="0"/>
                <a:ea typeface="JetBrains Mono" pitchFamily="49" charset="-122"/>
                <a:cs typeface="JetBrains Mono" pitchFamily="49" charset="-120"/>
              </a:rPr>
              <a:t>// допустим, компилятор разрешил</a:t>
            </a:r>
            <a:endParaRPr lang="en-US" sz="1600" dirty="0"/>
          </a:p>
          <a:p>
            <a:pPr algn="l" indent="0" marL="0">
              <a:lnSpc>
                <a:spcPts val="2400"/>
              </a:lnSpc>
              <a:buNone/>
            </a:pPr>
            <a:endParaRPr lang="en-US" sz="1600" dirty="0"/>
          </a:p>
          <a:p>
            <a:pPr algn="l" indent="0" marL="0">
              <a:lnSpc>
                <a:spcPts val="2400"/>
              </a:lnSpc>
              <a:buNone/>
            </a:pPr>
            <a:r>
              <a:rPr lang="en-US" sz="1600" dirty="0">
                <a:solidFill>
                  <a:srgbClr val="1B2433"/>
                </a:solidFill>
                <a:latin typeface="JetBrains Mono" pitchFamily="49" charset="0"/>
                <a:ea typeface="JetBrains Mono" pitchFamily="49" charset="-122"/>
                <a:cs typeface="JetBrains Mono" pitchFamily="49" charset="-120"/>
              </a:rPr>
              <a:t>animals.Add(new Dog());  </a:t>
            </a:r>
            <a:r>
              <a:rPr lang="en-US" sz="1600" dirty="0">
                <a:solidFill>
                  <a:srgbClr val="5F6B7A"/>
                </a:solidFill>
                <a:latin typeface="JetBrains Mono" pitchFamily="49" charset="0"/>
                <a:ea typeface="JetBrains Mono" pitchFamily="49" charset="-122"/>
                <a:cs typeface="JetBrains Mono" pitchFamily="49" charset="-120"/>
              </a:rPr>
              <a:t>// собака - тоже животное</a:t>
            </a:r>
            <a:endParaRPr lang="en-US" sz="1600" dirty="0"/>
          </a:p>
          <a:p>
            <a:pPr algn="l" indent="0" marL="0">
              <a:lnSpc>
                <a:spcPts val="2400"/>
              </a:lnSpc>
              <a:buNone/>
            </a:pPr>
            <a:r>
              <a:rPr lang="en-US" sz="1600" dirty="0">
                <a:solidFill>
                  <a:srgbClr val="1B2433"/>
                </a:solidFill>
                <a:latin typeface="JetBrains Mono" pitchFamily="49" charset="0"/>
                <a:ea typeface="JetBrains Mono" pitchFamily="49" charset="-122"/>
                <a:cs typeface="JetBrains Mono" pitchFamily="49" charset="-120"/>
              </a:rPr>
              <a:t>Cat cat = cats[1];  </a:t>
            </a:r>
            <a:r>
              <a:rPr lang="en-US" sz="1600" dirty="0">
                <a:solidFill>
                  <a:srgbClr val="B4541A"/>
                </a:solidFill>
                <a:latin typeface="JetBrains Mono" pitchFamily="49" charset="0"/>
                <a:ea typeface="JetBrains Mono" pitchFamily="49" charset="-122"/>
                <a:cs typeface="JetBrains Mono" pitchFamily="49" charset="-120"/>
              </a:rPr>
              <a:t>// в списке кошек оказалась собака</a:t>
            </a:r>
            <a:endParaRPr lang="en-US" sz="1600" dirty="0"/>
          </a:p>
        </p:txBody>
      </p:sp>
      <p:sp>
        <p:nvSpPr>
          <p:cNvPr id="5" name="Shape 3"/>
          <p:cNvSpPr/>
          <p:nvPr/>
        </p:nvSpPr>
        <p:spPr>
          <a:xfrm>
            <a:off x="815975" y="3810633"/>
            <a:ext cx="3414157" cy="1561465"/>
          </a:xfrm>
          <a:prstGeom prst="roundRect">
            <a:avLst>
              <a:gd name="adj" fmla="val 6303"/>
            </a:avLst>
          </a:prstGeom>
          <a:solidFill>
            <a:srgbClr val="ECEFF3"/>
          </a:solidFill>
          <a:ln w="6350">
            <a:solidFill>
              <a:srgbClr val="ECEFF3"/>
            </a:solidFill>
            <a:prstDash val="solid"/>
          </a:ln>
        </p:spPr>
      </p:sp>
      <p:sp>
        <p:nvSpPr>
          <p:cNvPr id="6" name="Text 4"/>
          <p:cNvSpPr/>
          <p:nvPr/>
        </p:nvSpPr>
        <p:spPr>
          <a:xfrm>
            <a:off x="1021080" y="4015742"/>
            <a:ext cx="309406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Чтение безопасно</a:t>
            </a:r>
            <a:endParaRPr lang="en-US" sz="1700" dirty="0"/>
          </a:p>
        </p:txBody>
      </p:sp>
      <p:sp>
        <p:nvSpPr>
          <p:cNvPr id="7" name="Text 5"/>
          <p:cNvSpPr/>
          <p:nvPr/>
        </p:nvSpPr>
        <p:spPr>
          <a:xfrm>
            <a:off x="1021080" y="4338327"/>
            <a:ext cx="3094065"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Извлечённая кошка является животным: для чтения нужна ковариантность</a:t>
            </a:r>
            <a:endParaRPr lang="en-US" sz="1500" dirty="0"/>
          </a:p>
        </p:txBody>
      </p:sp>
      <p:sp>
        <p:nvSpPr>
          <p:cNvPr id="8" name="Shape 6"/>
          <p:cNvSpPr/>
          <p:nvPr/>
        </p:nvSpPr>
        <p:spPr>
          <a:xfrm>
            <a:off x="4388882" y="3810633"/>
            <a:ext cx="3414236" cy="1561465"/>
          </a:xfrm>
          <a:prstGeom prst="roundRect">
            <a:avLst>
              <a:gd name="adj" fmla="val 6303"/>
            </a:avLst>
          </a:prstGeom>
          <a:solidFill>
            <a:srgbClr val="ECEFF3"/>
          </a:solidFill>
          <a:ln w="6350">
            <a:solidFill>
              <a:srgbClr val="ECEFF3"/>
            </a:solidFill>
            <a:prstDash val="solid"/>
          </a:ln>
        </p:spPr>
      </p:sp>
      <p:sp>
        <p:nvSpPr>
          <p:cNvPr id="9" name="Text 7"/>
          <p:cNvSpPr/>
          <p:nvPr/>
        </p:nvSpPr>
        <p:spPr>
          <a:xfrm>
            <a:off x="4593987" y="4015742"/>
            <a:ext cx="309414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Запись небезопасна</a:t>
            </a:r>
            <a:endParaRPr lang="en-US" sz="1700" dirty="0"/>
          </a:p>
        </p:txBody>
      </p:sp>
      <p:sp>
        <p:nvSpPr>
          <p:cNvPr id="10" name="Text 8"/>
          <p:cNvSpPr/>
          <p:nvPr/>
        </p:nvSpPr>
        <p:spPr>
          <a:xfrm>
            <a:off x="4593987" y="4338327"/>
            <a:ext cx="3094147"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В список кошек попадает собака: для записи нужна контравариантность</a:t>
            </a:r>
            <a:endParaRPr lang="en-US" sz="1500" dirty="0"/>
          </a:p>
        </p:txBody>
      </p:sp>
      <p:sp>
        <p:nvSpPr>
          <p:cNvPr id="11" name="Shape 9"/>
          <p:cNvSpPr/>
          <p:nvPr/>
        </p:nvSpPr>
        <p:spPr>
          <a:xfrm>
            <a:off x="7961868" y="3810633"/>
            <a:ext cx="3414157" cy="1561465"/>
          </a:xfrm>
          <a:prstGeom prst="roundRect">
            <a:avLst>
              <a:gd name="adj" fmla="val 6303"/>
            </a:avLst>
          </a:prstGeom>
          <a:solidFill>
            <a:srgbClr val="E3F1E7"/>
          </a:solidFill>
          <a:ln w="6350">
            <a:solidFill>
              <a:srgbClr val="1E7D3A"/>
            </a:solidFill>
            <a:prstDash val="solid"/>
          </a:ln>
        </p:spPr>
      </p:sp>
      <p:sp>
        <p:nvSpPr>
          <p:cNvPr id="12" name="Text 10"/>
          <p:cNvSpPr/>
          <p:nvPr/>
        </p:nvSpPr>
        <p:spPr>
          <a:xfrm>
            <a:off x="8166974" y="4015742"/>
            <a:ext cx="309406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Чтение и запись</a:t>
            </a:r>
            <a:endParaRPr lang="en-US" sz="1700" dirty="0"/>
          </a:p>
        </p:txBody>
      </p:sp>
      <p:sp>
        <p:nvSpPr>
          <p:cNvPr id="13" name="Text 11"/>
          <p:cNvSpPr/>
          <p:nvPr/>
        </p:nvSpPr>
        <p:spPr>
          <a:xfrm>
            <a:off x="8166974" y="4338327"/>
            <a:ext cx="3094065"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Допустима только инвариантность</a:t>
            </a:r>
            <a:endParaRPr lang="en-US" sz="1500" dirty="0"/>
          </a:p>
        </p:txBody>
      </p:sp>
      <p:sp>
        <p:nvSpPr>
          <p:cNvPr id="14" name="Text 12"/>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ВАРИАНТНОСТЬ</a:t>
            </a:r>
            <a:endParaRPr lang="en-US" sz="1200" dirty="0"/>
          </a:p>
        </p:txBody>
      </p:sp>
      <p:sp>
        <p:nvSpPr>
          <p:cNvPr id="3" name="Text 1"/>
          <p:cNvSpPr/>
          <p:nvPr>
            <p:ph type="title"/>
          </p:nvPr>
        </p:nvSpPr>
        <p:spPr>
          <a:xfrm>
            <a:off x="812800" y="10007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PECS: Producer Extends, Consumer Super</a:t>
            </a:r>
            <a:endParaRPr lang="en-US" sz="3000" dirty="0"/>
          </a:p>
        </p:txBody>
      </p:sp>
      <p:sp>
        <p:nvSpPr>
          <p:cNvPr id="4" name="Shape 2"/>
          <p:cNvSpPr/>
          <p:nvPr/>
        </p:nvSpPr>
        <p:spPr>
          <a:xfrm>
            <a:off x="812800" y="1673858"/>
            <a:ext cx="5181600" cy="3830320"/>
          </a:xfrm>
          <a:prstGeom prst="roundRect">
            <a:avLst>
              <a:gd name="adj" fmla="val 2653"/>
            </a:avLst>
          </a:prstGeom>
          <a:solidFill>
            <a:srgbClr val="ECEFF3"/>
          </a:solidFill>
          <a:ln/>
        </p:spPr>
      </p:sp>
      <p:sp>
        <p:nvSpPr>
          <p:cNvPr id="5" name="Shape 3"/>
          <p:cNvSpPr/>
          <p:nvPr/>
        </p:nvSpPr>
        <p:spPr>
          <a:xfrm>
            <a:off x="812800" y="1673858"/>
            <a:ext cx="5181600" cy="3830320"/>
          </a:xfrm>
          <a:custGeom>
            <a:avLst/>
            <a:gdLst/>
            <a:ahLst/>
            <a:cxnLst/>
            <a:rect l="l" t="t" r="r" b="b"/>
            <a:pathLst>
              <a:path w="5181600" h="3830320">
                <a:moveTo>
                  <a:pt x="101600" y="3830320"/>
                </a:moveTo>
                <a:lnTo>
                  <a:pt x="101600" y="3830320"/>
                </a:lnTo>
                <a:arcTo hR="101600" wR="101600" stAng="5400000" swAng="5400000"/>
                <a:lnTo>
                  <a:pt x="0" y="101600"/>
                </a:lnTo>
                <a:arcTo hR="101600" wR="101600" stAng="10800000" swAng="5400000"/>
                <a:lnTo>
                  <a:pt x="101600" y="0"/>
                </a:lnTo>
                <a:arcTo hR="101600" wR="63500" stAng="16200000" swAng="-5400000"/>
                <a:lnTo>
                  <a:pt x="38100" y="3728720"/>
                </a:lnTo>
                <a:arcTo hR="101600" wR="63500" stAng="10800000" swAng="-5400000"/>
                <a:close/>
              </a:path>
            </a:pathLst>
          </a:custGeom>
          <a:solidFill>
            <a:srgbClr val="1E7D3A"/>
          </a:solidFill>
          <a:ln/>
        </p:spPr>
      </p:sp>
      <p:sp>
        <p:nvSpPr>
          <p:cNvPr id="6" name="Text 4"/>
          <p:cNvSpPr/>
          <p:nvPr/>
        </p:nvSpPr>
        <p:spPr>
          <a:xfrm>
            <a:off x="1102360" y="1927858"/>
            <a:ext cx="477718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7D3A"/>
                </a:solidFill>
                <a:latin typeface="IBM Plex Sans" pitchFamily="34" charset="0"/>
                <a:ea typeface="IBM Plex Sans" pitchFamily="34" charset="-122"/>
                <a:cs typeface="IBM Plex Sans" pitchFamily="34" charset="-120"/>
              </a:rPr>
              <a:t>Producer</a:t>
            </a:r>
            <a:endParaRPr lang="en-US" sz="2200" dirty="0"/>
          </a:p>
        </p:txBody>
      </p:sp>
      <p:sp>
        <p:nvSpPr>
          <p:cNvPr id="7" name="Text 5"/>
          <p:cNvSpPr/>
          <p:nvPr/>
        </p:nvSpPr>
        <p:spPr>
          <a:xfrm>
            <a:off x="1102360" y="2364742"/>
            <a:ext cx="4777181"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Объект </a:t>
            </a:r>
            <a:r>
              <a:rPr lang="en-US" sz="1600" b="1" dirty="0">
                <a:solidFill>
                  <a:srgbClr val="4A5568"/>
                </a:solidFill>
                <a:latin typeface="IBM Plex Sans" pitchFamily="34" charset="0"/>
                <a:ea typeface="IBM Plex Sans" pitchFamily="34" charset="-122"/>
                <a:cs typeface="IBM Plex Sans" pitchFamily="34" charset="-120"/>
              </a:rPr>
              <a:t>возвращает</a:t>
            </a:r>
            <a:r>
              <a:rPr lang="en-US" sz="1600" dirty="0">
                <a:solidFill>
                  <a:srgbClr val="4A5568"/>
                </a:solidFill>
                <a:latin typeface="IBM Plex Sans" pitchFamily="34" charset="0"/>
                <a:ea typeface="IBM Plex Sans" pitchFamily="34" charset="-122"/>
                <a:cs typeface="IBM Plex Sans" pitchFamily="34" charset="-120"/>
              </a:rPr>
              <a:t> значения типа T, из него только читают</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112520" y="3065787"/>
          <a:ext cx="4627880" cy="2184400"/>
        </p:xfrm>
        <a:graphic>
          <a:graphicData uri="http://schemas.openxmlformats.org/drawingml/2006/table">
            <a:tbl>
              <a:tblPr/>
              <a:tblGrid>
                <a:gridCol w="2082546"/>
                <a:gridCol w="2545334"/>
              </a:tblGrid>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Java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 extends 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C#, Kotlin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out 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Операция</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Чтение</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Вариантность</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Ковариантность</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Пример</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IEnumerable&lt;out T&gt;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bl>
          </a:graphicData>
        </a:graphic>
      </p:graphicFrame>
      <p:sp>
        <p:nvSpPr>
          <p:cNvPr id="9" name="Shape 6"/>
          <p:cNvSpPr/>
          <p:nvPr/>
        </p:nvSpPr>
        <p:spPr>
          <a:xfrm>
            <a:off x="6197600" y="1673858"/>
            <a:ext cx="5181600" cy="3830320"/>
          </a:xfrm>
          <a:prstGeom prst="roundRect">
            <a:avLst>
              <a:gd name="adj" fmla="val 2653"/>
            </a:avLst>
          </a:prstGeom>
          <a:solidFill>
            <a:srgbClr val="ECEFF3"/>
          </a:solidFill>
          <a:ln/>
        </p:spPr>
      </p:sp>
      <p:sp>
        <p:nvSpPr>
          <p:cNvPr id="10" name="Shape 7"/>
          <p:cNvSpPr/>
          <p:nvPr/>
        </p:nvSpPr>
        <p:spPr>
          <a:xfrm>
            <a:off x="6197600" y="1673858"/>
            <a:ext cx="5181600" cy="3830320"/>
          </a:xfrm>
          <a:custGeom>
            <a:avLst/>
            <a:gdLst/>
            <a:ahLst/>
            <a:cxnLst/>
            <a:rect l="l" t="t" r="r" b="b"/>
            <a:pathLst>
              <a:path w="5181600" h="3830320">
                <a:moveTo>
                  <a:pt x="101600" y="3830320"/>
                </a:moveTo>
                <a:lnTo>
                  <a:pt x="101600" y="3830320"/>
                </a:lnTo>
                <a:arcTo hR="101600" wR="101600" stAng="5400000" swAng="5400000"/>
                <a:lnTo>
                  <a:pt x="0" y="101600"/>
                </a:lnTo>
                <a:arcTo hR="101600" wR="101600" stAng="10800000" swAng="5400000"/>
                <a:lnTo>
                  <a:pt x="101600" y="0"/>
                </a:lnTo>
                <a:arcTo hR="101600" wR="63500" stAng="16200000" swAng="-5400000"/>
                <a:lnTo>
                  <a:pt x="38100" y="3728720"/>
                </a:lnTo>
                <a:arcTo hR="101600" wR="63500" stAng="10800000" swAng="-5400000"/>
                <a:close/>
              </a:path>
            </a:pathLst>
          </a:custGeom>
          <a:solidFill>
            <a:srgbClr val="2456B8"/>
          </a:solidFill>
          <a:ln/>
        </p:spPr>
      </p:sp>
      <p:sp>
        <p:nvSpPr>
          <p:cNvPr id="11" name="Text 8"/>
          <p:cNvSpPr/>
          <p:nvPr/>
        </p:nvSpPr>
        <p:spPr>
          <a:xfrm>
            <a:off x="6487160" y="1927858"/>
            <a:ext cx="4777181"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456B8"/>
                </a:solidFill>
                <a:latin typeface="IBM Plex Sans" pitchFamily="34" charset="0"/>
                <a:ea typeface="IBM Plex Sans" pitchFamily="34" charset="-122"/>
                <a:cs typeface="IBM Plex Sans" pitchFamily="34" charset="-120"/>
              </a:rPr>
              <a:t>Consumer</a:t>
            </a:r>
            <a:endParaRPr lang="en-US" sz="2200" dirty="0"/>
          </a:p>
        </p:txBody>
      </p:sp>
      <p:sp>
        <p:nvSpPr>
          <p:cNvPr id="12" name="Text 9"/>
          <p:cNvSpPr/>
          <p:nvPr/>
        </p:nvSpPr>
        <p:spPr>
          <a:xfrm>
            <a:off x="6487160" y="2364742"/>
            <a:ext cx="4777181"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Объект </a:t>
            </a:r>
            <a:r>
              <a:rPr lang="en-US" sz="1600" b="1" dirty="0">
                <a:solidFill>
                  <a:srgbClr val="4A5568"/>
                </a:solidFill>
                <a:latin typeface="IBM Plex Sans" pitchFamily="34" charset="0"/>
                <a:ea typeface="IBM Plex Sans" pitchFamily="34" charset="-122"/>
                <a:cs typeface="IBM Plex Sans" pitchFamily="34" charset="-120"/>
              </a:rPr>
              <a:t>принимает</a:t>
            </a:r>
            <a:r>
              <a:rPr lang="en-US" sz="1600" dirty="0">
                <a:solidFill>
                  <a:srgbClr val="4A5568"/>
                </a:solidFill>
                <a:latin typeface="IBM Plex Sans" pitchFamily="34" charset="0"/>
                <a:ea typeface="IBM Plex Sans" pitchFamily="34" charset="-122"/>
                <a:cs typeface="IBM Plex Sans" pitchFamily="34" charset="-120"/>
              </a:rPr>
              <a:t> значения типа T, в него только записывают</a:t>
            </a:r>
            <a:endParaRPr lang="en-US" sz="16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497320" y="3065787"/>
          <a:ext cx="4627880" cy="2184400"/>
        </p:xfrm>
        <a:graphic>
          <a:graphicData uri="http://schemas.openxmlformats.org/drawingml/2006/table">
            <a:tbl>
              <a:tblPr/>
              <a:tblGrid>
                <a:gridCol w="2082546"/>
                <a:gridCol w="2545334"/>
              </a:tblGrid>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Java</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 super 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C#, Kotlin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in 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Операция</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Запись</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Вариантность</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Контравариантность</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36880">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Пример</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240"/>
                        </a:lnSpc>
                        <a:buNone/>
                      </a:pPr>
                      <a:r>
                        <a:rPr lang="en-US" sz="1600" dirty="0">
                          <a:solidFill>
                            <a:srgbClr val="14213D"/>
                          </a:solidFill>
                          <a:latin typeface="IBM Plex Sans" pitchFamily="34" charset="0"/>
                          <a:ea typeface="IBM Plex Sans" pitchFamily="34" charset="-122"/>
                          <a:cs typeface="IBM Plex Sans" pitchFamily="34" charset="-120"/>
                        </a:rPr>
                        <a:t>IComparer&lt;in T&gt;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bl>
          </a:graphicData>
        </a:graphic>
      </p:graphicFrame>
      <p:sp>
        <p:nvSpPr>
          <p:cNvPr id="14" name="Text 10"/>
          <p:cNvSpPr/>
          <p:nvPr/>
        </p:nvSpPr>
        <p:spPr>
          <a:xfrm>
            <a:off x="812800" y="6238242"/>
            <a:ext cx="96799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Правило Джошуа Блоха из книги «Effective Java». В C# и Kotlin оно выражено ключевыми словами out и in.</a:t>
            </a:r>
            <a:endParaRPr lang="en-US" sz="1200" dirty="0"/>
          </a:p>
        </p:txBody>
      </p:sp>
      <p:sp>
        <p:nvSpPr>
          <p:cNvPr id="15" name="Text 11"/>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ВАРИАНТНОСТЬ</a:t>
            </a:r>
            <a:endParaRPr lang="en-US" sz="1200" dirty="0"/>
          </a:p>
        </p:txBody>
      </p:sp>
      <p:sp>
        <p:nvSpPr>
          <p:cNvPr id="3" name="Text 1"/>
          <p:cNvSpPr/>
          <p:nvPr>
            <p:ph type="title"/>
          </p:nvPr>
        </p:nvSpPr>
        <p:spPr>
          <a:xfrm>
            <a:off x="812800" y="10007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Producer: ковариантность, out</a:t>
            </a:r>
            <a:endParaRPr lang="en-US" sz="3000" dirty="0"/>
          </a:p>
        </p:txBody>
      </p:sp>
      <p:sp>
        <p:nvSpPr>
          <p:cNvPr id="4" name="Text 2"/>
          <p:cNvSpPr/>
          <p:nvPr/>
        </p:nvSpPr>
        <p:spPr>
          <a:xfrm>
            <a:off x="812800" y="1623058"/>
            <a:ext cx="10566400" cy="2837180"/>
          </a:xfrm>
          <a:prstGeom prst="roundRect">
            <a:avLst>
              <a:gd name="adj" fmla="val 3581"/>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из стандартной библиотеки: T только читаем</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interface IEnumerable&lt;out T&gt; { IEnumerator&lt;T&gt; GetEnumerator();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void PrintAll(IEnumerable&lt;Animal&gt; animals)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foreach (var a in animals)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Console.WriteLine(a.Name);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List&lt;Cat&gt; cats = GetCats();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PrintAll(cats);  </a:t>
            </a:r>
            <a:r>
              <a:rPr lang="en-US" sz="1200" dirty="0">
                <a:solidFill>
                  <a:srgbClr val="1E7D3A"/>
                </a:solidFill>
                <a:latin typeface="JetBrains Mono" pitchFamily="49" charset="0"/>
                <a:ea typeface="JetBrains Mono" pitchFamily="49" charset="-122"/>
                <a:cs typeface="JetBrains Mono" pitchFamily="49" charset="-120"/>
              </a:rPr>
              <a:t>// компилируется</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шаг 1: List&lt;Cat&gt; → IEnumerable&lt;Cat&gt; - List реализует интерфейс, вариантность не нужна</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шаг 2: IEnumerable&lt;Cat&gt; → IEnumerable&lt;Animal&gt; - ковариантность, out T</a:t>
            </a:r>
            <a:endParaRPr lang="en-US" sz="1200" dirty="0"/>
          </a:p>
        </p:txBody>
      </p:sp>
      <p:sp>
        <p:nvSpPr>
          <p:cNvPr id="5" name="Text 3"/>
          <p:cNvSpPr/>
          <p:nvPr/>
        </p:nvSpPr>
        <p:spPr>
          <a:xfrm>
            <a:off x="812800" y="4663442"/>
            <a:ext cx="10566400" cy="581025"/>
          </a:xfrm>
          <a:prstGeom prst="roundRect">
            <a:avLst>
              <a:gd name="adj" fmla="val 17486"/>
            </a:avLst>
          </a:prstGeom>
          <a:solidFill>
            <a:srgbClr val="ECEFF3"/>
          </a:solidFill>
          <a:ln/>
        </p:spPr>
        <p:txBody>
          <a:bodyPr wrap="square" lIns="209002" tIns="122642" rIns="0" bIns="97242" rtlCol="0" anchor="t">
            <a:normAutofit/>
          </a:bodyPr>
          <a:lstStyle/>
          <a:p>
            <a:pPr algn="l" indent="0" marL="0">
              <a:lnSpc>
                <a:spcPts val="2175"/>
              </a:lnSpc>
              <a:buNone/>
            </a:pPr>
            <a:r>
              <a:rPr lang="en-US" sz="1500" b="1" dirty="0">
                <a:solidFill>
                  <a:srgbClr val="14213D"/>
                </a:solidFill>
                <a:latin typeface="IBM Plex Sans" pitchFamily="34" charset="0"/>
                <a:ea typeface="IBM Plex Sans" pitchFamily="34" charset="-122"/>
                <a:cs typeface="IBM Plex Sans" pitchFamily="34" charset="-120"/>
              </a:rPr>
              <a:t>Поведение задано в методе, мы под него подстраиваемся</a:t>
            </a:r>
            <a:endParaRPr lang="en-US" sz="1500" dirty="0"/>
          </a:p>
        </p:txBody>
      </p:sp>
      <p:sp>
        <p:nvSpPr>
          <p:cNvPr id="6" name="Shape 4"/>
          <p:cNvSpPr/>
          <p:nvPr/>
        </p:nvSpPr>
        <p:spPr>
          <a:xfrm>
            <a:off x="812800" y="4663442"/>
            <a:ext cx="10566400" cy="581025"/>
          </a:xfrm>
          <a:custGeom>
            <a:avLst/>
            <a:gdLst/>
            <a:ahLst/>
            <a:cxnLst/>
            <a:rect l="l" t="t" r="r" b="b"/>
            <a:pathLst>
              <a:path w="10566400" h="581025">
                <a:moveTo>
                  <a:pt x="101600" y="581025"/>
                </a:moveTo>
                <a:lnTo>
                  <a:pt x="101600" y="581025"/>
                </a:lnTo>
                <a:arcTo hR="101600" wR="101600" stAng="5400000" swAng="5400000"/>
                <a:lnTo>
                  <a:pt x="0" y="101600"/>
                </a:lnTo>
                <a:arcTo hR="101600" wR="101600" stAng="10800000" swAng="5400000"/>
                <a:lnTo>
                  <a:pt x="101600" y="0"/>
                </a:lnTo>
                <a:arcTo hR="101600" wR="63500" stAng="16200000" swAng="-5400000"/>
                <a:lnTo>
                  <a:pt x="38100" y="479425"/>
                </a:lnTo>
                <a:arcTo hR="101600" wR="63500" stAng="10800000" swAng="-5400000"/>
                <a:close/>
              </a:path>
            </a:pathLst>
          </a:custGeom>
          <a:solidFill>
            <a:srgbClr val="1E7D3A"/>
          </a:solidFill>
          <a:ln/>
        </p:spPr>
      </p:sp>
      <p:sp>
        <p:nvSpPr>
          <p:cNvPr id="7" name="Text 5"/>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ВАРИАНТНОСТЬ</a:t>
            </a:r>
            <a:endParaRPr lang="en-US" sz="1200" dirty="0"/>
          </a:p>
        </p:txBody>
      </p:sp>
      <p:sp>
        <p:nvSpPr>
          <p:cNvPr id="3" name="Text 1"/>
          <p:cNvSpPr/>
          <p:nvPr>
            <p:ph type="title"/>
          </p:nvPr>
        </p:nvSpPr>
        <p:spPr>
          <a:xfrm>
            <a:off x="812800" y="10007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Consumer: контравариантность, in</a:t>
            </a:r>
            <a:endParaRPr lang="en-US" sz="3000" dirty="0"/>
          </a:p>
        </p:txBody>
      </p:sp>
      <p:sp>
        <p:nvSpPr>
          <p:cNvPr id="4" name="Text 2"/>
          <p:cNvSpPr/>
          <p:nvPr/>
        </p:nvSpPr>
        <p:spPr>
          <a:xfrm>
            <a:off x="812800" y="1623058"/>
            <a:ext cx="10566400" cy="2616200"/>
          </a:xfrm>
          <a:prstGeom prst="roundRect">
            <a:avLst>
              <a:gd name="adj" fmla="val 3883"/>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из стандартной библиотеки: T только пишем</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interface IComparer&lt;in T&gt; { int Compare(T? x, T? y); }</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class ByWeight : IComparer&lt;Animal&gt;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public int Compare(Animal? x, Animal? y) =&gt; x!.Weight.CompareTo(y!.Weight);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List&lt;Cat&gt; cats = GetCats();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cats.Sort(new ByWeight());  </a:t>
            </a:r>
            <a:r>
              <a:rPr lang="en-US" sz="1200" dirty="0">
                <a:solidFill>
                  <a:srgbClr val="5F6B7A"/>
                </a:solidFill>
                <a:latin typeface="JetBrains Mono" pitchFamily="49" charset="0"/>
                <a:ea typeface="JetBrains Mono" pitchFamily="49" charset="-122"/>
                <a:cs typeface="JetBrains Mono" pitchFamily="49" charset="-120"/>
              </a:rPr>
              <a:t>// ожидается IComparer&lt;Cat&gt;, передан IComparer&lt;Animal&gt;</a:t>
            </a:r>
            <a:endParaRPr lang="en-US" sz="1200" dirty="0"/>
          </a:p>
        </p:txBody>
      </p:sp>
      <p:sp>
        <p:nvSpPr>
          <p:cNvPr id="5" name="Text 3"/>
          <p:cNvSpPr/>
          <p:nvPr/>
        </p:nvSpPr>
        <p:spPr>
          <a:xfrm>
            <a:off x="812800" y="4442458"/>
            <a:ext cx="10566400" cy="581025"/>
          </a:xfrm>
          <a:prstGeom prst="roundRect">
            <a:avLst>
              <a:gd name="adj" fmla="val 17486"/>
            </a:avLst>
          </a:prstGeom>
          <a:solidFill>
            <a:srgbClr val="ECEFF3"/>
          </a:solidFill>
          <a:ln/>
        </p:spPr>
        <p:txBody>
          <a:bodyPr wrap="square" lIns="209002" tIns="122642" rIns="0" bIns="97242" rtlCol="0" anchor="t">
            <a:normAutofit/>
          </a:bodyPr>
          <a:lstStyle/>
          <a:p>
            <a:pPr algn="l" indent="0" marL="0">
              <a:lnSpc>
                <a:spcPts val="2175"/>
              </a:lnSpc>
              <a:buNone/>
            </a:pPr>
            <a:r>
              <a:rPr lang="en-US" sz="1500" b="1" dirty="0">
                <a:solidFill>
                  <a:srgbClr val="14213D"/>
                </a:solidFill>
                <a:latin typeface="IBM Plex Sans" pitchFamily="34" charset="0"/>
                <a:ea typeface="IBM Plex Sans" pitchFamily="34" charset="-122"/>
                <a:cs typeface="IBM Plex Sans" pitchFamily="34" charset="-120"/>
              </a:rPr>
              <a:t>Поведение задаём мы сами, и важно задать его безопасно</a:t>
            </a:r>
            <a:endParaRPr lang="en-US" sz="1500" dirty="0"/>
          </a:p>
        </p:txBody>
      </p:sp>
      <p:sp>
        <p:nvSpPr>
          <p:cNvPr id="6" name="Shape 4"/>
          <p:cNvSpPr/>
          <p:nvPr/>
        </p:nvSpPr>
        <p:spPr>
          <a:xfrm>
            <a:off x="812800" y="4442458"/>
            <a:ext cx="10566400" cy="581025"/>
          </a:xfrm>
          <a:custGeom>
            <a:avLst/>
            <a:gdLst/>
            <a:ahLst/>
            <a:cxnLst/>
            <a:rect l="l" t="t" r="r" b="b"/>
            <a:pathLst>
              <a:path w="10566400" h="581025">
                <a:moveTo>
                  <a:pt x="101600" y="581025"/>
                </a:moveTo>
                <a:lnTo>
                  <a:pt x="101600" y="581025"/>
                </a:lnTo>
                <a:arcTo hR="101600" wR="101600" stAng="5400000" swAng="5400000"/>
                <a:lnTo>
                  <a:pt x="0" y="101600"/>
                </a:lnTo>
                <a:arcTo hR="101600" wR="101600" stAng="10800000" swAng="5400000"/>
                <a:lnTo>
                  <a:pt x="101600" y="0"/>
                </a:lnTo>
                <a:arcTo hR="101600" wR="63500" stAng="16200000" swAng="-5400000"/>
                <a:lnTo>
                  <a:pt x="38100" y="479425"/>
                </a:lnTo>
                <a:arcTo hR="101600" wR="63500" stAng="10800000" swAng="-5400000"/>
                <a:close/>
              </a:path>
            </a:pathLst>
          </a:custGeom>
          <a:solidFill>
            <a:srgbClr val="2456B8"/>
          </a:solidFill>
          <a:ln/>
        </p:spPr>
      </p:sp>
      <p:sp>
        <p:nvSpPr>
          <p:cNvPr id="7" name="Text 5"/>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8FA"/>
        </a:solidFill>
      </p:bgPr>
    </p:bg>
    <p:spTree>
      <p:nvGrpSpPr>
        <p:cNvPr id="1" name=""/>
        <p:cNvGrpSpPr/>
        <p:nvPr/>
      </p:nvGrpSpPr>
      <p:grpSpPr>
        <a:xfrm>
          <a:off x="0" y="0"/>
          <a:ext cx="0" cy="0"/>
          <a:chOff x="0" y="0"/>
          <a:chExt cx="0" cy="0"/>
        </a:xfrm>
      </p:grpSpPr>
      <p:pic>
        <p:nvPicPr>
          <p:cNvPr id="2" name="Image 0" descr="Иллюстрация: слева контравариантность, потребители (сжигатель всего, потребитель овощей, потребитель бамбука); справа ковариантность, производители (развлечений, музыки, метала)">    </p:cNvPr>
          <p:cNvPicPr>
            <a:picLocks noChangeAspect="1"/>
          </p:cNvPicPr>
          <p:nvPr/>
        </p:nvPicPr>
        <p:blipFill>
          <a:blip r:embed="rId1"/>
          <a:srcRect l="-16" r="-16" t="0" b="0"/>
          <a:stretch/>
        </p:blipFill>
        <p:spPr>
          <a:xfrm>
            <a:off x="812800" y="711200"/>
            <a:ext cx="4749800" cy="5067300"/>
          </a:xfrm>
          <a:prstGeom prst="roundRect">
            <a:avLst>
              <a:gd name="adj" fmla="val 1604"/>
            </a:avLst>
          </a:prstGeom>
        </p:spPr>
      </p:pic>
      <p:sp>
        <p:nvSpPr>
          <p:cNvPr id="3" name="Text 0"/>
          <p:cNvSpPr/>
          <p:nvPr/>
        </p:nvSpPr>
        <p:spPr>
          <a:xfrm>
            <a:off x="5969000" y="1579252"/>
            <a:ext cx="557250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ВАРИАНТНОСТЬ</a:t>
            </a:r>
            <a:endParaRPr lang="en-US" sz="1200" dirty="0"/>
          </a:p>
        </p:txBody>
      </p:sp>
      <p:sp>
        <p:nvSpPr>
          <p:cNvPr id="4" name="Text 1"/>
          <p:cNvSpPr/>
          <p:nvPr>
            <p:ph type="title"/>
          </p:nvPr>
        </p:nvSpPr>
        <p:spPr>
          <a:xfrm>
            <a:off x="5969000" y="1868810"/>
            <a:ext cx="5572506"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PECS в картинке</a:t>
            </a:r>
            <a:endParaRPr lang="en-US" sz="3000" dirty="0"/>
          </a:p>
        </p:txBody>
      </p:sp>
      <p:sp>
        <p:nvSpPr>
          <p:cNvPr id="5" name="Text 2"/>
          <p:cNvSpPr/>
          <p:nvPr/>
        </p:nvSpPr>
        <p:spPr>
          <a:xfrm>
            <a:off x="5969000" y="2465710"/>
            <a:ext cx="5410200" cy="1133475"/>
          </a:xfrm>
          <a:prstGeom prst="roundRect">
            <a:avLst>
              <a:gd name="adj" fmla="val 8964"/>
            </a:avLst>
          </a:prstGeom>
          <a:solidFill>
            <a:srgbClr val="ECEFF3"/>
          </a:solidFill>
          <a:ln/>
        </p:spPr>
        <p:txBody>
          <a:bodyPr wrap="square" lIns="209003" tIns="122642" rIns="24395" bIns="97242" rtlCol="0" anchor="t">
            <a:normAutofit/>
          </a:bodyPr>
          <a:lstStyle/>
          <a:p>
            <a:pPr algn="l" indent="0" marL="0">
              <a:lnSpc>
                <a:spcPts val="2175"/>
              </a:lnSpc>
              <a:buNone/>
            </a:pPr>
            <a:r>
              <a:rPr lang="en-US" sz="1500" b="1" dirty="0">
                <a:solidFill>
                  <a:srgbClr val="14213D"/>
                </a:solidFill>
                <a:latin typeface="IBM Plex Sans" pitchFamily="34" charset="0"/>
                <a:ea typeface="IBM Plex Sans" pitchFamily="34" charset="-122"/>
                <a:cs typeface="IBM Plex Sans" pitchFamily="34" charset="-120"/>
              </a:rPr>
              <a:t>Контравариантность, слева.</a:t>
            </a:r>
            <a:r>
              <a:rPr lang="en-US" sz="1500" dirty="0">
                <a:solidFill>
                  <a:srgbClr val="14213D"/>
                </a:solidFill>
                <a:latin typeface="IBM Plex Sans" pitchFamily="34" charset="0"/>
                <a:ea typeface="IBM Plex Sans" pitchFamily="34" charset="-122"/>
                <a:cs typeface="IBM Plex Sans" pitchFamily="34" charset="-120"/>
              </a:rPr>
              <a:t> Нужно избавиться от бамбука: подойдёт любой потребитель, принимающий бамбук, в том числе тот, кто сжигает всё.</a:t>
            </a:r>
            <a:endParaRPr lang="en-US" sz="1500" dirty="0"/>
          </a:p>
        </p:txBody>
      </p:sp>
      <p:sp>
        <p:nvSpPr>
          <p:cNvPr id="6" name="Shape 3"/>
          <p:cNvSpPr/>
          <p:nvPr/>
        </p:nvSpPr>
        <p:spPr>
          <a:xfrm>
            <a:off x="5969000" y="2465710"/>
            <a:ext cx="5410200" cy="1133475"/>
          </a:xfrm>
          <a:custGeom>
            <a:avLst/>
            <a:gdLst/>
            <a:ahLst/>
            <a:cxnLst/>
            <a:rect l="l" t="t" r="r" b="b"/>
            <a:pathLst>
              <a:path w="5410200" h="1133475">
                <a:moveTo>
                  <a:pt x="101600" y="1133475"/>
                </a:moveTo>
                <a:lnTo>
                  <a:pt x="101600" y="1133475"/>
                </a:lnTo>
                <a:arcTo hR="101600" wR="101600" stAng="5400000" swAng="5400000"/>
                <a:lnTo>
                  <a:pt x="0" y="101600"/>
                </a:lnTo>
                <a:arcTo hR="101600" wR="101600" stAng="10800000" swAng="5400000"/>
                <a:lnTo>
                  <a:pt x="101600" y="0"/>
                </a:lnTo>
                <a:arcTo hR="101600" wR="63500" stAng="16200000" swAng="-5400000"/>
                <a:lnTo>
                  <a:pt x="38100" y="1031875"/>
                </a:lnTo>
                <a:arcTo hR="101600" wR="63500" stAng="10800000" swAng="-5400000"/>
                <a:close/>
              </a:path>
            </a:pathLst>
          </a:custGeom>
          <a:solidFill>
            <a:srgbClr val="2456B8"/>
          </a:solidFill>
          <a:ln/>
        </p:spPr>
      </p:sp>
      <p:sp>
        <p:nvSpPr>
          <p:cNvPr id="7" name="Text 4"/>
          <p:cNvSpPr/>
          <p:nvPr/>
        </p:nvSpPr>
        <p:spPr>
          <a:xfrm>
            <a:off x="5969000" y="3776985"/>
            <a:ext cx="5410200" cy="1133475"/>
          </a:xfrm>
          <a:prstGeom prst="roundRect">
            <a:avLst>
              <a:gd name="adj" fmla="val 8964"/>
            </a:avLst>
          </a:prstGeom>
          <a:solidFill>
            <a:srgbClr val="ECEFF3"/>
          </a:solidFill>
          <a:ln/>
        </p:spPr>
        <p:txBody>
          <a:bodyPr wrap="square" lIns="209003" tIns="122642" rIns="24395" bIns="97242" rtlCol="0" anchor="t">
            <a:normAutofit/>
          </a:bodyPr>
          <a:lstStyle/>
          <a:p>
            <a:pPr algn="l" indent="0" marL="0">
              <a:lnSpc>
                <a:spcPts val="2175"/>
              </a:lnSpc>
              <a:buNone/>
            </a:pPr>
            <a:r>
              <a:rPr lang="en-US" sz="1500" b="1" dirty="0">
                <a:solidFill>
                  <a:srgbClr val="14213D"/>
                </a:solidFill>
                <a:latin typeface="IBM Plex Sans" pitchFamily="34" charset="0"/>
                <a:ea typeface="IBM Plex Sans" pitchFamily="34" charset="-122"/>
                <a:cs typeface="IBM Plex Sans" pitchFamily="34" charset="-120"/>
              </a:rPr>
              <a:t>Ковариантность, справа.</a:t>
            </a:r>
            <a:r>
              <a:rPr lang="en-US" sz="1500" dirty="0">
                <a:solidFill>
                  <a:srgbClr val="14213D"/>
                </a:solidFill>
                <a:latin typeface="IBM Plex Sans" pitchFamily="34" charset="0"/>
                <a:ea typeface="IBM Plex Sans" pitchFamily="34" charset="-122"/>
                <a:cs typeface="IBM Plex Sans" pitchFamily="34" charset="-120"/>
              </a:rPr>
              <a:t> Нужна музыка: подойдёт производитель музыки или более конкретный производитель метала.</a:t>
            </a:r>
            <a:endParaRPr lang="en-US" sz="1500" dirty="0"/>
          </a:p>
        </p:txBody>
      </p:sp>
      <p:sp>
        <p:nvSpPr>
          <p:cNvPr id="8" name="Shape 5"/>
          <p:cNvSpPr/>
          <p:nvPr/>
        </p:nvSpPr>
        <p:spPr>
          <a:xfrm>
            <a:off x="5969000" y="3776985"/>
            <a:ext cx="5410200" cy="1133475"/>
          </a:xfrm>
          <a:custGeom>
            <a:avLst/>
            <a:gdLst/>
            <a:ahLst/>
            <a:cxnLst/>
            <a:rect l="l" t="t" r="r" b="b"/>
            <a:pathLst>
              <a:path w="5410200" h="1133475">
                <a:moveTo>
                  <a:pt x="101600" y="1133475"/>
                </a:moveTo>
                <a:lnTo>
                  <a:pt x="101600" y="1133475"/>
                </a:lnTo>
                <a:arcTo hR="101600" wR="101600" stAng="5400000" swAng="5400000"/>
                <a:lnTo>
                  <a:pt x="0" y="101600"/>
                </a:lnTo>
                <a:arcTo hR="101600" wR="101600" stAng="10800000" swAng="5400000"/>
                <a:lnTo>
                  <a:pt x="101600" y="0"/>
                </a:lnTo>
                <a:arcTo hR="101600" wR="63500" stAng="16200000" swAng="-5400000"/>
                <a:lnTo>
                  <a:pt x="38100" y="1031875"/>
                </a:lnTo>
                <a:arcTo hR="101600" wR="63500" stAng="10800000" swAng="-5400000"/>
                <a:close/>
              </a:path>
            </a:pathLst>
          </a:custGeom>
          <a:solidFill>
            <a:srgbClr val="1E7D3A"/>
          </a:solidFill>
          <a:ln/>
        </p:spPr>
      </p:sp>
      <p:sp>
        <p:nvSpPr>
          <p:cNvPr id="9" name="Text 6"/>
          <p:cNvSpPr/>
          <p:nvPr/>
        </p:nvSpPr>
        <p:spPr>
          <a:xfrm>
            <a:off x="812800" y="6111242"/>
            <a:ext cx="9679940"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A6577"/>
                </a:solidFill>
                <a:latin typeface="IBM Plex Sans" pitchFamily="34" charset="0"/>
                <a:ea typeface="IBM Plex Sans" pitchFamily="34" charset="-122"/>
                <a:cs typeface="IBM Plex Sans" pitchFamily="34" charset="-120"/>
              </a:rPr>
              <a:t>Источник:</a:t>
            </a:r>
            <a:endParaRPr lang="en-US" sz="1200" dirty="0"/>
          </a:p>
          <a:p>
            <a:pPr algn="l" indent="0" marL="0">
              <a:lnSpc>
                <a:spcPts val="1740"/>
              </a:lnSpc>
              <a:buNone/>
            </a:pPr>
            <a:r>
              <a:rPr lang="en-US" sz="1200" u="sng" dirty="0">
                <a:solidFill>
                  <a:srgbClr val="5A6577"/>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https://stackoverflow.com/questions/2723397/what-is-pecs-producer-extends-consumer-super/19739576#19739576</a:t>
            </a:r>
            <a:endParaRPr lang="en-US" sz="1200" dirty="0"/>
          </a:p>
        </p:txBody>
      </p:sp>
      <p:sp>
        <p:nvSpPr>
          <p:cNvPr id="10" name="Text 7"/>
          <p:cNvSpPr/>
          <p:nvPr/>
        </p:nvSpPr>
        <p:spPr>
          <a:xfrm>
            <a:off x="10566400" y="63398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DECLARATION-SITE VARIANCE</a:t>
            </a:r>
            <a:endParaRPr lang="en-US" sz="1200" dirty="0"/>
          </a:p>
        </p:txBody>
      </p:sp>
      <p:sp>
        <p:nvSpPr>
          <p:cNvPr id="3" name="Text 1"/>
          <p:cNvSpPr/>
          <p:nvPr>
            <p:ph type="title"/>
          </p:nvPr>
        </p:nvSpPr>
        <p:spPr>
          <a:xfrm>
            <a:off x="812800" y="1000758"/>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C#: in и out в объявлении типа</a:t>
            </a:r>
            <a:endParaRPr lang="en-US" sz="3000" dirty="0"/>
          </a:p>
        </p:txBody>
      </p:sp>
      <p:sp>
        <p:nvSpPr>
          <p:cNvPr id="4" name="Text 2"/>
          <p:cNvSpPr/>
          <p:nvPr/>
        </p:nvSpPr>
        <p:spPr>
          <a:xfrm>
            <a:off x="812800" y="1623058"/>
            <a:ext cx="533704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Стандартная библиотека</a:t>
            </a:r>
            <a:endParaRPr lang="en-US" sz="1500" dirty="0"/>
          </a:p>
        </p:txBody>
      </p:sp>
      <p:sp>
        <p:nvSpPr>
          <p:cNvPr id="5" name="Text 3"/>
          <p:cNvSpPr/>
          <p:nvPr/>
        </p:nvSpPr>
        <p:spPr>
          <a:xfrm>
            <a:off x="812800" y="1991358"/>
            <a:ext cx="5181600" cy="1953260"/>
          </a:xfrm>
          <a:prstGeom prst="roundRect">
            <a:avLst>
              <a:gd name="adj" fmla="val 5202"/>
            </a:avLst>
          </a:prstGeom>
          <a:solidFill>
            <a:srgbClr val="EEF1F5"/>
          </a:solidFill>
          <a:ln/>
        </p:spPr>
        <p:txBody>
          <a:bodyPr wrap="none" lIns="224242" tIns="173442" rIns="84034"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interface IEnumerable&lt;out T&gt;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interface IComparer&lt;in T&gt;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delegate void Action&lt;in T&gt;(T obj)</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delegate TResult Func&lt;in T, out TResult&gt;(T arg)</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Func&lt;object, string&gt; f = o =&gt; o.ToString()!;</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Func&lt;string, object&gt; g = f;  </a:t>
            </a:r>
            <a:r>
              <a:rPr lang="en-US" sz="1200" dirty="0">
                <a:solidFill>
                  <a:srgbClr val="5F6B7A"/>
                </a:solidFill>
                <a:latin typeface="JetBrains Mono" pitchFamily="49" charset="0"/>
                <a:ea typeface="JetBrains Mono" pitchFamily="49" charset="-122"/>
                <a:cs typeface="JetBrains Mono" pitchFamily="49" charset="-120"/>
              </a:rPr>
              <a:t>// допустимо</a:t>
            </a:r>
            <a:endParaRPr lang="en-US" sz="1200" dirty="0"/>
          </a:p>
        </p:txBody>
      </p:sp>
      <p:sp>
        <p:nvSpPr>
          <p:cNvPr id="6" name="Text 4"/>
          <p:cNvSpPr/>
          <p:nvPr/>
        </p:nvSpPr>
        <p:spPr>
          <a:xfrm>
            <a:off x="6197600" y="1623058"/>
            <a:ext cx="533704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Компилятор проверяет позиции T</a:t>
            </a:r>
            <a:endParaRPr lang="en-US" sz="1500" dirty="0"/>
          </a:p>
        </p:txBody>
      </p:sp>
      <p:sp>
        <p:nvSpPr>
          <p:cNvPr id="7" name="Text 5"/>
          <p:cNvSpPr/>
          <p:nvPr/>
        </p:nvSpPr>
        <p:spPr>
          <a:xfrm>
            <a:off x="6197600" y="1991358"/>
            <a:ext cx="5181600" cy="1511300"/>
          </a:xfrm>
          <a:prstGeom prst="roundRect">
            <a:avLst>
              <a:gd name="adj" fmla="val 6723"/>
            </a:avLst>
          </a:prstGeom>
          <a:solidFill>
            <a:srgbClr val="EEF1F5"/>
          </a:solidFill>
          <a:ln/>
        </p:spPr>
        <p:txBody>
          <a:bodyPr wrap="none" lIns="224242" tIns="173442" rIns="84034"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interface IBox&lt;out T&gt;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T Get();  </a:t>
            </a:r>
            <a:r>
              <a:rPr lang="en-US" sz="1200" dirty="0">
                <a:solidFill>
                  <a:srgbClr val="5F6B7A"/>
                </a:solidFill>
                <a:latin typeface="JetBrains Mono" pitchFamily="49" charset="0"/>
                <a:ea typeface="JetBrains Mono" pitchFamily="49" charset="-122"/>
                <a:cs typeface="JetBrains Mono" pitchFamily="49" charset="-120"/>
              </a:rPr>
              <a:t>// допустимо: T на выходе</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void Put(T item);  </a:t>
            </a:r>
            <a:r>
              <a:rPr lang="en-US" sz="1200" dirty="0">
                <a:solidFill>
                  <a:srgbClr val="B4541A"/>
                </a:solidFill>
                <a:latin typeface="JetBrains Mono" pitchFamily="49" charset="0"/>
                <a:ea typeface="JetBrains Mono" pitchFamily="49" charset="-122"/>
                <a:cs typeface="JetBrains Mono" pitchFamily="49" charset="-120"/>
              </a:rPr>
              <a:t>// CS1961: T на входе</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p:txBody>
      </p:sp>
      <p:sp>
        <p:nvSpPr>
          <p:cNvPr id="8" name="Shape 6"/>
          <p:cNvSpPr/>
          <p:nvPr/>
        </p:nvSpPr>
        <p:spPr>
          <a:xfrm>
            <a:off x="815975" y="4150990"/>
            <a:ext cx="5200650" cy="1561465"/>
          </a:xfrm>
          <a:prstGeom prst="roundRect">
            <a:avLst>
              <a:gd name="adj" fmla="val 6303"/>
            </a:avLst>
          </a:prstGeom>
          <a:solidFill>
            <a:srgbClr val="ECEFF3"/>
          </a:solidFill>
          <a:ln w="6350">
            <a:solidFill>
              <a:srgbClr val="ECEFF3"/>
            </a:solidFill>
            <a:prstDash val="solid"/>
          </a:ln>
        </p:spPr>
      </p:sp>
      <p:sp>
        <p:nvSpPr>
          <p:cNvPr id="9" name="Text 7"/>
          <p:cNvSpPr/>
          <p:nvPr/>
        </p:nvSpPr>
        <p:spPr>
          <a:xfrm>
            <a:off x="1021080" y="4356100"/>
            <a:ext cx="493415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Только интерфейсы и делегаты</a:t>
            </a:r>
            <a:endParaRPr lang="en-US" sz="1700" dirty="0"/>
          </a:p>
        </p:txBody>
      </p:sp>
      <p:sp>
        <p:nvSpPr>
          <p:cNvPr id="10" name="Text 8"/>
          <p:cNvSpPr/>
          <p:nvPr/>
        </p:nvSpPr>
        <p:spPr>
          <a:xfrm>
            <a:off x="1021080" y="4678685"/>
            <a:ext cx="493415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Классы и структуры всегда инвариантны: List&lt;T&gt;, Tuple&lt;T1, T2&gt;</a:t>
            </a:r>
            <a:endParaRPr lang="en-US" sz="1500" dirty="0"/>
          </a:p>
        </p:txBody>
      </p:sp>
      <p:sp>
        <p:nvSpPr>
          <p:cNvPr id="11" name="Shape 9"/>
          <p:cNvSpPr/>
          <p:nvPr/>
        </p:nvSpPr>
        <p:spPr>
          <a:xfrm>
            <a:off x="6175375" y="4150990"/>
            <a:ext cx="5200650" cy="1561465"/>
          </a:xfrm>
          <a:prstGeom prst="roundRect">
            <a:avLst>
              <a:gd name="adj" fmla="val 6303"/>
            </a:avLst>
          </a:prstGeom>
          <a:solidFill>
            <a:srgbClr val="ECEFF3"/>
          </a:solidFill>
          <a:ln w="6350">
            <a:solidFill>
              <a:srgbClr val="ECEFF3"/>
            </a:solidFill>
            <a:prstDash val="solid"/>
          </a:ln>
        </p:spPr>
      </p:sp>
      <p:sp>
        <p:nvSpPr>
          <p:cNvPr id="12" name="Text 10"/>
          <p:cNvSpPr/>
          <p:nvPr/>
        </p:nvSpPr>
        <p:spPr>
          <a:xfrm>
            <a:off x="6380480" y="4356100"/>
            <a:ext cx="493415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Только ссылочные типы</a:t>
            </a:r>
            <a:endParaRPr lang="en-US" sz="1700" dirty="0"/>
          </a:p>
        </p:txBody>
      </p:sp>
      <p:sp>
        <p:nvSpPr>
          <p:cNvPr id="13" name="Text 11"/>
          <p:cNvSpPr/>
          <p:nvPr/>
        </p:nvSpPr>
        <p:spPr>
          <a:xfrm>
            <a:off x="6380480" y="4678685"/>
            <a:ext cx="4934153"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IEnumerable&lt;int&gt; не приводится к IEnumerable&lt;object&gt;: потребовалась бы упаковка каждого элемента</a:t>
            </a:r>
            <a:endParaRPr lang="en-US" sz="1500" dirty="0"/>
          </a:p>
        </p:txBody>
      </p:sp>
      <p:sp>
        <p:nvSpPr>
          <p:cNvPr id="14" name="Text 12"/>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USE-SITE VARIANCE</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Java: вариантность в месте использования</a:t>
            </a:r>
            <a:endParaRPr lang="en-US" sz="3000" dirty="0"/>
          </a:p>
        </p:txBody>
      </p:sp>
      <p:sp>
        <p:nvSpPr>
          <p:cNvPr id="4" name="Text 2"/>
          <p:cNvSpPr/>
          <p:nvPr/>
        </p:nvSpPr>
        <p:spPr>
          <a:xfrm>
            <a:off x="812800" y="1623070"/>
            <a:ext cx="10566400" cy="3721100"/>
          </a:xfrm>
          <a:prstGeom prst="roundRect">
            <a:avLst>
              <a:gd name="adj" fmla="val 2730"/>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List&lt;T&gt; инвариантен; вариантность выбирают в сигнатуре метода</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static double totalWeight(List&lt;? extends Animal&gt; animals)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double sum = 0;</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for (Animal a : animals) sum += a.weight();  </a:t>
            </a:r>
            <a:r>
              <a:rPr lang="en-US" sz="1200" dirty="0">
                <a:solidFill>
                  <a:srgbClr val="5F6B7A"/>
                </a:solidFill>
                <a:latin typeface="JetBrains Mono" pitchFamily="49" charset="0"/>
                <a:ea typeface="JetBrains Mono" pitchFamily="49" charset="-122"/>
                <a:cs typeface="JetBrains Mono" pitchFamily="49" charset="-120"/>
              </a:rPr>
              <a:t>// читать можно</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r>
              <a:rPr lang="en-US" sz="1200" dirty="0">
                <a:solidFill>
                  <a:srgbClr val="B4541A"/>
                </a:solidFill>
                <a:latin typeface="JetBrains Mono" pitchFamily="49" charset="0"/>
                <a:ea typeface="JetBrains Mono" pitchFamily="49" charset="-122"/>
                <a:cs typeface="JetBrains Mono" pitchFamily="49" charset="-120"/>
              </a:rPr>
              <a:t>// animals.add(new Cat());  писать нельзя: ошибка компиляции</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return sum;</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static void addCats(List&lt;? super Cat&gt; sink)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sink.add(new Cat());  </a:t>
            </a:r>
            <a:r>
              <a:rPr lang="en-US" sz="1200" dirty="0">
                <a:solidFill>
                  <a:srgbClr val="5F6B7A"/>
                </a:solidFill>
                <a:latin typeface="JetBrains Mono" pitchFamily="49" charset="0"/>
                <a:ea typeface="JetBrains Mono" pitchFamily="49" charset="-122"/>
                <a:cs typeface="JetBrains Mono" pitchFamily="49" charset="-120"/>
              </a:rPr>
              <a:t>// писать можно</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Object o = sink.get(0);  </a:t>
            </a:r>
            <a:r>
              <a:rPr lang="en-US" sz="1200" dirty="0">
                <a:solidFill>
                  <a:srgbClr val="5F6B7A"/>
                </a:solidFill>
                <a:latin typeface="JetBrains Mono" pitchFamily="49" charset="0"/>
                <a:ea typeface="JetBrains Mono" pitchFamily="49" charset="-122"/>
                <a:cs typeface="JetBrains Mono" pitchFamily="49" charset="-120"/>
              </a:rPr>
              <a:t>// читать - только как Object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java.util.Collections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static &lt;T&gt; void copy(List&lt;? super T&gt; dest, List&lt;? extends T&gt; src)</a:t>
            </a:r>
            <a:endParaRPr lang="en-US" sz="1200" dirty="0"/>
          </a:p>
        </p:txBody>
      </p:sp>
      <p:sp>
        <p:nvSpPr>
          <p:cNvPr id="5" name="Text 3"/>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УПРАВЛЕНИЕ ВАРИАНТНОСТЬЮ</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Kotlin: и declaration-site, и use-site</a:t>
            </a:r>
            <a:endParaRPr lang="en-US" sz="3000" dirty="0"/>
          </a:p>
        </p:txBody>
      </p:sp>
      <p:sp>
        <p:nvSpPr>
          <p:cNvPr id="4" name="Text 2"/>
          <p:cNvSpPr/>
          <p:nvPr/>
        </p:nvSpPr>
        <p:spPr>
          <a:xfrm>
            <a:off x="812800" y="1623070"/>
            <a:ext cx="533704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В объявлении, как в C#</a:t>
            </a:r>
            <a:endParaRPr lang="en-US" sz="1500" dirty="0"/>
          </a:p>
        </p:txBody>
      </p:sp>
      <p:sp>
        <p:nvSpPr>
          <p:cNvPr id="5" name="Text 3"/>
          <p:cNvSpPr/>
          <p:nvPr/>
        </p:nvSpPr>
        <p:spPr>
          <a:xfrm>
            <a:off x="812800" y="1991370"/>
            <a:ext cx="5181600" cy="2837180"/>
          </a:xfrm>
          <a:prstGeom prst="roundRect">
            <a:avLst>
              <a:gd name="adj" fmla="val 3581"/>
            </a:avLst>
          </a:prstGeom>
          <a:solidFill>
            <a:srgbClr val="EEF1F5"/>
          </a:solidFill>
          <a:ln/>
        </p:spPr>
        <p:txBody>
          <a:bodyPr wrap="none" lIns="224242" tIns="173442" rIns="84034"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interface Source&lt;out T&gt;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fun next(): 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interface Comparable&lt;in T&gt;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operator fun compareTo(other: T): Int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List только для чтения: List&lt;out E&gt;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val cats: List&lt;Cat&gt; = listOf(Cat())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val animals: List&lt;Animal&gt; = cats  </a:t>
            </a:r>
            <a:r>
              <a:rPr lang="en-US" sz="1200" dirty="0">
                <a:solidFill>
                  <a:srgbClr val="5F6B7A"/>
                </a:solidFill>
                <a:latin typeface="JetBrains Mono" pitchFamily="49" charset="0"/>
                <a:ea typeface="JetBrains Mono" pitchFamily="49" charset="-122"/>
                <a:cs typeface="JetBrains Mono" pitchFamily="49" charset="-120"/>
              </a:rPr>
              <a:t>// допустимо</a:t>
            </a:r>
            <a:endParaRPr lang="en-US" sz="1200" dirty="0"/>
          </a:p>
        </p:txBody>
      </p:sp>
      <p:sp>
        <p:nvSpPr>
          <p:cNvPr id="6" name="Text 4"/>
          <p:cNvSpPr/>
          <p:nvPr/>
        </p:nvSpPr>
        <p:spPr>
          <a:xfrm>
            <a:off x="6197600" y="1623070"/>
            <a:ext cx="533704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В использовании, как в Java</a:t>
            </a:r>
            <a:endParaRPr lang="en-US" sz="1500" dirty="0"/>
          </a:p>
        </p:txBody>
      </p:sp>
      <p:sp>
        <p:nvSpPr>
          <p:cNvPr id="7" name="Text 5"/>
          <p:cNvSpPr/>
          <p:nvPr/>
        </p:nvSpPr>
        <p:spPr>
          <a:xfrm>
            <a:off x="6197600" y="1991370"/>
            <a:ext cx="5181600" cy="3058160"/>
          </a:xfrm>
          <a:prstGeom prst="roundRect">
            <a:avLst>
              <a:gd name="adj" fmla="val 3322"/>
            </a:avLst>
          </a:prstGeom>
          <a:solidFill>
            <a:srgbClr val="EEF1F5"/>
          </a:solidFill>
          <a:ln/>
        </p:spPr>
        <p:txBody>
          <a:bodyPr wrap="none" lIns="224242" tIns="173442" rIns="84034" bIns="148042" rtlCol="0" anchor="t">
            <a:normAutofit/>
          </a:bodyPr>
          <a:lstStyle/>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Array&lt;T&gt;, MutableList&lt;T&gt; инвариантны</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fun copy(from: Array&lt;out Any&gt;,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to: Array&lt;Any&gt;)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for (i in from.indices)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to[i] = from[i]</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fun fill(dest: Array&lt;in String&gt;,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value: String)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for (i in dest.indices)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dest[i] = value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p:txBody>
      </p:sp>
      <p:sp>
        <p:nvSpPr>
          <p:cNvPr id="8" name="Text 6"/>
          <p:cNvSpPr/>
          <p:nvPr/>
        </p:nvSpPr>
        <p:spPr>
          <a:xfrm>
            <a:off x="812800" y="5252715"/>
            <a:ext cx="10883392" cy="32004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Use-site variance в Kotlin называется </a:t>
            </a:r>
            <a:r>
              <a:rPr lang="en-US" sz="1600" b="1" dirty="0">
                <a:solidFill>
                  <a:srgbClr val="4A5568"/>
                </a:solidFill>
                <a:latin typeface="IBM Plex Sans" pitchFamily="34" charset="0"/>
                <a:ea typeface="IBM Plex Sans" pitchFamily="34" charset="-122"/>
                <a:cs typeface="IBM Plex Sans" pitchFamily="34" charset="-120"/>
              </a:rPr>
              <a:t>type projections</a:t>
            </a:r>
            <a:r>
              <a:rPr lang="en-US" sz="1600" dirty="0">
                <a:solidFill>
                  <a:srgbClr val="4A5568"/>
                </a:solidFill>
                <a:latin typeface="IBM Plex Sans" pitchFamily="34" charset="0"/>
                <a:ea typeface="IBM Plex Sans" pitchFamily="34" charset="-122"/>
                <a:cs typeface="IBM Plex Sans" pitchFamily="34" charset="-120"/>
              </a:rPr>
              <a:t>.</a:t>
            </a:r>
            <a:endParaRPr lang="en-US" sz="1600" dirty="0"/>
          </a:p>
        </p:txBody>
      </p:sp>
      <p:sp>
        <p:nvSpPr>
          <p:cNvPr id="9" name="Text 7"/>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ВАРИАНТНОСТЬ</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Ковариантность массивов</a:t>
            </a:r>
            <a:endParaRPr lang="en-US" sz="3000" dirty="0"/>
          </a:p>
        </p:txBody>
      </p:sp>
      <p:sp>
        <p:nvSpPr>
          <p:cNvPr id="4" name="Text 2"/>
          <p:cNvSpPr/>
          <p:nvPr/>
        </p:nvSpPr>
        <p:spPr>
          <a:xfrm>
            <a:off x="812800" y="1623070"/>
            <a:ext cx="10883392"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Массивы допускают запись, но в C# и Java они ковариантны. Ошибка типов, которую должен был обнаружить компилятор, проявляется </a:t>
            </a:r>
            <a:r>
              <a:rPr lang="en-US" sz="1600" dirty="0">
                <a:solidFill>
                  <a:srgbClr val="B4541A"/>
                </a:solidFill>
                <a:latin typeface="IBM Plex Sans" pitchFamily="34" charset="0"/>
                <a:ea typeface="IBM Plex Sans" pitchFamily="34" charset="-122"/>
                <a:cs typeface="IBM Plex Sans" pitchFamily="34" charset="-120"/>
              </a:rPr>
              <a:t>только во время выполнения</a:t>
            </a:r>
            <a:r>
              <a:rPr lang="en-US" sz="1600" dirty="0">
                <a:solidFill>
                  <a:srgbClr val="4A5568"/>
                </a:solidFill>
                <a:latin typeface="IBM Plex Sans" pitchFamily="34" charset="0"/>
                <a:ea typeface="IBM Plex Sans" pitchFamily="34" charset="-122"/>
                <a:cs typeface="IBM Plex Sans" pitchFamily="34" charset="-120"/>
              </a:rPr>
              <a:t>.</a:t>
            </a:r>
            <a:endParaRPr lang="en-US" sz="1600" dirty="0"/>
          </a:p>
        </p:txBody>
      </p:sp>
      <p:sp>
        <p:nvSpPr>
          <p:cNvPr id="5" name="Text 3"/>
          <p:cNvSpPr/>
          <p:nvPr/>
        </p:nvSpPr>
        <p:spPr>
          <a:xfrm>
            <a:off x="812800" y="2415555"/>
            <a:ext cx="10566400" cy="1371600"/>
          </a:xfrm>
          <a:prstGeom prst="roundRect">
            <a:avLst>
              <a:gd name="adj" fmla="val 7407"/>
            </a:avLst>
          </a:prstGeom>
          <a:solidFill>
            <a:srgbClr val="EEF1F5"/>
          </a:solidFill>
          <a:ln/>
        </p:spPr>
        <p:txBody>
          <a:bodyPr wrap="none" lIns="249642" tIns="198842" rIns="0" bIns="173442" rtlCol="0" anchor="t">
            <a:normAutofit/>
          </a:bodyPr>
          <a:lstStyle/>
          <a:p>
            <a:pPr algn="l" indent="0" marL="0">
              <a:lnSpc>
                <a:spcPts val="2400"/>
              </a:lnSpc>
              <a:buNone/>
            </a:pPr>
            <a:r>
              <a:rPr lang="en-US" sz="1600" dirty="0">
                <a:solidFill>
                  <a:srgbClr val="1B2433"/>
                </a:solidFill>
                <a:latin typeface="JetBrains Mono" pitchFamily="49" charset="0"/>
                <a:ea typeface="JetBrains Mono" pitchFamily="49" charset="-122"/>
                <a:cs typeface="JetBrains Mono" pitchFamily="49" charset="-120"/>
              </a:rPr>
              <a:t>string[] strings = new string[1];</a:t>
            </a:r>
            <a:endParaRPr lang="en-US" sz="1600" dirty="0"/>
          </a:p>
          <a:p>
            <a:pPr algn="l" indent="0" marL="0">
              <a:lnSpc>
                <a:spcPts val="2400"/>
              </a:lnSpc>
              <a:buNone/>
            </a:pPr>
            <a:r>
              <a:rPr lang="en-US" sz="1600" dirty="0">
                <a:solidFill>
                  <a:srgbClr val="1B2433"/>
                </a:solidFill>
                <a:latin typeface="JetBrains Mono" pitchFamily="49" charset="0"/>
                <a:ea typeface="JetBrains Mono" pitchFamily="49" charset="-122"/>
                <a:cs typeface="JetBrains Mono" pitchFamily="49" charset="-120"/>
              </a:rPr>
              <a:t>object[] objects = strings;  </a:t>
            </a:r>
            <a:r>
              <a:rPr lang="en-US" sz="1600" dirty="0">
                <a:solidFill>
                  <a:srgbClr val="5F6B7A"/>
                </a:solidFill>
                <a:latin typeface="JetBrains Mono" pitchFamily="49" charset="0"/>
                <a:ea typeface="JetBrains Mono" pitchFamily="49" charset="-122"/>
                <a:cs typeface="JetBrains Mono" pitchFamily="49" charset="-120"/>
              </a:rPr>
              <a:t>// компилируется: массивы ковариантны</a:t>
            </a:r>
            <a:endParaRPr lang="en-US" sz="1600" dirty="0"/>
          </a:p>
          <a:p>
            <a:pPr algn="l" indent="0" marL="0">
              <a:lnSpc>
                <a:spcPts val="2400"/>
              </a:lnSpc>
              <a:buNone/>
            </a:pPr>
            <a:r>
              <a:rPr lang="en-US" sz="1600" dirty="0">
                <a:solidFill>
                  <a:srgbClr val="1B2433"/>
                </a:solidFill>
                <a:latin typeface="JetBrains Mono" pitchFamily="49" charset="0"/>
                <a:ea typeface="JetBrains Mono" pitchFamily="49" charset="-122"/>
                <a:cs typeface="JetBrains Mono" pitchFamily="49" charset="-120"/>
              </a:rPr>
              <a:t>objects[0] = 42;  </a:t>
            </a:r>
            <a:r>
              <a:rPr lang="en-US" sz="1600" dirty="0">
                <a:solidFill>
                  <a:srgbClr val="B4541A"/>
                </a:solidFill>
                <a:latin typeface="JetBrains Mono" pitchFamily="49" charset="0"/>
                <a:ea typeface="JetBrains Mono" pitchFamily="49" charset="-122"/>
                <a:cs typeface="JetBrains Mono" pitchFamily="49" charset="-120"/>
              </a:rPr>
              <a:t>// ArrayTypeMismatchException</a:t>
            </a:r>
            <a:endParaRPr lang="en-US" sz="1600" dirty="0"/>
          </a:p>
        </p:txBody>
      </p:sp>
      <p:sp>
        <p:nvSpPr>
          <p:cNvPr id="6" name="Shape 4"/>
          <p:cNvSpPr/>
          <p:nvPr/>
        </p:nvSpPr>
        <p:spPr>
          <a:xfrm>
            <a:off x="812800" y="3990355"/>
            <a:ext cx="3420507" cy="1557655"/>
          </a:xfrm>
          <a:prstGeom prst="roundRect">
            <a:avLst>
              <a:gd name="adj" fmla="val 6523"/>
            </a:avLst>
          </a:prstGeom>
          <a:solidFill>
            <a:srgbClr val="ECEFF3"/>
          </a:solidFill>
          <a:ln/>
        </p:spPr>
      </p:sp>
      <p:sp>
        <p:nvSpPr>
          <p:cNvPr id="7" name="Shape 5"/>
          <p:cNvSpPr/>
          <p:nvPr/>
        </p:nvSpPr>
        <p:spPr>
          <a:xfrm>
            <a:off x="812800" y="3990355"/>
            <a:ext cx="3420507" cy="1557655"/>
          </a:xfrm>
          <a:custGeom>
            <a:avLst/>
            <a:gdLst/>
            <a:ahLst/>
            <a:cxnLst/>
            <a:rect l="l" t="t" r="r" b="b"/>
            <a:pathLst>
              <a:path w="3420507" h="1557655">
                <a:moveTo>
                  <a:pt x="101600" y="1557655"/>
                </a:moveTo>
                <a:lnTo>
                  <a:pt x="101600" y="1557655"/>
                </a:lnTo>
                <a:arcTo hR="101600" wR="101600" stAng="5400000" swAng="5400000"/>
                <a:lnTo>
                  <a:pt x="0" y="101600"/>
                </a:lnTo>
                <a:arcTo hR="101600" wR="101600" stAng="10800000" swAng="5400000"/>
                <a:lnTo>
                  <a:pt x="101600" y="0"/>
                </a:lnTo>
                <a:arcTo hR="101600" wR="63500" stAng="16200000" swAng="-5400000"/>
                <a:lnTo>
                  <a:pt x="38100" y="1456055"/>
                </a:lnTo>
                <a:arcTo hR="101600" wR="63500" stAng="10800000" swAng="-5400000"/>
                <a:close/>
              </a:path>
            </a:pathLst>
          </a:custGeom>
          <a:solidFill>
            <a:srgbClr val="B4541A"/>
          </a:solidFill>
          <a:ln/>
        </p:spPr>
      </p:sp>
      <p:sp>
        <p:nvSpPr>
          <p:cNvPr id="8" name="Text 6"/>
          <p:cNvSpPr/>
          <p:nvPr/>
        </p:nvSpPr>
        <p:spPr>
          <a:xfrm>
            <a:off x="1051560" y="4193555"/>
            <a:ext cx="306790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Наследие Java</a:t>
            </a:r>
            <a:endParaRPr lang="en-US" sz="1700" dirty="0"/>
          </a:p>
        </p:txBody>
      </p:sp>
      <p:sp>
        <p:nvSpPr>
          <p:cNvPr id="9" name="Text 7"/>
          <p:cNvSpPr/>
          <p:nvPr/>
        </p:nvSpPr>
        <p:spPr>
          <a:xfrm>
            <a:off x="1051560" y="4516115"/>
            <a:ext cx="3067903"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Поведение заимствовано из Java, где массивы ковариантны с первой версии</a:t>
            </a:r>
            <a:endParaRPr lang="en-US" sz="1500" dirty="0"/>
          </a:p>
        </p:txBody>
      </p:sp>
      <p:sp>
        <p:nvSpPr>
          <p:cNvPr id="10" name="Shape 8"/>
          <p:cNvSpPr/>
          <p:nvPr/>
        </p:nvSpPr>
        <p:spPr>
          <a:xfrm>
            <a:off x="4385707" y="3990355"/>
            <a:ext cx="3420586" cy="1557655"/>
          </a:xfrm>
          <a:prstGeom prst="roundRect">
            <a:avLst>
              <a:gd name="adj" fmla="val 6523"/>
            </a:avLst>
          </a:prstGeom>
          <a:solidFill>
            <a:srgbClr val="ECEFF3"/>
          </a:solidFill>
          <a:ln/>
        </p:spPr>
      </p:sp>
      <p:sp>
        <p:nvSpPr>
          <p:cNvPr id="11" name="Shape 9"/>
          <p:cNvSpPr/>
          <p:nvPr/>
        </p:nvSpPr>
        <p:spPr>
          <a:xfrm>
            <a:off x="4385707" y="3990355"/>
            <a:ext cx="3420586" cy="1557655"/>
          </a:xfrm>
          <a:custGeom>
            <a:avLst/>
            <a:gdLst/>
            <a:ahLst/>
            <a:cxnLst/>
            <a:rect l="l" t="t" r="r" b="b"/>
            <a:pathLst>
              <a:path w="3420586" h="1557655">
                <a:moveTo>
                  <a:pt x="101600" y="1557655"/>
                </a:moveTo>
                <a:lnTo>
                  <a:pt x="101600" y="1557655"/>
                </a:lnTo>
                <a:arcTo hR="101600" wR="101600" stAng="5400000" swAng="5400000"/>
                <a:lnTo>
                  <a:pt x="0" y="101600"/>
                </a:lnTo>
                <a:arcTo hR="101600" wR="101600" stAng="10800000" swAng="5400000"/>
                <a:lnTo>
                  <a:pt x="101600" y="0"/>
                </a:lnTo>
                <a:arcTo hR="101600" wR="63500" stAng="16200000" swAng="-5400000"/>
                <a:lnTo>
                  <a:pt x="38100" y="1456055"/>
                </a:lnTo>
                <a:arcTo hR="101600" wR="63500" stAng="10800000" swAng="-5400000"/>
                <a:close/>
              </a:path>
            </a:pathLst>
          </a:custGeom>
          <a:solidFill>
            <a:srgbClr val="B4541A"/>
          </a:solidFill>
          <a:ln/>
        </p:spPr>
      </p:sp>
      <p:sp>
        <p:nvSpPr>
          <p:cNvPr id="12" name="Text 10"/>
          <p:cNvSpPr/>
          <p:nvPr/>
        </p:nvSpPr>
        <p:spPr>
          <a:xfrm>
            <a:off x="4624467" y="4193555"/>
            <a:ext cx="306798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Проверка при записи</a:t>
            </a:r>
            <a:endParaRPr lang="en-US" sz="1700" dirty="0"/>
          </a:p>
        </p:txBody>
      </p:sp>
      <p:sp>
        <p:nvSpPr>
          <p:cNvPr id="13" name="Text 11"/>
          <p:cNvSpPr/>
          <p:nvPr/>
        </p:nvSpPr>
        <p:spPr>
          <a:xfrm>
            <a:off x="4624467" y="4516115"/>
            <a:ext cx="3067985"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Каждая запись в массив ссылочного типа проверяет тип элемента</a:t>
            </a:r>
            <a:endParaRPr lang="en-US" sz="1500" dirty="0"/>
          </a:p>
        </p:txBody>
      </p:sp>
      <p:sp>
        <p:nvSpPr>
          <p:cNvPr id="14" name="Shape 12"/>
          <p:cNvSpPr/>
          <p:nvPr/>
        </p:nvSpPr>
        <p:spPr>
          <a:xfrm>
            <a:off x="7958693" y="3990355"/>
            <a:ext cx="3420507" cy="1557655"/>
          </a:xfrm>
          <a:prstGeom prst="roundRect">
            <a:avLst>
              <a:gd name="adj" fmla="val 6523"/>
            </a:avLst>
          </a:prstGeom>
          <a:solidFill>
            <a:srgbClr val="ECEFF3"/>
          </a:solidFill>
          <a:ln/>
        </p:spPr>
      </p:sp>
      <p:sp>
        <p:nvSpPr>
          <p:cNvPr id="15" name="Shape 13"/>
          <p:cNvSpPr/>
          <p:nvPr/>
        </p:nvSpPr>
        <p:spPr>
          <a:xfrm>
            <a:off x="7958693" y="3990355"/>
            <a:ext cx="3420507" cy="1557655"/>
          </a:xfrm>
          <a:custGeom>
            <a:avLst/>
            <a:gdLst/>
            <a:ahLst/>
            <a:cxnLst/>
            <a:rect l="l" t="t" r="r" b="b"/>
            <a:pathLst>
              <a:path w="3420507" h="1557655">
                <a:moveTo>
                  <a:pt x="101600" y="1557655"/>
                </a:moveTo>
                <a:lnTo>
                  <a:pt x="101600" y="1557655"/>
                </a:lnTo>
                <a:arcTo hR="101600" wR="101600" stAng="5400000" swAng="5400000"/>
                <a:lnTo>
                  <a:pt x="0" y="101600"/>
                </a:lnTo>
                <a:arcTo hR="101600" wR="101600" stAng="10800000" swAng="5400000"/>
                <a:lnTo>
                  <a:pt x="101600" y="0"/>
                </a:lnTo>
                <a:arcTo hR="101600" wR="63500" stAng="16200000" swAng="-5400000"/>
                <a:lnTo>
                  <a:pt x="38100" y="1456055"/>
                </a:lnTo>
                <a:arcTo hR="101600" wR="63500" stAng="10800000" swAng="-5400000"/>
                <a:close/>
              </a:path>
            </a:pathLst>
          </a:custGeom>
          <a:solidFill>
            <a:srgbClr val="1E7D3A"/>
          </a:solidFill>
          <a:ln/>
        </p:spPr>
      </p:sp>
      <p:sp>
        <p:nvSpPr>
          <p:cNvPr id="16" name="Text 14"/>
          <p:cNvSpPr/>
          <p:nvPr/>
        </p:nvSpPr>
        <p:spPr>
          <a:xfrm>
            <a:off x="8197453" y="4193555"/>
            <a:ext cx="306790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Kotlin</a:t>
            </a:r>
            <a:endParaRPr lang="en-US" sz="1700" dirty="0"/>
          </a:p>
        </p:txBody>
      </p:sp>
      <p:sp>
        <p:nvSpPr>
          <p:cNvPr id="17" name="Text 15"/>
          <p:cNvSpPr/>
          <p:nvPr/>
        </p:nvSpPr>
        <p:spPr>
          <a:xfrm>
            <a:off x="8197453" y="4516115"/>
            <a:ext cx="3067903"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Array&lt;T&gt; инвариантен: ошибка обнаруживается при компиляции</a:t>
            </a:r>
            <a:endParaRPr lang="en-US" sz="1500" dirty="0"/>
          </a:p>
        </p:txBody>
      </p:sp>
      <p:sp>
        <p:nvSpPr>
          <p:cNvPr id="18" name="Text 16"/>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ГЕНЕРИКИ · УПРАВЛЕНИЕ ВАРИАНТНОСТЬЮ</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Сравнение C#, Java и Kotlin</a:t>
            </a:r>
            <a:endParaRPr lang="en-US" sz="3000" dirty="0"/>
          </a:p>
        </p:txBody>
      </p:sp>
      <p:sp>
        <p:nvSpPr>
          <p:cNvPr id="4" name="Shape 2"/>
          <p:cNvSpPr/>
          <p:nvPr/>
        </p:nvSpPr>
        <p:spPr>
          <a:xfrm>
            <a:off x="812800" y="1623070"/>
            <a:ext cx="10566400" cy="3538220"/>
          </a:xfrm>
          <a:prstGeom prst="roundRect">
            <a:avLst>
              <a:gd name="adj" fmla="val 2872"/>
            </a:avLst>
          </a:prstGeom>
          <a:solidFill>
            <a:srgbClr val="ECEFF3"/>
          </a:solidFill>
          <a:ln/>
        </p:spPr>
      </p:sp>
      <p:sp>
        <p:nvSpPr>
          <p:cNvPr id="5" name="Shape 3"/>
          <p:cNvSpPr/>
          <p:nvPr/>
        </p:nvSpPr>
        <p:spPr>
          <a:xfrm>
            <a:off x="812800" y="1623070"/>
            <a:ext cx="10566400" cy="3538220"/>
          </a:xfrm>
          <a:custGeom>
            <a:avLst/>
            <a:gdLst/>
            <a:ahLst/>
            <a:cxnLst/>
            <a:rect l="l" t="t" r="r" b="b"/>
            <a:pathLst>
              <a:path w="10566400" h="3538220">
                <a:moveTo>
                  <a:pt x="101600" y="3538220"/>
                </a:moveTo>
                <a:lnTo>
                  <a:pt x="101600" y="3538220"/>
                </a:lnTo>
                <a:arcTo hR="101600" wR="101600" stAng="5400000" swAng="5400000"/>
                <a:lnTo>
                  <a:pt x="0" y="101600"/>
                </a:lnTo>
                <a:arcTo hR="101600" wR="101600" stAng="10800000" swAng="5400000"/>
                <a:lnTo>
                  <a:pt x="10464800" y="0"/>
                </a:lnTo>
                <a:arcTo hR="101600" wR="101600" stAng="16200000" swAng="5400000"/>
                <a:lnTo>
                  <a:pt x="10566400" y="101600"/>
                </a:lnTo>
                <a:arcTo hR="91440" wR="101600" stAng="0" swAng="-5400000"/>
                <a:lnTo>
                  <a:pt x="101600" y="10160"/>
                </a:lnTo>
                <a:arcTo hR="91440" wR="91440" stAng="16200000" swAng="-5400000"/>
                <a:lnTo>
                  <a:pt x="10160" y="3436620"/>
                </a:lnTo>
                <a:arcTo hR="101600" wR="9144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633230"/>
          <a:ext cx="10556240" cy="3528060"/>
        </p:xfrm>
        <a:graphic>
          <a:graphicData uri="http://schemas.openxmlformats.org/drawingml/2006/table">
            <a:tbl>
              <a:tblPr/>
              <a:tblGrid>
                <a:gridCol w="2639060"/>
                <a:gridCol w="2639060"/>
                <a:gridCol w="2639060"/>
                <a:gridCol w="2639060"/>
              </a:tblGrid>
              <a:tr h="410210">
                <a:tc>
                  <a:txBody>
                    <a:bodyPr/>
                    <a:lstStyle/>
                    <a:p>
                      <a:pPr indent="0" marL="0">
                        <a:lnSpc>
                          <a:spcPts val="2100"/>
                        </a:lnSpc>
                        <a:buNone/>
                      </a:pP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Java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Kotlin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r>
              <a:tr h="6769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Где задаётся вариантность</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В объявлении: in, out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В использовании: ? extends, ? super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В объявлении и в использовании</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6769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Вариантные типы</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Интерфейсы и делегаты</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Любые генерики через wildcard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Классы и интерфейсы</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Изменяемые коллекции</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Инвариантны</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Инвариантны</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Инвариантны</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6769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Коллекции только для чтения</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IEnumerable&lt;out T&gt;, IReadOnlyList&lt;out T&gt;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Отдельных интерфейсов нет</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List&lt;out E&gt;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6769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Массивы</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Ковариантны, проверка при выполнении</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Ковариантны, проверка при выполнении</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Инвариантны</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bl>
          </a:graphicData>
        </a:graphic>
      </p:graphicFrame>
      <p:sp>
        <p:nvSpPr>
          <p:cNvPr id="7" name="Text 4"/>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DCEF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FE1"/>
              </a:gs>
              <a:gs pos="60000">
                <a:srgbClr val="F7F8FA"/>
              </a:gs>
            </a:gsLst>
            <a:lin ang="1200000" scaled="0"/>
          </a:gradFill>
          <a:ln/>
        </p:spPr>
      </p:sp>
      <p:sp>
        <p:nvSpPr>
          <p:cNvPr id="3" name="Text 1"/>
          <p:cNvSpPr/>
          <p:nvPr/>
        </p:nvSpPr>
        <p:spPr>
          <a:xfrm>
            <a:off x="1143000" y="2476500"/>
            <a:ext cx="2743279" cy="1930400"/>
          </a:xfrm>
          <a:prstGeom prst="rect">
            <a:avLst/>
          </a:prstGeom>
          <a:noFill/>
          <a:ln/>
        </p:spPr>
        <p:txBody>
          <a:bodyPr wrap="square" lIns="0" tIns="0" rIns="0" bIns="0" rtlCol="0" anchor="t">
            <a:normAutofit/>
          </a:bodyPr>
          <a:lstStyle/>
          <a:p>
            <a:pPr algn="l" indent="0" marL="0">
              <a:lnSpc>
                <a:spcPts val="15000"/>
              </a:lnSpc>
              <a:buNone/>
            </a:pPr>
            <a:r>
              <a:rPr lang="en-US" sz="15000" dirty="0">
                <a:solidFill>
                  <a:srgbClr val="1E7D3A"/>
                </a:solidFill>
                <a:latin typeface="IBM Plex Sans" pitchFamily="34" charset="0"/>
                <a:ea typeface="IBM Plex Sans" pitchFamily="34" charset="-122"/>
                <a:cs typeface="IBM Plex Sans" pitchFamily="34" charset="-120"/>
              </a:rPr>
              <a:t>03</a:t>
            </a:r>
            <a:endParaRPr lang="en-US" sz="15000" dirty="0"/>
          </a:p>
        </p:txBody>
      </p:sp>
      <p:sp>
        <p:nvSpPr>
          <p:cNvPr id="4" name="Text 2"/>
          <p:cNvSpPr/>
          <p:nvPr>
            <p:ph type="title"/>
          </p:nvPr>
        </p:nvSpPr>
        <p:spPr>
          <a:xfrm>
            <a:off x="3886279" y="2769865"/>
            <a:ext cx="7717709" cy="612140"/>
          </a:xfrm>
          <a:prstGeom prst="rect">
            <a:avLst/>
          </a:prstGeom>
          <a:noFill/>
          <a:ln/>
        </p:spPr>
        <p:txBody>
          <a:bodyPr wrap="square" lIns="0" tIns="0" rIns="0" bIns="0" rtlCol="0" anchor="t">
            <a:normAutofit/>
          </a:bodyPr>
          <a:lstStyle/>
          <a:p>
            <a:pPr algn="l" indent="0" marL="0">
              <a:lnSpc>
                <a:spcPts val="4620"/>
              </a:lnSpc>
              <a:buNone/>
            </a:pPr>
            <a:r>
              <a:rPr lang="en-US" sz="4200" b="1" i="0" dirty="0">
                <a:solidFill>
                  <a:srgbClr val="14213D"/>
                </a:solidFill>
                <a:latin typeface="IBM Plex Sans" pitchFamily="34" charset="0"/>
                <a:ea typeface="IBM Plex Sans" pitchFamily="34" charset="-122"/>
                <a:cs typeface="IBM Plex Sans" pitchFamily="34" charset="-120"/>
              </a:rPr>
              <a:t>LINQ</a:t>
            </a:r>
            <a:endParaRPr lang="en-US" sz="4200" dirty="0"/>
          </a:p>
        </p:txBody>
      </p:sp>
      <p:sp>
        <p:nvSpPr>
          <p:cNvPr id="5" name="Text 3"/>
          <p:cNvSpPr/>
          <p:nvPr/>
        </p:nvSpPr>
        <p:spPr>
          <a:xfrm>
            <a:off x="3886279" y="3483620"/>
            <a:ext cx="7717709"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A6577"/>
                </a:solidFill>
                <a:latin typeface="IBM Plex Sans" pitchFamily="34" charset="0"/>
                <a:ea typeface="IBM Plex Sans" pitchFamily="34" charset="-122"/>
                <a:cs typeface="IBM Plex Sans" pitchFamily="34" charset="-120"/>
              </a:rPr>
              <a:t>Language-Integrated Query: методы, отложенное исполнение, язык запросов, yield, IQueryable и деревья выражений</a:t>
            </a:r>
            <a:endParaRPr lang="en-US" sz="1700" dirty="0"/>
          </a:p>
        </p:txBody>
      </p:sp>
      <p:sp>
        <p:nvSpPr>
          <p:cNvPr id="6" name="Text 4"/>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Что такое LINQ и зачем он нужен</a:t>
            </a:r>
            <a:endParaRPr lang="en-US" sz="3000" dirty="0"/>
          </a:p>
        </p:txBody>
      </p:sp>
      <p:sp>
        <p:nvSpPr>
          <p:cNvPr id="4" name="Text 2"/>
          <p:cNvSpPr/>
          <p:nvPr/>
        </p:nvSpPr>
        <p:spPr>
          <a:xfrm>
            <a:off x="812800" y="1623070"/>
            <a:ext cx="533704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41A"/>
                </a:solidFill>
                <a:latin typeface="IBM Plex Sans" pitchFamily="34" charset="0"/>
                <a:ea typeface="IBM Plex Sans" pitchFamily="34" charset="-122"/>
                <a:cs typeface="IBM Plex Sans" pitchFamily="34" charset="-120"/>
              </a:rPr>
              <a:t>Императивный подход</a:t>
            </a:r>
            <a:endParaRPr lang="en-US" sz="1500" dirty="0"/>
          </a:p>
        </p:txBody>
      </p:sp>
      <p:sp>
        <p:nvSpPr>
          <p:cNvPr id="5" name="Text 3"/>
          <p:cNvSpPr/>
          <p:nvPr/>
        </p:nvSpPr>
        <p:spPr>
          <a:xfrm>
            <a:off x="812800" y="1991370"/>
            <a:ext cx="5181600" cy="1953260"/>
          </a:xfrm>
          <a:prstGeom prst="roundRect">
            <a:avLst>
              <a:gd name="adj" fmla="val 5202"/>
            </a:avLst>
          </a:prstGeom>
          <a:solidFill>
            <a:srgbClr val="EEF1F5"/>
          </a:solidFill>
          <a:ln/>
        </p:spPr>
        <p:txBody>
          <a:bodyPr wrap="none" lIns="224242" tIns="173442" rIns="84034"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result = new List&lt;string&gt;();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foreach (var s in students)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if (s.Group == "25.Б41")</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result.Add(s.Name.ToUpper());</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result.Sort();</a:t>
            </a:r>
            <a:endParaRPr lang="en-US" sz="1200" dirty="0"/>
          </a:p>
        </p:txBody>
      </p:sp>
      <p:sp>
        <p:nvSpPr>
          <p:cNvPr id="6" name="Text 4"/>
          <p:cNvSpPr/>
          <p:nvPr/>
        </p:nvSpPr>
        <p:spPr>
          <a:xfrm>
            <a:off x="6197600" y="1623070"/>
            <a:ext cx="533704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7D3A"/>
                </a:solidFill>
                <a:latin typeface="IBM Plex Sans" pitchFamily="34" charset="0"/>
                <a:ea typeface="IBM Plex Sans" pitchFamily="34" charset="-122"/>
                <a:cs typeface="IBM Plex Sans" pitchFamily="34" charset="-120"/>
              </a:rPr>
              <a:t>С использованием LINQ</a:t>
            </a:r>
            <a:endParaRPr lang="en-US" sz="1500" dirty="0"/>
          </a:p>
        </p:txBody>
      </p:sp>
      <p:sp>
        <p:nvSpPr>
          <p:cNvPr id="7" name="Text 5"/>
          <p:cNvSpPr/>
          <p:nvPr/>
        </p:nvSpPr>
        <p:spPr>
          <a:xfrm>
            <a:off x="6197600" y="1991370"/>
            <a:ext cx="5181600" cy="1290320"/>
          </a:xfrm>
          <a:prstGeom prst="roundRect">
            <a:avLst>
              <a:gd name="adj" fmla="val 7874"/>
            </a:avLst>
          </a:prstGeom>
          <a:solidFill>
            <a:srgbClr val="EEF1F5"/>
          </a:solidFill>
          <a:ln/>
        </p:spPr>
        <p:txBody>
          <a:bodyPr wrap="none" lIns="224242" tIns="173442" rIns="84034"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result = students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.Where(s =&gt; s.Group == "25.Б41")</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.Select(s =&gt; s.Name.ToUpper())</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.OrderBy(name =&gt; name);</a:t>
            </a:r>
            <a:endParaRPr lang="en-US" sz="1200" dirty="0"/>
          </a:p>
        </p:txBody>
      </p:sp>
      <p:sp>
        <p:nvSpPr>
          <p:cNvPr id="8" name="Shape 6"/>
          <p:cNvSpPr/>
          <p:nvPr/>
        </p:nvSpPr>
        <p:spPr>
          <a:xfrm>
            <a:off x="812800" y="4147815"/>
            <a:ext cx="3420507" cy="1557655"/>
          </a:xfrm>
          <a:prstGeom prst="roundRect">
            <a:avLst>
              <a:gd name="adj" fmla="val 6523"/>
            </a:avLst>
          </a:prstGeom>
          <a:solidFill>
            <a:srgbClr val="ECEFF3"/>
          </a:solidFill>
          <a:ln/>
        </p:spPr>
      </p:sp>
      <p:sp>
        <p:nvSpPr>
          <p:cNvPr id="9" name="Text 7"/>
          <p:cNvSpPr/>
          <p:nvPr/>
        </p:nvSpPr>
        <p:spPr>
          <a:xfrm>
            <a:off x="1016000" y="4351015"/>
            <a:ext cx="310453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Декларативность</a:t>
            </a:r>
            <a:endParaRPr lang="en-US" sz="1700" dirty="0"/>
          </a:p>
        </p:txBody>
      </p:sp>
      <p:sp>
        <p:nvSpPr>
          <p:cNvPr id="10" name="Text 8"/>
          <p:cNvSpPr/>
          <p:nvPr/>
        </p:nvSpPr>
        <p:spPr>
          <a:xfrm>
            <a:off x="1016000" y="4673600"/>
            <a:ext cx="310453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Описывается требуемый результат, а не способ обхода коллекции</a:t>
            </a:r>
            <a:endParaRPr lang="en-US" sz="1500" dirty="0"/>
          </a:p>
        </p:txBody>
      </p:sp>
      <p:sp>
        <p:nvSpPr>
          <p:cNvPr id="11" name="Shape 9"/>
          <p:cNvSpPr/>
          <p:nvPr/>
        </p:nvSpPr>
        <p:spPr>
          <a:xfrm>
            <a:off x="4385707" y="4147815"/>
            <a:ext cx="3420586" cy="1557655"/>
          </a:xfrm>
          <a:prstGeom prst="roundRect">
            <a:avLst>
              <a:gd name="adj" fmla="val 6523"/>
            </a:avLst>
          </a:prstGeom>
          <a:solidFill>
            <a:srgbClr val="ECEFF3"/>
          </a:solidFill>
          <a:ln/>
        </p:spPr>
      </p:sp>
      <p:sp>
        <p:nvSpPr>
          <p:cNvPr id="12" name="Text 10"/>
          <p:cNvSpPr/>
          <p:nvPr/>
        </p:nvSpPr>
        <p:spPr>
          <a:xfrm>
            <a:off x="4588907" y="4351015"/>
            <a:ext cx="310461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Единый синтаксис</a:t>
            </a:r>
            <a:endParaRPr lang="en-US" sz="1700" dirty="0"/>
          </a:p>
        </p:txBody>
      </p:sp>
      <p:sp>
        <p:nvSpPr>
          <p:cNvPr id="13" name="Text 11"/>
          <p:cNvSpPr/>
          <p:nvPr/>
        </p:nvSpPr>
        <p:spPr>
          <a:xfrm>
            <a:off x="4588907" y="4673600"/>
            <a:ext cx="310461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Одни и те же операции для коллекций, XML и баз данных</a:t>
            </a:r>
            <a:endParaRPr lang="en-US" sz="1500" dirty="0"/>
          </a:p>
        </p:txBody>
      </p:sp>
      <p:sp>
        <p:nvSpPr>
          <p:cNvPr id="14" name="Shape 12"/>
          <p:cNvSpPr/>
          <p:nvPr/>
        </p:nvSpPr>
        <p:spPr>
          <a:xfrm>
            <a:off x="7958693" y="4147815"/>
            <a:ext cx="3420507" cy="1557655"/>
          </a:xfrm>
          <a:prstGeom prst="roundRect">
            <a:avLst>
              <a:gd name="adj" fmla="val 6523"/>
            </a:avLst>
          </a:prstGeom>
          <a:solidFill>
            <a:srgbClr val="ECEFF3"/>
          </a:solidFill>
          <a:ln/>
        </p:spPr>
      </p:sp>
      <p:sp>
        <p:nvSpPr>
          <p:cNvPr id="15" name="Text 13"/>
          <p:cNvSpPr/>
          <p:nvPr/>
        </p:nvSpPr>
        <p:spPr>
          <a:xfrm>
            <a:off x="8161893" y="4351015"/>
            <a:ext cx="310453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Интеграция в язык</a:t>
            </a:r>
            <a:endParaRPr lang="en-US" sz="1700" dirty="0"/>
          </a:p>
        </p:txBody>
      </p:sp>
      <p:sp>
        <p:nvSpPr>
          <p:cNvPr id="16" name="Text 14"/>
          <p:cNvSpPr/>
          <p:nvPr/>
        </p:nvSpPr>
        <p:spPr>
          <a:xfrm>
            <a:off x="8161893" y="4673600"/>
            <a:ext cx="310453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Запрос проверяется компилятором, в отличие от SQL в строке</a:t>
            </a:r>
            <a:endParaRPr lang="en-US" sz="1500" dirty="0"/>
          </a:p>
        </p:txBody>
      </p:sp>
      <p:sp>
        <p:nvSpPr>
          <p:cNvPr id="17" name="Text 15"/>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LINQ как набор методов-расширений</a:t>
            </a:r>
            <a:endParaRPr lang="en-US" sz="3000" dirty="0"/>
          </a:p>
        </p:txBody>
      </p:sp>
      <p:sp>
        <p:nvSpPr>
          <p:cNvPr id="4" name="Text 2"/>
          <p:cNvSpPr/>
          <p:nvPr/>
        </p:nvSpPr>
        <p:spPr>
          <a:xfrm>
            <a:off x="812800" y="1623070"/>
            <a:ext cx="10566400" cy="2174240"/>
          </a:xfrm>
          <a:prstGeom prst="roundRect">
            <a:avLst>
              <a:gd name="adj" fmla="val 4673"/>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System.Linq.Enumerable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static IEnumerable&lt;TSource&gt; Where&lt;TSource&gt;(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this IEnumerable&lt;TSource&gt; source,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Func&lt;TSource, bool&gt; predicate)</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students.Where(s =&gt; s.Age &gt; 18)</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компилятор преобразует в вызов статического метода:</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Enumerable.Where(students, s =&gt; s.Age &gt; 18)</a:t>
            </a:r>
            <a:endParaRPr lang="en-US" sz="1200" dirty="0"/>
          </a:p>
        </p:txBody>
      </p:sp>
      <p:sp>
        <p:nvSpPr>
          <p:cNvPr id="5" name="Shape 3"/>
          <p:cNvSpPr/>
          <p:nvPr/>
        </p:nvSpPr>
        <p:spPr>
          <a:xfrm>
            <a:off x="812800" y="4000500"/>
            <a:ext cx="3420507" cy="1565910"/>
          </a:xfrm>
          <a:prstGeom prst="roundRect">
            <a:avLst>
              <a:gd name="adj" fmla="val 6488"/>
            </a:avLst>
          </a:prstGeom>
          <a:solidFill>
            <a:srgbClr val="ECEFF3"/>
          </a:solidFill>
          <a:ln/>
        </p:spPr>
      </p:sp>
      <p:sp>
        <p:nvSpPr>
          <p:cNvPr id="6" name="Shape 4"/>
          <p:cNvSpPr/>
          <p:nvPr/>
        </p:nvSpPr>
        <p:spPr>
          <a:xfrm>
            <a:off x="812800" y="4000500"/>
            <a:ext cx="3420507" cy="1565910"/>
          </a:xfrm>
          <a:custGeom>
            <a:avLst/>
            <a:gdLst/>
            <a:ahLst/>
            <a:cxnLst/>
            <a:rect l="l" t="t" r="r" b="b"/>
            <a:pathLst>
              <a:path w="3420507" h="1565910">
                <a:moveTo>
                  <a:pt x="101600" y="1565910"/>
                </a:moveTo>
                <a:lnTo>
                  <a:pt x="101600" y="1565910"/>
                </a:lnTo>
                <a:arcTo hR="101600" wR="101600" stAng="5400000" swAng="5400000"/>
                <a:lnTo>
                  <a:pt x="0" y="101600"/>
                </a:lnTo>
                <a:arcTo hR="101600" wR="101600" stAng="10800000" swAng="5400000"/>
                <a:lnTo>
                  <a:pt x="101600" y="0"/>
                </a:lnTo>
                <a:arcTo hR="101600" wR="63500" stAng="16200000" swAng="-5400000"/>
                <a:lnTo>
                  <a:pt x="38100" y="1464310"/>
                </a:lnTo>
                <a:arcTo hR="101600" wR="63500" stAng="10800000" swAng="-5400000"/>
                <a:close/>
              </a:path>
            </a:pathLst>
          </a:custGeom>
          <a:solidFill>
            <a:srgbClr val="1E7D3A"/>
          </a:solidFill>
          <a:ln/>
        </p:spPr>
      </p:sp>
      <p:sp>
        <p:nvSpPr>
          <p:cNvPr id="7" name="Text 5"/>
          <p:cNvSpPr/>
          <p:nvPr/>
        </p:nvSpPr>
        <p:spPr>
          <a:xfrm>
            <a:off x="1051560" y="4203700"/>
            <a:ext cx="306790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Генерики</a:t>
            </a:r>
            <a:endParaRPr lang="en-US" sz="1700" dirty="0"/>
          </a:p>
        </p:txBody>
      </p:sp>
      <p:sp>
        <p:nvSpPr>
          <p:cNvPr id="8" name="Text 6"/>
          <p:cNvSpPr/>
          <p:nvPr/>
        </p:nvSpPr>
        <p:spPr>
          <a:xfrm>
            <a:off x="1051560" y="4526285"/>
            <a:ext cx="3067903"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7D3A"/>
                </a:solidFill>
                <a:latin typeface="JetBrains Mono" pitchFamily="49" charset="0"/>
                <a:ea typeface="JetBrains Mono" pitchFamily="49" charset="-122"/>
                <a:cs typeface="JetBrains Mono" pitchFamily="49" charset="-120"/>
              </a:rPr>
              <a:t>Where&lt;TSource&gt;</a:t>
            </a:r>
            <a:endParaRPr lang="en-US" sz="1200" dirty="0"/>
          </a:p>
        </p:txBody>
      </p:sp>
      <p:sp>
        <p:nvSpPr>
          <p:cNvPr id="9" name="Text 7"/>
          <p:cNvSpPr/>
          <p:nvPr/>
        </p:nvSpPr>
        <p:spPr>
          <a:xfrm>
            <a:off x="1051560" y="4810770"/>
            <a:ext cx="306790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Один метод для коллекций любого типа</a:t>
            </a:r>
            <a:endParaRPr lang="en-US" sz="1500" dirty="0"/>
          </a:p>
        </p:txBody>
      </p:sp>
      <p:sp>
        <p:nvSpPr>
          <p:cNvPr id="10" name="Shape 8"/>
          <p:cNvSpPr/>
          <p:nvPr/>
        </p:nvSpPr>
        <p:spPr>
          <a:xfrm>
            <a:off x="4385707" y="4000500"/>
            <a:ext cx="3420586" cy="1565910"/>
          </a:xfrm>
          <a:prstGeom prst="roundRect">
            <a:avLst>
              <a:gd name="adj" fmla="val 6488"/>
            </a:avLst>
          </a:prstGeom>
          <a:solidFill>
            <a:srgbClr val="ECEFF3"/>
          </a:solidFill>
          <a:ln/>
        </p:spPr>
      </p:sp>
      <p:sp>
        <p:nvSpPr>
          <p:cNvPr id="11" name="Shape 9"/>
          <p:cNvSpPr/>
          <p:nvPr/>
        </p:nvSpPr>
        <p:spPr>
          <a:xfrm>
            <a:off x="4385707" y="4000500"/>
            <a:ext cx="3420586" cy="1565910"/>
          </a:xfrm>
          <a:custGeom>
            <a:avLst/>
            <a:gdLst/>
            <a:ahLst/>
            <a:cxnLst/>
            <a:rect l="l" t="t" r="r" b="b"/>
            <a:pathLst>
              <a:path w="3420586" h="1565910">
                <a:moveTo>
                  <a:pt x="101600" y="1565910"/>
                </a:moveTo>
                <a:lnTo>
                  <a:pt x="101600" y="1565910"/>
                </a:lnTo>
                <a:arcTo hR="101600" wR="101600" stAng="5400000" swAng="5400000"/>
                <a:lnTo>
                  <a:pt x="0" y="101600"/>
                </a:lnTo>
                <a:arcTo hR="101600" wR="101600" stAng="10800000" swAng="5400000"/>
                <a:lnTo>
                  <a:pt x="101600" y="0"/>
                </a:lnTo>
                <a:arcTo hR="101600" wR="63500" stAng="16200000" swAng="-5400000"/>
                <a:lnTo>
                  <a:pt x="38100" y="1464310"/>
                </a:lnTo>
                <a:arcTo hR="101600" wR="63500" stAng="10800000" swAng="-5400000"/>
                <a:close/>
              </a:path>
            </a:pathLst>
          </a:custGeom>
          <a:solidFill>
            <a:srgbClr val="2456B8"/>
          </a:solidFill>
          <a:ln/>
        </p:spPr>
      </p:sp>
      <p:sp>
        <p:nvSpPr>
          <p:cNvPr id="12" name="Text 10"/>
          <p:cNvSpPr/>
          <p:nvPr/>
        </p:nvSpPr>
        <p:spPr>
          <a:xfrm>
            <a:off x="4624467" y="4203700"/>
            <a:ext cx="306798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Делегаты и лямбды</a:t>
            </a:r>
            <a:endParaRPr lang="en-US" sz="1700" dirty="0"/>
          </a:p>
        </p:txBody>
      </p:sp>
      <p:sp>
        <p:nvSpPr>
          <p:cNvPr id="13" name="Text 11"/>
          <p:cNvSpPr/>
          <p:nvPr/>
        </p:nvSpPr>
        <p:spPr>
          <a:xfrm>
            <a:off x="4624467" y="4526285"/>
            <a:ext cx="306798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456B8"/>
                </a:solidFill>
                <a:latin typeface="JetBrains Mono" pitchFamily="49" charset="0"/>
                <a:ea typeface="JetBrains Mono" pitchFamily="49" charset="-122"/>
                <a:cs typeface="JetBrains Mono" pitchFamily="49" charset="-120"/>
              </a:rPr>
              <a:t>Func&lt;TSource, bool&gt;</a:t>
            </a:r>
            <a:endParaRPr lang="en-US" sz="1200" dirty="0"/>
          </a:p>
        </p:txBody>
      </p:sp>
      <p:sp>
        <p:nvSpPr>
          <p:cNvPr id="14" name="Text 12"/>
          <p:cNvSpPr/>
          <p:nvPr/>
        </p:nvSpPr>
        <p:spPr>
          <a:xfrm>
            <a:off x="4624467" y="4810770"/>
            <a:ext cx="3067985"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Условие передаётся как значение</a:t>
            </a:r>
            <a:endParaRPr lang="en-US" sz="1500" dirty="0"/>
          </a:p>
        </p:txBody>
      </p:sp>
      <p:sp>
        <p:nvSpPr>
          <p:cNvPr id="15" name="Shape 13"/>
          <p:cNvSpPr/>
          <p:nvPr/>
        </p:nvSpPr>
        <p:spPr>
          <a:xfrm>
            <a:off x="7958693" y="4000500"/>
            <a:ext cx="3420507" cy="1565910"/>
          </a:xfrm>
          <a:prstGeom prst="roundRect">
            <a:avLst>
              <a:gd name="adj" fmla="val 6488"/>
            </a:avLst>
          </a:prstGeom>
          <a:solidFill>
            <a:srgbClr val="ECEFF3"/>
          </a:solidFill>
          <a:ln/>
        </p:spPr>
      </p:sp>
      <p:sp>
        <p:nvSpPr>
          <p:cNvPr id="16" name="Shape 14"/>
          <p:cNvSpPr/>
          <p:nvPr/>
        </p:nvSpPr>
        <p:spPr>
          <a:xfrm>
            <a:off x="7958693" y="4000500"/>
            <a:ext cx="3420507" cy="1565910"/>
          </a:xfrm>
          <a:custGeom>
            <a:avLst/>
            <a:gdLst/>
            <a:ahLst/>
            <a:cxnLst/>
            <a:rect l="l" t="t" r="r" b="b"/>
            <a:pathLst>
              <a:path w="3420507" h="1565910">
                <a:moveTo>
                  <a:pt x="101600" y="1565910"/>
                </a:moveTo>
                <a:lnTo>
                  <a:pt x="101600" y="1565910"/>
                </a:lnTo>
                <a:arcTo hR="101600" wR="101600" stAng="5400000" swAng="5400000"/>
                <a:lnTo>
                  <a:pt x="0" y="101600"/>
                </a:lnTo>
                <a:arcTo hR="101600" wR="101600" stAng="10800000" swAng="5400000"/>
                <a:lnTo>
                  <a:pt x="101600" y="0"/>
                </a:lnTo>
                <a:arcTo hR="101600" wR="63500" stAng="16200000" swAng="-5400000"/>
                <a:lnTo>
                  <a:pt x="38100" y="1464310"/>
                </a:lnTo>
                <a:arcTo hR="101600" wR="63500" stAng="10800000" swAng="-5400000"/>
                <a:close/>
              </a:path>
            </a:pathLst>
          </a:custGeom>
          <a:solidFill>
            <a:srgbClr val="B4541A"/>
          </a:solidFill>
          <a:ln/>
        </p:spPr>
      </p:sp>
      <p:sp>
        <p:nvSpPr>
          <p:cNvPr id="17" name="Text 15"/>
          <p:cNvSpPr/>
          <p:nvPr/>
        </p:nvSpPr>
        <p:spPr>
          <a:xfrm>
            <a:off x="8197453" y="4203700"/>
            <a:ext cx="306790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Методы-расширения</a:t>
            </a:r>
            <a:endParaRPr lang="en-US" sz="1700" dirty="0"/>
          </a:p>
        </p:txBody>
      </p:sp>
      <p:sp>
        <p:nvSpPr>
          <p:cNvPr id="18" name="Text 16"/>
          <p:cNvSpPr/>
          <p:nvPr/>
        </p:nvSpPr>
        <p:spPr>
          <a:xfrm>
            <a:off x="8197453" y="4526285"/>
            <a:ext cx="3067903"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4541A"/>
                </a:solidFill>
                <a:latin typeface="JetBrains Mono" pitchFamily="49" charset="0"/>
                <a:ea typeface="JetBrains Mono" pitchFamily="49" charset="-122"/>
                <a:cs typeface="JetBrains Mono" pitchFamily="49" charset="-120"/>
              </a:rPr>
              <a:t>this IEnumerable&lt;TSource&gt;</a:t>
            </a:r>
            <a:endParaRPr lang="en-US" sz="1200" dirty="0"/>
          </a:p>
        </p:txBody>
      </p:sp>
      <p:sp>
        <p:nvSpPr>
          <p:cNvPr id="19" name="Text 17"/>
          <p:cNvSpPr/>
          <p:nvPr/>
        </p:nvSpPr>
        <p:spPr>
          <a:xfrm>
            <a:off x="8197453" y="4810770"/>
            <a:ext cx="306790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Вызов через точку без изменения типа</a:t>
            </a:r>
            <a:endParaRPr lang="en-US" sz="1500" dirty="0"/>
          </a:p>
        </p:txBody>
      </p:sp>
      <p:sp>
        <p:nvSpPr>
          <p:cNvPr id="20" name="Text 18"/>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Основные методы</a:t>
            </a:r>
            <a:endParaRPr lang="en-US" sz="3000" dirty="0"/>
          </a:p>
        </p:txBody>
      </p:sp>
      <p:sp>
        <p:nvSpPr>
          <p:cNvPr id="4" name="Shape 2"/>
          <p:cNvSpPr/>
          <p:nvPr/>
        </p:nvSpPr>
        <p:spPr>
          <a:xfrm>
            <a:off x="812800" y="1623070"/>
            <a:ext cx="10566400" cy="4082415"/>
          </a:xfrm>
          <a:prstGeom prst="roundRect">
            <a:avLst>
              <a:gd name="adj" fmla="val 2489"/>
            </a:avLst>
          </a:prstGeom>
          <a:solidFill>
            <a:srgbClr val="ECEFF3"/>
          </a:solidFill>
          <a:ln/>
        </p:spPr>
      </p:sp>
      <p:sp>
        <p:nvSpPr>
          <p:cNvPr id="5" name="Shape 3"/>
          <p:cNvSpPr/>
          <p:nvPr/>
        </p:nvSpPr>
        <p:spPr>
          <a:xfrm>
            <a:off x="812800" y="1623070"/>
            <a:ext cx="10566400" cy="4082415"/>
          </a:xfrm>
          <a:custGeom>
            <a:avLst/>
            <a:gdLst/>
            <a:ahLst/>
            <a:cxnLst/>
            <a:rect l="l" t="t" r="r" b="b"/>
            <a:pathLst>
              <a:path w="10566400" h="4082415">
                <a:moveTo>
                  <a:pt x="101600" y="4082415"/>
                </a:moveTo>
                <a:lnTo>
                  <a:pt x="101600" y="4082415"/>
                </a:lnTo>
                <a:arcTo hR="101600" wR="101600" stAng="5400000" swAng="5400000"/>
                <a:lnTo>
                  <a:pt x="0" y="101600"/>
                </a:lnTo>
                <a:arcTo hR="101600" wR="101600" stAng="10800000" swAng="5400000"/>
                <a:lnTo>
                  <a:pt x="10464800" y="0"/>
                </a:lnTo>
                <a:arcTo hR="101600" wR="101600" stAng="16200000" swAng="5400000"/>
                <a:lnTo>
                  <a:pt x="10566400" y="101600"/>
                </a:lnTo>
                <a:arcTo hR="91440" wR="101600" stAng="0" swAng="-5400000"/>
                <a:lnTo>
                  <a:pt x="101600" y="10160"/>
                </a:lnTo>
                <a:arcTo hR="91440" wR="91440" stAng="16200000" swAng="-5400000"/>
                <a:lnTo>
                  <a:pt x="10160" y="3980815"/>
                </a:lnTo>
                <a:arcTo hR="101600" wR="9144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633230"/>
          <a:ext cx="10556240" cy="4072255"/>
        </p:xfrm>
        <a:graphic>
          <a:graphicData uri="http://schemas.openxmlformats.org/drawingml/2006/table">
            <a:tbl>
              <a:tblPr/>
              <a:tblGrid>
                <a:gridCol w="3166872"/>
                <a:gridCol w="7389368"/>
              </a:tblGrid>
              <a:tr h="370205">
                <a:tc>
                  <a:txBody>
                    <a:bodyPr/>
                    <a:lstStyle/>
                    <a:p>
                      <a:pPr indent="0" marL="0">
                        <a:lnSpc>
                          <a:spcPts val="1890"/>
                        </a:lnSpc>
                        <a:buNone/>
                      </a:pPr>
                      <a:r>
                        <a:rPr lang="en-US" sz="1350" b="1" dirty="0">
                          <a:solidFill>
                            <a:srgbClr val="14213D"/>
                          </a:solidFill>
                          <a:latin typeface="IBM Plex Sans" pitchFamily="34" charset="0"/>
                          <a:ea typeface="IBM Plex Sans" pitchFamily="34" charset="-122"/>
                          <a:cs typeface="IBM Plex Sans" pitchFamily="34" charset="-120"/>
                        </a:rPr>
                        <a:t>Категория</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1890"/>
                        </a:lnSpc>
                        <a:buNone/>
                      </a:pPr>
                      <a:r>
                        <a:rPr lang="en-US" sz="1350" b="1" dirty="0">
                          <a:solidFill>
                            <a:srgbClr val="14213D"/>
                          </a:solidFill>
                          <a:latin typeface="IBM Plex Sans" pitchFamily="34" charset="0"/>
                          <a:ea typeface="IBM Plex Sans" pitchFamily="34" charset="-122"/>
                          <a:cs typeface="IBM Plex Sans" pitchFamily="34" charset="-120"/>
                        </a:rPr>
                        <a:t>Методы</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r>
              <a:tr h="37020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Фильтрация</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Where, OfType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7020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Проекция</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Select, SelectMany, Zip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7020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Сортировка</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OrderBy, OrderByDescending, ThenBy, Reverse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7020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Разбиение</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Take, Skip, TakeWhile, SkipWhile, Chunk</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7020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Множества</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Distinct, Union, Intersect, Except и их варианты …By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7020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Группировка и соединение</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GroupBy, ToLookup, Join, GroupJoin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7020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Квантификаторы</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Any, All, Contains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7020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Агрегирование</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Count, Sum, Min, Max, MinBy, MaxBy, Average, Aggregate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7020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Получение элемента</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First, Last, Single, ElementAt и их варианты …OrDefault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70205">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Материализация</a:t>
                      </a:r>
                      <a:endParaRPr lang="en-US" sz="1350" dirty="0">
                        <a:latin typeface="IBM Plex Sans" charset="0"/>
                        <a:ea typeface="IBM Plex Sans" charset="0"/>
                        <a:cs typeface="IBM Plex Sans" charset="0"/>
                      </a:endParaRPr>
                    </a:p>
                  </a:txBody>
                  <a:tcPr marL="60007" marR="60007" marT="60007" marB="60007"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890"/>
                        </a:lnSpc>
                        <a:buNone/>
                      </a:pPr>
                      <a:r>
                        <a:rPr lang="en-US" sz="1350" dirty="0">
                          <a:solidFill>
                            <a:srgbClr val="14213D"/>
                          </a:solidFill>
                          <a:latin typeface="IBM Plex Sans" pitchFamily="34" charset="0"/>
                          <a:ea typeface="IBM Plex Sans" pitchFamily="34" charset="-122"/>
                          <a:cs typeface="IBM Plex Sans" pitchFamily="34" charset="-120"/>
                        </a:rPr>
                        <a:t>ToList, ToArray, ToDictionary, ToHashSet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bl>
          </a:graphicData>
        </a:graphic>
      </p:graphicFrame>
      <p:sp>
        <p:nvSpPr>
          <p:cNvPr id="7" name="Text 4"/>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ПРИМЕРЫ</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Данные для примеров</a:t>
            </a:r>
            <a:endParaRPr lang="en-US" sz="3000" dirty="0"/>
          </a:p>
        </p:txBody>
      </p:sp>
      <p:sp>
        <p:nvSpPr>
          <p:cNvPr id="4" name="Text 2"/>
          <p:cNvSpPr/>
          <p:nvPr/>
        </p:nvSpPr>
        <p:spPr>
          <a:xfrm>
            <a:off x="812800" y="1623070"/>
            <a:ext cx="10566400" cy="3942080"/>
          </a:xfrm>
          <a:prstGeom prst="roundRect">
            <a:avLst>
              <a:gd name="adj" fmla="val 2577"/>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record Student(string Name, string Group, int Age);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record Grade(string StudentName, string Course, int Score);</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List&lt;Student&gt; students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new("Анна", "25.Б41", 19), new("Борис", "25.Б41", 20),</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new("Вера", "25.Б42", 18), new("Глеб", "25.Б42", 19),</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new("Дина", "25.Б43", 20), new("Егор", "25.Б43", 18),</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List&lt;Grade&gt; grades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new("Анна", "C#", 5), new("Анна", "Матан", 4), new("Борис", "C#", 3),</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new("Вера", "C#", 5), new("Вера", "Матан", 5), new("Глеб", "C#", 4),</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new("Дина", "Матан", 4),</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p:txBody>
      </p:sp>
      <p:sp>
        <p:nvSpPr>
          <p:cNvPr id="5" name="Text 3"/>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ПРИМЕРЫ</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Фильтрация, проекция, агрегирование</a:t>
            </a:r>
            <a:endParaRPr lang="en-US" sz="3000" dirty="0"/>
          </a:p>
        </p:txBody>
      </p:sp>
      <p:sp>
        <p:nvSpPr>
          <p:cNvPr id="4" name="Text 2"/>
          <p:cNvSpPr/>
          <p:nvPr/>
        </p:nvSpPr>
        <p:spPr>
          <a:xfrm>
            <a:off x="812800" y="1623070"/>
            <a:ext cx="10566400" cy="3279140"/>
          </a:xfrm>
          <a:prstGeom prst="roundRect">
            <a:avLst>
              <a:gd name="adj" fmla="val 3098"/>
            </a:avLst>
          </a:prstGeom>
          <a:solidFill>
            <a:srgbClr val="EEF1F5"/>
          </a:solidFill>
          <a:ln/>
        </p:spPr>
        <p:txBody>
          <a:bodyPr wrap="none" lIns="224242" tIns="173442" rIns="0" bIns="148043" rtlCol="0" anchor="t">
            <a:normAutofit/>
          </a:bodyPr>
          <a:lstStyle/>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Студенты группы 25.Б42 в алфавитном порядке</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b42 = students.Where(s =&gt; s.Group == "25.Б42").OrderBy(s =&gt; s.Name);</a:t>
            </a:r>
            <a:endParaRPr lang="en-US" sz="1200" dirty="0"/>
          </a:p>
          <a:p>
            <a:pPr algn="l" indent="0" marL="0">
              <a:lnSpc>
                <a:spcPts val="1740"/>
              </a:lnSpc>
              <a:buNone/>
            </a:pP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Оценки по C# в виде строк «Анна: 5»</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csharp = grades.Where(g =&gt; g.Course == "C#").Select(g =&gt; $"{g.StudentName}: {g.Score}");</a:t>
            </a:r>
            <a:endParaRPr lang="en-US" sz="1200" dirty="0"/>
          </a:p>
          <a:p>
            <a:pPr algn="l" indent="0" marL="0">
              <a:lnSpc>
                <a:spcPts val="1740"/>
              </a:lnSpc>
              <a:buNone/>
            </a:pP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Квантификаторы</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bool anyTwo = grades.Any(g =&gt; g.Score == 2);  </a:t>
            </a:r>
            <a:r>
              <a:rPr lang="en-US" sz="1200" dirty="0">
                <a:solidFill>
                  <a:srgbClr val="5F6B7A"/>
                </a:solidFill>
                <a:latin typeface="JetBrains Mono" pitchFamily="49" charset="0"/>
                <a:ea typeface="JetBrains Mono" pitchFamily="49" charset="-122"/>
                <a:cs typeface="JetBrains Mono" pitchFamily="49" charset="-120"/>
              </a:rPr>
              <a:t>// false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bool allAdults = students.All(s =&gt; s.Age &gt;= 18);  </a:t>
            </a:r>
            <a:r>
              <a:rPr lang="en-US" sz="1200" dirty="0">
                <a:solidFill>
                  <a:srgbClr val="5F6B7A"/>
                </a:solidFill>
                <a:latin typeface="JetBrains Mono" pitchFamily="49" charset="0"/>
                <a:ea typeface="JetBrains Mono" pitchFamily="49" charset="-122"/>
                <a:cs typeface="JetBrains Mono" pitchFamily="49" charset="-120"/>
              </a:rPr>
              <a:t>// true</a:t>
            </a:r>
            <a:endParaRPr lang="en-US" sz="1200" dirty="0"/>
          </a:p>
          <a:p>
            <a:pPr algn="l" indent="0" marL="0">
              <a:lnSpc>
                <a:spcPts val="1740"/>
              </a:lnSpc>
              <a:buNone/>
            </a:pP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Агрегирование</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double average = grades.Average(g =&gt; g.Score);  </a:t>
            </a:r>
            <a:r>
              <a:rPr lang="en-US" sz="1200" dirty="0">
                <a:solidFill>
                  <a:srgbClr val="5F6B7A"/>
                </a:solidFill>
                <a:latin typeface="JetBrains Mono" pitchFamily="49" charset="0"/>
                <a:ea typeface="JetBrains Mono" pitchFamily="49" charset="-122"/>
                <a:cs typeface="JetBrains Mono" pitchFamily="49" charset="-120"/>
              </a:rPr>
              <a:t>// 4.29</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best = grades.Where(g =&gt; g.Course == "C#").MaxBy(g =&gt; g.Score);  </a:t>
            </a:r>
            <a:r>
              <a:rPr lang="en-US" sz="1200" dirty="0">
                <a:solidFill>
                  <a:srgbClr val="5F6B7A"/>
                </a:solidFill>
                <a:latin typeface="JetBrains Mono" pitchFamily="49" charset="0"/>
                <a:ea typeface="JetBrains Mono" pitchFamily="49" charset="-122"/>
                <a:cs typeface="JetBrains Mono" pitchFamily="49" charset="-120"/>
              </a:rPr>
              <a:t>// Анна, 5</a:t>
            </a:r>
            <a:endParaRPr lang="en-US" sz="1200" dirty="0"/>
          </a:p>
        </p:txBody>
      </p:sp>
      <p:sp>
        <p:nvSpPr>
          <p:cNvPr id="5" name="Text 3"/>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ПРИМЕРЫ</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Группировка и соединение</a:t>
            </a:r>
            <a:endParaRPr lang="en-US" sz="3000" dirty="0"/>
          </a:p>
        </p:txBody>
      </p:sp>
      <p:sp>
        <p:nvSpPr>
          <p:cNvPr id="4" name="Text 2"/>
          <p:cNvSpPr/>
          <p:nvPr/>
        </p:nvSpPr>
        <p:spPr>
          <a:xfrm>
            <a:off x="812800" y="1623070"/>
            <a:ext cx="10566400" cy="3500120"/>
          </a:xfrm>
          <a:prstGeom prst="roundRect">
            <a:avLst>
              <a:gd name="adj" fmla="val 2903"/>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Средний балл по каждому курсу</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byCourse = grades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.GroupBy(g =&gt; g.Course)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.Select(gr =&gt; new { Course = gr.Key, Average = gr.Average(g =&gt; g.Score) });</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C#: 4.25, Матан: 4.33</a:t>
            </a:r>
            <a:endParaRPr lang="en-US" sz="1200" dirty="0"/>
          </a:p>
          <a:p>
            <a:pPr algn="l" indent="0" marL="0">
              <a:lnSpc>
                <a:spcPts val="1740"/>
              </a:lnSpc>
              <a:buNone/>
            </a:pP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Оценка вместе с группой студента: соединение двух коллекций</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withGroup = grades.Join(students,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g =&gt; g.StudentName, s =&gt; s.Name,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(g, s) =&gt; new { s.Name, s.Group, g.Course, g.Score });</a:t>
            </a:r>
            <a:endParaRPr lang="en-US" sz="1200" dirty="0"/>
          </a:p>
          <a:p>
            <a:pPr algn="l" indent="0" marL="0">
              <a:lnSpc>
                <a:spcPts val="1740"/>
              </a:lnSpc>
              <a:buNone/>
            </a:pP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Студенты без оценок</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noGrades = students.ExceptBy(grades.Select(g =&gt; g.StudentName), s =&gt; s.Name);</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Егор</a:t>
            </a:r>
            <a:endParaRPr lang="en-US" sz="1200" dirty="0"/>
          </a:p>
        </p:txBody>
      </p:sp>
      <p:sp>
        <p:nvSpPr>
          <p:cNvPr id="5" name="Text 3"/>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ПРИМЕРЫ</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SelectMany, Zip, Aggregate, материализация</a:t>
            </a:r>
            <a:endParaRPr lang="en-US" sz="3000" dirty="0"/>
          </a:p>
        </p:txBody>
      </p:sp>
      <p:sp>
        <p:nvSpPr>
          <p:cNvPr id="4" name="Text 2"/>
          <p:cNvSpPr/>
          <p:nvPr/>
        </p:nvSpPr>
        <p:spPr>
          <a:xfrm>
            <a:off x="812800" y="1623070"/>
            <a:ext cx="10566400" cy="3721100"/>
          </a:xfrm>
          <a:prstGeom prst="roundRect">
            <a:avLst>
              <a:gd name="adj" fmla="val 2730"/>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SelectMany: последовательность последовательностей в одну</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string[] phrases = ["an apple a day", "the quick brown fox"];</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words = phrases.SelectMany(p =&gt; p.Split(' '));  </a:t>
            </a:r>
            <a:r>
              <a:rPr lang="en-US" sz="1200" dirty="0">
                <a:solidFill>
                  <a:srgbClr val="5F6B7A"/>
                </a:solidFill>
                <a:latin typeface="JetBrains Mono" pitchFamily="49" charset="0"/>
                <a:ea typeface="JetBrains Mono" pitchFamily="49" charset="-122"/>
                <a:cs typeface="JetBrains Mono" pitchFamily="49" charset="-120"/>
              </a:rPr>
              <a:t>// an, apple, a, day, the, …</a:t>
            </a:r>
            <a:endParaRPr lang="en-US" sz="1200" dirty="0"/>
          </a:p>
          <a:p>
            <a:pPr algn="l" indent="0" marL="0">
              <a:lnSpc>
                <a:spcPts val="1740"/>
              </a:lnSpc>
              <a:buNone/>
            </a:pP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Zip: попарное объединение двух последовательностей</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int[] numbers = [1, 2, 3];</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string[] letters = ["a", "b", "c"];</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pairs = numbers.Zip(letters, (n, l) =&gt; $"{n}{l}");  </a:t>
            </a:r>
            <a:r>
              <a:rPr lang="en-US" sz="1200" dirty="0">
                <a:solidFill>
                  <a:srgbClr val="5F6B7A"/>
                </a:solidFill>
                <a:latin typeface="JetBrains Mono" pitchFamily="49" charset="0"/>
                <a:ea typeface="JetBrains Mono" pitchFamily="49" charset="-122"/>
                <a:cs typeface="JetBrains Mono" pitchFamily="49" charset="-120"/>
              </a:rPr>
              <a:t>// 1a, 2b, 3c</a:t>
            </a:r>
            <a:endParaRPr lang="en-US" sz="1200" dirty="0"/>
          </a:p>
          <a:p>
            <a:pPr algn="l" indent="0" marL="0">
              <a:lnSpc>
                <a:spcPts val="1740"/>
              </a:lnSpc>
              <a:buNone/>
            </a:pP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Aggregate: свёртка (fold)</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int product = numbers.Aggregate(1, (acc, x) =&gt; acc * x);  </a:t>
            </a:r>
            <a:r>
              <a:rPr lang="en-US" sz="1200" dirty="0">
                <a:solidFill>
                  <a:srgbClr val="5F6B7A"/>
                </a:solidFill>
                <a:latin typeface="JetBrains Mono" pitchFamily="49" charset="0"/>
                <a:ea typeface="JetBrains Mono" pitchFamily="49" charset="-122"/>
                <a:cs typeface="JetBrains Mono" pitchFamily="49" charset="-120"/>
              </a:rPr>
              <a:t>// 6</a:t>
            </a:r>
            <a:endParaRPr lang="en-US" sz="1200" dirty="0"/>
          </a:p>
          <a:p>
            <a:pPr algn="l" indent="0" marL="0">
              <a:lnSpc>
                <a:spcPts val="1740"/>
              </a:lnSpc>
              <a:buNone/>
            </a:pP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Материализация в словарь и в таблицу соответствия</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byName = students.ToDictionary(s =&gt; s.Name);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byGroup = students.ToLookup(s =&gt; s.Group);  </a:t>
            </a:r>
            <a:r>
              <a:rPr lang="en-US" sz="1200" dirty="0">
                <a:solidFill>
                  <a:srgbClr val="5F6B7A"/>
                </a:solidFill>
                <a:latin typeface="JetBrains Mono" pitchFamily="49" charset="0"/>
                <a:ea typeface="JetBrains Mono" pitchFamily="49" charset="-122"/>
                <a:cs typeface="JetBrains Mono" pitchFamily="49" charset="-120"/>
              </a:rPr>
              <a:t>// byGroup["25.Б41"]: Анна, Борис</a:t>
            </a:r>
            <a:endParaRPr lang="en-US" sz="1200" dirty="0"/>
          </a:p>
        </p:txBody>
      </p:sp>
      <p:sp>
        <p:nvSpPr>
          <p:cNvPr id="5" name="Text 3"/>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ОТЛОЖЕННОЕ ИСПОЛНЕНИЕ</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Отложенное исполнение</a:t>
            </a:r>
            <a:endParaRPr lang="en-US" sz="3000" dirty="0"/>
          </a:p>
        </p:txBody>
      </p:sp>
      <p:sp>
        <p:nvSpPr>
          <p:cNvPr id="4" name="Text 2"/>
          <p:cNvSpPr/>
          <p:nvPr/>
        </p:nvSpPr>
        <p:spPr>
          <a:xfrm>
            <a:off x="812800" y="1623070"/>
            <a:ext cx="640445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Код</a:t>
            </a:r>
            <a:endParaRPr lang="en-US" sz="1500" dirty="0"/>
          </a:p>
        </p:txBody>
      </p:sp>
      <p:sp>
        <p:nvSpPr>
          <p:cNvPr id="5" name="Text 3"/>
          <p:cNvSpPr/>
          <p:nvPr/>
        </p:nvSpPr>
        <p:spPr>
          <a:xfrm>
            <a:off x="812800" y="1991370"/>
            <a:ext cx="6217920" cy="2395220"/>
          </a:xfrm>
          <a:prstGeom prst="roundRect">
            <a:avLst>
              <a:gd name="adj" fmla="val 4242"/>
            </a:avLst>
          </a:prstGeom>
          <a:solidFill>
            <a:srgbClr val="EEF1F5"/>
          </a:solidFill>
          <a:ln/>
        </p:spPr>
        <p:txBody>
          <a:bodyPr wrap="none" lIns="224242" tIns="173442" rIns="52945"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numbers = new List&lt;int&gt; { 1, 2, 3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query = numbers.Where(n =&gt;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Console.WriteLine($"проверка {n}");</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return n &gt; 1;</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numbers.Add(4);</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Console.WriteLine(query.Count());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Console.WriteLine(query.Count());</a:t>
            </a:r>
            <a:endParaRPr lang="en-US" sz="1200" dirty="0"/>
          </a:p>
        </p:txBody>
      </p:sp>
      <p:sp>
        <p:nvSpPr>
          <p:cNvPr id="6" name="Text 4"/>
          <p:cNvSpPr/>
          <p:nvPr/>
        </p:nvSpPr>
        <p:spPr>
          <a:xfrm>
            <a:off x="7233920" y="1623070"/>
            <a:ext cx="426963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Вывод</a:t>
            </a:r>
            <a:endParaRPr lang="en-US" sz="1500" dirty="0"/>
          </a:p>
        </p:txBody>
      </p:sp>
      <p:sp>
        <p:nvSpPr>
          <p:cNvPr id="7" name="Text 5"/>
          <p:cNvSpPr/>
          <p:nvPr/>
        </p:nvSpPr>
        <p:spPr>
          <a:xfrm>
            <a:off x="7233920" y="1991370"/>
            <a:ext cx="4145280" cy="1290320"/>
          </a:xfrm>
          <a:prstGeom prst="roundRect">
            <a:avLst>
              <a:gd name="adj" fmla="val 7874"/>
            </a:avLst>
          </a:prstGeom>
          <a:solidFill>
            <a:srgbClr val="EEF1F5"/>
          </a:solidFill>
          <a:ln/>
        </p:spPr>
        <p:txBody>
          <a:bodyPr wrap="none" lIns="224242" tIns="173442" rIns="115124"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проверка 1 … проверка 4</a:t>
            </a:r>
            <a:endParaRPr lang="en-US" sz="1200" dirty="0"/>
          </a:p>
          <a:p>
            <a:pPr algn="l" indent="0" marL="0">
              <a:lnSpc>
                <a:spcPts val="1740"/>
              </a:lnSpc>
              <a:buNone/>
            </a:pPr>
            <a:r>
              <a:rPr lang="en-US" sz="1200" dirty="0">
                <a:solidFill>
                  <a:srgbClr val="1E7D3A"/>
                </a:solidFill>
                <a:latin typeface="JetBrains Mono" pitchFamily="49" charset="0"/>
                <a:ea typeface="JetBrains Mono" pitchFamily="49" charset="-122"/>
                <a:cs typeface="JetBrains Mono" pitchFamily="49" charset="-120"/>
              </a:rPr>
              <a:t>3</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проверка 1 … проверка 4</a:t>
            </a:r>
            <a:endParaRPr lang="en-US" sz="1200" dirty="0"/>
          </a:p>
          <a:p>
            <a:pPr algn="l" indent="0" marL="0">
              <a:lnSpc>
                <a:spcPts val="1740"/>
              </a:lnSpc>
              <a:buNone/>
            </a:pPr>
            <a:r>
              <a:rPr lang="en-US" sz="1200" dirty="0">
                <a:solidFill>
                  <a:srgbClr val="1E7D3A"/>
                </a:solidFill>
                <a:latin typeface="JetBrains Mono" pitchFamily="49" charset="0"/>
                <a:ea typeface="JetBrains Mono" pitchFamily="49" charset="-122"/>
                <a:cs typeface="JetBrains Mono" pitchFamily="49" charset="-120"/>
              </a:rPr>
              <a:t>3</a:t>
            </a:r>
            <a:endParaRPr lang="en-US" sz="1200" dirty="0"/>
          </a:p>
        </p:txBody>
      </p:sp>
      <p:sp>
        <p:nvSpPr>
          <p:cNvPr id="8" name="Shape 6"/>
          <p:cNvSpPr/>
          <p:nvPr/>
        </p:nvSpPr>
        <p:spPr>
          <a:xfrm>
            <a:off x="812800" y="4589785"/>
            <a:ext cx="3420507" cy="1281430"/>
          </a:xfrm>
          <a:prstGeom prst="roundRect">
            <a:avLst>
              <a:gd name="adj" fmla="val 7929"/>
            </a:avLst>
          </a:prstGeom>
          <a:solidFill>
            <a:srgbClr val="ECEFF3"/>
          </a:solidFill>
          <a:ln/>
        </p:spPr>
      </p:sp>
      <p:sp>
        <p:nvSpPr>
          <p:cNvPr id="9" name="Text 7"/>
          <p:cNvSpPr/>
          <p:nvPr/>
        </p:nvSpPr>
        <p:spPr>
          <a:xfrm>
            <a:off x="1016000" y="4792985"/>
            <a:ext cx="310453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Запуск только в Count()</a:t>
            </a:r>
            <a:endParaRPr lang="en-US" sz="1700" dirty="0"/>
          </a:p>
        </p:txBody>
      </p:sp>
      <p:sp>
        <p:nvSpPr>
          <p:cNvPr id="10" name="Text 8"/>
          <p:cNvSpPr/>
          <p:nvPr/>
        </p:nvSpPr>
        <p:spPr>
          <a:xfrm>
            <a:off x="1016000" y="5115570"/>
            <a:ext cx="310453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Where только запомнил источник и условие</a:t>
            </a:r>
            <a:endParaRPr lang="en-US" sz="1500" dirty="0"/>
          </a:p>
        </p:txBody>
      </p:sp>
      <p:sp>
        <p:nvSpPr>
          <p:cNvPr id="11" name="Shape 9"/>
          <p:cNvSpPr/>
          <p:nvPr/>
        </p:nvSpPr>
        <p:spPr>
          <a:xfrm>
            <a:off x="4385707" y="4589785"/>
            <a:ext cx="3420586" cy="1281430"/>
          </a:xfrm>
          <a:prstGeom prst="roundRect">
            <a:avLst>
              <a:gd name="adj" fmla="val 7929"/>
            </a:avLst>
          </a:prstGeom>
          <a:solidFill>
            <a:srgbClr val="ECEFF3"/>
          </a:solidFill>
          <a:ln/>
        </p:spPr>
      </p:sp>
      <p:sp>
        <p:nvSpPr>
          <p:cNvPr id="12" name="Text 10"/>
          <p:cNvSpPr/>
          <p:nvPr/>
        </p:nvSpPr>
        <p:spPr>
          <a:xfrm>
            <a:off x="4588907" y="4792985"/>
            <a:ext cx="310461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Учтён новый элемент</a:t>
            </a:r>
            <a:endParaRPr lang="en-US" sz="1700" dirty="0"/>
          </a:p>
        </p:txBody>
      </p:sp>
      <p:sp>
        <p:nvSpPr>
          <p:cNvPr id="13" name="Text 11"/>
          <p:cNvSpPr/>
          <p:nvPr/>
        </p:nvSpPr>
        <p:spPr>
          <a:xfrm>
            <a:off x="4588907" y="5115570"/>
            <a:ext cx="310461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Запрос читает источник в момент выполнения</a:t>
            </a:r>
            <a:endParaRPr lang="en-US" sz="1500" dirty="0"/>
          </a:p>
        </p:txBody>
      </p:sp>
      <p:sp>
        <p:nvSpPr>
          <p:cNvPr id="14" name="Shape 12"/>
          <p:cNvSpPr/>
          <p:nvPr/>
        </p:nvSpPr>
        <p:spPr>
          <a:xfrm>
            <a:off x="7958693" y="4589785"/>
            <a:ext cx="3420507" cy="1281430"/>
          </a:xfrm>
          <a:prstGeom prst="roundRect">
            <a:avLst>
              <a:gd name="adj" fmla="val 7929"/>
            </a:avLst>
          </a:prstGeom>
          <a:solidFill>
            <a:srgbClr val="ECEFF3"/>
          </a:solidFill>
          <a:ln/>
        </p:spPr>
      </p:sp>
      <p:sp>
        <p:nvSpPr>
          <p:cNvPr id="15" name="Text 13"/>
          <p:cNvSpPr/>
          <p:nvPr/>
        </p:nvSpPr>
        <p:spPr>
          <a:xfrm>
            <a:off x="8161893" y="4792985"/>
            <a:ext cx="310453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Каждый обход заново</a:t>
            </a:r>
            <a:endParaRPr lang="en-US" sz="1700" dirty="0"/>
          </a:p>
        </p:txBody>
      </p:sp>
      <p:sp>
        <p:nvSpPr>
          <p:cNvPr id="16" name="Text 14"/>
          <p:cNvSpPr/>
          <p:nvPr/>
        </p:nvSpPr>
        <p:spPr>
          <a:xfrm>
            <a:off x="8161893" y="5115570"/>
            <a:ext cx="310453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Для повторного использования результата нужен ToList()</a:t>
            </a:r>
            <a:endParaRPr lang="en-US" sz="1500" dirty="0"/>
          </a:p>
        </p:txBody>
      </p:sp>
      <p:sp>
        <p:nvSpPr>
          <p:cNvPr id="17" name="Text 15"/>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ОТЛОЖЕННОЕ ИСПОЛНЕНИЕ</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Немедленные и отложенные операции</a:t>
            </a:r>
            <a:endParaRPr lang="en-US" sz="3000" dirty="0"/>
          </a:p>
        </p:txBody>
      </p:sp>
      <p:sp>
        <p:nvSpPr>
          <p:cNvPr id="4" name="Shape 2"/>
          <p:cNvSpPr/>
          <p:nvPr/>
        </p:nvSpPr>
        <p:spPr>
          <a:xfrm>
            <a:off x="812800" y="1623070"/>
            <a:ext cx="3420507" cy="2088515"/>
          </a:xfrm>
          <a:prstGeom prst="roundRect">
            <a:avLst>
              <a:gd name="adj" fmla="val 4865"/>
            </a:avLst>
          </a:prstGeom>
          <a:solidFill>
            <a:srgbClr val="ECEFF3"/>
          </a:solidFill>
          <a:ln/>
        </p:spPr>
      </p:sp>
      <p:sp>
        <p:nvSpPr>
          <p:cNvPr id="5" name="Shape 3"/>
          <p:cNvSpPr/>
          <p:nvPr/>
        </p:nvSpPr>
        <p:spPr>
          <a:xfrm>
            <a:off x="812800" y="1623070"/>
            <a:ext cx="3420507" cy="2088515"/>
          </a:xfrm>
          <a:custGeom>
            <a:avLst/>
            <a:gdLst/>
            <a:ahLst/>
            <a:cxnLst/>
            <a:rect l="l" t="t" r="r" b="b"/>
            <a:pathLst>
              <a:path w="3420507" h="2088515">
                <a:moveTo>
                  <a:pt x="101600" y="2088515"/>
                </a:moveTo>
                <a:lnTo>
                  <a:pt x="101600" y="2088515"/>
                </a:lnTo>
                <a:arcTo hR="101600" wR="101600" stAng="5400000" swAng="5400000"/>
                <a:lnTo>
                  <a:pt x="0" y="101600"/>
                </a:lnTo>
                <a:arcTo hR="101600" wR="101600" stAng="10800000" swAng="5400000"/>
                <a:lnTo>
                  <a:pt x="101600" y="0"/>
                </a:lnTo>
                <a:arcTo hR="101600" wR="63500" stAng="16200000" swAng="-5400000"/>
                <a:lnTo>
                  <a:pt x="38100" y="1986915"/>
                </a:lnTo>
                <a:arcTo hR="101600" wR="63500" stAng="10800000" swAng="-5400000"/>
                <a:close/>
              </a:path>
            </a:pathLst>
          </a:custGeom>
          <a:solidFill>
            <a:srgbClr val="B4541A"/>
          </a:solidFill>
          <a:ln/>
        </p:spPr>
      </p:sp>
      <p:sp>
        <p:nvSpPr>
          <p:cNvPr id="6" name="Text 4"/>
          <p:cNvSpPr/>
          <p:nvPr/>
        </p:nvSpPr>
        <p:spPr>
          <a:xfrm>
            <a:off x="1051560" y="1826270"/>
            <a:ext cx="306790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Немедленные</a:t>
            </a:r>
            <a:endParaRPr lang="en-US" sz="1700" dirty="0"/>
          </a:p>
        </p:txBody>
      </p:sp>
      <p:sp>
        <p:nvSpPr>
          <p:cNvPr id="7" name="Text 5"/>
          <p:cNvSpPr/>
          <p:nvPr/>
        </p:nvSpPr>
        <p:spPr>
          <a:xfrm>
            <a:off x="1051560" y="2161555"/>
            <a:ext cx="3067903"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Выполняются сразу и возвращают значение или коллекцию</a:t>
            </a:r>
            <a:endParaRPr lang="en-US" sz="1500" dirty="0"/>
          </a:p>
        </p:txBody>
      </p:sp>
      <p:sp>
        <p:nvSpPr>
          <p:cNvPr id="8" name="Text 6"/>
          <p:cNvSpPr/>
          <p:nvPr/>
        </p:nvSpPr>
        <p:spPr>
          <a:xfrm>
            <a:off x="1051560" y="3066430"/>
            <a:ext cx="3067903"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4541A"/>
                </a:solidFill>
                <a:latin typeface="JetBrains Mono" pitchFamily="49" charset="0"/>
                <a:ea typeface="JetBrains Mono" pitchFamily="49" charset="-122"/>
                <a:cs typeface="JetBrains Mono" pitchFamily="49" charset="-120"/>
              </a:rPr>
              <a:t>Count, Sum, First, ToList, ToArray</a:t>
            </a:r>
            <a:endParaRPr lang="en-US" sz="1200" dirty="0"/>
          </a:p>
        </p:txBody>
      </p:sp>
      <p:sp>
        <p:nvSpPr>
          <p:cNvPr id="9" name="Shape 7"/>
          <p:cNvSpPr/>
          <p:nvPr/>
        </p:nvSpPr>
        <p:spPr>
          <a:xfrm>
            <a:off x="4385707" y="1623070"/>
            <a:ext cx="3420586" cy="2088515"/>
          </a:xfrm>
          <a:prstGeom prst="roundRect">
            <a:avLst>
              <a:gd name="adj" fmla="val 4865"/>
            </a:avLst>
          </a:prstGeom>
          <a:solidFill>
            <a:srgbClr val="ECEFF3"/>
          </a:solidFill>
          <a:ln/>
        </p:spPr>
      </p:sp>
      <p:sp>
        <p:nvSpPr>
          <p:cNvPr id="10" name="Shape 8"/>
          <p:cNvSpPr/>
          <p:nvPr/>
        </p:nvSpPr>
        <p:spPr>
          <a:xfrm>
            <a:off x="4385707" y="1623070"/>
            <a:ext cx="3420586" cy="2088515"/>
          </a:xfrm>
          <a:custGeom>
            <a:avLst/>
            <a:gdLst/>
            <a:ahLst/>
            <a:cxnLst/>
            <a:rect l="l" t="t" r="r" b="b"/>
            <a:pathLst>
              <a:path w="3420586" h="2088515">
                <a:moveTo>
                  <a:pt x="101600" y="2088515"/>
                </a:moveTo>
                <a:lnTo>
                  <a:pt x="101600" y="2088515"/>
                </a:lnTo>
                <a:arcTo hR="101600" wR="101600" stAng="5400000" swAng="5400000"/>
                <a:lnTo>
                  <a:pt x="0" y="101600"/>
                </a:lnTo>
                <a:arcTo hR="101600" wR="101600" stAng="10800000" swAng="5400000"/>
                <a:lnTo>
                  <a:pt x="101600" y="0"/>
                </a:lnTo>
                <a:arcTo hR="101600" wR="63500" stAng="16200000" swAng="-5400000"/>
                <a:lnTo>
                  <a:pt x="38100" y="1986915"/>
                </a:lnTo>
                <a:arcTo hR="101600" wR="63500" stAng="10800000" swAng="-5400000"/>
                <a:close/>
              </a:path>
            </a:pathLst>
          </a:custGeom>
          <a:solidFill>
            <a:srgbClr val="1E7D3A"/>
          </a:solidFill>
          <a:ln/>
        </p:spPr>
      </p:sp>
      <p:sp>
        <p:nvSpPr>
          <p:cNvPr id="11" name="Text 9"/>
          <p:cNvSpPr/>
          <p:nvPr/>
        </p:nvSpPr>
        <p:spPr>
          <a:xfrm>
            <a:off x="4624467" y="1826270"/>
            <a:ext cx="3067985"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Отложенные потоковые</a:t>
            </a:r>
            <a:endParaRPr lang="en-US" sz="1700" dirty="0"/>
          </a:p>
        </p:txBody>
      </p:sp>
      <p:sp>
        <p:nvSpPr>
          <p:cNvPr id="12" name="Text 10"/>
          <p:cNvSpPr/>
          <p:nvPr/>
        </p:nvSpPr>
        <p:spPr>
          <a:xfrm>
            <a:off x="4624467" y="2161555"/>
            <a:ext cx="3067985"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Выдают элементы по одному, по мере запроса</a:t>
            </a:r>
            <a:endParaRPr lang="en-US" sz="1500" dirty="0"/>
          </a:p>
        </p:txBody>
      </p:sp>
      <p:sp>
        <p:nvSpPr>
          <p:cNvPr id="13" name="Text 11"/>
          <p:cNvSpPr/>
          <p:nvPr/>
        </p:nvSpPr>
        <p:spPr>
          <a:xfrm>
            <a:off x="4624467" y="2790205"/>
            <a:ext cx="306798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7D3A"/>
                </a:solidFill>
                <a:latin typeface="JetBrains Mono" pitchFamily="49" charset="0"/>
                <a:ea typeface="JetBrains Mono" pitchFamily="49" charset="-122"/>
                <a:cs typeface="JetBrains Mono" pitchFamily="49" charset="-120"/>
              </a:rPr>
              <a:t>Where, Select, Take, Skip</a:t>
            </a:r>
            <a:endParaRPr lang="en-US" sz="1200" dirty="0"/>
          </a:p>
        </p:txBody>
      </p:sp>
      <p:sp>
        <p:nvSpPr>
          <p:cNvPr id="14" name="Shape 12"/>
          <p:cNvSpPr/>
          <p:nvPr/>
        </p:nvSpPr>
        <p:spPr>
          <a:xfrm>
            <a:off x="7958693" y="1623070"/>
            <a:ext cx="3420507" cy="2088515"/>
          </a:xfrm>
          <a:prstGeom prst="roundRect">
            <a:avLst>
              <a:gd name="adj" fmla="val 4865"/>
            </a:avLst>
          </a:prstGeom>
          <a:solidFill>
            <a:srgbClr val="ECEFF3"/>
          </a:solidFill>
          <a:ln/>
        </p:spPr>
      </p:sp>
      <p:sp>
        <p:nvSpPr>
          <p:cNvPr id="15" name="Shape 13"/>
          <p:cNvSpPr/>
          <p:nvPr/>
        </p:nvSpPr>
        <p:spPr>
          <a:xfrm>
            <a:off x="7958693" y="1623070"/>
            <a:ext cx="3420507" cy="2088515"/>
          </a:xfrm>
          <a:custGeom>
            <a:avLst/>
            <a:gdLst/>
            <a:ahLst/>
            <a:cxnLst/>
            <a:rect l="l" t="t" r="r" b="b"/>
            <a:pathLst>
              <a:path w="3420507" h="2088515">
                <a:moveTo>
                  <a:pt x="101600" y="2088515"/>
                </a:moveTo>
                <a:lnTo>
                  <a:pt x="101600" y="2088515"/>
                </a:lnTo>
                <a:arcTo hR="101600" wR="101600" stAng="5400000" swAng="5400000"/>
                <a:lnTo>
                  <a:pt x="0" y="101600"/>
                </a:lnTo>
                <a:arcTo hR="101600" wR="101600" stAng="10800000" swAng="5400000"/>
                <a:lnTo>
                  <a:pt x="101600" y="0"/>
                </a:lnTo>
                <a:arcTo hR="101600" wR="63500" stAng="16200000" swAng="-5400000"/>
                <a:lnTo>
                  <a:pt x="38100" y="1986915"/>
                </a:lnTo>
                <a:arcTo hR="101600" wR="63500" stAng="10800000" swAng="-5400000"/>
                <a:close/>
              </a:path>
            </a:pathLst>
          </a:custGeom>
          <a:solidFill>
            <a:srgbClr val="2456B8"/>
          </a:solidFill>
          <a:ln/>
        </p:spPr>
      </p:sp>
      <p:sp>
        <p:nvSpPr>
          <p:cNvPr id="16" name="Text 14"/>
          <p:cNvSpPr/>
          <p:nvPr/>
        </p:nvSpPr>
        <p:spPr>
          <a:xfrm>
            <a:off x="8197453" y="1826270"/>
            <a:ext cx="306790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Отложенные непотоковые</a:t>
            </a:r>
            <a:endParaRPr lang="en-US" sz="1700" dirty="0"/>
          </a:p>
        </p:txBody>
      </p:sp>
      <p:sp>
        <p:nvSpPr>
          <p:cNvPr id="17" name="Text 15"/>
          <p:cNvSpPr/>
          <p:nvPr/>
        </p:nvSpPr>
        <p:spPr>
          <a:xfrm>
            <a:off x="8197453" y="2161555"/>
            <a:ext cx="3067903"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При первом запросе читают весь источник</a:t>
            </a:r>
            <a:endParaRPr lang="en-US" sz="1500" dirty="0"/>
          </a:p>
        </p:txBody>
      </p:sp>
      <p:sp>
        <p:nvSpPr>
          <p:cNvPr id="18" name="Text 16"/>
          <p:cNvSpPr/>
          <p:nvPr/>
        </p:nvSpPr>
        <p:spPr>
          <a:xfrm>
            <a:off x="8197453" y="2790205"/>
            <a:ext cx="3067903"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456B8"/>
                </a:solidFill>
                <a:latin typeface="JetBrains Mono" pitchFamily="49" charset="0"/>
                <a:ea typeface="JetBrains Mono" pitchFamily="49" charset="-122"/>
                <a:cs typeface="JetBrains Mono" pitchFamily="49" charset="-120"/>
              </a:rPr>
              <a:t>OrderBy, GroupBy, Reverse</a:t>
            </a:r>
            <a:endParaRPr lang="en-US" sz="1200" dirty="0"/>
          </a:p>
        </p:txBody>
      </p:sp>
      <p:sp>
        <p:nvSpPr>
          <p:cNvPr id="19" name="Text 17"/>
          <p:cNvSpPr/>
          <p:nvPr/>
        </p:nvSpPr>
        <p:spPr>
          <a:xfrm>
            <a:off x="812800" y="391477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A5568"/>
                </a:solidFill>
                <a:latin typeface="IBM Plex Sans" pitchFamily="34" charset="0"/>
                <a:ea typeface="IBM Plex Sans" pitchFamily="34" charset="-122"/>
                <a:cs typeface="IBM Plex Sans" pitchFamily="34" charset="-120"/>
              </a:rPr>
              <a:t>Замыкание захватывает переменную, а не её значение</a:t>
            </a:r>
            <a:endParaRPr lang="en-US" sz="1500" dirty="0"/>
          </a:p>
        </p:txBody>
      </p:sp>
      <p:sp>
        <p:nvSpPr>
          <p:cNvPr id="20" name="Text 18"/>
          <p:cNvSpPr/>
          <p:nvPr/>
        </p:nvSpPr>
        <p:spPr>
          <a:xfrm>
            <a:off x="812800" y="4283075"/>
            <a:ext cx="10566400" cy="1290320"/>
          </a:xfrm>
          <a:prstGeom prst="roundRect">
            <a:avLst>
              <a:gd name="adj" fmla="val 7874"/>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int min = 3;</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large = numbers.Where(n =&gt; n &gt; min);</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min = 10;</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list = large.ToList();  </a:t>
            </a:r>
            <a:r>
              <a:rPr lang="en-US" sz="1200" dirty="0">
                <a:solidFill>
                  <a:srgbClr val="B4541A"/>
                </a:solidFill>
                <a:latin typeface="JetBrains Mono" pitchFamily="49" charset="0"/>
                <a:ea typeface="JetBrains Mono" pitchFamily="49" charset="-122"/>
                <a:cs typeface="JetBrains Mono" pitchFamily="49" charset="-120"/>
              </a:rPr>
              <a:t>// фильтрация выполняется с условием n &gt; 10</a:t>
            </a:r>
            <a:endParaRPr lang="en-US" sz="1200" dirty="0"/>
          </a:p>
        </p:txBody>
      </p:sp>
      <p:sp>
        <p:nvSpPr>
          <p:cNvPr id="21" name="Text 19"/>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ЯЗЫК ЗАПРОСОВ</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Встроенный язык запросов</a:t>
            </a:r>
            <a:endParaRPr lang="en-US" sz="3000" dirty="0"/>
          </a:p>
        </p:txBody>
      </p:sp>
      <p:sp>
        <p:nvSpPr>
          <p:cNvPr id="4" name="Text 2"/>
          <p:cNvSpPr/>
          <p:nvPr/>
        </p:nvSpPr>
        <p:spPr>
          <a:xfrm>
            <a:off x="812800" y="1623070"/>
            <a:ext cx="533704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7D3A"/>
                </a:solidFill>
                <a:latin typeface="IBM Plex Sans" pitchFamily="34" charset="0"/>
                <a:ea typeface="IBM Plex Sans" pitchFamily="34" charset="-122"/>
                <a:cs typeface="IBM Plex Sans" pitchFamily="34" charset="-120"/>
              </a:rPr>
              <a:t>Синтаксис запроса</a:t>
            </a:r>
            <a:endParaRPr lang="en-US" sz="1500" dirty="0"/>
          </a:p>
        </p:txBody>
      </p:sp>
      <p:sp>
        <p:nvSpPr>
          <p:cNvPr id="5" name="Text 3"/>
          <p:cNvSpPr/>
          <p:nvPr/>
        </p:nvSpPr>
        <p:spPr>
          <a:xfrm>
            <a:off x="812800" y="1991370"/>
            <a:ext cx="5181600" cy="1787525"/>
          </a:xfrm>
          <a:prstGeom prst="roundRect">
            <a:avLst>
              <a:gd name="adj" fmla="val 5684"/>
            </a:avLst>
          </a:prstGeom>
          <a:solidFill>
            <a:srgbClr val="EEF1F5"/>
          </a:solidFill>
          <a:ln/>
        </p:spPr>
        <p:txBody>
          <a:bodyPr wrap="none" lIns="224242" tIns="173442" rIns="84034" bIns="148042" rtlCol="0" anchor="t">
            <a:normAutofit/>
          </a:bodyPr>
          <a:lstStyle/>
          <a:p>
            <a:pPr algn="l" indent="0" marL="0">
              <a:lnSpc>
                <a:spcPts val="2175"/>
              </a:lnSpc>
              <a:buNone/>
            </a:pPr>
            <a:r>
              <a:rPr lang="en-US" sz="1500" dirty="0">
                <a:solidFill>
                  <a:srgbClr val="1B2433"/>
                </a:solidFill>
                <a:latin typeface="JetBrains Mono" pitchFamily="49" charset="0"/>
                <a:ea typeface="JetBrains Mono" pitchFamily="49" charset="-122"/>
                <a:cs typeface="JetBrains Mono" pitchFamily="49" charset="-120"/>
              </a:rPr>
              <a:t>var query =</a:t>
            </a:r>
            <a:endParaRPr lang="en-US" sz="1500" dirty="0"/>
          </a:p>
          <a:p>
            <a:pPr algn="l" indent="0" marL="0">
              <a:lnSpc>
                <a:spcPts val="2175"/>
              </a:lnSpc>
              <a:buNone/>
            </a:pPr>
            <a:r>
              <a:rPr lang="en-US" sz="1500" dirty="0">
                <a:solidFill>
                  <a:srgbClr val="1B2433"/>
                </a:solidFill>
                <a:latin typeface="JetBrains Mono" pitchFamily="49" charset="0"/>
                <a:ea typeface="JetBrains Mono" pitchFamily="49" charset="-122"/>
                <a:cs typeface="JetBrains Mono" pitchFamily="49" charset="-120"/>
              </a:rPr>
              <a:t>    from s in students</a:t>
            </a:r>
            <a:endParaRPr lang="en-US" sz="1500" dirty="0"/>
          </a:p>
          <a:p>
            <a:pPr algn="l" indent="0" marL="0">
              <a:lnSpc>
                <a:spcPts val="2175"/>
              </a:lnSpc>
              <a:buNone/>
            </a:pPr>
            <a:r>
              <a:rPr lang="en-US" sz="1500" dirty="0">
                <a:solidFill>
                  <a:srgbClr val="1B2433"/>
                </a:solidFill>
                <a:latin typeface="JetBrains Mono" pitchFamily="49" charset="0"/>
                <a:ea typeface="JetBrains Mono" pitchFamily="49" charset="-122"/>
                <a:cs typeface="JetBrains Mono" pitchFamily="49" charset="-120"/>
              </a:rPr>
              <a:t>    where s.Age &gt;= 19</a:t>
            </a:r>
            <a:endParaRPr lang="en-US" sz="1500" dirty="0"/>
          </a:p>
          <a:p>
            <a:pPr algn="l" indent="0" marL="0">
              <a:lnSpc>
                <a:spcPts val="2175"/>
              </a:lnSpc>
              <a:buNone/>
            </a:pPr>
            <a:r>
              <a:rPr lang="en-US" sz="1500" dirty="0">
                <a:solidFill>
                  <a:srgbClr val="1B2433"/>
                </a:solidFill>
                <a:latin typeface="JetBrains Mono" pitchFamily="49" charset="0"/>
                <a:ea typeface="JetBrains Mono" pitchFamily="49" charset="-122"/>
                <a:cs typeface="JetBrains Mono" pitchFamily="49" charset="-120"/>
              </a:rPr>
              <a:t>    orderby s.Name</a:t>
            </a:r>
            <a:endParaRPr lang="en-US" sz="1500" dirty="0"/>
          </a:p>
          <a:p>
            <a:pPr algn="l" indent="0" marL="0">
              <a:lnSpc>
                <a:spcPts val="2175"/>
              </a:lnSpc>
              <a:buNone/>
            </a:pPr>
            <a:r>
              <a:rPr lang="en-US" sz="1500" dirty="0">
                <a:solidFill>
                  <a:srgbClr val="1B2433"/>
                </a:solidFill>
                <a:latin typeface="JetBrains Mono" pitchFamily="49" charset="0"/>
                <a:ea typeface="JetBrains Mono" pitchFamily="49" charset="-122"/>
                <a:cs typeface="JetBrains Mono" pitchFamily="49" charset="-120"/>
              </a:rPr>
              <a:t>    select s.Name.ToUpper();</a:t>
            </a:r>
            <a:endParaRPr lang="en-US" sz="1500" dirty="0"/>
          </a:p>
        </p:txBody>
      </p:sp>
      <p:sp>
        <p:nvSpPr>
          <p:cNvPr id="6" name="Text 4"/>
          <p:cNvSpPr/>
          <p:nvPr/>
        </p:nvSpPr>
        <p:spPr>
          <a:xfrm>
            <a:off x="6197600" y="1623070"/>
            <a:ext cx="533704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456B8"/>
                </a:solidFill>
                <a:latin typeface="IBM Plex Sans" pitchFamily="34" charset="0"/>
                <a:ea typeface="IBM Plex Sans" pitchFamily="34" charset="-122"/>
                <a:cs typeface="IBM Plex Sans" pitchFamily="34" charset="-120"/>
              </a:rPr>
              <a:t>Синтаксис методов</a:t>
            </a:r>
            <a:endParaRPr lang="en-US" sz="1500" dirty="0"/>
          </a:p>
        </p:txBody>
      </p:sp>
      <p:sp>
        <p:nvSpPr>
          <p:cNvPr id="7" name="Text 5"/>
          <p:cNvSpPr/>
          <p:nvPr/>
        </p:nvSpPr>
        <p:spPr>
          <a:xfrm>
            <a:off x="6197600" y="1991370"/>
            <a:ext cx="5181600" cy="1511300"/>
          </a:xfrm>
          <a:prstGeom prst="roundRect">
            <a:avLst>
              <a:gd name="adj" fmla="val 6723"/>
            </a:avLst>
          </a:prstGeom>
          <a:solidFill>
            <a:srgbClr val="EEF1F5"/>
          </a:solidFill>
          <a:ln/>
        </p:spPr>
        <p:txBody>
          <a:bodyPr wrap="none" lIns="224242" tIns="173442" rIns="84034" bIns="148042" rtlCol="0" anchor="t">
            <a:normAutofit/>
          </a:bodyPr>
          <a:lstStyle/>
          <a:p>
            <a:pPr algn="l" indent="0" marL="0">
              <a:lnSpc>
                <a:spcPts val="2175"/>
              </a:lnSpc>
              <a:buNone/>
            </a:pPr>
            <a:r>
              <a:rPr lang="en-US" sz="1500" dirty="0">
                <a:solidFill>
                  <a:srgbClr val="1B2433"/>
                </a:solidFill>
                <a:latin typeface="JetBrains Mono" pitchFamily="49" charset="0"/>
                <a:ea typeface="JetBrains Mono" pitchFamily="49" charset="-122"/>
                <a:cs typeface="JetBrains Mono" pitchFamily="49" charset="-120"/>
              </a:rPr>
              <a:t>var query = students</a:t>
            </a:r>
            <a:endParaRPr lang="en-US" sz="1500" dirty="0"/>
          </a:p>
          <a:p>
            <a:pPr algn="l" indent="0" marL="0">
              <a:lnSpc>
                <a:spcPts val="2175"/>
              </a:lnSpc>
              <a:buNone/>
            </a:pPr>
            <a:r>
              <a:rPr lang="en-US" sz="1500" dirty="0">
                <a:solidFill>
                  <a:srgbClr val="1B2433"/>
                </a:solidFill>
                <a:latin typeface="JetBrains Mono" pitchFamily="49" charset="0"/>
                <a:ea typeface="JetBrains Mono" pitchFamily="49" charset="-122"/>
                <a:cs typeface="JetBrains Mono" pitchFamily="49" charset="-120"/>
              </a:rPr>
              <a:t>    .Where(s =&gt; s.Age &gt;= 19)</a:t>
            </a:r>
            <a:endParaRPr lang="en-US" sz="1500" dirty="0"/>
          </a:p>
          <a:p>
            <a:pPr algn="l" indent="0" marL="0">
              <a:lnSpc>
                <a:spcPts val="2175"/>
              </a:lnSpc>
              <a:buNone/>
            </a:pPr>
            <a:r>
              <a:rPr lang="en-US" sz="1500" dirty="0">
                <a:solidFill>
                  <a:srgbClr val="1B2433"/>
                </a:solidFill>
                <a:latin typeface="JetBrains Mono" pitchFamily="49" charset="0"/>
                <a:ea typeface="JetBrains Mono" pitchFamily="49" charset="-122"/>
                <a:cs typeface="JetBrains Mono" pitchFamily="49" charset="-120"/>
              </a:rPr>
              <a:t>    .OrderBy(s =&gt; s.Name)</a:t>
            </a:r>
            <a:endParaRPr lang="en-US" sz="1500" dirty="0"/>
          </a:p>
          <a:p>
            <a:pPr algn="l" indent="0" marL="0">
              <a:lnSpc>
                <a:spcPts val="2175"/>
              </a:lnSpc>
              <a:buNone/>
            </a:pPr>
            <a:r>
              <a:rPr lang="en-US" sz="1500" dirty="0">
                <a:solidFill>
                  <a:srgbClr val="1B2433"/>
                </a:solidFill>
                <a:latin typeface="JetBrains Mono" pitchFamily="49" charset="0"/>
                <a:ea typeface="JetBrains Mono" pitchFamily="49" charset="-122"/>
                <a:cs typeface="JetBrains Mono" pitchFamily="49" charset="-120"/>
              </a:rPr>
              <a:t>    .Select(s =&gt; s.Name.ToUpper());</a:t>
            </a:r>
            <a:endParaRPr lang="en-US" sz="1500" dirty="0"/>
          </a:p>
        </p:txBody>
      </p:sp>
      <p:sp>
        <p:nvSpPr>
          <p:cNvPr id="8" name="Shape 6"/>
          <p:cNvSpPr/>
          <p:nvPr/>
        </p:nvSpPr>
        <p:spPr>
          <a:xfrm>
            <a:off x="812800" y="3982095"/>
            <a:ext cx="3420507" cy="1557655"/>
          </a:xfrm>
          <a:prstGeom prst="roundRect">
            <a:avLst>
              <a:gd name="adj" fmla="val 6523"/>
            </a:avLst>
          </a:prstGeom>
          <a:solidFill>
            <a:srgbClr val="ECEFF3"/>
          </a:solidFill>
          <a:ln/>
        </p:spPr>
      </p:sp>
      <p:sp>
        <p:nvSpPr>
          <p:cNvPr id="9" name="Text 7"/>
          <p:cNvSpPr/>
          <p:nvPr/>
        </p:nvSpPr>
        <p:spPr>
          <a:xfrm>
            <a:off x="1016000" y="4185295"/>
            <a:ext cx="310453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Синтаксический сахар</a:t>
            </a:r>
            <a:endParaRPr lang="en-US" sz="1700" dirty="0"/>
          </a:p>
        </p:txBody>
      </p:sp>
      <p:sp>
        <p:nvSpPr>
          <p:cNvPr id="10" name="Text 8"/>
          <p:cNvSpPr/>
          <p:nvPr/>
        </p:nvSpPr>
        <p:spPr>
          <a:xfrm>
            <a:off x="1016000" y="4507880"/>
            <a:ext cx="310453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Компилятор переводит запрос в вызовы методов; формы можно сочетать</a:t>
            </a:r>
            <a:endParaRPr lang="en-US" sz="1500" dirty="0"/>
          </a:p>
        </p:txBody>
      </p:sp>
      <p:sp>
        <p:nvSpPr>
          <p:cNvPr id="11" name="Shape 9"/>
          <p:cNvSpPr/>
          <p:nvPr/>
        </p:nvSpPr>
        <p:spPr>
          <a:xfrm>
            <a:off x="4385707" y="3982095"/>
            <a:ext cx="3420586" cy="1557655"/>
          </a:xfrm>
          <a:prstGeom prst="roundRect">
            <a:avLst>
              <a:gd name="adj" fmla="val 6523"/>
            </a:avLst>
          </a:prstGeom>
          <a:solidFill>
            <a:srgbClr val="ECEFF3"/>
          </a:solidFill>
          <a:ln/>
        </p:spPr>
      </p:sp>
      <p:sp>
        <p:nvSpPr>
          <p:cNvPr id="12" name="Text 10"/>
          <p:cNvSpPr/>
          <p:nvPr/>
        </p:nvSpPr>
        <p:spPr>
          <a:xfrm>
            <a:off x="4588907" y="4185295"/>
            <a:ext cx="310461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Структура запроса</a:t>
            </a:r>
            <a:endParaRPr lang="en-US" sz="1700" dirty="0"/>
          </a:p>
        </p:txBody>
      </p:sp>
      <p:sp>
        <p:nvSpPr>
          <p:cNvPr id="13" name="Text 11"/>
          <p:cNvSpPr/>
          <p:nvPr/>
        </p:nvSpPr>
        <p:spPr>
          <a:xfrm>
            <a:off x="4588907" y="4507880"/>
            <a:ext cx="310461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Начинается с from, заканчивается select или group; внутри - where, orderby, join, let</a:t>
            </a:r>
            <a:endParaRPr lang="en-US" sz="1500" dirty="0"/>
          </a:p>
        </p:txBody>
      </p:sp>
      <p:sp>
        <p:nvSpPr>
          <p:cNvPr id="14" name="Shape 12"/>
          <p:cNvSpPr/>
          <p:nvPr/>
        </p:nvSpPr>
        <p:spPr>
          <a:xfrm>
            <a:off x="7958693" y="3982095"/>
            <a:ext cx="3420507" cy="1557655"/>
          </a:xfrm>
          <a:prstGeom prst="roundRect">
            <a:avLst>
              <a:gd name="adj" fmla="val 6523"/>
            </a:avLst>
          </a:prstGeom>
          <a:solidFill>
            <a:srgbClr val="ECEFF3"/>
          </a:solidFill>
          <a:ln/>
        </p:spPr>
      </p:sp>
      <p:sp>
        <p:nvSpPr>
          <p:cNvPr id="15" name="Text 13"/>
          <p:cNvSpPr/>
          <p:nvPr/>
        </p:nvSpPr>
        <p:spPr>
          <a:xfrm>
            <a:off x="8161893" y="4185295"/>
            <a:ext cx="310453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Утиная типизация</a:t>
            </a:r>
            <a:endParaRPr lang="en-US" sz="1700" dirty="0"/>
          </a:p>
        </p:txBody>
      </p:sp>
      <p:sp>
        <p:nvSpPr>
          <p:cNvPr id="16" name="Text 14"/>
          <p:cNvSpPr/>
          <p:nvPr/>
        </p:nvSpPr>
        <p:spPr>
          <a:xfrm>
            <a:off x="8161893" y="4507880"/>
            <a:ext cx="310453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Достаточно методов Where, Select и других с подходящими сигнатурами</a:t>
            </a:r>
            <a:endParaRPr lang="en-US" sz="1500" dirty="0"/>
          </a:p>
        </p:txBody>
      </p:sp>
      <p:sp>
        <p:nvSpPr>
          <p:cNvPr id="17" name="Text 15"/>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ЯЗЫК ЗАПРОСОВ</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group, join, let</a:t>
            </a:r>
            <a:endParaRPr lang="en-US" sz="3000" dirty="0"/>
          </a:p>
        </p:txBody>
      </p:sp>
      <p:sp>
        <p:nvSpPr>
          <p:cNvPr id="4" name="Text 2"/>
          <p:cNvSpPr/>
          <p:nvPr/>
        </p:nvSpPr>
        <p:spPr>
          <a:xfrm>
            <a:off x="812800" y="1623070"/>
            <a:ext cx="6713141" cy="3058160"/>
          </a:xfrm>
          <a:prstGeom prst="roundRect">
            <a:avLst>
              <a:gd name="adj" fmla="val 3322"/>
            </a:avLst>
          </a:prstGeom>
          <a:solidFill>
            <a:srgbClr val="EEF1F5"/>
          </a:solidFill>
          <a:ln/>
        </p:spPr>
        <p:txBody>
          <a:bodyPr wrap="none" lIns="224242" tIns="173442" rIns="38088" bIns="148042" rtlCol="0" anchor="t">
            <a:normAutofit/>
          </a:bodyPr>
          <a:lstStyle/>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Средний балл по курсам</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byCourse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from g in grades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group g.Score by g.Course into scores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select new { Course = scores.Key, Avg = scores.Average() };</a:t>
            </a:r>
            <a:endParaRPr lang="en-US" sz="1200" dirty="0"/>
          </a:p>
          <a:p>
            <a:pPr algn="l" indent="0" marL="0">
              <a:lnSpc>
                <a:spcPts val="1740"/>
              </a:lnSpc>
              <a:buNone/>
            </a:pP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Соединение с промежуточной переменной</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withGroup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from g in grades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join s in students on g.StudentName equals s.Name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let name = s.Name.ToUpper()</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select new { name, s.Group, g.Score };</a:t>
            </a:r>
            <a:endParaRPr lang="en-US" sz="1200" dirty="0"/>
          </a:p>
        </p:txBody>
      </p:sp>
      <p:sp>
        <p:nvSpPr>
          <p:cNvPr id="5" name="Shape 3"/>
          <p:cNvSpPr/>
          <p:nvPr/>
        </p:nvSpPr>
        <p:spPr>
          <a:xfrm>
            <a:off x="7729141" y="1623070"/>
            <a:ext cx="3650059" cy="2865120"/>
          </a:xfrm>
          <a:prstGeom prst="roundRect">
            <a:avLst>
              <a:gd name="adj" fmla="val 3546"/>
            </a:avLst>
          </a:prstGeom>
          <a:solidFill>
            <a:srgbClr val="ECEFF3"/>
          </a:solidFill>
          <a:ln/>
        </p:spPr>
      </p:sp>
      <p:sp>
        <p:nvSpPr>
          <p:cNvPr id="6" name="Shape 4"/>
          <p:cNvSpPr/>
          <p:nvPr/>
        </p:nvSpPr>
        <p:spPr>
          <a:xfrm>
            <a:off x="7729141" y="1623070"/>
            <a:ext cx="3650059" cy="2865120"/>
          </a:xfrm>
          <a:custGeom>
            <a:avLst/>
            <a:gdLst/>
            <a:ahLst/>
            <a:cxnLst/>
            <a:rect l="l" t="t" r="r" b="b"/>
            <a:pathLst>
              <a:path w="3650059" h="2865120">
                <a:moveTo>
                  <a:pt x="101600" y="2865120"/>
                </a:moveTo>
                <a:lnTo>
                  <a:pt x="101600" y="2865120"/>
                </a:lnTo>
                <a:arcTo hR="101600" wR="101600" stAng="5400000" swAng="5400000"/>
                <a:lnTo>
                  <a:pt x="0" y="101600"/>
                </a:lnTo>
                <a:arcTo hR="101600" wR="101600" stAng="10800000" swAng="5400000"/>
                <a:lnTo>
                  <a:pt x="3548459" y="0"/>
                </a:lnTo>
                <a:arcTo hR="101600" wR="101600" stAng="16200000" swAng="5400000"/>
                <a:lnTo>
                  <a:pt x="3650059" y="101600"/>
                </a:lnTo>
                <a:arcTo hR="91440" wR="101600" stAng="0" swAng="-5400000"/>
                <a:lnTo>
                  <a:pt x="101600" y="10160"/>
                </a:lnTo>
                <a:arcTo hR="91440" wR="91440" stAng="16200000" swAng="-5400000"/>
                <a:lnTo>
                  <a:pt x="10160" y="2763520"/>
                </a:lnTo>
                <a:arcTo hR="101600" wR="9144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39301" y="1633230"/>
          <a:ext cx="3639899" cy="2854960"/>
        </p:xfrm>
        <a:graphic>
          <a:graphicData uri="http://schemas.openxmlformats.org/drawingml/2006/table">
            <a:tbl>
              <a:tblPr/>
              <a:tblGrid>
                <a:gridCol w="1892748"/>
                <a:gridCol w="1747152"/>
              </a:tblGrid>
              <a:tr h="330200">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Ключевое слово</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c>
                  <a:txBody>
                    <a:bodyPr/>
                    <a:lstStyle/>
                    <a:p>
                      <a:pP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Метод</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9BD"/>
                      </a:solidFill>
                      <a:prstDash val="solid"/>
                      <a:round/>
                      <a:headEnd type="none" w="med" len="med"/>
                      <a:tailEnd type="none" w="med" len="med"/>
                    </a:lnL>
                    <a:lnR w="12700" cap="flat" cmpd="sng" algn="ctr">
                      <a:solidFill>
                        <a:srgbClr val="B5B9BD"/>
                      </a:solidFill>
                      <a:prstDash val="solid"/>
                      <a:round/>
                      <a:headEnd type="none" w="med" len="med"/>
                      <a:tailEnd type="none" w="med" len="med"/>
                    </a:lnR>
                    <a:lnT w="0" cap="flat" cmpd="sng" algn="ctr">
                      <a:noFill/>
                    </a:lnT>
                    <a:lnB w="12700" cap="flat" cmpd="sng" algn="ctr">
                      <a:solidFill>
                        <a:srgbClr val="B5B9BD"/>
                      </a:solidFill>
                      <a:prstDash val="solid"/>
                      <a:round/>
                      <a:headEnd type="none" w="med" len="med"/>
                      <a:tailEnd type="none" w="med" len="med"/>
                    </a:lnB>
                    <a:solidFill>
                      <a:srgbClr val="E2E7ED"/>
                    </a:solidFill>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where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Where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5B9BD"/>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select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Select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orderby … descending</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OrderByDescending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group … by … into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GroupBy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join … on … equals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Join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54356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let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Select в анонимный тип</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второй from</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SelectMany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2"/>
                      </a:solidFill>
                      <a:prstDash val="solid"/>
                      <a:round/>
                      <a:headEnd type="none" w="med" len="med"/>
                      <a:tailEnd type="none" w="med" len="med"/>
                    </a:lnL>
                    <a:lnR w="12700" cap="flat" cmpd="sng" algn="ctr">
                      <a:solidFill>
                        <a:srgbClr val="BCBFC2"/>
                      </a:solidFill>
                      <a:prstDash val="solid"/>
                      <a:round/>
                      <a:headEnd type="none" w="med" len="med"/>
                      <a:tailEnd type="none" w="med" len="med"/>
                    </a:lnR>
                    <a:lnT w="12700" cap="flat" cmpd="sng" algn="ctr">
                      <a:solidFill>
                        <a:srgbClr val="BCBFC2"/>
                      </a:solidFill>
                      <a:prstDash val="solid"/>
                      <a:round/>
                      <a:headEnd type="none" w="med" len="med"/>
                      <a:tailEnd type="none" w="med" len="med"/>
                    </a:lnT>
                    <a:lnB w="12700" cap="flat" cmpd="sng" algn="ctr">
                      <a:solidFill>
                        <a:srgbClr val="BCBFC2"/>
                      </a:solidFill>
                      <a:prstDash val="solid"/>
                      <a:round/>
                      <a:headEnd type="none" w="med" len="med"/>
                      <a:tailEnd type="none" w="med" len="med"/>
                    </a:lnB>
                  </a:tcPr>
                </a:tc>
              </a:tr>
            </a:tbl>
          </a:graphicData>
        </a:graphic>
      </p:graphicFrame>
      <p:sp>
        <p:nvSpPr>
          <p:cNvPr id="8" name="Text 5"/>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РЕАЛИЗАЦИЯ</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yield return: как реализован Where</a:t>
            </a:r>
            <a:endParaRPr lang="en-US" sz="3000" dirty="0"/>
          </a:p>
        </p:txBody>
      </p:sp>
      <p:sp>
        <p:nvSpPr>
          <p:cNvPr id="4" name="Text 2"/>
          <p:cNvSpPr/>
          <p:nvPr/>
        </p:nvSpPr>
        <p:spPr>
          <a:xfrm>
            <a:off x="812800" y="1623070"/>
            <a:ext cx="5983129" cy="3058160"/>
          </a:xfrm>
          <a:prstGeom prst="roundRect">
            <a:avLst>
              <a:gd name="adj" fmla="val 3322"/>
            </a:avLst>
          </a:prstGeom>
          <a:solidFill>
            <a:srgbClr val="EEF1F5"/>
          </a:solidFill>
          <a:ln/>
        </p:spPr>
        <p:txBody>
          <a:bodyPr wrap="none" lIns="224242" tIns="173442" rIns="59989"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static IEnumerable&lt;T&gt; MyWhere&lt;T&gt;(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this IEnumerable&lt;T&gt; source,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Func&lt;T, bool&gt; predicate)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foreach (var item in source)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if (predicate(item))</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yield return item;</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p:txBody>
      </p:sp>
      <p:sp>
        <p:nvSpPr>
          <p:cNvPr id="5" name="Shape 3"/>
          <p:cNvSpPr/>
          <p:nvPr/>
        </p:nvSpPr>
        <p:spPr>
          <a:xfrm>
            <a:off x="6999129" y="1623070"/>
            <a:ext cx="4380071" cy="954405"/>
          </a:xfrm>
          <a:prstGeom prst="roundRect">
            <a:avLst>
              <a:gd name="adj" fmla="val 10645"/>
            </a:avLst>
          </a:prstGeom>
          <a:solidFill>
            <a:srgbClr val="ECEFF3"/>
          </a:solidFill>
          <a:ln/>
        </p:spPr>
      </p:sp>
      <p:sp>
        <p:nvSpPr>
          <p:cNvPr id="6" name="Shape 4"/>
          <p:cNvSpPr/>
          <p:nvPr/>
        </p:nvSpPr>
        <p:spPr>
          <a:xfrm>
            <a:off x="6999129" y="1623070"/>
            <a:ext cx="4380071" cy="954405"/>
          </a:xfrm>
          <a:custGeom>
            <a:avLst/>
            <a:gdLst/>
            <a:ahLst/>
            <a:cxnLst/>
            <a:rect l="l" t="t" r="r" b="b"/>
            <a:pathLst>
              <a:path w="4380071" h="954405">
                <a:moveTo>
                  <a:pt x="101600" y="954405"/>
                </a:moveTo>
                <a:lnTo>
                  <a:pt x="101600" y="954405"/>
                </a:lnTo>
                <a:arcTo hR="101600" wR="101600" stAng="5400000" swAng="5400000"/>
                <a:lnTo>
                  <a:pt x="0" y="101600"/>
                </a:lnTo>
                <a:arcTo hR="101600" wR="101600" stAng="10800000" swAng="5400000"/>
                <a:lnTo>
                  <a:pt x="101600" y="0"/>
                </a:lnTo>
                <a:arcTo hR="101600" wR="63500" stAng="16200000" swAng="-5400000"/>
                <a:lnTo>
                  <a:pt x="38100" y="852805"/>
                </a:lnTo>
                <a:arcTo hR="101600" wR="63500" stAng="10800000" swAng="-5400000"/>
                <a:close/>
              </a:path>
            </a:pathLst>
          </a:custGeom>
          <a:solidFill>
            <a:srgbClr val="1E7D3A"/>
          </a:solidFill>
          <a:ln/>
        </p:spPr>
      </p:sp>
      <p:sp>
        <p:nvSpPr>
          <p:cNvPr id="7" name="Text 5"/>
          <p:cNvSpPr/>
          <p:nvPr/>
        </p:nvSpPr>
        <p:spPr>
          <a:xfrm>
            <a:off x="7212489" y="1800870"/>
            <a:ext cx="410857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Конечный автомат</a:t>
            </a:r>
            <a:endParaRPr lang="en-US" sz="1700" dirty="0"/>
          </a:p>
        </p:txBody>
      </p:sp>
      <p:sp>
        <p:nvSpPr>
          <p:cNvPr id="8" name="Text 6"/>
          <p:cNvSpPr/>
          <p:nvPr/>
        </p:nvSpPr>
        <p:spPr>
          <a:xfrm>
            <a:off x="7212489" y="2123455"/>
            <a:ext cx="4166711"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Метод становится классом-перечислителем</a:t>
            </a:r>
            <a:endParaRPr lang="en-US" sz="1500" dirty="0"/>
          </a:p>
        </p:txBody>
      </p:sp>
      <p:sp>
        <p:nvSpPr>
          <p:cNvPr id="9" name="Shape 7"/>
          <p:cNvSpPr/>
          <p:nvPr/>
        </p:nvSpPr>
        <p:spPr>
          <a:xfrm>
            <a:off x="6999129" y="2704480"/>
            <a:ext cx="4380071" cy="1230630"/>
          </a:xfrm>
          <a:prstGeom prst="roundRect">
            <a:avLst>
              <a:gd name="adj" fmla="val 8256"/>
            </a:avLst>
          </a:prstGeom>
          <a:solidFill>
            <a:srgbClr val="ECEFF3"/>
          </a:solidFill>
          <a:ln/>
        </p:spPr>
      </p:sp>
      <p:sp>
        <p:nvSpPr>
          <p:cNvPr id="10" name="Shape 8"/>
          <p:cNvSpPr/>
          <p:nvPr/>
        </p:nvSpPr>
        <p:spPr>
          <a:xfrm>
            <a:off x="6999129" y="2704480"/>
            <a:ext cx="4380071" cy="1230630"/>
          </a:xfrm>
          <a:custGeom>
            <a:avLst/>
            <a:gdLst/>
            <a:ahLst/>
            <a:cxnLst/>
            <a:rect l="l" t="t" r="r" b="b"/>
            <a:pathLst>
              <a:path w="4380071" h="1230630">
                <a:moveTo>
                  <a:pt x="101600" y="1230630"/>
                </a:moveTo>
                <a:lnTo>
                  <a:pt x="101600" y="1230630"/>
                </a:lnTo>
                <a:arcTo hR="101600" wR="101600" stAng="5400000" swAng="5400000"/>
                <a:lnTo>
                  <a:pt x="0" y="101600"/>
                </a:lnTo>
                <a:arcTo hR="101600" wR="101600" stAng="10800000" swAng="5400000"/>
                <a:lnTo>
                  <a:pt x="101600" y="0"/>
                </a:lnTo>
                <a:arcTo hR="101600" wR="63500" stAng="16200000" swAng="-5400000"/>
                <a:lnTo>
                  <a:pt x="38100" y="1129030"/>
                </a:lnTo>
                <a:arcTo hR="101600" wR="63500" stAng="10800000" swAng="-5400000"/>
                <a:close/>
              </a:path>
            </a:pathLst>
          </a:custGeom>
          <a:solidFill>
            <a:srgbClr val="1E7D3A"/>
          </a:solidFill>
          <a:ln/>
        </p:spPr>
      </p:sp>
      <p:sp>
        <p:nvSpPr>
          <p:cNvPr id="11" name="Text 9"/>
          <p:cNvSpPr/>
          <p:nvPr/>
        </p:nvSpPr>
        <p:spPr>
          <a:xfrm>
            <a:off x="7212489" y="2882280"/>
            <a:ext cx="410857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Вызов не выполняет тело</a:t>
            </a:r>
            <a:endParaRPr lang="en-US" sz="1700" dirty="0"/>
          </a:p>
        </p:txBody>
      </p:sp>
      <p:sp>
        <p:nvSpPr>
          <p:cNvPr id="12" name="Text 10"/>
          <p:cNvSpPr/>
          <p:nvPr/>
        </p:nvSpPr>
        <p:spPr>
          <a:xfrm>
            <a:off x="7212489" y="3204840"/>
            <a:ext cx="4108579"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MyWhere(...) только создаёт объект-перечислитель</a:t>
            </a:r>
            <a:endParaRPr lang="en-US" sz="1500" dirty="0"/>
          </a:p>
        </p:txBody>
      </p:sp>
      <p:sp>
        <p:nvSpPr>
          <p:cNvPr id="13" name="Shape 11"/>
          <p:cNvSpPr/>
          <p:nvPr/>
        </p:nvSpPr>
        <p:spPr>
          <a:xfrm>
            <a:off x="6999129" y="4062090"/>
            <a:ext cx="4380071" cy="1230630"/>
          </a:xfrm>
          <a:prstGeom prst="roundRect">
            <a:avLst>
              <a:gd name="adj" fmla="val 8256"/>
            </a:avLst>
          </a:prstGeom>
          <a:solidFill>
            <a:srgbClr val="ECEFF3"/>
          </a:solidFill>
          <a:ln/>
        </p:spPr>
      </p:sp>
      <p:sp>
        <p:nvSpPr>
          <p:cNvPr id="14" name="Shape 12"/>
          <p:cNvSpPr/>
          <p:nvPr/>
        </p:nvSpPr>
        <p:spPr>
          <a:xfrm>
            <a:off x="6999129" y="4062090"/>
            <a:ext cx="4380071" cy="1230630"/>
          </a:xfrm>
          <a:custGeom>
            <a:avLst/>
            <a:gdLst/>
            <a:ahLst/>
            <a:cxnLst/>
            <a:rect l="l" t="t" r="r" b="b"/>
            <a:pathLst>
              <a:path w="4380071" h="1230630">
                <a:moveTo>
                  <a:pt x="101600" y="1230630"/>
                </a:moveTo>
                <a:lnTo>
                  <a:pt x="101600" y="1230630"/>
                </a:lnTo>
                <a:arcTo hR="101600" wR="101600" stAng="5400000" swAng="5400000"/>
                <a:lnTo>
                  <a:pt x="0" y="101600"/>
                </a:lnTo>
                <a:arcTo hR="101600" wR="101600" stAng="10800000" swAng="5400000"/>
                <a:lnTo>
                  <a:pt x="101600" y="0"/>
                </a:lnTo>
                <a:arcTo hR="101600" wR="63500" stAng="16200000" swAng="-5400000"/>
                <a:lnTo>
                  <a:pt x="38100" y="1129030"/>
                </a:lnTo>
                <a:arcTo hR="101600" wR="63500" stAng="10800000" swAng="-5400000"/>
                <a:close/>
              </a:path>
            </a:pathLst>
          </a:custGeom>
          <a:solidFill>
            <a:srgbClr val="1E7D3A"/>
          </a:solidFill>
          <a:ln/>
        </p:spPr>
      </p:sp>
      <p:sp>
        <p:nvSpPr>
          <p:cNvPr id="15" name="Text 13"/>
          <p:cNvSpPr/>
          <p:nvPr/>
        </p:nvSpPr>
        <p:spPr>
          <a:xfrm>
            <a:off x="7212489" y="4239890"/>
            <a:ext cx="410857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Выполнение по частям</a:t>
            </a:r>
            <a:endParaRPr lang="en-US" sz="1700" dirty="0"/>
          </a:p>
        </p:txBody>
      </p:sp>
      <p:sp>
        <p:nvSpPr>
          <p:cNvPr id="16" name="Text 14"/>
          <p:cNvSpPr/>
          <p:nvPr/>
        </p:nvSpPr>
        <p:spPr>
          <a:xfrm>
            <a:off x="7212489" y="4562475"/>
            <a:ext cx="4108579"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MoveNext() выполняет тело до следующего yield return</a:t>
            </a:r>
            <a:endParaRPr lang="en-US" sz="1500" dirty="0"/>
          </a:p>
        </p:txBody>
      </p:sp>
      <p:sp>
        <p:nvSpPr>
          <p:cNvPr id="17" name="Text 15"/>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РЕАЛИЗАЦИЯ</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yield break и бесконечные последовательности</a:t>
            </a:r>
            <a:endParaRPr lang="en-US" sz="3000" dirty="0"/>
          </a:p>
        </p:txBody>
      </p:sp>
      <p:sp>
        <p:nvSpPr>
          <p:cNvPr id="4" name="Text 2"/>
          <p:cNvSpPr/>
          <p:nvPr/>
        </p:nvSpPr>
        <p:spPr>
          <a:xfrm>
            <a:off x="812800" y="1623070"/>
            <a:ext cx="10566400" cy="2837180"/>
          </a:xfrm>
          <a:prstGeom prst="roundRect">
            <a:avLst>
              <a:gd name="adj" fmla="val 3581"/>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static IEnumerable&lt;int&gt; Naturals()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for (var i = 1; ; i++)</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yield return i;  </a:t>
            </a:r>
            <a:r>
              <a:rPr lang="en-US" sz="1200" dirty="0">
                <a:solidFill>
                  <a:srgbClr val="5F6B7A"/>
                </a:solidFill>
                <a:latin typeface="JetBrains Mono" pitchFamily="49" charset="0"/>
                <a:ea typeface="JetBrains Mono" pitchFamily="49" charset="-122"/>
                <a:cs typeface="JetBrains Mono" pitchFamily="49" charset="-120"/>
              </a:rPr>
              <a:t>// бесконечная последовательность</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static IEnumerable&lt;T&gt; MyTake&lt;T&gt;(this IEnumerable&lt;T&gt; source, int n)</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if (n &lt;= 0) yield break;  </a:t>
            </a:r>
            <a:r>
              <a:rPr lang="en-US" sz="1200" dirty="0">
                <a:solidFill>
                  <a:srgbClr val="5F6B7A"/>
                </a:solidFill>
                <a:latin typeface="JetBrains Mono" pitchFamily="49" charset="0"/>
                <a:ea typeface="JetBrains Mono" pitchFamily="49" charset="-122"/>
                <a:cs typeface="JetBrains Mono" pitchFamily="49" charset="-120"/>
              </a:rPr>
              <a:t>// завершить последовательность</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p:txBody>
      </p:sp>
      <p:sp>
        <p:nvSpPr>
          <p:cNvPr id="5" name="Text 3"/>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ПРОВАЙДЕРЫ</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IEnumerable и IQueryable</a:t>
            </a:r>
            <a:endParaRPr lang="en-US" sz="3000" dirty="0"/>
          </a:p>
        </p:txBody>
      </p:sp>
      <p:sp>
        <p:nvSpPr>
          <p:cNvPr id="4" name="Shape 2"/>
          <p:cNvSpPr/>
          <p:nvPr/>
        </p:nvSpPr>
        <p:spPr>
          <a:xfrm>
            <a:off x="812800" y="1623070"/>
            <a:ext cx="5207000" cy="1867535"/>
          </a:xfrm>
          <a:prstGeom prst="roundRect">
            <a:avLst>
              <a:gd name="adj" fmla="val 5440"/>
            </a:avLst>
          </a:prstGeom>
          <a:solidFill>
            <a:srgbClr val="ECEFF3"/>
          </a:solidFill>
          <a:ln/>
        </p:spPr>
      </p:sp>
      <p:sp>
        <p:nvSpPr>
          <p:cNvPr id="5" name="Shape 3"/>
          <p:cNvSpPr/>
          <p:nvPr/>
        </p:nvSpPr>
        <p:spPr>
          <a:xfrm>
            <a:off x="812800" y="1623070"/>
            <a:ext cx="5207000" cy="1867535"/>
          </a:xfrm>
          <a:custGeom>
            <a:avLst/>
            <a:gdLst/>
            <a:ahLst/>
            <a:cxnLst/>
            <a:rect l="l" t="t" r="r" b="b"/>
            <a:pathLst>
              <a:path w="5207000" h="1867535">
                <a:moveTo>
                  <a:pt x="101600" y="1867535"/>
                </a:moveTo>
                <a:lnTo>
                  <a:pt x="101600" y="1867535"/>
                </a:lnTo>
                <a:arcTo hR="101600" wR="101600" stAng="5400000" swAng="5400000"/>
                <a:lnTo>
                  <a:pt x="0" y="101600"/>
                </a:lnTo>
                <a:arcTo hR="101600" wR="101600" stAng="10800000" swAng="5400000"/>
                <a:lnTo>
                  <a:pt x="101600" y="0"/>
                </a:lnTo>
                <a:arcTo hR="101600" wR="63500" stAng="16200000" swAng="-5400000"/>
                <a:lnTo>
                  <a:pt x="38100" y="1765935"/>
                </a:lnTo>
                <a:arcTo hR="101600" wR="63500" stAng="10800000" swAng="-5400000"/>
                <a:close/>
              </a:path>
            </a:pathLst>
          </a:custGeom>
          <a:solidFill>
            <a:srgbClr val="1E7D3A"/>
          </a:solidFill>
          <a:ln/>
        </p:spPr>
      </p:sp>
      <p:sp>
        <p:nvSpPr>
          <p:cNvPr id="6" name="Text 4"/>
          <p:cNvSpPr/>
          <p:nvPr/>
        </p:nvSpPr>
        <p:spPr>
          <a:xfrm>
            <a:off x="1051560" y="1826270"/>
            <a:ext cx="490799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IEnumerable&lt;T&gt; · LINQ to Objects</a:t>
            </a:r>
            <a:endParaRPr lang="en-US" sz="1700" dirty="0"/>
          </a:p>
        </p:txBody>
      </p:sp>
      <p:sp>
        <p:nvSpPr>
          <p:cNvPr id="7" name="Text 5"/>
          <p:cNvSpPr/>
          <p:nvPr/>
        </p:nvSpPr>
        <p:spPr>
          <a:xfrm>
            <a:off x="1051560" y="2161555"/>
            <a:ext cx="4907991"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E7D3A"/>
                </a:solidFill>
                <a:latin typeface="JetBrains Mono" pitchFamily="49" charset="0"/>
                <a:ea typeface="JetBrains Mono" pitchFamily="49" charset="-122"/>
                <a:cs typeface="JetBrains Mono" pitchFamily="49" charset="-120"/>
              </a:rPr>
              <a:t>Where(Func&lt;T, bool&gt; predicate)</a:t>
            </a:r>
            <a:endParaRPr lang="en-US" sz="1200" dirty="0"/>
          </a:p>
        </p:txBody>
      </p:sp>
      <p:sp>
        <p:nvSpPr>
          <p:cNvPr id="8" name="Text 6"/>
          <p:cNvSpPr/>
          <p:nvPr/>
        </p:nvSpPr>
        <p:spPr>
          <a:xfrm>
            <a:off x="1051560" y="2458715"/>
            <a:ext cx="4907991"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Лямбда-выражение компилируется в делегат и выполняется в процессе приложения</a:t>
            </a:r>
            <a:endParaRPr lang="en-US" sz="1500" dirty="0"/>
          </a:p>
        </p:txBody>
      </p:sp>
      <p:sp>
        <p:nvSpPr>
          <p:cNvPr id="9" name="Shape 7"/>
          <p:cNvSpPr/>
          <p:nvPr/>
        </p:nvSpPr>
        <p:spPr>
          <a:xfrm>
            <a:off x="6172200" y="1623070"/>
            <a:ext cx="5207000" cy="1867535"/>
          </a:xfrm>
          <a:prstGeom prst="roundRect">
            <a:avLst>
              <a:gd name="adj" fmla="val 5440"/>
            </a:avLst>
          </a:prstGeom>
          <a:solidFill>
            <a:srgbClr val="ECEFF3"/>
          </a:solidFill>
          <a:ln/>
        </p:spPr>
      </p:sp>
      <p:sp>
        <p:nvSpPr>
          <p:cNvPr id="10" name="Shape 8"/>
          <p:cNvSpPr/>
          <p:nvPr/>
        </p:nvSpPr>
        <p:spPr>
          <a:xfrm>
            <a:off x="6172200" y="1623070"/>
            <a:ext cx="5207000" cy="1867535"/>
          </a:xfrm>
          <a:custGeom>
            <a:avLst/>
            <a:gdLst/>
            <a:ahLst/>
            <a:cxnLst/>
            <a:rect l="l" t="t" r="r" b="b"/>
            <a:pathLst>
              <a:path w="5207000" h="1867535">
                <a:moveTo>
                  <a:pt x="101600" y="1867535"/>
                </a:moveTo>
                <a:lnTo>
                  <a:pt x="101600" y="1867535"/>
                </a:lnTo>
                <a:arcTo hR="101600" wR="101600" stAng="5400000" swAng="5400000"/>
                <a:lnTo>
                  <a:pt x="0" y="101600"/>
                </a:lnTo>
                <a:arcTo hR="101600" wR="101600" stAng="10800000" swAng="5400000"/>
                <a:lnTo>
                  <a:pt x="101600" y="0"/>
                </a:lnTo>
                <a:arcTo hR="101600" wR="63500" stAng="16200000" swAng="-5400000"/>
                <a:lnTo>
                  <a:pt x="38100" y="1765935"/>
                </a:lnTo>
                <a:arcTo hR="101600" wR="63500" stAng="10800000" swAng="-5400000"/>
                <a:close/>
              </a:path>
            </a:pathLst>
          </a:custGeom>
          <a:solidFill>
            <a:srgbClr val="2456B8"/>
          </a:solidFill>
          <a:ln/>
        </p:spPr>
      </p:sp>
      <p:sp>
        <p:nvSpPr>
          <p:cNvPr id="11" name="Text 9"/>
          <p:cNvSpPr/>
          <p:nvPr/>
        </p:nvSpPr>
        <p:spPr>
          <a:xfrm>
            <a:off x="6410960" y="1826270"/>
            <a:ext cx="490799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IQueryable&lt;T&gt; · LINQ-провайдеры</a:t>
            </a:r>
            <a:endParaRPr lang="en-US" sz="1700" dirty="0"/>
          </a:p>
        </p:txBody>
      </p:sp>
      <p:sp>
        <p:nvSpPr>
          <p:cNvPr id="12" name="Text 10"/>
          <p:cNvSpPr/>
          <p:nvPr/>
        </p:nvSpPr>
        <p:spPr>
          <a:xfrm>
            <a:off x="6410960" y="2161555"/>
            <a:ext cx="4907991"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456B8"/>
                </a:solidFill>
                <a:latin typeface="JetBrains Mono" pitchFamily="49" charset="0"/>
                <a:ea typeface="JetBrains Mono" pitchFamily="49" charset="-122"/>
                <a:cs typeface="JetBrains Mono" pitchFamily="49" charset="-120"/>
              </a:rPr>
              <a:t>Where(Expression&lt;Func&lt;T, bool&gt;&gt; predicate)</a:t>
            </a:r>
            <a:endParaRPr lang="en-US" sz="1200" dirty="0"/>
          </a:p>
        </p:txBody>
      </p:sp>
      <p:sp>
        <p:nvSpPr>
          <p:cNvPr id="13" name="Text 11"/>
          <p:cNvSpPr/>
          <p:nvPr/>
        </p:nvSpPr>
        <p:spPr>
          <a:xfrm>
            <a:off x="6410960" y="2458715"/>
            <a:ext cx="4907991"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Лямбда-выражение становится деревом выражений, провайдер транслирует его, например, в SQL</a:t>
            </a:r>
            <a:endParaRPr lang="en-US" sz="1500" dirty="0"/>
          </a:p>
        </p:txBody>
      </p:sp>
      <p:sp>
        <p:nvSpPr>
          <p:cNvPr id="14" name="Text 12"/>
          <p:cNvSpPr/>
          <p:nvPr/>
        </p:nvSpPr>
        <p:spPr>
          <a:xfrm>
            <a:off x="812800" y="3693790"/>
            <a:ext cx="10566400" cy="1732280"/>
          </a:xfrm>
          <a:prstGeom prst="roundRect">
            <a:avLst>
              <a:gd name="adj" fmla="val 5865"/>
            </a:avLst>
          </a:prstGeom>
          <a:solidFill>
            <a:srgbClr val="EEF1F5"/>
          </a:solidFill>
          <a:ln/>
        </p:spPr>
        <p:txBody>
          <a:bodyPr wrap="none" lIns="224242" tIns="173442" rIns="0"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IQueryable&lt;Student&gt; q = db.Students.Where(s =&gt; s.Age &gt; 18);</a:t>
            </a:r>
            <a:endParaRPr lang="en-US" sz="1200" dirty="0"/>
          </a:p>
          <a:p>
            <a:pPr algn="l" indent="0" marL="0">
              <a:lnSpc>
                <a:spcPts val="1740"/>
              </a:lnSpc>
              <a:buNone/>
            </a:pPr>
            <a:r>
              <a:rPr lang="en-US" sz="1200" dirty="0">
                <a:solidFill>
                  <a:srgbClr val="5F6B7A"/>
                </a:solidFill>
                <a:latin typeface="JetBrains Mono" pitchFamily="49" charset="0"/>
                <a:ea typeface="JetBrains Mono" pitchFamily="49" charset="-122"/>
                <a:cs typeface="JetBrains Mono" pitchFamily="49" charset="-120"/>
              </a:rPr>
              <a:t>// EF Core: SELECT ... FROM Students WHERE Age &gt; 18</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IEnumerable&lt;Student&gt; e = db.Students;</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adults = e.Where(s =&gt; s.Age &gt; 18);</a:t>
            </a:r>
            <a:endParaRPr lang="en-US" sz="1200" dirty="0"/>
          </a:p>
          <a:p>
            <a:pPr algn="l" indent="0" marL="0">
              <a:lnSpc>
                <a:spcPts val="1740"/>
              </a:lnSpc>
              <a:buNone/>
            </a:pPr>
            <a:r>
              <a:rPr lang="en-US" sz="1200" dirty="0">
                <a:solidFill>
                  <a:srgbClr val="B4541A"/>
                </a:solidFill>
                <a:latin typeface="JetBrains Mono" pitchFamily="49" charset="0"/>
                <a:ea typeface="JetBrains Mono" pitchFamily="49" charset="-122"/>
                <a:cs typeface="JetBrains Mono" pitchFamily="49" charset="-120"/>
              </a:rPr>
              <a:t>// Enumerable.Where: вся таблица загружается в память и фильтруется там</a:t>
            </a:r>
            <a:endParaRPr lang="en-US" sz="1200" dirty="0"/>
          </a:p>
        </p:txBody>
      </p:sp>
      <p:sp>
        <p:nvSpPr>
          <p:cNvPr id="15" name="Text 13"/>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ДЕРЕВЬЯ ВЫРАЖЕНИЙ</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Expression: лямбда-выражение как данные</a:t>
            </a:r>
            <a:endParaRPr lang="en-US" sz="3000" dirty="0"/>
          </a:p>
        </p:txBody>
      </p:sp>
      <p:sp>
        <p:nvSpPr>
          <p:cNvPr id="4" name="Text 2"/>
          <p:cNvSpPr/>
          <p:nvPr/>
        </p:nvSpPr>
        <p:spPr>
          <a:xfrm>
            <a:off x="812800" y="1623070"/>
            <a:ext cx="6096000" cy="2837180"/>
          </a:xfrm>
          <a:prstGeom prst="roundRect">
            <a:avLst>
              <a:gd name="adj" fmla="val 3581"/>
            </a:avLst>
          </a:prstGeom>
          <a:solidFill>
            <a:srgbClr val="EEF1F5"/>
          </a:solidFill>
          <a:ln/>
        </p:spPr>
        <p:txBody>
          <a:bodyPr wrap="none" lIns="224242" tIns="173442" rIns="56602"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Func&lt;int, int&gt; f = x =&gt; x * 2 + 1;  </a:t>
            </a:r>
            <a:r>
              <a:rPr lang="en-US" sz="1200" dirty="0">
                <a:solidFill>
                  <a:srgbClr val="5F6B7A"/>
                </a:solidFill>
                <a:latin typeface="JetBrains Mono" pitchFamily="49" charset="0"/>
                <a:ea typeface="JetBrains Mono" pitchFamily="49" charset="-122"/>
                <a:cs typeface="JetBrains Mono" pitchFamily="49" charset="-120"/>
              </a:rPr>
              <a:t>// код</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Expression&lt;Func&lt;int, int&gt;&gt; e = x =&gt; x * 2 + 1;  </a:t>
            </a:r>
            <a:r>
              <a:rPr lang="en-US" sz="1200" dirty="0">
                <a:solidFill>
                  <a:srgbClr val="5F6B7A"/>
                </a:solidFill>
                <a:latin typeface="JetBrains Mono" pitchFamily="49" charset="0"/>
                <a:ea typeface="JetBrains Mono" pitchFamily="49" charset="-122"/>
                <a:cs typeface="JetBrains Mono" pitchFamily="49" charset="-120"/>
              </a:rPr>
              <a:t>// дерево</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Console.WriteLine(e);  </a:t>
            </a:r>
            <a:r>
              <a:rPr lang="en-US" sz="1200" dirty="0">
                <a:solidFill>
                  <a:srgbClr val="5F6B7A"/>
                </a:solidFill>
                <a:latin typeface="JetBrains Mono" pitchFamily="49" charset="0"/>
                <a:ea typeface="JetBrains Mono" pitchFamily="49" charset="-122"/>
                <a:cs typeface="JetBrains Mono" pitchFamily="49" charset="-120"/>
              </a:rPr>
              <a:t>// x =&gt; ((x * 2) + 1)</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body = (BinaryExpression)e.Body;</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Console.WriteLine(body.NodeType);  </a:t>
            </a:r>
            <a:r>
              <a:rPr lang="en-US" sz="1200" dirty="0">
                <a:solidFill>
                  <a:srgbClr val="5F6B7A"/>
                </a:solidFill>
                <a:latin typeface="JetBrains Mono" pitchFamily="49" charset="0"/>
                <a:ea typeface="JetBrains Mono" pitchFamily="49" charset="-122"/>
                <a:cs typeface="JetBrains Mono" pitchFamily="49" charset="-120"/>
              </a:rPr>
              <a:t>// Add</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Console.WriteLine(body.Left);  </a:t>
            </a:r>
            <a:r>
              <a:rPr lang="en-US" sz="1200" dirty="0">
                <a:solidFill>
                  <a:srgbClr val="5F6B7A"/>
                </a:solidFill>
                <a:latin typeface="JetBrains Mono" pitchFamily="49" charset="0"/>
                <a:ea typeface="JetBrains Mono" pitchFamily="49" charset="-122"/>
                <a:cs typeface="JetBrains Mono" pitchFamily="49" charset="-120"/>
              </a:rPr>
              <a:t>// (x * 2)</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Console.WriteLine(body.Right);  </a:t>
            </a:r>
            <a:r>
              <a:rPr lang="en-US" sz="1200" dirty="0">
                <a:solidFill>
                  <a:srgbClr val="5F6B7A"/>
                </a:solidFill>
                <a:latin typeface="JetBrains Mono" pitchFamily="49" charset="0"/>
                <a:ea typeface="JetBrains Mono" pitchFamily="49" charset="-122"/>
                <a:cs typeface="JetBrains Mono" pitchFamily="49" charset="-120"/>
              </a:rPr>
              <a:t>// 1</a:t>
            </a:r>
            <a:endParaRPr lang="en-US" sz="1200" dirty="0"/>
          </a:p>
          <a:p>
            <a:pPr algn="l" indent="0" marL="0">
              <a:lnSpc>
                <a:spcPts val="1740"/>
              </a:lnSpc>
              <a:buNone/>
            </a:pP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var compiled = e.Compile();</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Console.WriteLine(compiled(5));  </a:t>
            </a:r>
            <a:r>
              <a:rPr lang="en-US" sz="1200" dirty="0">
                <a:solidFill>
                  <a:srgbClr val="5F6B7A"/>
                </a:solidFill>
                <a:latin typeface="JetBrains Mono" pitchFamily="49" charset="0"/>
                <a:ea typeface="JetBrains Mono" pitchFamily="49" charset="-122"/>
                <a:cs typeface="JetBrains Mono" pitchFamily="49" charset="-120"/>
              </a:rPr>
              <a:t>// 11</a:t>
            </a:r>
            <a:endParaRPr lang="en-US" sz="1200" dirty="0"/>
          </a:p>
        </p:txBody>
      </p:sp>
      <p:sp>
        <p:nvSpPr>
          <p:cNvPr id="5" name="Text 3"/>
          <p:cNvSpPr/>
          <p:nvPr/>
        </p:nvSpPr>
        <p:spPr>
          <a:xfrm>
            <a:off x="812800" y="4612655"/>
            <a:ext cx="627888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Для Expression компилятор строит не код, а дерево объектов. Его можно обойти, проанализировать, перевести на другой язык или скомпилировать.</a:t>
            </a:r>
            <a:endParaRPr lang="en-US" sz="1500" dirty="0"/>
          </a:p>
        </p:txBody>
      </p:sp>
      <p:sp>
        <p:nvSpPr>
          <p:cNvPr id="6" name="Text 4"/>
          <p:cNvSpPr/>
          <p:nvPr/>
        </p:nvSpPr>
        <p:spPr>
          <a:xfrm>
            <a:off x="9175750" y="1993900"/>
            <a:ext cx="1270000" cy="426720"/>
          </a:xfrm>
          <a:custGeom>
            <a:avLst/>
            <a:gdLst/>
            <a:ahLst/>
            <a:cxnLst/>
            <a:rect l="l" t="t" r="r" b="b"/>
            <a:pathLst>
              <a:path w="1270000" h="426720">
                <a:moveTo>
                  <a:pt x="76200" y="0"/>
                </a:moveTo>
                <a:lnTo>
                  <a:pt x="1193800" y="0"/>
                </a:lnTo>
                <a:arcTo hR="76200" wR="76200" stAng="16200000" swAng="5400000"/>
                <a:lnTo>
                  <a:pt x="1270000" y="350520"/>
                </a:lnTo>
                <a:arcTo hR="76200" wR="76200" stAng="0" swAng="5400000"/>
                <a:lnTo>
                  <a:pt x="76200" y="426720"/>
                </a:lnTo>
                <a:arcTo hR="76200" wR="76200" stAng="5400000" swAng="5400000"/>
                <a:lnTo>
                  <a:pt x="0" y="76200"/>
                </a:lnTo>
                <a:arcTo hR="76200" wR="76200" stAng="10800000" swAng="5400000"/>
                <a:close/>
              </a:path>
            </a:pathLst>
          </a:custGeom>
          <a:solidFill>
            <a:srgbClr val="14213D"/>
          </a:solidFill>
          <a:ln/>
        </p:spPr>
        <p:txBody>
          <a:bodyPr wrap="square" lIns="0" tIns="114300" rIns="0" bIns="88900" rtlCol="0" anchor="t">
            <a:normAutofit/>
          </a:bodyPr>
          <a:lstStyle/>
          <a:p>
            <a:pPr algn="ctr" indent="0" marL="0">
              <a:lnSpc>
                <a:spcPts val="1560"/>
              </a:lnSpc>
              <a:buNone/>
            </a:pPr>
            <a:r>
              <a:rPr lang="en-US" sz="1200" dirty="0">
                <a:solidFill>
                  <a:srgbClr val="F7F8FA"/>
                </a:solidFill>
                <a:latin typeface="JetBrains Mono" pitchFamily="49" charset="0"/>
                <a:ea typeface="JetBrains Mono" pitchFamily="49" charset="-122"/>
                <a:cs typeface="JetBrains Mono" pitchFamily="49" charset="-120"/>
              </a:rPr>
              <a:t>Lambda x</a:t>
            </a:r>
            <a:endParaRPr lang="en-US" sz="1200" dirty="0"/>
          </a:p>
        </p:txBody>
      </p:sp>
      <p:sp>
        <p:nvSpPr>
          <p:cNvPr id="7" name="Text 5"/>
          <p:cNvSpPr/>
          <p:nvPr/>
        </p:nvSpPr>
        <p:spPr>
          <a:xfrm>
            <a:off x="9182100" y="2952750"/>
            <a:ext cx="1257300" cy="434340"/>
          </a:xfrm>
          <a:custGeom>
            <a:avLst/>
            <a:gdLst/>
            <a:ahLst/>
            <a:cxnLst/>
            <a:rect l="l" t="t" r="r" b="b"/>
            <a:pathLst>
              <a:path w="1257300" h="434340">
                <a:moveTo>
                  <a:pt x="69850" y="0"/>
                </a:moveTo>
                <a:lnTo>
                  <a:pt x="1187450" y="0"/>
                </a:lnTo>
                <a:arcTo hR="69850" wR="69850" stAng="16200000" swAng="5400000"/>
                <a:lnTo>
                  <a:pt x="1257300" y="364490"/>
                </a:lnTo>
                <a:arcTo hR="69850" wR="69850" stAng="0" swAng="5400000"/>
                <a:lnTo>
                  <a:pt x="69850" y="434340"/>
                </a:lnTo>
                <a:arcTo hR="69850" wR="69850" stAng="5400000" swAng="5400000"/>
                <a:lnTo>
                  <a:pt x="0" y="69850"/>
                </a:lnTo>
                <a:arcTo hR="69850" wR="69850" stAng="10800000" swAng="5400000"/>
                <a:close/>
              </a:path>
            </a:pathLst>
          </a:custGeom>
          <a:solidFill>
            <a:srgbClr val="E3F1E7"/>
          </a:solidFill>
          <a:ln w="12700">
            <a:solidFill>
              <a:srgbClr val="1E7D3A"/>
            </a:solidFill>
            <a:prstDash val="solid"/>
          </a:ln>
        </p:spPr>
        <p:txBody>
          <a:bodyPr wrap="square" lIns="0" tIns="118110" rIns="0" bIns="92710" rtlCol="0" anchor="t">
            <a:normAutofit/>
          </a:bodyPr>
          <a:lstStyle/>
          <a:p>
            <a:pPr algn="ctr" indent="0" marL="0">
              <a:lnSpc>
                <a:spcPts val="1560"/>
              </a:lnSpc>
              <a:buNone/>
            </a:pPr>
            <a:r>
              <a:rPr lang="en-US" sz="1200" dirty="0">
                <a:solidFill>
                  <a:srgbClr val="14213D"/>
                </a:solidFill>
                <a:latin typeface="JetBrains Mono" pitchFamily="49" charset="0"/>
                <a:ea typeface="JetBrains Mono" pitchFamily="49" charset="-122"/>
                <a:cs typeface="JetBrains Mono" pitchFamily="49" charset="-120"/>
              </a:rPr>
              <a:t>Add</a:t>
            </a:r>
            <a:endParaRPr lang="en-US" sz="1200" dirty="0"/>
          </a:p>
        </p:txBody>
      </p:sp>
      <p:sp>
        <p:nvSpPr>
          <p:cNvPr id="8" name="Text 6"/>
          <p:cNvSpPr/>
          <p:nvPr/>
        </p:nvSpPr>
        <p:spPr>
          <a:xfrm>
            <a:off x="8324850" y="3968750"/>
            <a:ext cx="1257300" cy="434340"/>
          </a:xfrm>
          <a:custGeom>
            <a:avLst/>
            <a:gdLst/>
            <a:ahLst/>
            <a:cxnLst/>
            <a:rect l="l" t="t" r="r" b="b"/>
            <a:pathLst>
              <a:path w="1257300" h="434340">
                <a:moveTo>
                  <a:pt x="69850" y="0"/>
                </a:moveTo>
                <a:lnTo>
                  <a:pt x="1187450" y="0"/>
                </a:lnTo>
                <a:arcTo hR="69850" wR="69850" stAng="16200000" swAng="5400000"/>
                <a:lnTo>
                  <a:pt x="1257300" y="364490"/>
                </a:lnTo>
                <a:arcTo hR="69850" wR="69850" stAng="0" swAng="5400000"/>
                <a:lnTo>
                  <a:pt x="69850" y="434340"/>
                </a:lnTo>
                <a:arcTo hR="69850" wR="69850" stAng="5400000" swAng="5400000"/>
                <a:lnTo>
                  <a:pt x="0" y="69850"/>
                </a:lnTo>
                <a:arcTo hR="69850" wR="69850" stAng="10800000" swAng="5400000"/>
                <a:close/>
              </a:path>
            </a:pathLst>
          </a:custGeom>
          <a:solidFill>
            <a:srgbClr val="E3F1E7"/>
          </a:solidFill>
          <a:ln w="12700">
            <a:solidFill>
              <a:srgbClr val="1E7D3A"/>
            </a:solidFill>
            <a:prstDash val="solid"/>
          </a:ln>
        </p:spPr>
        <p:txBody>
          <a:bodyPr wrap="square" lIns="0" tIns="118110" rIns="0" bIns="92710" rtlCol="0" anchor="t">
            <a:normAutofit/>
          </a:bodyPr>
          <a:lstStyle/>
          <a:p>
            <a:pPr algn="ctr" indent="0" marL="0">
              <a:lnSpc>
                <a:spcPts val="1560"/>
              </a:lnSpc>
              <a:buNone/>
            </a:pPr>
            <a:r>
              <a:rPr lang="en-US" sz="1200" dirty="0">
                <a:solidFill>
                  <a:srgbClr val="14213D"/>
                </a:solidFill>
                <a:latin typeface="JetBrains Mono" pitchFamily="49" charset="0"/>
                <a:ea typeface="JetBrains Mono" pitchFamily="49" charset="-122"/>
                <a:cs typeface="JetBrains Mono" pitchFamily="49" charset="-120"/>
              </a:rPr>
              <a:t>Multiply</a:t>
            </a:r>
            <a:endParaRPr lang="en-US" sz="1200" dirty="0"/>
          </a:p>
        </p:txBody>
      </p:sp>
      <p:sp>
        <p:nvSpPr>
          <p:cNvPr id="9" name="Text 7"/>
          <p:cNvSpPr/>
          <p:nvPr/>
        </p:nvSpPr>
        <p:spPr>
          <a:xfrm>
            <a:off x="10039350" y="3968750"/>
            <a:ext cx="1257300" cy="434340"/>
          </a:xfrm>
          <a:custGeom>
            <a:avLst/>
            <a:gdLst/>
            <a:ahLst/>
            <a:cxnLst/>
            <a:rect l="l" t="t" r="r" b="b"/>
            <a:pathLst>
              <a:path w="1257300" h="434340">
                <a:moveTo>
                  <a:pt x="69850" y="0"/>
                </a:moveTo>
                <a:lnTo>
                  <a:pt x="1187450" y="0"/>
                </a:lnTo>
                <a:arcTo hR="69850" wR="69850" stAng="16200000" swAng="5400000"/>
                <a:lnTo>
                  <a:pt x="1257300" y="364490"/>
                </a:lnTo>
                <a:arcTo hR="69850" wR="69850" stAng="0" swAng="5400000"/>
                <a:lnTo>
                  <a:pt x="69850" y="434340"/>
                </a:lnTo>
                <a:arcTo hR="69850" wR="69850" stAng="5400000" swAng="5400000"/>
                <a:lnTo>
                  <a:pt x="0" y="69850"/>
                </a:lnTo>
                <a:arcTo hR="69850" wR="69850" stAng="10800000" swAng="5400000"/>
                <a:close/>
              </a:path>
            </a:pathLst>
          </a:custGeom>
          <a:solidFill>
            <a:srgbClr val="ECEFF3"/>
          </a:solidFill>
          <a:ln w="12700">
            <a:solidFill>
              <a:srgbClr val="5F6B7A"/>
            </a:solidFill>
            <a:prstDash val="solid"/>
          </a:ln>
        </p:spPr>
        <p:txBody>
          <a:bodyPr wrap="square" lIns="0" tIns="118110" rIns="0" bIns="92710" rtlCol="0" anchor="t">
            <a:normAutofit/>
          </a:bodyPr>
          <a:lstStyle/>
          <a:p>
            <a:pPr algn="ctr" indent="0" marL="0">
              <a:lnSpc>
                <a:spcPts val="1560"/>
              </a:lnSpc>
              <a:buNone/>
            </a:pPr>
            <a:r>
              <a:rPr lang="en-US" sz="1200" dirty="0">
                <a:solidFill>
                  <a:srgbClr val="14213D"/>
                </a:solidFill>
                <a:latin typeface="JetBrains Mono" pitchFamily="49" charset="0"/>
                <a:ea typeface="JetBrains Mono" pitchFamily="49" charset="-122"/>
                <a:cs typeface="JetBrains Mono" pitchFamily="49" charset="-120"/>
              </a:rPr>
              <a:t>Constant 1</a:t>
            </a:r>
            <a:endParaRPr lang="en-US" sz="1200" dirty="0"/>
          </a:p>
        </p:txBody>
      </p:sp>
      <p:sp>
        <p:nvSpPr>
          <p:cNvPr id="10" name="Text 8"/>
          <p:cNvSpPr/>
          <p:nvPr/>
        </p:nvSpPr>
        <p:spPr>
          <a:xfrm>
            <a:off x="7626350" y="4984750"/>
            <a:ext cx="1257300" cy="434340"/>
          </a:xfrm>
          <a:custGeom>
            <a:avLst/>
            <a:gdLst/>
            <a:ahLst/>
            <a:cxnLst/>
            <a:rect l="l" t="t" r="r" b="b"/>
            <a:pathLst>
              <a:path w="1257300" h="434340">
                <a:moveTo>
                  <a:pt x="69850" y="0"/>
                </a:moveTo>
                <a:lnTo>
                  <a:pt x="1187450" y="0"/>
                </a:lnTo>
                <a:arcTo hR="69850" wR="69850" stAng="16200000" swAng="5400000"/>
                <a:lnTo>
                  <a:pt x="1257300" y="364490"/>
                </a:lnTo>
                <a:arcTo hR="69850" wR="69850" stAng="0" swAng="5400000"/>
                <a:lnTo>
                  <a:pt x="69850" y="434340"/>
                </a:lnTo>
                <a:arcTo hR="69850" wR="69850" stAng="5400000" swAng="5400000"/>
                <a:lnTo>
                  <a:pt x="0" y="69850"/>
                </a:lnTo>
                <a:arcTo hR="69850" wR="69850" stAng="10800000" swAng="5400000"/>
                <a:close/>
              </a:path>
            </a:pathLst>
          </a:custGeom>
          <a:solidFill>
            <a:srgbClr val="ECEFF3"/>
          </a:solidFill>
          <a:ln w="12700">
            <a:solidFill>
              <a:srgbClr val="5F6B7A"/>
            </a:solidFill>
            <a:prstDash val="solid"/>
          </a:ln>
        </p:spPr>
        <p:txBody>
          <a:bodyPr wrap="square" lIns="0" tIns="118110" rIns="0" bIns="92710" rtlCol="0" anchor="t">
            <a:normAutofit/>
          </a:bodyPr>
          <a:lstStyle/>
          <a:p>
            <a:pPr algn="ctr" indent="0" marL="0">
              <a:lnSpc>
                <a:spcPts val="1560"/>
              </a:lnSpc>
              <a:buNone/>
            </a:pPr>
            <a:r>
              <a:rPr lang="en-US" sz="1200" dirty="0">
                <a:solidFill>
                  <a:srgbClr val="14213D"/>
                </a:solidFill>
                <a:latin typeface="JetBrains Mono" pitchFamily="49" charset="0"/>
                <a:ea typeface="JetBrains Mono" pitchFamily="49" charset="-122"/>
                <a:cs typeface="JetBrains Mono" pitchFamily="49" charset="-120"/>
              </a:rPr>
              <a:t>Parameter x</a:t>
            </a:r>
            <a:endParaRPr lang="en-US" sz="1200" dirty="0"/>
          </a:p>
        </p:txBody>
      </p:sp>
      <p:sp>
        <p:nvSpPr>
          <p:cNvPr id="11" name="Text 9"/>
          <p:cNvSpPr/>
          <p:nvPr/>
        </p:nvSpPr>
        <p:spPr>
          <a:xfrm>
            <a:off x="9023350" y="4984750"/>
            <a:ext cx="1257300" cy="434340"/>
          </a:xfrm>
          <a:custGeom>
            <a:avLst/>
            <a:gdLst/>
            <a:ahLst/>
            <a:cxnLst/>
            <a:rect l="l" t="t" r="r" b="b"/>
            <a:pathLst>
              <a:path w="1257300" h="434340">
                <a:moveTo>
                  <a:pt x="69850" y="0"/>
                </a:moveTo>
                <a:lnTo>
                  <a:pt x="1187450" y="0"/>
                </a:lnTo>
                <a:arcTo hR="69850" wR="69850" stAng="16200000" swAng="5400000"/>
                <a:lnTo>
                  <a:pt x="1257300" y="364490"/>
                </a:lnTo>
                <a:arcTo hR="69850" wR="69850" stAng="0" swAng="5400000"/>
                <a:lnTo>
                  <a:pt x="69850" y="434340"/>
                </a:lnTo>
                <a:arcTo hR="69850" wR="69850" stAng="5400000" swAng="5400000"/>
                <a:lnTo>
                  <a:pt x="0" y="69850"/>
                </a:lnTo>
                <a:arcTo hR="69850" wR="69850" stAng="10800000" swAng="5400000"/>
                <a:close/>
              </a:path>
            </a:pathLst>
          </a:custGeom>
          <a:solidFill>
            <a:srgbClr val="ECEFF3"/>
          </a:solidFill>
          <a:ln w="12700">
            <a:solidFill>
              <a:srgbClr val="5F6B7A"/>
            </a:solidFill>
            <a:prstDash val="solid"/>
          </a:ln>
        </p:spPr>
        <p:txBody>
          <a:bodyPr wrap="square" lIns="0" tIns="118110" rIns="0" bIns="92710" rtlCol="0" anchor="t">
            <a:normAutofit/>
          </a:bodyPr>
          <a:lstStyle/>
          <a:p>
            <a:pPr algn="ctr" indent="0" marL="0">
              <a:lnSpc>
                <a:spcPts val="1560"/>
              </a:lnSpc>
              <a:buNone/>
            </a:pPr>
            <a:r>
              <a:rPr lang="en-US" sz="1200" dirty="0">
                <a:solidFill>
                  <a:srgbClr val="14213D"/>
                </a:solidFill>
                <a:latin typeface="JetBrains Mono" pitchFamily="49" charset="0"/>
                <a:ea typeface="JetBrains Mono" pitchFamily="49" charset="-122"/>
                <a:cs typeface="JetBrains Mono" pitchFamily="49" charset="-120"/>
              </a:rPr>
              <a:t>Constant 2</a:t>
            </a:r>
            <a:endParaRPr lang="en-US" sz="1200" dirty="0"/>
          </a:p>
        </p:txBody>
      </p:sp>
      <p:pic>
        <p:nvPicPr>
          <p:cNvPr id="12" name="Image 0" descr="connector">    </p:cNvPr>
          <p:cNvPicPr>
            <a:picLocks noChangeAspect="1"/>
          </p:cNvPicPr>
          <p:nvPr/>
        </p:nvPicPr>
        <p:blipFill>
          <a:blip r:embed="rId1"/>
          <a:srcRect l="0" r="0" t="0" b="0"/>
          <a:stretch/>
        </p:blipFill>
        <p:spPr>
          <a:xfrm>
            <a:off x="9759950" y="2381250"/>
            <a:ext cx="101600" cy="615950"/>
          </a:xfrm>
          <a:prstGeom prst="rect">
            <a:avLst/>
          </a:prstGeom>
        </p:spPr>
      </p:pic>
      <p:pic>
        <p:nvPicPr>
          <p:cNvPr id="13" name="Image 1" descr="connector">    </p:cNvPr>
          <p:cNvPicPr>
            <a:picLocks noChangeAspect="1"/>
          </p:cNvPicPr>
          <p:nvPr/>
        </p:nvPicPr>
        <p:blipFill>
          <a:blip r:embed="rId2"/>
          <a:srcRect l="0" r="0" t="0" b="0"/>
          <a:stretch/>
        </p:blipFill>
        <p:spPr>
          <a:xfrm>
            <a:off x="8902700" y="3333750"/>
            <a:ext cx="958850" cy="679450"/>
          </a:xfrm>
          <a:prstGeom prst="rect">
            <a:avLst/>
          </a:prstGeom>
        </p:spPr>
      </p:pic>
      <p:pic>
        <p:nvPicPr>
          <p:cNvPr id="14" name="Image 2" descr="connector">    </p:cNvPr>
          <p:cNvPicPr>
            <a:picLocks noChangeAspect="1"/>
          </p:cNvPicPr>
          <p:nvPr/>
        </p:nvPicPr>
        <p:blipFill>
          <a:blip r:embed="rId3"/>
          <a:srcRect l="0" r="0" t="0" b="0"/>
          <a:stretch/>
        </p:blipFill>
        <p:spPr>
          <a:xfrm>
            <a:off x="9759950" y="3333750"/>
            <a:ext cx="958850" cy="679450"/>
          </a:xfrm>
          <a:prstGeom prst="rect">
            <a:avLst/>
          </a:prstGeom>
        </p:spPr>
      </p:pic>
      <p:pic>
        <p:nvPicPr>
          <p:cNvPr id="15" name="Image 3" descr="connector">    </p:cNvPr>
          <p:cNvPicPr>
            <a:picLocks noChangeAspect="1"/>
          </p:cNvPicPr>
          <p:nvPr/>
        </p:nvPicPr>
        <p:blipFill>
          <a:blip r:embed="rId4"/>
          <a:srcRect l="0" r="0" t="0" b="0"/>
          <a:stretch/>
        </p:blipFill>
        <p:spPr>
          <a:xfrm>
            <a:off x="8204200" y="4349750"/>
            <a:ext cx="800100" cy="679450"/>
          </a:xfrm>
          <a:prstGeom prst="rect">
            <a:avLst/>
          </a:prstGeom>
        </p:spPr>
      </p:pic>
      <p:pic>
        <p:nvPicPr>
          <p:cNvPr id="16" name="Image 4" descr="connector">    </p:cNvPr>
          <p:cNvPicPr>
            <a:picLocks noChangeAspect="1"/>
          </p:cNvPicPr>
          <p:nvPr/>
        </p:nvPicPr>
        <p:blipFill>
          <a:blip r:embed="rId5"/>
          <a:srcRect l="0" r="0" t="0" b="0"/>
          <a:stretch/>
        </p:blipFill>
        <p:spPr>
          <a:xfrm>
            <a:off x="8902700" y="4349750"/>
            <a:ext cx="800100" cy="679450"/>
          </a:xfrm>
          <a:prstGeom prst="rect">
            <a:avLst/>
          </a:prstGeom>
        </p:spPr>
      </p:pic>
      <p:sp>
        <p:nvSpPr>
          <p:cNvPr id="17" name="Text 10"/>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ДЕРЕВЬЯ ВЫРАЖЕНИЙ</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Разбор дерева: транслятор условия в SQL</a:t>
            </a:r>
            <a:endParaRPr lang="en-US" sz="3000" dirty="0"/>
          </a:p>
        </p:txBody>
      </p:sp>
      <p:sp>
        <p:nvSpPr>
          <p:cNvPr id="4" name="Text 2"/>
          <p:cNvSpPr/>
          <p:nvPr/>
        </p:nvSpPr>
        <p:spPr>
          <a:xfrm>
            <a:off x="812800" y="1623070"/>
            <a:ext cx="10566400" cy="4033520"/>
          </a:xfrm>
          <a:prstGeom prst="roundRect">
            <a:avLst>
              <a:gd name="adj" fmla="val 2519"/>
            </a:avLst>
          </a:prstGeom>
          <a:solidFill>
            <a:srgbClr val="EEF1F5"/>
          </a:solidFill>
          <a:ln/>
        </p:spPr>
        <p:txBody>
          <a:bodyPr wrap="none" lIns="224242" tIns="173442" rIns="0" bIns="148042" rtlCol="0" anchor="t">
            <a:normAutofit/>
          </a:bodyPr>
          <a:lstStyle/>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static string ToSql(Expression e) =&gt; e switch</a:t>
            </a: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    BinaryExpression b =&gt; $"({ToSql(b.Left)} {Op(b.NodeType)} {ToSql(b.Right)})",</a:t>
            </a: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    MemberExpression m =&gt; m.Member.Name,</a:t>
            </a: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    ConstantExpression { Value: string s } =&gt; $"'{s}'",</a:t>
            </a: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    ConstantExpression c =&gt; $"{c.Value}",</a:t>
            </a: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    _ =&gt; throw new NotSupportedException(e.NodeType.ToString())</a:t>
            </a: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static string Op(ExpressionType t) =&gt; t switch</a:t>
            </a: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    ExpressionType.GreaterThan =&gt; "&gt;", ExpressionType.Equal =&gt; "=",</a:t>
            </a: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    ExpressionType.AndAlso =&gt; "AND", _ =&gt; throw new NotSupportedException()</a:t>
            </a: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Expression&lt;Func&lt;Student, bool&gt;&gt; filter = s =&gt; s.Age &gt; 18 &amp;&amp; s.Group == "25.Б41";</a:t>
            </a:r>
            <a:endParaRPr lang="en-US" sz="1200" dirty="0"/>
          </a:p>
          <a:p>
            <a:pPr algn="l" indent="0" marL="0">
              <a:lnSpc>
                <a:spcPts val="1680"/>
              </a:lnSpc>
              <a:buNone/>
            </a:pPr>
            <a:r>
              <a:rPr lang="en-US" sz="1200" dirty="0">
                <a:solidFill>
                  <a:srgbClr val="1B2433"/>
                </a:solidFill>
                <a:latin typeface="JetBrains Mono" pitchFamily="49" charset="0"/>
                <a:ea typeface="JetBrains Mono" pitchFamily="49" charset="-122"/>
                <a:cs typeface="JetBrains Mono" pitchFamily="49" charset="-120"/>
              </a:rPr>
              <a:t>ToSql(filter.Body);  </a:t>
            </a:r>
            <a:r>
              <a:rPr lang="en-US" sz="1200" dirty="0">
                <a:solidFill>
                  <a:srgbClr val="1E7D3A"/>
                </a:solidFill>
                <a:latin typeface="JetBrains Mono" pitchFamily="49" charset="0"/>
                <a:ea typeface="JetBrains Mono" pitchFamily="49" charset="-122"/>
                <a:cs typeface="JetBrains Mono" pitchFamily="49" charset="-120"/>
              </a:rPr>
              <a:t>// ((Age &gt; 18) AND (Group = '25.Б41'))</a:t>
            </a:r>
            <a:endParaRPr lang="en-US" sz="1200" dirty="0"/>
          </a:p>
        </p:txBody>
      </p:sp>
      <p:sp>
        <p:nvSpPr>
          <p:cNvPr id="5" name="Text 3"/>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LINQ · ПРОВАЙДЕРЫ</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Пользовательский LINQ-провайдер</a:t>
            </a:r>
            <a:endParaRPr lang="en-US" sz="3000" dirty="0"/>
          </a:p>
        </p:txBody>
      </p:sp>
      <p:sp>
        <p:nvSpPr>
          <p:cNvPr id="4" name="Shape 2"/>
          <p:cNvSpPr/>
          <p:nvPr/>
        </p:nvSpPr>
        <p:spPr>
          <a:xfrm>
            <a:off x="812800" y="1761182"/>
            <a:ext cx="2260600" cy="1542415"/>
          </a:xfrm>
          <a:prstGeom prst="roundRect">
            <a:avLst>
              <a:gd name="adj" fmla="val 6587"/>
            </a:avLst>
          </a:prstGeom>
          <a:solidFill>
            <a:srgbClr val="ECEFF3"/>
          </a:solidFill>
          <a:ln/>
        </p:spPr>
      </p:sp>
      <p:sp>
        <p:nvSpPr>
          <p:cNvPr id="5" name="Shape 3"/>
          <p:cNvSpPr/>
          <p:nvPr/>
        </p:nvSpPr>
        <p:spPr>
          <a:xfrm>
            <a:off x="812800" y="1761182"/>
            <a:ext cx="2260600" cy="1542415"/>
          </a:xfrm>
          <a:custGeom>
            <a:avLst/>
            <a:gdLst/>
            <a:ahLst/>
            <a:cxnLst/>
            <a:rect l="l" t="t" r="r" b="b"/>
            <a:pathLst>
              <a:path w="2260600" h="1542415">
                <a:moveTo>
                  <a:pt x="0" y="101600"/>
                </a:moveTo>
                <a:lnTo>
                  <a:pt x="0" y="101600"/>
                </a:lnTo>
                <a:arcTo hR="101600" wR="101600" stAng="10800000" swAng="5400000"/>
                <a:lnTo>
                  <a:pt x="2159000" y="0"/>
                </a:lnTo>
                <a:arcTo hR="101600" wR="101600" stAng="16200000" swAng="5400000"/>
                <a:lnTo>
                  <a:pt x="2260600" y="101600"/>
                </a:lnTo>
                <a:arcTo hR="63500" wR="101600" stAng="0" swAng="-5400000"/>
                <a:lnTo>
                  <a:pt x="101600" y="38100"/>
                </a:lnTo>
                <a:arcTo hR="63500" wR="101600" stAng="16200000" swAng="-5400000"/>
                <a:close/>
              </a:path>
            </a:pathLst>
          </a:custGeom>
          <a:solidFill>
            <a:srgbClr val="1E7D3A"/>
          </a:solidFill>
          <a:ln/>
        </p:spPr>
      </p:sp>
      <p:sp>
        <p:nvSpPr>
          <p:cNvPr id="6" name="Text 4"/>
          <p:cNvSpPr/>
          <p:nvPr/>
        </p:nvSpPr>
        <p:spPr>
          <a:xfrm>
            <a:off x="990600" y="1974528"/>
            <a:ext cx="196215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1. Запрос</a:t>
            </a:r>
            <a:endParaRPr lang="en-US" sz="1700" dirty="0"/>
          </a:p>
        </p:txBody>
      </p:sp>
      <p:sp>
        <p:nvSpPr>
          <p:cNvPr id="7" name="Text 5"/>
          <p:cNvSpPr/>
          <p:nvPr/>
        </p:nvSpPr>
        <p:spPr>
          <a:xfrm>
            <a:off x="990600" y="2297113"/>
            <a:ext cx="196215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Цепочка вызовов методов класса Queryable</a:t>
            </a:r>
            <a:endParaRPr lang="en-US" sz="1500" dirty="0"/>
          </a:p>
        </p:txBody>
      </p:sp>
      <p:pic>
        <p:nvPicPr>
          <p:cNvPr id="8" name="Image 0" descr="arrow-right">    </p:cNvPr>
          <p:cNvPicPr>
            <a:picLocks noChangeAspect="1"/>
          </p:cNvPicPr>
          <p:nvPr/>
        </p:nvPicPr>
        <p:blipFill>
          <a:blip r:embed="rId1"/>
          <a:srcRect l="0" r="0" t="0" b="0"/>
          <a:stretch/>
        </p:blipFill>
        <p:spPr>
          <a:xfrm>
            <a:off x="3175000" y="2443485"/>
            <a:ext cx="304800" cy="177800"/>
          </a:xfrm>
          <a:prstGeom prst="rect">
            <a:avLst/>
          </a:prstGeom>
        </p:spPr>
      </p:pic>
      <p:sp>
        <p:nvSpPr>
          <p:cNvPr id="9" name="Shape 6"/>
          <p:cNvSpPr/>
          <p:nvPr/>
        </p:nvSpPr>
        <p:spPr>
          <a:xfrm>
            <a:off x="3581400" y="1761182"/>
            <a:ext cx="2260600" cy="1542415"/>
          </a:xfrm>
          <a:prstGeom prst="roundRect">
            <a:avLst>
              <a:gd name="adj" fmla="val 6587"/>
            </a:avLst>
          </a:prstGeom>
          <a:solidFill>
            <a:srgbClr val="ECEFF3"/>
          </a:solidFill>
          <a:ln/>
        </p:spPr>
      </p:sp>
      <p:sp>
        <p:nvSpPr>
          <p:cNvPr id="10" name="Shape 7"/>
          <p:cNvSpPr/>
          <p:nvPr/>
        </p:nvSpPr>
        <p:spPr>
          <a:xfrm>
            <a:off x="3581400" y="1761182"/>
            <a:ext cx="2260600" cy="1542415"/>
          </a:xfrm>
          <a:custGeom>
            <a:avLst/>
            <a:gdLst/>
            <a:ahLst/>
            <a:cxnLst/>
            <a:rect l="l" t="t" r="r" b="b"/>
            <a:pathLst>
              <a:path w="2260600" h="1542415">
                <a:moveTo>
                  <a:pt x="0" y="101600"/>
                </a:moveTo>
                <a:lnTo>
                  <a:pt x="0" y="101600"/>
                </a:lnTo>
                <a:arcTo hR="101600" wR="101600" stAng="10800000" swAng="5400000"/>
                <a:lnTo>
                  <a:pt x="2159000" y="0"/>
                </a:lnTo>
                <a:arcTo hR="101600" wR="101600" stAng="16200000" swAng="5400000"/>
                <a:lnTo>
                  <a:pt x="2260600" y="101600"/>
                </a:lnTo>
                <a:arcTo hR="63500" wR="101600" stAng="0" swAng="-5400000"/>
                <a:lnTo>
                  <a:pt x="101600" y="38100"/>
                </a:lnTo>
                <a:arcTo hR="63500" wR="101600" stAng="16200000" swAng="-5400000"/>
                <a:close/>
              </a:path>
            </a:pathLst>
          </a:custGeom>
          <a:solidFill>
            <a:srgbClr val="1E7D3A"/>
          </a:solidFill>
          <a:ln/>
        </p:spPr>
      </p:sp>
      <p:sp>
        <p:nvSpPr>
          <p:cNvPr id="11" name="Text 8"/>
          <p:cNvSpPr/>
          <p:nvPr/>
        </p:nvSpPr>
        <p:spPr>
          <a:xfrm>
            <a:off x="3759200" y="1974528"/>
            <a:ext cx="196215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2. Дерево</a:t>
            </a:r>
            <a:endParaRPr lang="en-US" sz="1700" dirty="0"/>
          </a:p>
        </p:txBody>
      </p:sp>
      <p:sp>
        <p:nvSpPr>
          <p:cNvPr id="12" name="Text 9"/>
          <p:cNvSpPr/>
          <p:nvPr/>
        </p:nvSpPr>
        <p:spPr>
          <a:xfrm>
            <a:off x="3759200" y="2297113"/>
            <a:ext cx="196215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Каждый вызов добавляет узел в Expression</a:t>
            </a:r>
            <a:endParaRPr lang="en-US" sz="1500" dirty="0"/>
          </a:p>
        </p:txBody>
      </p:sp>
      <p:pic>
        <p:nvPicPr>
          <p:cNvPr id="13" name="Image 1" descr="arrow-right">    </p:cNvPr>
          <p:cNvPicPr>
            <a:picLocks noChangeAspect="1"/>
          </p:cNvPicPr>
          <p:nvPr/>
        </p:nvPicPr>
        <p:blipFill>
          <a:blip r:embed="rId2"/>
          <a:srcRect l="0" r="0" t="0" b="0"/>
          <a:stretch/>
        </p:blipFill>
        <p:spPr>
          <a:xfrm>
            <a:off x="5943600" y="2443485"/>
            <a:ext cx="304800" cy="177800"/>
          </a:xfrm>
          <a:prstGeom prst="rect">
            <a:avLst/>
          </a:prstGeom>
        </p:spPr>
      </p:pic>
      <p:sp>
        <p:nvSpPr>
          <p:cNvPr id="14" name="Shape 10"/>
          <p:cNvSpPr/>
          <p:nvPr/>
        </p:nvSpPr>
        <p:spPr>
          <a:xfrm>
            <a:off x="6350000" y="1761182"/>
            <a:ext cx="2260600" cy="1542415"/>
          </a:xfrm>
          <a:prstGeom prst="roundRect">
            <a:avLst>
              <a:gd name="adj" fmla="val 6587"/>
            </a:avLst>
          </a:prstGeom>
          <a:solidFill>
            <a:srgbClr val="ECEFF3"/>
          </a:solidFill>
          <a:ln/>
        </p:spPr>
      </p:sp>
      <p:sp>
        <p:nvSpPr>
          <p:cNvPr id="15" name="Shape 11"/>
          <p:cNvSpPr/>
          <p:nvPr/>
        </p:nvSpPr>
        <p:spPr>
          <a:xfrm>
            <a:off x="6350000" y="1761182"/>
            <a:ext cx="2260600" cy="1542415"/>
          </a:xfrm>
          <a:custGeom>
            <a:avLst/>
            <a:gdLst/>
            <a:ahLst/>
            <a:cxnLst/>
            <a:rect l="l" t="t" r="r" b="b"/>
            <a:pathLst>
              <a:path w="2260600" h="1542415">
                <a:moveTo>
                  <a:pt x="0" y="101600"/>
                </a:moveTo>
                <a:lnTo>
                  <a:pt x="0" y="101600"/>
                </a:lnTo>
                <a:arcTo hR="101600" wR="101600" stAng="10800000" swAng="5400000"/>
                <a:lnTo>
                  <a:pt x="2159000" y="0"/>
                </a:lnTo>
                <a:arcTo hR="101600" wR="101600" stAng="16200000" swAng="5400000"/>
                <a:lnTo>
                  <a:pt x="2260600" y="101600"/>
                </a:lnTo>
                <a:arcTo hR="63500" wR="101600" stAng="0" swAng="-5400000"/>
                <a:lnTo>
                  <a:pt x="101600" y="38100"/>
                </a:lnTo>
                <a:arcTo hR="63500" wR="101600" stAng="16200000" swAng="-5400000"/>
                <a:close/>
              </a:path>
            </a:pathLst>
          </a:custGeom>
          <a:solidFill>
            <a:srgbClr val="2456B8"/>
          </a:solidFill>
          <a:ln/>
        </p:spPr>
      </p:sp>
      <p:sp>
        <p:nvSpPr>
          <p:cNvPr id="16" name="Text 12"/>
          <p:cNvSpPr/>
          <p:nvPr/>
        </p:nvSpPr>
        <p:spPr>
          <a:xfrm>
            <a:off x="6527800" y="1974528"/>
            <a:ext cx="196215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3. Выполнение</a:t>
            </a:r>
            <a:endParaRPr lang="en-US" sz="1700" dirty="0"/>
          </a:p>
        </p:txBody>
      </p:sp>
      <p:sp>
        <p:nvSpPr>
          <p:cNvPr id="17" name="Text 13"/>
          <p:cNvSpPr/>
          <p:nvPr/>
        </p:nvSpPr>
        <p:spPr>
          <a:xfrm>
            <a:off x="6527800" y="2297113"/>
            <a:ext cx="196215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foreach или ToList() вызывает Provider.Execute</a:t>
            </a:r>
            <a:endParaRPr lang="en-US" sz="1500" dirty="0"/>
          </a:p>
        </p:txBody>
      </p:sp>
      <p:pic>
        <p:nvPicPr>
          <p:cNvPr id="18" name="Image 2" descr="arrow-right">    </p:cNvPr>
          <p:cNvPicPr>
            <a:picLocks noChangeAspect="1"/>
          </p:cNvPicPr>
          <p:nvPr/>
        </p:nvPicPr>
        <p:blipFill>
          <a:blip r:embed="rId3"/>
          <a:srcRect l="0" r="0" t="0" b="0"/>
          <a:stretch/>
        </p:blipFill>
        <p:spPr>
          <a:xfrm>
            <a:off x="8712200" y="2443485"/>
            <a:ext cx="304800" cy="177800"/>
          </a:xfrm>
          <a:prstGeom prst="rect">
            <a:avLst/>
          </a:prstGeom>
        </p:spPr>
      </p:pic>
      <p:sp>
        <p:nvSpPr>
          <p:cNvPr id="19" name="Shape 14"/>
          <p:cNvSpPr/>
          <p:nvPr/>
        </p:nvSpPr>
        <p:spPr>
          <a:xfrm>
            <a:off x="9118600" y="1623070"/>
            <a:ext cx="2260600" cy="1818640"/>
          </a:xfrm>
          <a:prstGeom prst="roundRect">
            <a:avLst>
              <a:gd name="adj" fmla="val 5587"/>
            </a:avLst>
          </a:prstGeom>
          <a:solidFill>
            <a:srgbClr val="ECEFF3"/>
          </a:solidFill>
          <a:ln/>
        </p:spPr>
      </p:sp>
      <p:sp>
        <p:nvSpPr>
          <p:cNvPr id="20" name="Shape 15"/>
          <p:cNvSpPr/>
          <p:nvPr/>
        </p:nvSpPr>
        <p:spPr>
          <a:xfrm>
            <a:off x="9118600" y="1623070"/>
            <a:ext cx="2260600" cy="1818640"/>
          </a:xfrm>
          <a:custGeom>
            <a:avLst/>
            <a:gdLst/>
            <a:ahLst/>
            <a:cxnLst/>
            <a:rect l="l" t="t" r="r" b="b"/>
            <a:pathLst>
              <a:path w="2260600" h="1818640">
                <a:moveTo>
                  <a:pt x="0" y="101600"/>
                </a:moveTo>
                <a:lnTo>
                  <a:pt x="0" y="101600"/>
                </a:lnTo>
                <a:arcTo hR="101600" wR="101600" stAng="10800000" swAng="5400000"/>
                <a:lnTo>
                  <a:pt x="2159000" y="0"/>
                </a:lnTo>
                <a:arcTo hR="101600" wR="101600" stAng="16200000" swAng="5400000"/>
                <a:lnTo>
                  <a:pt x="2260600" y="101600"/>
                </a:lnTo>
                <a:arcTo hR="63500" wR="101600" stAng="0" swAng="-5400000"/>
                <a:lnTo>
                  <a:pt x="101600" y="38100"/>
                </a:lnTo>
                <a:arcTo hR="63500" wR="101600" stAng="16200000" swAng="-5400000"/>
                <a:close/>
              </a:path>
            </a:pathLst>
          </a:custGeom>
          <a:solidFill>
            <a:srgbClr val="2456B8"/>
          </a:solidFill>
          <a:ln/>
        </p:spPr>
      </p:sp>
      <p:sp>
        <p:nvSpPr>
          <p:cNvPr id="21" name="Text 16"/>
          <p:cNvSpPr/>
          <p:nvPr/>
        </p:nvSpPr>
        <p:spPr>
          <a:xfrm>
            <a:off x="9296400" y="1836415"/>
            <a:ext cx="196215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4. Трансляция</a:t>
            </a:r>
            <a:endParaRPr lang="en-US" sz="1700" dirty="0"/>
          </a:p>
        </p:txBody>
      </p:sp>
      <p:sp>
        <p:nvSpPr>
          <p:cNvPr id="22" name="Text 17"/>
          <p:cNvSpPr/>
          <p:nvPr/>
        </p:nvSpPr>
        <p:spPr>
          <a:xfrm>
            <a:off x="9296400" y="2159000"/>
            <a:ext cx="1962150"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Провайдер строит SQL, HTTP-запрос или запрос к MongoDB</a:t>
            </a:r>
            <a:endParaRPr lang="en-US" sz="1500" dirty="0"/>
          </a:p>
        </p:txBody>
      </p:sp>
      <p:sp>
        <p:nvSpPr>
          <p:cNvPr id="23" name="Text 18"/>
          <p:cNvSpPr/>
          <p:nvPr/>
        </p:nvSpPr>
        <p:spPr>
          <a:xfrm>
            <a:off x="812800" y="3644900"/>
            <a:ext cx="6049407" cy="1732280"/>
          </a:xfrm>
          <a:prstGeom prst="roundRect">
            <a:avLst>
              <a:gd name="adj" fmla="val 5865"/>
            </a:avLst>
          </a:prstGeom>
          <a:solidFill>
            <a:srgbClr val="EEF1F5"/>
          </a:solidFill>
          <a:ln/>
        </p:spPr>
        <p:txBody>
          <a:bodyPr wrap="none" lIns="224242" tIns="173442" rIns="58000" bIns="148042" rtlCol="0" anchor="t">
            <a:normAutofit/>
          </a:bodyPr>
          <a:lstStyle/>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public interface IQueryProvider</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IQueryable&lt;T&gt; CreateQuery&lt;T&gt;(Expression expression);</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TResult Execute&lt;TResult&gt;(Expression expression);</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    </a:t>
            </a:r>
            <a:r>
              <a:rPr lang="en-US" sz="1200" dirty="0">
                <a:solidFill>
                  <a:srgbClr val="5F6B7A"/>
                </a:solidFill>
                <a:latin typeface="JetBrains Mono" pitchFamily="49" charset="0"/>
                <a:ea typeface="JetBrains Mono" pitchFamily="49" charset="-122"/>
                <a:cs typeface="JetBrains Mono" pitchFamily="49" charset="-120"/>
              </a:rPr>
              <a:t>// и негенерические версии этих методов</a:t>
            </a:r>
            <a:endParaRPr lang="en-US" sz="1200" dirty="0"/>
          </a:p>
          <a:p>
            <a:pPr algn="l" indent="0" marL="0">
              <a:lnSpc>
                <a:spcPts val="1740"/>
              </a:lnSpc>
              <a:buNone/>
            </a:pPr>
            <a:r>
              <a:rPr lang="en-US" sz="1200" dirty="0">
                <a:solidFill>
                  <a:srgbClr val="1B2433"/>
                </a:solidFill>
                <a:latin typeface="JetBrains Mono" pitchFamily="49" charset="0"/>
                <a:ea typeface="JetBrains Mono" pitchFamily="49" charset="-122"/>
                <a:cs typeface="JetBrains Mono" pitchFamily="49" charset="-120"/>
              </a:rPr>
              <a:t>}</a:t>
            </a:r>
            <a:endParaRPr lang="en-US" sz="1200" dirty="0"/>
          </a:p>
        </p:txBody>
      </p:sp>
      <p:sp>
        <p:nvSpPr>
          <p:cNvPr id="24" name="Shape 19"/>
          <p:cNvSpPr/>
          <p:nvPr/>
        </p:nvSpPr>
        <p:spPr>
          <a:xfrm>
            <a:off x="7065407" y="3644900"/>
            <a:ext cx="4313793" cy="1506855"/>
          </a:xfrm>
          <a:prstGeom prst="roundRect">
            <a:avLst>
              <a:gd name="adj" fmla="val 6743"/>
            </a:avLst>
          </a:prstGeom>
          <a:solidFill>
            <a:srgbClr val="ECEFF3"/>
          </a:solidFill>
          <a:ln/>
        </p:spPr>
      </p:sp>
      <p:sp>
        <p:nvSpPr>
          <p:cNvPr id="25" name="Text 20"/>
          <p:cNvSpPr/>
          <p:nvPr/>
        </p:nvSpPr>
        <p:spPr>
          <a:xfrm>
            <a:off x="7243207" y="3822700"/>
            <a:ext cx="407693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Примеры провайдеров</a:t>
            </a:r>
            <a:endParaRPr lang="en-US" sz="1700" dirty="0"/>
          </a:p>
        </p:txBody>
      </p:sp>
      <p:sp>
        <p:nvSpPr>
          <p:cNvPr id="26" name="Text 21"/>
          <p:cNvSpPr/>
          <p:nvPr/>
        </p:nvSpPr>
        <p:spPr>
          <a:xfrm>
            <a:off x="7314327" y="4145285"/>
            <a:ext cx="3998199" cy="854075"/>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Entity Framework Core - SQL</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MongoDB C# Driver - запросы MongoDB</a:t>
            </a:r>
            <a:endParaRPr lang="en-US" sz="1500" dirty="0"/>
          </a:p>
          <a:p>
            <a:pPr algn="l" marL="182880" indent="-182880">
              <a:lnSpc>
                <a:spcPts val="2175"/>
              </a:lnSpc>
              <a:buSzPct val="100000"/>
              <a:buChar char="•"/>
            </a:pPr>
            <a:r>
              <a:rPr lang="en-US" sz="1500" dirty="0">
                <a:solidFill>
                  <a:srgbClr val="4A5568"/>
                </a:solidFill>
                <a:latin typeface="IBM Plex Sans" pitchFamily="34" charset="0"/>
                <a:ea typeface="IBM Plex Sans" pitchFamily="34" charset="-122"/>
                <a:cs typeface="IBM Plex Sans" pitchFamily="34" charset="-120"/>
              </a:rPr>
              <a:t>Клиенты OData - параметры URL</a:t>
            </a:r>
            <a:endParaRPr lang="en-US" sz="1500" dirty="0"/>
          </a:p>
        </p:txBody>
      </p:sp>
      <p:sp>
        <p:nvSpPr>
          <p:cNvPr id="27" name="Text 22"/>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DCEFE1"/>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DCEFE1"/>
              </a:gs>
              <a:gs pos="60000">
                <a:srgbClr val="F7F8FA"/>
              </a:gs>
            </a:gsLst>
            <a:lin ang="1200000" scaled="0"/>
          </a:gradFill>
          <a:ln/>
        </p:spPr>
      </p:sp>
      <p:sp>
        <p:nvSpPr>
          <p:cNvPr id="3" name="Text 1"/>
          <p:cNvSpPr/>
          <p:nvPr/>
        </p:nvSpPr>
        <p:spPr>
          <a:xfrm>
            <a:off x="1143000" y="2476500"/>
            <a:ext cx="2743279" cy="1930400"/>
          </a:xfrm>
          <a:prstGeom prst="rect">
            <a:avLst/>
          </a:prstGeom>
          <a:noFill/>
          <a:ln/>
        </p:spPr>
        <p:txBody>
          <a:bodyPr wrap="square" lIns="0" tIns="0" rIns="0" bIns="0" rtlCol="0" anchor="t">
            <a:normAutofit/>
          </a:bodyPr>
          <a:lstStyle/>
          <a:p>
            <a:pPr algn="l" indent="0" marL="0">
              <a:lnSpc>
                <a:spcPts val="15000"/>
              </a:lnSpc>
              <a:buNone/>
            </a:pPr>
            <a:r>
              <a:rPr lang="en-US" sz="15000" dirty="0">
                <a:solidFill>
                  <a:srgbClr val="1E7D3A"/>
                </a:solidFill>
                <a:latin typeface="IBM Plex Sans" pitchFamily="34" charset="0"/>
                <a:ea typeface="IBM Plex Sans" pitchFamily="34" charset="-122"/>
                <a:cs typeface="IBM Plex Sans" pitchFamily="34" charset="-120"/>
              </a:rPr>
              <a:t>04</a:t>
            </a:r>
            <a:endParaRPr lang="en-US" sz="15000" dirty="0"/>
          </a:p>
        </p:txBody>
      </p:sp>
      <p:sp>
        <p:nvSpPr>
          <p:cNvPr id="4" name="Text 2"/>
          <p:cNvSpPr/>
          <p:nvPr>
            <p:ph type="title"/>
          </p:nvPr>
        </p:nvSpPr>
        <p:spPr>
          <a:xfrm>
            <a:off x="3886279" y="2921000"/>
            <a:ext cx="7717709" cy="612140"/>
          </a:xfrm>
          <a:prstGeom prst="rect">
            <a:avLst/>
          </a:prstGeom>
          <a:noFill/>
          <a:ln/>
        </p:spPr>
        <p:txBody>
          <a:bodyPr wrap="square" lIns="0" tIns="0" rIns="0" bIns="0" rtlCol="0" anchor="t">
            <a:normAutofit/>
          </a:bodyPr>
          <a:lstStyle/>
          <a:p>
            <a:pPr algn="l" indent="0" marL="0">
              <a:lnSpc>
                <a:spcPts val="4620"/>
              </a:lnSpc>
              <a:buNone/>
            </a:pPr>
            <a:r>
              <a:rPr lang="en-US" sz="4200" b="1" i="0" dirty="0">
                <a:solidFill>
                  <a:srgbClr val="14213D"/>
                </a:solidFill>
                <a:latin typeface="IBM Plex Sans" pitchFamily="34" charset="0"/>
                <a:ea typeface="IBM Plex Sans" pitchFamily="34" charset="-122"/>
                <a:cs typeface="IBM Plex Sans" pitchFamily="34" charset="-120"/>
              </a:rPr>
              <a:t>Практика</a:t>
            </a:r>
            <a:endParaRPr lang="en-US" sz="4200" dirty="0"/>
          </a:p>
        </p:txBody>
      </p:sp>
      <p:sp>
        <p:nvSpPr>
          <p:cNvPr id="5" name="Text 3"/>
          <p:cNvSpPr/>
          <p:nvPr/>
        </p:nvSpPr>
        <p:spPr>
          <a:xfrm>
            <a:off x="3886279" y="3634755"/>
            <a:ext cx="7717709"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A6577"/>
                </a:solidFill>
                <a:latin typeface="IBM Plex Sans" pitchFamily="34" charset="0"/>
                <a:ea typeface="IBM Plex Sans" pitchFamily="34" charset="-122"/>
                <a:cs typeface="IBM Plex Sans" pitchFamily="34" charset="-120"/>
              </a:rPr>
              <a:t>Вариантность, запросы LINQ и отложенное исполнение</a:t>
            </a:r>
            <a:endParaRPr lang="en-US" sz="1700" dirty="0"/>
          </a:p>
        </p:txBody>
      </p:sp>
      <p:sp>
        <p:nvSpPr>
          <p:cNvPr id="6" name="Text 4"/>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ПРАКТИКА · ЗАДАЧА 1</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Что выведет программа?</a:t>
            </a:r>
            <a:endParaRPr lang="en-US" sz="3000" dirty="0"/>
          </a:p>
        </p:txBody>
      </p:sp>
      <p:sp>
        <p:nvSpPr>
          <p:cNvPr id="4" name="Text 2"/>
          <p:cNvSpPr/>
          <p:nvPr/>
        </p:nvSpPr>
        <p:spPr>
          <a:xfrm>
            <a:off x="812800" y="1623070"/>
            <a:ext cx="10883392" cy="32004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Сколько раз будет вызвано лямбда-выражение внутри Select?</a:t>
            </a:r>
            <a:endParaRPr lang="en-US" sz="1600" dirty="0"/>
          </a:p>
        </p:txBody>
      </p:sp>
      <p:sp>
        <p:nvSpPr>
          <p:cNvPr id="5" name="Text 3"/>
          <p:cNvSpPr/>
          <p:nvPr/>
        </p:nvSpPr>
        <p:spPr>
          <a:xfrm>
            <a:off x="812800" y="2120900"/>
            <a:ext cx="10566400" cy="2457450"/>
          </a:xfrm>
          <a:prstGeom prst="roundRect">
            <a:avLst>
              <a:gd name="adj" fmla="val 4134"/>
            </a:avLst>
          </a:prstGeom>
          <a:solidFill>
            <a:srgbClr val="EEF1F5"/>
          </a:solidFill>
          <a:ln/>
        </p:spPr>
        <p:txBody>
          <a:bodyPr wrap="none" lIns="249642" tIns="198842" rIns="0" bIns="173442" rtlCol="0" anchor="t">
            <a:normAutofit/>
          </a:bodyPr>
          <a:lstStyle/>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int calls = 0;</a:t>
            </a: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var squares = Enumerable.Range(1, 3)</a:t>
            </a: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    .Select(x =&gt; { calls++; return x * x; });</a:t>
            </a:r>
            <a:endParaRPr lang="en-US" sz="1500" dirty="0"/>
          </a:p>
          <a:p>
            <a:pPr algn="l" indent="0" marL="0">
              <a:lnSpc>
                <a:spcPts val="2250"/>
              </a:lnSpc>
              <a:buNone/>
            </a:pP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Console.WriteLine(squares.Sum());</a:t>
            </a: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Console.WriteLine(squares.Max());</a:t>
            </a: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Console.WriteLine(calls);</a:t>
            </a:r>
            <a:endParaRPr lang="en-US" sz="1500" dirty="0"/>
          </a:p>
        </p:txBody>
      </p:sp>
      <p:sp>
        <p:nvSpPr>
          <p:cNvPr id="6" name="Text 4"/>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ПРАКТИКА · ЗАДАЧА 2</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Запросы к данным о студентах</a:t>
            </a:r>
            <a:endParaRPr lang="en-US" sz="3000" dirty="0"/>
          </a:p>
        </p:txBody>
      </p:sp>
      <p:sp>
        <p:nvSpPr>
          <p:cNvPr id="4" name="Text 2"/>
          <p:cNvSpPr/>
          <p:nvPr/>
        </p:nvSpPr>
        <p:spPr>
          <a:xfrm>
            <a:off x="812800" y="1623070"/>
            <a:ext cx="10883392"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Используйте коллекции students и grades со слайда «Данные для примеров». Каждую задачу решите одним запросом LINQ.</a:t>
            </a:r>
            <a:endParaRPr lang="en-US" sz="1600" dirty="0"/>
          </a:p>
        </p:txBody>
      </p:sp>
      <p:sp>
        <p:nvSpPr>
          <p:cNvPr id="5" name="Shape 3"/>
          <p:cNvSpPr/>
          <p:nvPr/>
        </p:nvSpPr>
        <p:spPr>
          <a:xfrm>
            <a:off x="812800" y="2415555"/>
            <a:ext cx="5232400" cy="812800"/>
          </a:xfrm>
          <a:prstGeom prst="roundRect">
            <a:avLst>
              <a:gd name="adj" fmla="val 9375"/>
            </a:avLst>
          </a:prstGeom>
          <a:solidFill>
            <a:srgbClr val="ECEFF3"/>
          </a:solidFill>
          <a:ln/>
        </p:spPr>
      </p:sp>
      <p:sp>
        <p:nvSpPr>
          <p:cNvPr id="6" name="Text 4"/>
          <p:cNvSpPr/>
          <p:nvPr/>
        </p:nvSpPr>
        <p:spPr>
          <a:xfrm>
            <a:off x="990600" y="2555255"/>
            <a:ext cx="1727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7D3A"/>
                </a:solidFill>
                <a:latin typeface="JetBrains Mono" pitchFamily="49" charset="0"/>
                <a:ea typeface="JetBrains Mono" pitchFamily="49" charset="-122"/>
                <a:cs typeface="JetBrains Mono" pitchFamily="49" charset="-120"/>
              </a:rPr>
              <a:t>1</a:t>
            </a:r>
            <a:endParaRPr lang="en-US" sz="1600" dirty="0"/>
          </a:p>
        </p:txBody>
      </p:sp>
      <p:sp>
        <p:nvSpPr>
          <p:cNvPr id="7" name="Text 5"/>
          <p:cNvSpPr/>
          <p:nvPr/>
        </p:nvSpPr>
        <p:spPr>
          <a:xfrm>
            <a:off x="1239520" y="2555255"/>
            <a:ext cx="476671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Имена студентов старше 18 лет в верхнем регистре, по убыванию возраста</a:t>
            </a:r>
            <a:endParaRPr lang="en-US" sz="1500" dirty="0"/>
          </a:p>
        </p:txBody>
      </p:sp>
      <p:sp>
        <p:nvSpPr>
          <p:cNvPr id="8" name="Shape 6"/>
          <p:cNvSpPr/>
          <p:nvPr/>
        </p:nvSpPr>
        <p:spPr>
          <a:xfrm>
            <a:off x="6146800" y="2415555"/>
            <a:ext cx="5232400" cy="812800"/>
          </a:xfrm>
          <a:prstGeom prst="roundRect">
            <a:avLst>
              <a:gd name="adj" fmla="val 9375"/>
            </a:avLst>
          </a:prstGeom>
          <a:solidFill>
            <a:srgbClr val="ECEFF3"/>
          </a:solidFill>
          <a:ln/>
        </p:spPr>
      </p:sp>
      <p:sp>
        <p:nvSpPr>
          <p:cNvPr id="9" name="Text 7"/>
          <p:cNvSpPr/>
          <p:nvPr/>
        </p:nvSpPr>
        <p:spPr>
          <a:xfrm>
            <a:off x="6324600" y="2555255"/>
            <a:ext cx="1727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7D3A"/>
                </a:solidFill>
                <a:latin typeface="JetBrains Mono" pitchFamily="49" charset="0"/>
                <a:ea typeface="JetBrains Mono" pitchFamily="49" charset="-122"/>
                <a:cs typeface="JetBrains Mono" pitchFamily="49" charset="-120"/>
              </a:rPr>
              <a:t>2</a:t>
            </a:r>
            <a:endParaRPr lang="en-US" sz="1600" dirty="0"/>
          </a:p>
        </p:txBody>
      </p:sp>
      <p:sp>
        <p:nvSpPr>
          <p:cNvPr id="10" name="Text 8"/>
          <p:cNvSpPr/>
          <p:nvPr/>
        </p:nvSpPr>
        <p:spPr>
          <a:xfrm>
            <a:off x="6573520" y="2555255"/>
            <a:ext cx="476671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Количество оценок у каждого студента, включая студентов без оценок</a:t>
            </a:r>
            <a:endParaRPr lang="en-US" sz="1500" dirty="0"/>
          </a:p>
        </p:txBody>
      </p:sp>
      <p:sp>
        <p:nvSpPr>
          <p:cNvPr id="11" name="Shape 9"/>
          <p:cNvSpPr/>
          <p:nvPr/>
        </p:nvSpPr>
        <p:spPr>
          <a:xfrm>
            <a:off x="812800" y="3329955"/>
            <a:ext cx="5232400" cy="563880"/>
          </a:xfrm>
          <a:prstGeom prst="roundRect">
            <a:avLst>
              <a:gd name="adj" fmla="val 13514"/>
            </a:avLst>
          </a:prstGeom>
          <a:solidFill>
            <a:srgbClr val="ECEFF3"/>
          </a:solidFill>
          <a:ln/>
        </p:spPr>
      </p:sp>
      <p:sp>
        <p:nvSpPr>
          <p:cNvPr id="12" name="Text 10"/>
          <p:cNvSpPr/>
          <p:nvPr/>
        </p:nvSpPr>
        <p:spPr>
          <a:xfrm>
            <a:off x="990600" y="3469655"/>
            <a:ext cx="1727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7D3A"/>
                </a:solidFill>
                <a:latin typeface="JetBrains Mono" pitchFamily="49" charset="0"/>
                <a:ea typeface="JetBrains Mono" pitchFamily="49" charset="-122"/>
                <a:cs typeface="JetBrains Mono" pitchFamily="49" charset="-120"/>
              </a:rPr>
              <a:t>3</a:t>
            </a:r>
            <a:endParaRPr lang="en-US" sz="1600" dirty="0"/>
          </a:p>
        </p:txBody>
      </p:sp>
      <p:sp>
        <p:nvSpPr>
          <p:cNvPr id="13" name="Text 11"/>
          <p:cNvSpPr/>
          <p:nvPr/>
        </p:nvSpPr>
        <p:spPr>
          <a:xfrm>
            <a:off x="1239520" y="3469655"/>
            <a:ext cx="476671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Курс с наибольшим средним баллом</a:t>
            </a:r>
            <a:endParaRPr lang="en-US" sz="1500" dirty="0"/>
          </a:p>
        </p:txBody>
      </p:sp>
      <p:sp>
        <p:nvSpPr>
          <p:cNvPr id="14" name="Shape 12"/>
          <p:cNvSpPr/>
          <p:nvPr/>
        </p:nvSpPr>
        <p:spPr>
          <a:xfrm>
            <a:off x="6146800" y="3329955"/>
            <a:ext cx="5232400" cy="563880"/>
          </a:xfrm>
          <a:prstGeom prst="roundRect">
            <a:avLst>
              <a:gd name="adj" fmla="val 13514"/>
            </a:avLst>
          </a:prstGeom>
          <a:solidFill>
            <a:srgbClr val="ECEFF3"/>
          </a:solidFill>
          <a:ln/>
        </p:spPr>
      </p:sp>
      <p:sp>
        <p:nvSpPr>
          <p:cNvPr id="15" name="Text 13"/>
          <p:cNvSpPr/>
          <p:nvPr/>
        </p:nvSpPr>
        <p:spPr>
          <a:xfrm>
            <a:off x="6324600" y="3469655"/>
            <a:ext cx="1727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7D3A"/>
                </a:solidFill>
                <a:latin typeface="JetBrains Mono" pitchFamily="49" charset="0"/>
                <a:ea typeface="JetBrains Mono" pitchFamily="49" charset="-122"/>
                <a:cs typeface="JetBrains Mono" pitchFamily="49" charset="-120"/>
              </a:rPr>
              <a:t>4</a:t>
            </a:r>
            <a:endParaRPr lang="en-US" sz="1600" dirty="0"/>
          </a:p>
        </p:txBody>
      </p:sp>
      <p:sp>
        <p:nvSpPr>
          <p:cNvPr id="16" name="Text 14"/>
          <p:cNvSpPr/>
          <p:nvPr/>
        </p:nvSpPr>
        <p:spPr>
          <a:xfrm>
            <a:off x="6573520" y="3469655"/>
            <a:ext cx="476671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Студенты, у которых все оценки равны 5</a:t>
            </a:r>
            <a:endParaRPr lang="en-US" sz="1500" dirty="0"/>
          </a:p>
        </p:txBody>
      </p:sp>
      <p:sp>
        <p:nvSpPr>
          <p:cNvPr id="17" name="Shape 15"/>
          <p:cNvSpPr/>
          <p:nvPr/>
        </p:nvSpPr>
        <p:spPr>
          <a:xfrm>
            <a:off x="812800" y="3995415"/>
            <a:ext cx="5232400" cy="563880"/>
          </a:xfrm>
          <a:prstGeom prst="roundRect">
            <a:avLst>
              <a:gd name="adj" fmla="val 13514"/>
            </a:avLst>
          </a:prstGeom>
          <a:solidFill>
            <a:srgbClr val="ECEFF3"/>
          </a:solidFill>
          <a:ln/>
        </p:spPr>
      </p:sp>
      <p:sp>
        <p:nvSpPr>
          <p:cNvPr id="18" name="Text 16"/>
          <p:cNvSpPr/>
          <p:nvPr/>
        </p:nvSpPr>
        <p:spPr>
          <a:xfrm>
            <a:off x="990600" y="4135115"/>
            <a:ext cx="1727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7D3A"/>
                </a:solidFill>
                <a:latin typeface="JetBrains Mono" pitchFamily="49" charset="0"/>
                <a:ea typeface="JetBrains Mono" pitchFamily="49" charset="-122"/>
                <a:cs typeface="JetBrains Mono" pitchFamily="49" charset="-120"/>
              </a:rPr>
              <a:t>5</a:t>
            </a:r>
            <a:endParaRPr lang="en-US" sz="1600" dirty="0"/>
          </a:p>
        </p:txBody>
      </p:sp>
      <p:sp>
        <p:nvSpPr>
          <p:cNvPr id="19" name="Text 17"/>
          <p:cNvSpPr/>
          <p:nvPr/>
        </p:nvSpPr>
        <p:spPr>
          <a:xfrm>
            <a:off x="1239520" y="4135115"/>
            <a:ext cx="476671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Три студента с наибольшим средним баллом</a:t>
            </a:r>
            <a:endParaRPr lang="en-US" sz="1500" dirty="0"/>
          </a:p>
        </p:txBody>
      </p:sp>
      <p:sp>
        <p:nvSpPr>
          <p:cNvPr id="20" name="Shape 18"/>
          <p:cNvSpPr/>
          <p:nvPr/>
        </p:nvSpPr>
        <p:spPr>
          <a:xfrm>
            <a:off x="6146800" y="3995415"/>
            <a:ext cx="5232400" cy="563880"/>
          </a:xfrm>
          <a:prstGeom prst="roundRect">
            <a:avLst>
              <a:gd name="adj" fmla="val 13514"/>
            </a:avLst>
          </a:prstGeom>
          <a:solidFill>
            <a:srgbClr val="ECEFF3"/>
          </a:solidFill>
          <a:ln/>
        </p:spPr>
      </p:sp>
      <p:sp>
        <p:nvSpPr>
          <p:cNvPr id="21" name="Text 19"/>
          <p:cNvSpPr/>
          <p:nvPr/>
        </p:nvSpPr>
        <p:spPr>
          <a:xfrm>
            <a:off x="6324600" y="4135115"/>
            <a:ext cx="1727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7D3A"/>
                </a:solidFill>
                <a:latin typeface="JetBrains Mono" pitchFamily="49" charset="0"/>
                <a:ea typeface="JetBrains Mono" pitchFamily="49" charset="-122"/>
                <a:cs typeface="JetBrains Mono" pitchFamily="49" charset="-120"/>
              </a:rPr>
              <a:t>6</a:t>
            </a:r>
            <a:endParaRPr lang="en-US" sz="1600" dirty="0"/>
          </a:p>
        </p:txBody>
      </p:sp>
      <p:sp>
        <p:nvSpPr>
          <p:cNvPr id="22" name="Text 20"/>
          <p:cNvSpPr/>
          <p:nvPr/>
        </p:nvSpPr>
        <p:spPr>
          <a:xfrm>
            <a:off x="6573520" y="4135115"/>
            <a:ext cx="476671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Словарь «группа → количество студентов»</a:t>
            </a:r>
            <a:endParaRPr lang="en-US" sz="1500" dirty="0"/>
          </a:p>
        </p:txBody>
      </p:sp>
      <p:sp>
        <p:nvSpPr>
          <p:cNvPr id="23" name="Shape 21"/>
          <p:cNvSpPr/>
          <p:nvPr/>
        </p:nvSpPr>
        <p:spPr>
          <a:xfrm>
            <a:off x="812800" y="4660900"/>
            <a:ext cx="5232400" cy="563880"/>
          </a:xfrm>
          <a:prstGeom prst="roundRect">
            <a:avLst>
              <a:gd name="adj" fmla="val 13514"/>
            </a:avLst>
          </a:prstGeom>
          <a:solidFill>
            <a:srgbClr val="ECEFF3"/>
          </a:solidFill>
          <a:ln/>
        </p:spPr>
      </p:sp>
      <p:sp>
        <p:nvSpPr>
          <p:cNvPr id="24" name="Text 22"/>
          <p:cNvSpPr/>
          <p:nvPr/>
        </p:nvSpPr>
        <p:spPr>
          <a:xfrm>
            <a:off x="990600" y="4800600"/>
            <a:ext cx="1727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7D3A"/>
                </a:solidFill>
                <a:latin typeface="JetBrains Mono" pitchFamily="49" charset="0"/>
                <a:ea typeface="JetBrains Mono" pitchFamily="49" charset="-122"/>
                <a:cs typeface="JetBrains Mono" pitchFamily="49" charset="-120"/>
              </a:rPr>
              <a:t>7</a:t>
            </a:r>
            <a:endParaRPr lang="en-US" sz="1600" dirty="0"/>
          </a:p>
        </p:txBody>
      </p:sp>
      <p:sp>
        <p:nvSpPr>
          <p:cNvPr id="25" name="Text 23"/>
          <p:cNvSpPr/>
          <p:nvPr/>
        </p:nvSpPr>
        <p:spPr>
          <a:xfrm>
            <a:off x="1239520" y="4800600"/>
            <a:ext cx="476671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Средний балл по каждой группе</a:t>
            </a:r>
            <a:endParaRPr lang="en-US" sz="1500" dirty="0"/>
          </a:p>
        </p:txBody>
      </p:sp>
      <p:sp>
        <p:nvSpPr>
          <p:cNvPr id="26" name="Shape 24"/>
          <p:cNvSpPr/>
          <p:nvPr/>
        </p:nvSpPr>
        <p:spPr>
          <a:xfrm>
            <a:off x="6146800" y="4660900"/>
            <a:ext cx="5232400" cy="563880"/>
          </a:xfrm>
          <a:prstGeom prst="roundRect">
            <a:avLst>
              <a:gd name="adj" fmla="val 13514"/>
            </a:avLst>
          </a:prstGeom>
          <a:solidFill>
            <a:srgbClr val="ECEFF3"/>
          </a:solidFill>
          <a:ln/>
        </p:spPr>
      </p:sp>
      <p:sp>
        <p:nvSpPr>
          <p:cNvPr id="27" name="Text 25"/>
          <p:cNvSpPr/>
          <p:nvPr/>
        </p:nvSpPr>
        <p:spPr>
          <a:xfrm>
            <a:off x="6324600" y="4800600"/>
            <a:ext cx="1727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7D3A"/>
                </a:solidFill>
                <a:latin typeface="JetBrains Mono" pitchFamily="49" charset="0"/>
                <a:ea typeface="JetBrains Mono" pitchFamily="49" charset="-122"/>
                <a:cs typeface="JetBrains Mono" pitchFamily="49" charset="-120"/>
              </a:rPr>
              <a:t>8</a:t>
            </a:r>
            <a:endParaRPr lang="en-US" sz="1600" dirty="0"/>
          </a:p>
        </p:txBody>
      </p:sp>
      <p:sp>
        <p:nvSpPr>
          <p:cNvPr id="28" name="Text 26"/>
          <p:cNvSpPr/>
          <p:nvPr/>
        </p:nvSpPr>
        <p:spPr>
          <a:xfrm>
            <a:off x="6573520" y="4800600"/>
            <a:ext cx="476671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Курсы, по которым все оценки не ниже 4</a:t>
            </a:r>
            <a:endParaRPr lang="en-US" sz="1500" dirty="0"/>
          </a:p>
        </p:txBody>
      </p:sp>
      <p:sp>
        <p:nvSpPr>
          <p:cNvPr id="29" name="Text 27"/>
          <p:cNvSpPr/>
          <p:nvPr/>
        </p:nvSpPr>
        <p:spPr>
          <a:xfrm>
            <a:off x="812800" y="5427985"/>
            <a:ext cx="10883392"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2456B8"/>
                </a:solidFill>
                <a:latin typeface="IBM Plex Sans" pitchFamily="34" charset="0"/>
                <a:ea typeface="IBM Plex Sans" pitchFamily="34" charset="-122"/>
                <a:cs typeface="IBM Plex Sans" pitchFamily="34" charset="-120"/>
              </a:rPr>
              <a:t>Дополнительно:</a:t>
            </a:r>
            <a:r>
              <a:rPr lang="en-US" sz="1500" dirty="0">
                <a:solidFill>
                  <a:srgbClr val="2456B8"/>
                </a:solidFill>
                <a:latin typeface="IBM Plex Sans" pitchFamily="34" charset="0"/>
                <a:ea typeface="IBM Plex Sans" pitchFamily="34" charset="-122"/>
                <a:cs typeface="IBM Plex Sans" pitchFamily="34" charset="-120"/>
              </a:rPr>
              <a:t> запишите задачи 5 и 7 в синтаксисе запросов.</a:t>
            </a:r>
            <a:endParaRPr lang="en-US" sz="1500" dirty="0"/>
          </a:p>
        </p:txBody>
      </p:sp>
      <p:sp>
        <p:nvSpPr>
          <p:cNvPr id="30" name="Text 28"/>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56</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ПРАКТИКА · ЗАДАЧА 3</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Что выведет программа?</a:t>
            </a:r>
            <a:endParaRPr lang="en-US" sz="3000" dirty="0"/>
          </a:p>
        </p:txBody>
      </p:sp>
      <p:sp>
        <p:nvSpPr>
          <p:cNvPr id="4" name="Text 2"/>
          <p:cNvSpPr/>
          <p:nvPr/>
        </p:nvSpPr>
        <p:spPr>
          <a:xfrm>
            <a:off x="812800" y="1623070"/>
            <a:ext cx="10883392" cy="32004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В какой строке возникнет исключение и возникнет ли оно вообще?</a:t>
            </a:r>
            <a:endParaRPr lang="en-US" sz="1600" dirty="0"/>
          </a:p>
        </p:txBody>
      </p:sp>
      <p:sp>
        <p:nvSpPr>
          <p:cNvPr id="5" name="Text 3"/>
          <p:cNvSpPr/>
          <p:nvPr/>
        </p:nvSpPr>
        <p:spPr>
          <a:xfrm>
            <a:off x="812800" y="2120900"/>
            <a:ext cx="10566400" cy="2457450"/>
          </a:xfrm>
          <a:prstGeom prst="roundRect">
            <a:avLst>
              <a:gd name="adj" fmla="val 4134"/>
            </a:avLst>
          </a:prstGeom>
          <a:solidFill>
            <a:srgbClr val="EEF1F5"/>
          </a:solidFill>
          <a:ln/>
        </p:spPr>
        <p:txBody>
          <a:bodyPr wrap="none" lIns="249642" tIns="198842" rIns="0" bIns="173442" rtlCol="0" anchor="t">
            <a:normAutofit/>
          </a:bodyPr>
          <a:lstStyle/>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var numbers = new List&lt;int&gt; { 1, 2, 0, 4 };</a:t>
            </a: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var query = numbers.Select(n =&gt; 10 / n);</a:t>
            </a: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Console.WriteLine("запрос построен");</a:t>
            </a:r>
            <a:endParaRPr lang="en-US" sz="1500" dirty="0"/>
          </a:p>
          <a:p>
            <a:pPr algn="l" indent="0" marL="0">
              <a:lnSpc>
                <a:spcPts val="2250"/>
              </a:lnSpc>
              <a:buNone/>
            </a:pP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Console.WriteLine(query.First());</a:t>
            </a: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Console.WriteLine(query.Take(2).Sum());</a:t>
            </a: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Console.WriteLine(query.Count());</a:t>
            </a:r>
            <a:endParaRPr lang="en-US" sz="1500" dirty="0"/>
          </a:p>
        </p:txBody>
      </p:sp>
      <p:sp>
        <p:nvSpPr>
          <p:cNvPr id="6" name="Text 4"/>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ПРАКТИКА · ЗАДАЧА 4</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Что выведет программа?</a:t>
            </a:r>
            <a:endParaRPr lang="en-US" sz="3000" dirty="0"/>
          </a:p>
        </p:txBody>
      </p:sp>
      <p:sp>
        <p:nvSpPr>
          <p:cNvPr id="4" name="Text 2"/>
          <p:cNvSpPr/>
          <p:nvPr/>
        </p:nvSpPr>
        <p:spPr>
          <a:xfrm>
            <a:off x="812800" y="1623070"/>
            <a:ext cx="10883392" cy="32004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Предскажите вывод, не запуская код, и объясните порядок строк.</a:t>
            </a:r>
            <a:endParaRPr lang="en-US" sz="1600" dirty="0"/>
          </a:p>
        </p:txBody>
      </p:sp>
      <p:sp>
        <p:nvSpPr>
          <p:cNvPr id="5" name="Text 3"/>
          <p:cNvSpPr/>
          <p:nvPr/>
        </p:nvSpPr>
        <p:spPr>
          <a:xfrm>
            <a:off x="812800" y="2120900"/>
            <a:ext cx="10566400" cy="3263900"/>
          </a:xfrm>
          <a:prstGeom prst="roundRect">
            <a:avLst>
              <a:gd name="adj" fmla="val 3113"/>
            </a:avLst>
          </a:prstGeom>
          <a:solidFill>
            <a:srgbClr val="EEF1F5"/>
          </a:solidFill>
          <a:ln/>
        </p:spPr>
        <p:txBody>
          <a:bodyPr wrap="none" lIns="224242" tIns="173442" rIns="0" bIns="148042" rtlCol="0" anchor="t">
            <a:normAutofit/>
          </a:bodyPr>
          <a:lstStyle/>
          <a:p>
            <a:pPr algn="l" indent="0" marL="0">
              <a:lnSpc>
                <a:spcPts val="1875"/>
              </a:lnSpc>
              <a:buNone/>
            </a:pPr>
            <a:r>
              <a:rPr lang="en-US" sz="1250" dirty="0">
                <a:solidFill>
                  <a:srgbClr val="1B2433"/>
                </a:solidFill>
                <a:latin typeface="JetBrains Mono" pitchFamily="49" charset="0"/>
                <a:ea typeface="JetBrains Mono" pitchFamily="49" charset="-122"/>
                <a:cs typeface="JetBrains Mono" pitchFamily="49" charset="-120"/>
              </a:rPr>
              <a:t>var source = new List&lt;int&gt; { 1, 2, 3, 4, 5 };</a:t>
            </a:r>
            <a:endParaRPr lang="en-US" sz="1250" dirty="0"/>
          </a:p>
          <a:p>
            <a:pPr algn="l" indent="0" marL="0">
              <a:lnSpc>
                <a:spcPts val="1875"/>
              </a:lnSpc>
              <a:buNone/>
            </a:pPr>
            <a:r>
              <a:rPr lang="en-US" sz="1250" dirty="0">
                <a:solidFill>
                  <a:srgbClr val="1B2433"/>
                </a:solidFill>
                <a:latin typeface="JetBrains Mono" pitchFamily="49" charset="0"/>
                <a:ea typeface="JetBrains Mono" pitchFamily="49" charset="-122"/>
                <a:cs typeface="JetBrains Mono" pitchFamily="49" charset="-120"/>
              </a:rPr>
              <a:t>int limit = 2;</a:t>
            </a:r>
            <a:endParaRPr lang="en-US" sz="1250" dirty="0"/>
          </a:p>
          <a:p>
            <a:pPr algn="l" indent="0" marL="0">
              <a:lnSpc>
                <a:spcPts val="1875"/>
              </a:lnSpc>
              <a:buNone/>
            </a:pPr>
            <a:endParaRPr lang="en-US" sz="1250" dirty="0"/>
          </a:p>
          <a:p>
            <a:pPr algn="l" indent="0" marL="0">
              <a:lnSpc>
                <a:spcPts val="1875"/>
              </a:lnSpc>
              <a:buNone/>
            </a:pPr>
            <a:r>
              <a:rPr lang="en-US" sz="1250" dirty="0">
                <a:solidFill>
                  <a:srgbClr val="1B2433"/>
                </a:solidFill>
                <a:latin typeface="JetBrains Mono" pitchFamily="49" charset="0"/>
                <a:ea typeface="JetBrains Mono" pitchFamily="49" charset="-122"/>
                <a:cs typeface="JetBrains Mono" pitchFamily="49" charset="-120"/>
              </a:rPr>
              <a:t>var query = source</a:t>
            </a:r>
            <a:endParaRPr lang="en-US" sz="1250" dirty="0"/>
          </a:p>
          <a:p>
            <a:pPr algn="l" indent="0" marL="0">
              <a:lnSpc>
                <a:spcPts val="1875"/>
              </a:lnSpc>
              <a:buNone/>
            </a:pPr>
            <a:r>
              <a:rPr lang="en-US" sz="1250" dirty="0">
                <a:solidFill>
                  <a:srgbClr val="1B2433"/>
                </a:solidFill>
                <a:latin typeface="JetBrains Mono" pitchFamily="49" charset="0"/>
                <a:ea typeface="JetBrains Mono" pitchFamily="49" charset="-122"/>
                <a:cs typeface="JetBrains Mono" pitchFamily="49" charset="-120"/>
              </a:rPr>
              <a:t>    .Where(n =&gt; { Console.Write($"w{n} "); return n &gt; limit; })</a:t>
            </a:r>
            <a:endParaRPr lang="en-US" sz="1250" dirty="0"/>
          </a:p>
          <a:p>
            <a:pPr algn="l" indent="0" marL="0">
              <a:lnSpc>
                <a:spcPts val="1875"/>
              </a:lnSpc>
              <a:buNone/>
            </a:pPr>
            <a:r>
              <a:rPr lang="en-US" sz="1250" dirty="0">
                <a:solidFill>
                  <a:srgbClr val="1B2433"/>
                </a:solidFill>
                <a:latin typeface="JetBrains Mono" pitchFamily="49" charset="0"/>
                <a:ea typeface="JetBrains Mono" pitchFamily="49" charset="-122"/>
                <a:cs typeface="JetBrains Mono" pitchFamily="49" charset="-120"/>
              </a:rPr>
              <a:t>    .Select(n =&gt; { Console.Write($"s{n} "); return n * 10; });</a:t>
            </a:r>
            <a:endParaRPr lang="en-US" sz="1250" dirty="0"/>
          </a:p>
          <a:p>
            <a:pPr algn="l" indent="0" marL="0">
              <a:lnSpc>
                <a:spcPts val="1875"/>
              </a:lnSpc>
              <a:buNone/>
            </a:pPr>
            <a:endParaRPr lang="en-US" sz="1250" dirty="0"/>
          </a:p>
          <a:p>
            <a:pPr algn="l" indent="0" marL="0">
              <a:lnSpc>
                <a:spcPts val="1875"/>
              </a:lnSpc>
              <a:buNone/>
            </a:pPr>
            <a:r>
              <a:rPr lang="en-US" sz="1250" dirty="0">
                <a:solidFill>
                  <a:srgbClr val="1B2433"/>
                </a:solidFill>
                <a:latin typeface="JetBrains Mono" pitchFamily="49" charset="0"/>
                <a:ea typeface="JetBrains Mono" pitchFamily="49" charset="-122"/>
                <a:cs typeface="JetBrains Mono" pitchFamily="49" charset="-120"/>
              </a:rPr>
              <a:t>limit = 3;</a:t>
            </a:r>
            <a:endParaRPr lang="en-US" sz="1250" dirty="0"/>
          </a:p>
          <a:p>
            <a:pPr algn="l" indent="0" marL="0">
              <a:lnSpc>
                <a:spcPts val="1875"/>
              </a:lnSpc>
              <a:buNone/>
            </a:pPr>
            <a:r>
              <a:rPr lang="en-US" sz="1250" dirty="0">
                <a:solidFill>
                  <a:srgbClr val="1B2433"/>
                </a:solidFill>
                <a:latin typeface="JetBrains Mono" pitchFamily="49" charset="0"/>
                <a:ea typeface="JetBrains Mono" pitchFamily="49" charset="-122"/>
                <a:cs typeface="JetBrains Mono" pitchFamily="49" charset="-120"/>
              </a:rPr>
              <a:t>source.Add(6);</a:t>
            </a:r>
            <a:endParaRPr lang="en-US" sz="1250" dirty="0"/>
          </a:p>
          <a:p>
            <a:pPr algn="l" indent="0" marL="0">
              <a:lnSpc>
                <a:spcPts val="1875"/>
              </a:lnSpc>
              <a:buNone/>
            </a:pPr>
            <a:endParaRPr lang="en-US" sz="1250" dirty="0"/>
          </a:p>
          <a:p>
            <a:pPr algn="l" indent="0" marL="0">
              <a:lnSpc>
                <a:spcPts val="1875"/>
              </a:lnSpc>
              <a:buNone/>
            </a:pPr>
            <a:r>
              <a:rPr lang="en-US" sz="1250" dirty="0">
                <a:solidFill>
                  <a:srgbClr val="1B2433"/>
                </a:solidFill>
                <a:latin typeface="JetBrains Mono" pitchFamily="49" charset="0"/>
                <a:ea typeface="JetBrains Mono" pitchFamily="49" charset="-122"/>
                <a:cs typeface="JetBrains Mono" pitchFamily="49" charset="-120"/>
              </a:rPr>
              <a:t>foreach (var x in query.Take(2))</a:t>
            </a:r>
            <a:endParaRPr lang="en-US" sz="1250" dirty="0"/>
          </a:p>
          <a:p>
            <a:pPr algn="l" indent="0" marL="0">
              <a:lnSpc>
                <a:spcPts val="1875"/>
              </a:lnSpc>
              <a:buNone/>
            </a:pPr>
            <a:r>
              <a:rPr lang="en-US" sz="1250" dirty="0">
                <a:solidFill>
                  <a:srgbClr val="1B2433"/>
                </a:solidFill>
                <a:latin typeface="JetBrains Mono" pitchFamily="49" charset="0"/>
                <a:ea typeface="JetBrains Mono" pitchFamily="49" charset="-122"/>
                <a:cs typeface="JetBrains Mono" pitchFamily="49" charset="-120"/>
              </a:rPr>
              <a:t>    Console.Write($"[{x}] ");</a:t>
            </a:r>
            <a:endParaRPr lang="en-US" sz="1250" dirty="0"/>
          </a:p>
        </p:txBody>
      </p:sp>
      <p:sp>
        <p:nvSpPr>
          <p:cNvPr id="6" name="Text 4"/>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ПРАКТИКА · ЗАДАЧА 5</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Какие строки скомпилируются?</a:t>
            </a:r>
            <a:endParaRPr lang="en-US" sz="3000" dirty="0"/>
          </a:p>
        </p:txBody>
      </p:sp>
      <p:sp>
        <p:nvSpPr>
          <p:cNvPr id="4" name="Text 2"/>
          <p:cNvSpPr/>
          <p:nvPr/>
        </p:nvSpPr>
        <p:spPr>
          <a:xfrm>
            <a:off x="812800" y="1623070"/>
            <a:ext cx="10883392" cy="32004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Для каждой строки определите, скомпилируется ли она, и объясните почему.</a:t>
            </a:r>
            <a:endParaRPr lang="en-US" sz="1600" dirty="0"/>
          </a:p>
        </p:txBody>
      </p:sp>
      <p:sp>
        <p:nvSpPr>
          <p:cNvPr id="5" name="Text 3"/>
          <p:cNvSpPr/>
          <p:nvPr/>
        </p:nvSpPr>
        <p:spPr>
          <a:xfrm>
            <a:off x="812800" y="2120900"/>
            <a:ext cx="10566400" cy="1549400"/>
          </a:xfrm>
          <a:prstGeom prst="roundRect">
            <a:avLst>
              <a:gd name="adj" fmla="val 6557"/>
            </a:avLst>
          </a:prstGeom>
          <a:solidFill>
            <a:srgbClr val="EEF1F5"/>
          </a:solidFill>
          <a:ln/>
        </p:spPr>
        <p:txBody>
          <a:bodyPr wrap="none" lIns="224242" tIns="173442" rIns="0" bIns="148042" rtlCol="0" anchor="t">
            <a:normAutofit/>
          </a:bodyPr>
          <a:lstStyle/>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IEnumerable&lt;object&gt; a = new List&lt;string&gt;();  </a:t>
            </a:r>
            <a:r>
              <a:rPr lang="en-US" sz="1500" dirty="0">
                <a:solidFill>
                  <a:srgbClr val="5F6B7A"/>
                </a:solidFill>
                <a:latin typeface="JetBrains Mono" pitchFamily="49" charset="0"/>
                <a:ea typeface="JetBrains Mono" pitchFamily="49" charset="-122"/>
                <a:cs typeface="JetBrains Mono" pitchFamily="49" charset="-120"/>
              </a:rPr>
              <a:t>// 1</a:t>
            </a: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List&lt;object&gt; b = new List&lt;string&gt;();  </a:t>
            </a:r>
            <a:r>
              <a:rPr lang="en-US" sz="1500" dirty="0">
                <a:solidFill>
                  <a:srgbClr val="5F6B7A"/>
                </a:solidFill>
                <a:latin typeface="JetBrains Mono" pitchFamily="49" charset="0"/>
                <a:ea typeface="JetBrains Mono" pitchFamily="49" charset="-122"/>
                <a:cs typeface="JetBrains Mono" pitchFamily="49" charset="-120"/>
              </a:rPr>
              <a:t>// 2</a:t>
            </a: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Action&lt;string&gt; c = (Action&lt;object&gt;)(o =&gt; { });  </a:t>
            </a:r>
            <a:r>
              <a:rPr lang="en-US" sz="1500" dirty="0">
                <a:solidFill>
                  <a:srgbClr val="5F6B7A"/>
                </a:solidFill>
                <a:latin typeface="JetBrains Mono" pitchFamily="49" charset="0"/>
                <a:ea typeface="JetBrains Mono" pitchFamily="49" charset="-122"/>
                <a:cs typeface="JetBrains Mono" pitchFamily="49" charset="-120"/>
              </a:rPr>
              <a:t>// 3</a:t>
            </a:r>
            <a:endParaRPr lang="en-US" sz="1500" dirty="0"/>
          </a:p>
          <a:p>
            <a:pPr algn="l" indent="0" marL="0">
              <a:lnSpc>
                <a:spcPts val="2250"/>
              </a:lnSpc>
              <a:buNone/>
            </a:pPr>
            <a:r>
              <a:rPr lang="en-US" sz="1500" dirty="0">
                <a:solidFill>
                  <a:srgbClr val="1B2433"/>
                </a:solidFill>
                <a:latin typeface="JetBrains Mono" pitchFamily="49" charset="0"/>
                <a:ea typeface="JetBrains Mono" pitchFamily="49" charset="-122"/>
                <a:cs typeface="JetBrains Mono" pitchFamily="49" charset="-120"/>
              </a:rPr>
              <a:t>Action&lt;object&gt; d = (Action&lt;string&gt;)(s =&gt; { });  </a:t>
            </a:r>
            <a:r>
              <a:rPr lang="en-US" sz="1500" dirty="0">
                <a:solidFill>
                  <a:srgbClr val="5F6B7A"/>
                </a:solidFill>
                <a:latin typeface="JetBrains Mono" pitchFamily="49" charset="0"/>
                <a:ea typeface="JetBrains Mono" pitchFamily="49" charset="-122"/>
                <a:cs typeface="JetBrains Mono" pitchFamily="49" charset="-120"/>
              </a:rPr>
              <a:t>// 4</a:t>
            </a:r>
            <a:endParaRPr lang="en-US" sz="1500" dirty="0"/>
          </a:p>
        </p:txBody>
      </p:sp>
      <p:sp>
        <p:nvSpPr>
          <p:cNvPr id="6" name="Text 4"/>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ПРАКТИКА · ЗАДАЧА 6 · ДОПОЛНИТЕЛЬНО</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Что выведет программа?</a:t>
            </a:r>
            <a:endParaRPr lang="en-US" sz="3000" dirty="0"/>
          </a:p>
        </p:txBody>
      </p:sp>
      <p:sp>
        <p:nvSpPr>
          <p:cNvPr id="4" name="Text 2"/>
          <p:cNvSpPr/>
          <p:nvPr/>
        </p:nvSpPr>
        <p:spPr>
          <a:xfrm>
            <a:off x="812800" y="1623070"/>
            <a:ext cx="10883392" cy="32004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Сравните с задачей 4: в каком порядке будут напечатаны w и элементы?</a:t>
            </a:r>
            <a:endParaRPr lang="en-US" sz="1600" dirty="0"/>
          </a:p>
        </p:txBody>
      </p:sp>
      <p:sp>
        <p:nvSpPr>
          <p:cNvPr id="5" name="Text 3"/>
          <p:cNvSpPr/>
          <p:nvPr/>
        </p:nvSpPr>
        <p:spPr>
          <a:xfrm>
            <a:off x="812800" y="2120900"/>
            <a:ext cx="10566400" cy="2590800"/>
          </a:xfrm>
          <a:prstGeom prst="roundRect">
            <a:avLst>
              <a:gd name="adj" fmla="val 3922"/>
            </a:avLst>
          </a:prstGeom>
          <a:solidFill>
            <a:srgbClr val="EEF1F5"/>
          </a:solidFill>
          <a:ln/>
        </p:spPr>
        <p:txBody>
          <a:bodyPr wrap="none" lIns="249642" tIns="198842" rIns="0" bIns="173442" rtlCol="0" anchor="t">
            <a:normAutofit/>
          </a:bodyPr>
          <a:lstStyle/>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int[] numbers = [5, 3, 8, 1];</a:t>
            </a:r>
            <a:endParaRPr lang="en-US" sz="1400" dirty="0"/>
          </a:p>
          <a:p>
            <a:pPr algn="l" indent="0" marL="0">
              <a:lnSpc>
                <a:spcPts val="2100"/>
              </a:lnSpc>
              <a:buNone/>
            </a:pPr>
            <a:endParaRPr lang="en-US" sz="1400" dirty="0"/>
          </a:p>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var query = numbers</a:t>
            </a:r>
            <a:endParaRPr lang="en-US" sz="1400" dirty="0"/>
          </a:p>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    .Where(n =&gt; { Console.Write($"w{n} "); return n &gt; 2; })</a:t>
            </a:r>
            <a:endParaRPr lang="en-US" sz="1400" dirty="0"/>
          </a:p>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    .OrderBy(n =&gt; n);</a:t>
            </a:r>
            <a:endParaRPr lang="en-US" sz="1400" dirty="0"/>
          </a:p>
          <a:p>
            <a:pPr algn="l" indent="0" marL="0">
              <a:lnSpc>
                <a:spcPts val="2100"/>
              </a:lnSpc>
              <a:buNone/>
            </a:pPr>
            <a:endParaRPr lang="en-US" sz="1400" dirty="0"/>
          </a:p>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foreach (var x in query)</a:t>
            </a:r>
            <a:endParaRPr lang="en-US" sz="1400" dirty="0"/>
          </a:p>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    Console.Write($"[{x}] ");</a:t>
            </a:r>
            <a:endParaRPr lang="en-US" sz="1400" dirty="0"/>
          </a:p>
        </p:txBody>
      </p:sp>
      <p:sp>
        <p:nvSpPr>
          <p:cNvPr id="6" name="Text 4"/>
          <p:cNvSpPr/>
          <p:nvPr/>
        </p:nvSpPr>
        <p:spPr>
          <a:xfrm>
            <a:off x="10566400" y="6339855"/>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7D3A"/>
                </a:solidFill>
                <a:latin typeface="IBM Plex Sans" pitchFamily="34" charset="0"/>
                <a:ea typeface="IBM Plex Sans" pitchFamily="34" charset="-122"/>
                <a:cs typeface="IBM Plex Sans" pitchFamily="34" charset="-120"/>
              </a:rPr>
              <a:t>ПРАКТИКА · ЗАДАЧА 7 · ДОПОЛНИТЕЛЬНО</a:t>
            </a:r>
            <a:endParaRPr lang="en-US" sz="1200" dirty="0"/>
          </a:p>
        </p:txBody>
      </p:sp>
      <p:sp>
        <p:nvSpPr>
          <p:cNvPr id="3" name="Text 1"/>
          <p:cNvSpPr/>
          <p:nvPr>
            <p:ph type="title"/>
          </p:nvPr>
        </p:nvSpPr>
        <p:spPr>
          <a:xfrm>
            <a:off x="812800" y="100077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4213D"/>
                </a:solidFill>
                <a:latin typeface="IBM Plex Sans" pitchFamily="34" charset="0"/>
                <a:ea typeface="IBM Plex Sans" pitchFamily="34" charset="-122"/>
                <a:cs typeface="IBM Plex Sans" pitchFamily="34" charset="-120"/>
              </a:rPr>
              <a:t>Что выведет программа?</a:t>
            </a:r>
            <a:endParaRPr lang="en-US" sz="3000" dirty="0"/>
          </a:p>
        </p:txBody>
      </p:sp>
      <p:sp>
        <p:nvSpPr>
          <p:cNvPr id="4" name="Text 2"/>
          <p:cNvSpPr/>
          <p:nvPr/>
        </p:nvSpPr>
        <p:spPr>
          <a:xfrm>
            <a:off x="812800" y="1623070"/>
            <a:ext cx="10883392" cy="32004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BM Plex Sans" pitchFamily="34" charset="0"/>
                <a:ea typeface="IBM Plex Sans" pitchFamily="34" charset="-122"/>
                <a:cs typeface="IBM Plex Sans" pitchFamily="34" charset="-120"/>
              </a:rPr>
              <a:t>Оба фрагмента строят фильтр «делится на 2 и на 3». Совпадёт ли результат?</a:t>
            </a:r>
            <a:endParaRPr lang="en-US" sz="1600" dirty="0"/>
          </a:p>
        </p:txBody>
      </p:sp>
      <p:sp>
        <p:nvSpPr>
          <p:cNvPr id="5" name="Text 3"/>
          <p:cNvSpPr/>
          <p:nvPr/>
        </p:nvSpPr>
        <p:spPr>
          <a:xfrm>
            <a:off x="812800" y="2120900"/>
            <a:ext cx="10566400" cy="2857500"/>
          </a:xfrm>
          <a:prstGeom prst="roundRect">
            <a:avLst>
              <a:gd name="adj" fmla="val 3556"/>
            </a:avLst>
          </a:prstGeom>
          <a:solidFill>
            <a:srgbClr val="EEF1F5"/>
          </a:solidFill>
          <a:ln/>
        </p:spPr>
        <p:txBody>
          <a:bodyPr wrap="none" lIns="249642" tIns="198842" rIns="0" bIns="173442" rtlCol="0" anchor="t">
            <a:normAutofit/>
          </a:bodyPr>
          <a:lstStyle/>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IEnumerable&lt;int&gt; a = Enumerable.Range(1, 10);</a:t>
            </a:r>
            <a:endParaRPr lang="en-US" sz="1400" dirty="0"/>
          </a:p>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for (int i = 2; i &lt;= 3; i++)</a:t>
            </a:r>
            <a:endParaRPr lang="en-US" sz="1400" dirty="0"/>
          </a:p>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    a = a.Where(x =&gt; x % i == 0);</a:t>
            </a:r>
            <a:endParaRPr lang="en-US" sz="1400" dirty="0"/>
          </a:p>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Console.WriteLine(string.Join(", ", a));</a:t>
            </a:r>
            <a:endParaRPr lang="en-US" sz="1400" dirty="0"/>
          </a:p>
          <a:p>
            <a:pPr algn="l" indent="0" marL="0">
              <a:lnSpc>
                <a:spcPts val="2100"/>
              </a:lnSpc>
              <a:buNone/>
            </a:pPr>
            <a:endParaRPr lang="en-US" sz="1400" dirty="0"/>
          </a:p>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IEnumerable&lt;int&gt; b = Enumerable.Range(1, 10);</a:t>
            </a:r>
            <a:endParaRPr lang="en-US" sz="1400" dirty="0"/>
          </a:p>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foreach (var d in new[] { 2, 3 })</a:t>
            </a:r>
            <a:endParaRPr lang="en-US" sz="1400" dirty="0"/>
          </a:p>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    b = b.Where(x =&gt; x % d == 0);</a:t>
            </a:r>
            <a:endParaRPr lang="en-US" sz="1400" dirty="0"/>
          </a:p>
          <a:p>
            <a:pPr algn="l" indent="0" marL="0">
              <a:lnSpc>
                <a:spcPts val="2100"/>
              </a:lnSpc>
              <a:buNone/>
            </a:pPr>
            <a:r>
              <a:rPr lang="en-US" sz="1400" dirty="0">
                <a:solidFill>
                  <a:srgbClr val="1B2433"/>
                </a:solidFill>
                <a:latin typeface="JetBrains Mono" pitchFamily="49" charset="0"/>
                <a:ea typeface="JetBrains Mono" pitchFamily="49" charset="-122"/>
                <a:cs typeface="JetBrains Mono" pitchFamily="49" charset="-120"/>
              </a:rPr>
              <a:t>Console.WriteLine(string.Join(", ", b));</a:t>
            </a:r>
            <a:endParaRPr lang="en-US" sz="1400" dirty="0"/>
          </a:p>
        </p:txBody>
      </p:sp>
      <p:sp>
        <p:nvSpPr>
          <p:cNvPr id="6" name="Text 4"/>
          <p:cNvSpPr/>
          <p:nvPr/>
        </p:nvSpPr>
        <p:spPr>
          <a:xfrm>
            <a:off x="10566400" y="6339830"/>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7F8FA"/>
              </a:gs>
              <a:gs pos="55000">
                <a:srgbClr val="F7F8FA"/>
              </a:gs>
              <a:gs pos="100000">
                <a:srgbClr val="DCEFE1"/>
              </a:gs>
            </a:gsLst>
            <a:lin ang="2700000" scaled="0"/>
          </a:gradFill>
          <a:ln/>
        </p:spPr>
      </p:sp>
      <p:sp>
        <p:nvSpPr>
          <p:cNvPr id="3" name="Text 1"/>
          <p:cNvSpPr/>
          <p:nvPr>
            <p:ph type="title"/>
          </p:nvPr>
        </p:nvSpPr>
        <p:spPr>
          <a:xfrm>
            <a:off x="812800" y="7112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Итоги</a:t>
            </a:r>
            <a:endParaRPr lang="en-US" sz="3200" dirty="0"/>
          </a:p>
        </p:txBody>
      </p:sp>
      <p:sp>
        <p:nvSpPr>
          <p:cNvPr id="4" name="Shape 2"/>
          <p:cNvSpPr/>
          <p:nvPr/>
        </p:nvSpPr>
        <p:spPr>
          <a:xfrm>
            <a:off x="812800" y="1412230"/>
            <a:ext cx="3420507" cy="3381375"/>
          </a:xfrm>
          <a:prstGeom prst="roundRect">
            <a:avLst>
              <a:gd name="adj" fmla="val 3005"/>
            </a:avLst>
          </a:prstGeom>
          <a:solidFill>
            <a:srgbClr val="ECEFF3"/>
          </a:solidFill>
          <a:ln/>
        </p:spPr>
      </p:sp>
      <p:sp>
        <p:nvSpPr>
          <p:cNvPr id="5" name="Shape 3"/>
          <p:cNvSpPr/>
          <p:nvPr/>
        </p:nvSpPr>
        <p:spPr>
          <a:xfrm>
            <a:off x="812800" y="1412230"/>
            <a:ext cx="3420507" cy="3381375"/>
          </a:xfrm>
          <a:custGeom>
            <a:avLst/>
            <a:gdLst/>
            <a:ahLst/>
            <a:cxnLst/>
            <a:rect l="l" t="t" r="r" b="b"/>
            <a:pathLst>
              <a:path w="3420507" h="3381375">
                <a:moveTo>
                  <a:pt x="0" y="101600"/>
                </a:moveTo>
                <a:lnTo>
                  <a:pt x="0" y="101600"/>
                </a:lnTo>
                <a:arcTo hR="101600" wR="101600" stAng="10800000" swAng="5400000"/>
                <a:lnTo>
                  <a:pt x="3318907" y="0"/>
                </a:lnTo>
                <a:arcTo hR="101600" wR="101600" stAng="16200000" swAng="5400000"/>
                <a:lnTo>
                  <a:pt x="3420507" y="101600"/>
                </a:lnTo>
                <a:arcTo hR="63500" wR="101600" stAng="0" swAng="-5400000"/>
                <a:lnTo>
                  <a:pt x="101600" y="38100"/>
                </a:lnTo>
                <a:arcTo hR="63500" wR="101600" stAng="16200000" swAng="-5400000"/>
                <a:close/>
              </a:path>
            </a:pathLst>
          </a:custGeom>
          <a:solidFill>
            <a:srgbClr val="1E7D3A"/>
          </a:solidFill>
          <a:ln/>
        </p:spPr>
      </p:sp>
      <p:sp>
        <p:nvSpPr>
          <p:cNvPr id="6" name="Text 4"/>
          <p:cNvSpPr/>
          <p:nvPr/>
        </p:nvSpPr>
        <p:spPr>
          <a:xfrm>
            <a:off x="1041400" y="1676400"/>
            <a:ext cx="3052206"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E7D3A"/>
                </a:solidFill>
                <a:latin typeface="JetBrains Mono" pitchFamily="49" charset="0"/>
                <a:ea typeface="JetBrains Mono" pitchFamily="49" charset="-122"/>
                <a:cs typeface="JetBrains Mono" pitchFamily="49" charset="-120"/>
              </a:rPr>
              <a:t>01</a:t>
            </a:r>
            <a:endParaRPr lang="en-US" sz="2200" dirty="0"/>
          </a:p>
        </p:txBody>
      </p:sp>
      <p:sp>
        <p:nvSpPr>
          <p:cNvPr id="7" name="Text 5"/>
          <p:cNvSpPr/>
          <p:nvPr/>
        </p:nvSpPr>
        <p:spPr>
          <a:xfrm>
            <a:off x="1041400" y="2169170"/>
            <a:ext cx="305220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События</a:t>
            </a:r>
            <a:endParaRPr lang="en-US" sz="1700" dirty="0"/>
          </a:p>
        </p:txBody>
      </p:sp>
      <p:sp>
        <p:nvSpPr>
          <p:cNvPr id="8" name="Text 6"/>
          <p:cNvSpPr/>
          <p:nvPr/>
        </p:nvSpPr>
        <p:spPr>
          <a:xfrm>
            <a:off x="1041400" y="2529830"/>
            <a:ext cx="3052206"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event ограничивает доступ к делегату: извне доступны только += и −=.</a:t>
            </a:r>
            <a:endParaRPr lang="en-US" sz="1500" dirty="0"/>
          </a:p>
        </p:txBody>
      </p:sp>
      <p:sp>
        <p:nvSpPr>
          <p:cNvPr id="9" name="Text 7"/>
          <p:cNvSpPr/>
          <p:nvPr/>
        </p:nvSpPr>
        <p:spPr>
          <a:xfrm>
            <a:off x="1041400" y="3460105"/>
            <a:ext cx="3052206"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Операторы += и −= вызывают add и remove, а те вызывают Delegate.Combine и Delegate.Remove.</a:t>
            </a:r>
            <a:endParaRPr lang="en-US" sz="1500" dirty="0"/>
          </a:p>
        </p:txBody>
      </p:sp>
      <p:sp>
        <p:nvSpPr>
          <p:cNvPr id="10" name="Shape 8"/>
          <p:cNvSpPr/>
          <p:nvPr/>
        </p:nvSpPr>
        <p:spPr>
          <a:xfrm>
            <a:off x="4385707" y="1412230"/>
            <a:ext cx="3420586" cy="3381375"/>
          </a:xfrm>
          <a:prstGeom prst="roundRect">
            <a:avLst>
              <a:gd name="adj" fmla="val 3005"/>
            </a:avLst>
          </a:prstGeom>
          <a:solidFill>
            <a:srgbClr val="ECEFF3"/>
          </a:solidFill>
          <a:ln/>
        </p:spPr>
      </p:sp>
      <p:sp>
        <p:nvSpPr>
          <p:cNvPr id="11" name="Shape 9"/>
          <p:cNvSpPr/>
          <p:nvPr/>
        </p:nvSpPr>
        <p:spPr>
          <a:xfrm>
            <a:off x="4385707" y="1412230"/>
            <a:ext cx="3420586" cy="3381375"/>
          </a:xfrm>
          <a:custGeom>
            <a:avLst/>
            <a:gdLst/>
            <a:ahLst/>
            <a:cxnLst/>
            <a:rect l="l" t="t" r="r" b="b"/>
            <a:pathLst>
              <a:path w="3420586" h="3381375">
                <a:moveTo>
                  <a:pt x="0" y="101600"/>
                </a:moveTo>
                <a:lnTo>
                  <a:pt x="0" y="101600"/>
                </a:lnTo>
                <a:arcTo hR="101600" wR="101600" stAng="10800000" swAng="5400000"/>
                <a:lnTo>
                  <a:pt x="3318986" y="0"/>
                </a:lnTo>
                <a:arcTo hR="101600" wR="101600" stAng="16200000" swAng="5400000"/>
                <a:lnTo>
                  <a:pt x="3420586" y="101600"/>
                </a:lnTo>
                <a:arcTo hR="63500" wR="101600" stAng="0" swAng="-5400000"/>
                <a:lnTo>
                  <a:pt x="101600" y="38100"/>
                </a:lnTo>
                <a:arcTo hR="63500" wR="101600" stAng="16200000" swAng="-5400000"/>
                <a:close/>
              </a:path>
            </a:pathLst>
          </a:custGeom>
          <a:solidFill>
            <a:srgbClr val="2456B8"/>
          </a:solidFill>
          <a:ln/>
        </p:spPr>
      </p:sp>
      <p:sp>
        <p:nvSpPr>
          <p:cNvPr id="12" name="Text 10"/>
          <p:cNvSpPr/>
          <p:nvPr/>
        </p:nvSpPr>
        <p:spPr>
          <a:xfrm>
            <a:off x="4614307" y="1676400"/>
            <a:ext cx="3052288"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456B8"/>
                </a:solidFill>
                <a:latin typeface="JetBrains Mono" pitchFamily="49" charset="0"/>
                <a:ea typeface="JetBrains Mono" pitchFamily="49" charset="-122"/>
                <a:cs typeface="JetBrains Mono" pitchFamily="49" charset="-120"/>
              </a:rPr>
              <a:t>02</a:t>
            </a:r>
            <a:endParaRPr lang="en-US" sz="2200" dirty="0"/>
          </a:p>
        </p:txBody>
      </p:sp>
      <p:sp>
        <p:nvSpPr>
          <p:cNvPr id="13" name="Text 11"/>
          <p:cNvSpPr/>
          <p:nvPr/>
        </p:nvSpPr>
        <p:spPr>
          <a:xfrm>
            <a:off x="4614307" y="2169170"/>
            <a:ext cx="305228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Генерики</a:t>
            </a:r>
            <a:endParaRPr lang="en-US" sz="1700" dirty="0"/>
          </a:p>
        </p:txBody>
      </p:sp>
      <p:sp>
        <p:nvSpPr>
          <p:cNvPr id="14" name="Text 12"/>
          <p:cNvSpPr/>
          <p:nvPr/>
        </p:nvSpPr>
        <p:spPr>
          <a:xfrm>
            <a:off x="4614307" y="2529830"/>
            <a:ext cx="3052288"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Генерик является функцией над типами.</a:t>
            </a:r>
            <a:endParaRPr lang="en-US" sz="1500" dirty="0"/>
          </a:p>
        </p:txBody>
      </p:sp>
      <p:sp>
        <p:nvSpPr>
          <p:cNvPr id="15" name="Text 13"/>
          <p:cNvSpPr/>
          <p:nvPr/>
        </p:nvSpPr>
        <p:spPr>
          <a:xfrm>
            <a:off x="4614307" y="3183880"/>
            <a:ext cx="3052288"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Чтение: out и ковариантность. Запись: in и контравариантность. Чтение и запись: инвариантность.</a:t>
            </a:r>
            <a:endParaRPr lang="en-US" sz="1500" dirty="0"/>
          </a:p>
        </p:txBody>
      </p:sp>
      <p:sp>
        <p:nvSpPr>
          <p:cNvPr id="16" name="Shape 14"/>
          <p:cNvSpPr/>
          <p:nvPr/>
        </p:nvSpPr>
        <p:spPr>
          <a:xfrm>
            <a:off x="7958693" y="1412230"/>
            <a:ext cx="3420507" cy="3381375"/>
          </a:xfrm>
          <a:prstGeom prst="roundRect">
            <a:avLst>
              <a:gd name="adj" fmla="val 3005"/>
            </a:avLst>
          </a:prstGeom>
          <a:solidFill>
            <a:srgbClr val="ECEFF3"/>
          </a:solidFill>
          <a:ln/>
        </p:spPr>
      </p:sp>
      <p:sp>
        <p:nvSpPr>
          <p:cNvPr id="17" name="Shape 15"/>
          <p:cNvSpPr/>
          <p:nvPr/>
        </p:nvSpPr>
        <p:spPr>
          <a:xfrm>
            <a:off x="7958693" y="1412230"/>
            <a:ext cx="3420507" cy="3381375"/>
          </a:xfrm>
          <a:custGeom>
            <a:avLst/>
            <a:gdLst/>
            <a:ahLst/>
            <a:cxnLst/>
            <a:rect l="l" t="t" r="r" b="b"/>
            <a:pathLst>
              <a:path w="3420507" h="3381375">
                <a:moveTo>
                  <a:pt x="0" y="101600"/>
                </a:moveTo>
                <a:lnTo>
                  <a:pt x="0" y="101600"/>
                </a:lnTo>
                <a:arcTo hR="101600" wR="101600" stAng="10800000" swAng="5400000"/>
                <a:lnTo>
                  <a:pt x="3318907" y="0"/>
                </a:lnTo>
                <a:arcTo hR="101600" wR="101600" stAng="16200000" swAng="5400000"/>
                <a:lnTo>
                  <a:pt x="3420507" y="101600"/>
                </a:lnTo>
                <a:arcTo hR="63500" wR="101600" stAng="0" swAng="-5400000"/>
                <a:lnTo>
                  <a:pt x="101600" y="38100"/>
                </a:lnTo>
                <a:arcTo hR="63500" wR="101600" stAng="16200000" swAng="-5400000"/>
                <a:close/>
              </a:path>
            </a:pathLst>
          </a:custGeom>
          <a:solidFill>
            <a:srgbClr val="B4541A"/>
          </a:solidFill>
          <a:ln/>
        </p:spPr>
      </p:sp>
      <p:sp>
        <p:nvSpPr>
          <p:cNvPr id="18" name="Text 16"/>
          <p:cNvSpPr/>
          <p:nvPr/>
        </p:nvSpPr>
        <p:spPr>
          <a:xfrm>
            <a:off x="8187293" y="1676400"/>
            <a:ext cx="3052206"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4541A"/>
                </a:solidFill>
                <a:latin typeface="JetBrains Mono" pitchFamily="49" charset="0"/>
                <a:ea typeface="JetBrains Mono" pitchFamily="49" charset="-122"/>
                <a:cs typeface="JetBrains Mono" pitchFamily="49" charset="-120"/>
              </a:rPr>
              <a:t>03</a:t>
            </a:r>
            <a:endParaRPr lang="en-US" sz="2200" dirty="0"/>
          </a:p>
        </p:txBody>
      </p:sp>
      <p:sp>
        <p:nvSpPr>
          <p:cNvPr id="19" name="Text 17"/>
          <p:cNvSpPr/>
          <p:nvPr/>
        </p:nvSpPr>
        <p:spPr>
          <a:xfrm>
            <a:off x="8187293" y="2169170"/>
            <a:ext cx="3052206"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LINQ</a:t>
            </a:r>
            <a:endParaRPr lang="en-US" sz="1700" dirty="0"/>
          </a:p>
        </p:txBody>
      </p:sp>
      <p:sp>
        <p:nvSpPr>
          <p:cNvPr id="20" name="Text 18"/>
          <p:cNvSpPr/>
          <p:nvPr/>
        </p:nvSpPr>
        <p:spPr>
          <a:xfrm>
            <a:off x="8187293" y="2529830"/>
            <a:ext cx="3052206"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Генерики, делегаты и методы-расширения; запрос выполняется отложенно.</a:t>
            </a:r>
            <a:endParaRPr lang="en-US" sz="1500" dirty="0"/>
          </a:p>
        </p:txBody>
      </p:sp>
      <p:sp>
        <p:nvSpPr>
          <p:cNvPr id="21" name="Text 19"/>
          <p:cNvSpPr/>
          <p:nvPr/>
        </p:nvSpPr>
        <p:spPr>
          <a:xfrm>
            <a:off x="8187293" y="3460105"/>
            <a:ext cx="3052206"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IQueryable передаёт провайдеру дерево выражений вместо скомпилированного кода.</a:t>
            </a:r>
            <a:endParaRPr lang="en-US" sz="1500" dirty="0"/>
          </a:p>
        </p:txBody>
      </p:sp>
      <p:sp>
        <p:nvSpPr>
          <p:cNvPr id="22" name="Text 20"/>
          <p:cNvSpPr/>
          <p:nvPr/>
        </p:nvSpPr>
        <p:spPr>
          <a:xfrm>
            <a:off x="10566400" y="6339830"/>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577"/>
                </a:solidFill>
                <a:latin typeface="IBM Plex Sans" pitchFamily="34" charset="0"/>
                <a:ea typeface="IBM Plex Sans" pitchFamily="34" charset="-122"/>
                <a:cs typeface="IBM Plex Sans" pitchFamily="34" charset="-120"/>
              </a:rPr>
              <a:t>62</a:t>
            </a:r>
            <a:endParaRPr lang="en-US" sz="1200" dirty="0"/>
          </a:p>
        </p:txBody>
      </p:sp>
    </p:spTree>
  </p:cSld>
  <p:clrMapOvr>
    <a:masterClrMapping/>
  </p:clrMapOvr>
</p:sld>
</file>

<file path=ppt/theme/theme1.xml><?xml version="1.0" encoding="utf-8"?>
<a:theme xmlns:a="http://schemas.openxmlformats.org/drawingml/2006/main" name="События, генерики, LINQ">
  <a:themeElements>
    <a:clrScheme name="События, генерики, LINQ">
      <a:dk1>
        <a:srgbClr val="14213D"/>
      </a:dk1>
      <a:lt1>
        <a:srgbClr val="F7F8FA"/>
      </a:lt1>
      <a:dk2>
        <a:srgbClr val="4D576C"/>
      </a:dk2>
      <a:lt2>
        <a:srgbClr val="E0E3E7"/>
      </a:lt2>
      <a:accent1>
        <a:srgbClr val="1E7D3A"/>
      </a:accent1>
      <a:accent2>
        <a:srgbClr val="B4541A"/>
      </a:accent2>
      <a:accent3>
        <a:srgbClr val="2456B8"/>
      </a:accent3>
      <a:accent4>
        <a:srgbClr val="4A5568"/>
      </a:accent4>
      <a:accent5>
        <a:srgbClr val="5A6577"/>
      </a:accent5>
      <a:accent6>
        <a:srgbClr val="DCEFE1"/>
      </a:accent6>
      <a:hlink>
        <a:srgbClr val="0563C1"/>
      </a:hlink>
      <a:folHlink>
        <a:srgbClr val="954F72"/>
      </a:folHlink>
    </a:clrScheme>
    <a:fontScheme name="События, генерики, LINQ">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События, генерики, LINQ</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2026-10-24T14:39:19Z</dcterms:created>
  <dcterms:modified xsi:type="dcterms:W3CDTF">2026-10-24T14:39:19Z</dcterms:modified>
</cp:coreProperties>
</file>