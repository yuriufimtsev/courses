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50" r:id="rId2"/>
  </p:sldMasterIdLst>
  <p:notesMasterIdLst>
    <p:notesMasterId r:id="rId69"/>
  </p:notesMasterIdLst>
  <p:sldIdLst>
    <p:sldId id="256" r:id="rId3"/>
    <p:sldId id="331" r:id="rId4"/>
    <p:sldId id="266" r:id="rId5"/>
    <p:sldId id="263" r:id="rId6"/>
    <p:sldId id="259" r:id="rId7"/>
    <p:sldId id="264" r:id="rId8"/>
    <p:sldId id="265" r:id="rId9"/>
    <p:sldId id="267" r:id="rId10"/>
    <p:sldId id="269" r:id="rId11"/>
    <p:sldId id="258" r:id="rId12"/>
    <p:sldId id="272" r:id="rId13"/>
    <p:sldId id="326" r:id="rId14"/>
    <p:sldId id="327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8" r:id="rId24"/>
    <p:sldId id="281" r:id="rId25"/>
    <p:sldId id="288" r:id="rId26"/>
    <p:sldId id="282" r:id="rId27"/>
    <p:sldId id="283" r:id="rId28"/>
    <p:sldId id="284" r:id="rId29"/>
    <p:sldId id="286" r:id="rId30"/>
    <p:sldId id="289" r:id="rId31"/>
    <p:sldId id="292" r:id="rId32"/>
    <p:sldId id="293" r:id="rId33"/>
    <p:sldId id="294" r:id="rId34"/>
    <p:sldId id="296" r:id="rId35"/>
    <p:sldId id="299" r:id="rId36"/>
    <p:sldId id="297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5" r:id="rId57"/>
    <p:sldId id="328" r:id="rId58"/>
    <p:sldId id="329" r:id="rId59"/>
    <p:sldId id="285" r:id="rId60"/>
    <p:sldId id="291" r:id="rId61"/>
    <p:sldId id="287" r:id="rId62"/>
    <p:sldId id="301" r:id="rId63"/>
    <p:sldId id="302" r:id="rId64"/>
    <p:sldId id="303" r:id="rId65"/>
    <p:sldId id="300" r:id="rId66"/>
    <p:sldId id="268" r:id="rId67"/>
    <p:sldId id="270" r:id="rId6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34C"/>
    <a:srgbClr val="57257D"/>
    <a:srgbClr val="6C2D9B"/>
    <a:srgbClr val="8E4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10"/>
  </p:normalViewPr>
  <p:slideViewPr>
    <p:cSldViewPr snapToGrid="0" snapToObjects="1">
      <p:cViewPr>
        <p:scale>
          <a:sx n="84" d="100"/>
          <a:sy n="84" d="100"/>
        </p:scale>
        <p:origin x="51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2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60899a37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c860899a3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4161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344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60899a37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c860899a3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983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60899a37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c860899a3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1219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60899a37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c860899a3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5383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93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33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текст">
  <p:cSld name="Заголовок + текст"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671513" y="1773239"/>
            <a:ext cx="108616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253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body" idx="1"/>
          </p:nvPr>
        </p:nvSpPr>
        <p:spPr>
          <a:xfrm>
            <a:off x="658813" y="5113088"/>
            <a:ext cx="10224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609585" marR="0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title"/>
          </p:nvPr>
        </p:nvSpPr>
        <p:spPr>
          <a:xfrm>
            <a:off x="622261" y="3752915"/>
            <a:ext cx="10220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3358343" y="482139"/>
            <a:ext cx="72800" cy="38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692151"/>
            <a:ext cx="2772299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02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о спикером">
  <p:cSld name="Слайд со спикером">
    <p:bg>
      <p:bgPr>
        <a:solidFill>
          <a:schemeClr val="dk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658813" y="692151"/>
            <a:ext cx="6192800" cy="1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body" idx="1"/>
          </p:nvPr>
        </p:nvSpPr>
        <p:spPr>
          <a:xfrm>
            <a:off x="658813" y="2357767"/>
            <a:ext cx="5142800" cy="2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2000"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304792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4" y="5711140"/>
            <a:ext cx="2772295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8627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656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раздела">
  <p:cSld name="Титульный слайд раздела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603172" y="692151"/>
            <a:ext cx="46212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225" y="691341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249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 + объект">
  <p:cSld name="Заголовок в 2 строки + объект"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body" idx="1"/>
          </p:nvPr>
        </p:nvSpPr>
        <p:spPr>
          <a:xfrm>
            <a:off x="671513" y="2040889"/>
            <a:ext cx="5424400" cy="4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54188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EBF3F9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667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+ текст в две колонки">
  <p:cSld name="2_Заголовок + текст в две колонки"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677335" y="1773239"/>
            <a:ext cx="53044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6228824" y="1773239"/>
            <a:ext cx="53044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62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криншот (1)">
  <p:cSld name="Заголовок + скриншот (1)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body" idx="1"/>
          </p:nvPr>
        </p:nvSpPr>
        <p:spPr>
          <a:xfrm>
            <a:off x="6096000" y="692151"/>
            <a:ext cx="5437200" cy="5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2"/>
          </p:nvPr>
        </p:nvSpPr>
        <p:spPr>
          <a:xfrm>
            <a:off x="671515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09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текст">
  <p:cSld name="Заголовок + текст"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671513" y="1773239"/>
            <a:ext cx="108616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293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 + подпись">
  <p:cSld name="Финальный с QR + подпись">
    <p:bg>
      <p:bgPr>
        <a:solidFill>
          <a:schemeClr val="accen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23251" y="692150"/>
            <a:ext cx="6168751" cy="61687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620713" y="3222248"/>
            <a:ext cx="547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658813" y="692151"/>
            <a:ext cx="1081200" cy="1081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4" y="5711140"/>
            <a:ext cx="2772295" cy="489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483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Финальный с QR + подпись">
  <p:cSld name="1_Финальный с QR + подпись">
    <p:bg>
      <p:bgPr>
        <a:solidFill>
          <a:schemeClr val="accen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620713" y="3222248"/>
            <a:ext cx="547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>
            <a:spLocks noGrp="1"/>
          </p:cNvSpPr>
          <p:nvPr>
            <p:ph type="pic" idx="2"/>
          </p:nvPr>
        </p:nvSpPr>
        <p:spPr>
          <a:xfrm>
            <a:off x="658813" y="692151"/>
            <a:ext cx="1081200" cy="1081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4" y="5711140"/>
            <a:ext cx="2772295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4045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раздела">
  <p:cSld name="1_Титульный слайд раздела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>
            <a:off x="603172" y="692151"/>
            <a:ext cx="46212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93" name="Google Shape;9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225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998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объект">
  <p:cSld name="Заголовок + объект">
    <p:bg>
      <p:bgPr>
        <a:solidFill>
          <a:schemeClr val="l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658813" y="1773239"/>
            <a:ext cx="10874400" cy="4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0395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2 объекта">
  <p:cSld name="Заголовок + 2 объекта">
    <p:bg>
      <p:bgPr>
        <a:solidFill>
          <a:schemeClr val="l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77335" y="1773239"/>
            <a:ext cx="53172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197604" y="1773239"/>
            <a:ext cx="5317200" cy="44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407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">
  <p:cSld name="1 фото">
    <p:bg>
      <p:bgPr>
        <a:solidFill>
          <a:schemeClr val="lt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671515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3152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 фото">
  <p:cSld name="1_1 фото">
    <p:bg>
      <p:bgPr>
        <a:solidFill>
          <a:schemeClr val="l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6870171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5206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 + подпись">
  <p:cSld name="1 фото + подпись"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>
            <a:spLocks noGrp="1"/>
          </p:cNvSpPr>
          <p:nvPr>
            <p:ph type="pic" idx="2"/>
          </p:nvPr>
        </p:nvSpPr>
        <p:spPr>
          <a:xfrm>
            <a:off x="6096000" y="692151"/>
            <a:ext cx="5437200" cy="418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6096000" y="5147215"/>
            <a:ext cx="54500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50000" cy="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677335" y="692151"/>
            <a:ext cx="4663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4"/>
          </p:nvPr>
        </p:nvSpPr>
        <p:spPr>
          <a:xfrm>
            <a:off x="671515" y="2018599"/>
            <a:ext cx="4649600" cy="4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1219170" lvl="1" indent="-3979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1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828754" lvl="2" indent="-380990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7135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Финальный с QR + подпись">
  <p:cSld name="2_Финальный с QR + подпись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620713" y="3222248"/>
            <a:ext cx="547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>
            <a:spLocks noGrp="1"/>
          </p:cNvSpPr>
          <p:nvPr>
            <p:ph type="pic" idx="2"/>
          </p:nvPr>
        </p:nvSpPr>
        <p:spPr>
          <a:xfrm>
            <a:off x="658813" y="692151"/>
            <a:ext cx="1081200" cy="1081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1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11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711140"/>
            <a:ext cx="2772299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9" cy="6166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7715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ru" sz="1867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ru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01328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лайд со спикером 1" type="tx">
  <p:cSld name="Слайд со спикером 1">
    <p:bg>
      <p:bgPr>
        <a:solidFill>
          <a:schemeClr val="accen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0"/>
          <p:cNvGrpSpPr/>
          <p:nvPr/>
        </p:nvGrpSpPr>
        <p:grpSpPr>
          <a:xfrm>
            <a:off x="1" y="-114753"/>
            <a:ext cx="12188147" cy="64201"/>
            <a:chOff x="1" y="-1"/>
            <a:chExt cx="12188146" cy="64201"/>
          </a:xfrm>
        </p:grpSpPr>
        <p:cxnSp>
          <p:nvCxnSpPr>
            <p:cNvPr id="127" name="Google Shape;127;p20"/>
            <p:cNvCxnSpPr/>
            <p:nvPr/>
          </p:nvCxnSpPr>
          <p:spPr>
            <a:xfrm>
              <a:off x="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677119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1354238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2031357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2708476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3385595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4062714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" name="Google Shape;134;p20"/>
            <p:cNvCxnSpPr/>
            <p:nvPr/>
          </p:nvCxnSpPr>
          <p:spPr>
            <a:xfrm>
              <a:off x="4739833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" name="Google Shape;135;p20"/>
            <p:cNvCxnSpPr/>
            <p:nvPr/>
          </p:nvCxnSpPr>
          <p:spPr>
            <a:xfrm>
              <a:off x="5416952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" name="Google Shape;136;p20"/>
            <p:cNvCxnSpPr/>
            <p:nvPr/>
          </p:nvCxnSpPr>
          <p:spPr>
            <a:xfrm>
              <a:off x="609407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p20"/>
            <p:cNvCxnSpPr/>
            <p:nvPr/>
          </p:nvCxnSpPr>
          <p:spPr>
            <a:xfrm>
              <a:off x="6771190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" name="Google Shape;138;p20"/>
            <p:cNvCxnSpPr/>
            <p:nvPr/>
          </p:nvCxnSpPr>
          <p:spPr>
            <a:xfrm>
              <a:off x="7448309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" name="Google Shape;139;p20"/>
            <p:cNvCxnSpPr/>
            <p:nvPr/>
          </p:nvCxnSpPr>
          <p:spPr>
            <a:xfrm>
              <a:off x="8125428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0" name="Google Shape;140;p20"/>
            <p:cNvCxnSpPr/>
            <p:nvPr/>
          </p:nvCxnSpPr>
          <p:spPr>
            <a:xfrm>
              <a:off x="880254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1" name="Google Shape;141;p20"/>
            <p:cNvCxnSpPr/>
            <p:nvPr/>
          </p:nvCxnSpPr>
          <p:spPr>
            <a:xfrm>
              <a:off x="947966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" name="Google Shape;142;p20"/>
            <p:cNvCxnSpPr/>
            <p:nvPr/>
          </p:nvCxnSpPr>
          <p:spPr>
            <a:xfrm>
              <a:off x="10156785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20"/>
            <p:cNvCxnSpPr/>
            <p:nvPr/>
          </p:nvCxnSpPr>
          <p:spPr>
            <a:xfrm>
              <a:off x="1083390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" name="Google Shape;144;p20"/>
            <p:cNvCxnSpPr/>
            <p:nvPr/>
          </p:nvCxnSpPr>
          <p:spPr>
            <a:xfrm>
              <a:off x="1151102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" name="Google Shape;145;p20"/>
            <p:cNvCxnSpPr/>
            <p:nvPr/>
          </p:nvCxnSpPr>
          <p:spPr>
            <a:xfrm>
              <a:off x="12188147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6" name="Google Shape;146;p20"/>
          <p:cNvGrpSpPr/>
          <p:nvPr/>
        </p:nvGrpSpPr>
        <p:grpSpPr>
          <a:xfrm>
            <a:off x="-2" y="6987088"/>
            <a:ext cx="12188147" cy="64201"/>
            <a:chOff x="1" y="-1"/>
            <a:chExt cx="12188146" cy="64201"/>
          </a:xfrm>
        </p:grpSpPr>
        <p:cxnSp>
          <p:nvCxnSpPr>
            <p:cNvPr id="147" name="Google Shape;147;p20"/>
            <p:cNvCxnSpPr/>
            <p:nvPr/>
          </p:nvCxnSpPr>
          <p:spPr>
            <a:xfrm>
              <a:off x="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" name="Google Shape;148;p20"/>
            <p:cNvCxnSpPr/>
            <p:nvPr/>
          </p:nvCxnSpPr>
          <p:spPr>
            <a:xfrm>
              <a:off x="677119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" name="Google Shape;149;p20"/>
            <p:cNvCxnSpPr/>
            <p:nvPr/>
          </p:nvCxnSpPr>
          <p:spPr>
            <a:xfrm>
              <a:off x="1354238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" name="Google Shape;150;p20"/>
            <p:cNvCxnSpPr/>
            <p:nvPr/>
          </p:nvCxnSpPr>
          <p:spPr>
            <a:xfrm>
              <a:off x="2031357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1" name="Google Shape;151;p20"/>
            <p:cNvCxnSpPr/>
            <p:nvPr/>
          </p:nvCxnSpPr>
          <p:spPr>
            <a:xfrm>
              <a:off x="2708476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" name="Google Shape;152;p20"/>
            <p:cNvCxnSpPr/>
            <p:nvPr/>
          </p:nvCxnSpPr>
          <p:spPr>
            <a:xfrm>
              <a:off x="3385595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3" name="Google Shape;153;p20"/>
            <p:cNvCxnSpPr/>
            <p:nvPr/>
          </p:nvCxnSpPr>
          <p:spPr>
            <a:xfrm>
              <a:off x="4062714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4" name="Google Shape;154;p20"/>
            <p:cNvCxnSpPr/>
            <p:nvPr/>
          </p:nvCxnSpPr>
          <p:spPr>
            <a:xfrm>
              <a:off x="4739833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" name="Google Shape;155;p20"/>
            <p:cNvCxnSpPr/>
            <p:nvPr/>
          </p:nvCxnSpPr>
          <p:spPr>
            <a:xfrm>
              <a:off x="5416952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6" name="Google Shape;156;p20"/>
            <p:cNvCxnSpPr/>
            <p:nvPr/>
          </p:nvCxnSpPr>
          <p:spPr>
            <a:xfrm>
              <a:off x="6094071" y="0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7" name="Google Shape;157;p20"/>
            <p:cNvCxnSpPr/>
            <p:nvPr/>
          </p:nvCxnSpPr>
          <p:spPr>
            <a:xfrm>
              <a:off x="6771190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" name="Google Shape;158;p20"/>
            <p:cNvCxnSpPr/>
            <p:nvPr/>
          </p:nvCxnSpPr>
          <p:spPr>
            <a:xfrm>
              <a:off x="7448309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9" name="Google Shape;159;p20"/>
            <p:cNvCxnSpPr/>
            <p:nvPr/>
          </p:nvCxnSpPr>
          <p:spPr>
            <a:xfrm>
              <a:off x="8125428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" name="Google Shape;160;p20"/>
            <p:cNvCxnSpPr/>
            <p:nvPr/>
          </p:nvCxnSpPr>
          <p:spPr>
            <a:xfrm>
              <a:off x="880254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" name="Google Shape;161;p20"/>
            <p:cNvCxnSpPr/>
            <p:nvPr/>
          </p:nvCxnSpPr>
          <p:spPr>
            <a:xfrm>
              <a:off x="9479666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2" name="Google Shape;162;p20"/>
            <p:cNvCxnSpPr/>
            <p:nvPr/>
          </p:nvCxnSpPr>
          <p:spPr>
            <a:xfrm>
              <a:off x="10156785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3" name="Google Shape;163;p20"/>
            <p:cNvCxnSpPr/>
            <p:nvPr/>
          </p:nvCxnSpPr>
          <p:spPr>
            <a:xfrm>
              <a:off x="1083390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" name="Google Shape;164;p20"/>
            <p:cNvCxnSpPr/>
            <p:nvPr/>
          </p:nvCxnSpPr>
          <p:spPr>
            <a:xfrm>
              <a:off x="11511023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" name="Google Shape;165;p20"/>
            <p:cNvCxnSpPr/>
            <p:nvPr/>
          </p:nvCxnSpPr>
          <p:spPr>
            <a:xfrm>
              <a:off x="12188147" y="-1"/>
              <a:ext cx="0" cy="64200"/>
            </a:xfrm>
            <a:prstGeom prst="straightConnector1">
              <a:avLst/>
            </a:prstGeom>
            <a:noFill/>
            <a:ln w="12700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6" name="Google Shape;166;p20"/>
          <p:cNvSpPr txBox="1">
            <a:spLocks noGrp="1"/>
          </p:cNvSpPr>
          <p:nvPr>
            <p:ph type="title"/>
          </p:nvPr>
        </p:nvSpPr>
        <p:spPr>
          <a:xfrm>
            <a:off x="658813" y="692151"/>
            <a:ext cx="6192800" cy="1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48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body" idx="1"/>
          </p:nvPr>
        </p:nvSpPr>
        <p:spPr>
          <a:xfrm>
            <a:off x="658813" y="2357767"/>
            <a:ext cx="5142800" cy="2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828754" lvl="2" indent="-4317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−"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3pPr>
            <a:lvl4pPr marL="2438339" lvl="3" indent="-4317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4pPr>
            <a:lvl5pPr marL="3047924" lvl="4" indent="-4317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 sz="2000">
                <a:solidFill>
                  <a:srgbClr val="FEFEFE"/>
                </a:solidFill>
                <a:latin typeface="Play"/>
                <a:ea typeface="Play"/>
                <a:cs typeface="Play"/>
                <a:sym typeface="Play"/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>
            <a:spLocks noGrp="1"/>
          </p:cNvSpPr>
          <p:nvPr>
            <p:ph type="pic" idx="2"/>
          </p:nvPr>
        </p:nvSpPr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20" descr="Google Shape;11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4394" y="5848270"/>
            <a:ext cx="1990065" cy="3514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>
            <a:spLocks noGrp="1"/>
          </p:cNvSpPr>
          <p:nvPr>
            <p:ph type="sldNum" idx="12"/>
          </p:nvPr>
        </p:nvSpPr>
        <p:spPr>
          <a:xfrm>
            <a:off x="5892799" y="6172200"/>
            <a:ext cx="28448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ru" kern="0" smtClean="0"/>
              <a:pPr defTabSz="1219170">
                <a:buClr>
                  <a:srgbClr val="000000"/>
                </a:buClr>
              </a:pPr>
              <a:t>‹#›</a:t>
            </a:fld>
            <a:endParaRPr lang="ru" kern="0"/>
          </a:p>
        </p:txBody>
      </p:sp>
    </p:spTree>
    <p:extLst>
      <p:ext uri="{BB962C8B-B14F-4D97-AF65-F5344CB8AC3E}">
        <p14:creationId xmlns:p14="http://schemas.microsoft.com/office/powerpoint/2010/main" val="261480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7333" y="692151"/>
            <a:ext cx="10856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"/>
              <a:buNone/>
              <a:defRPr sz="27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8813" y="1773239"/>
            <a:ext cx="108560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984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−"/>
              <a:defRPr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8" name="Google Shape;8;p1"/>
          <p:cNvGrpSpPr/>
          <p:nvPr/>
        </p:nvGrpSpPr>
        <p:grpSpPr>
          <a:xfrm>
            <a:off x="1" y="-114764"/>
            <a:ext cx="12188148" cy="64315"/>
            <a:chOff x="0" y="1773238"/>
            <a:chExt cx="12188148" cy="735300"/>
          </a:xfrm>
        </p:grpSpPr>
        <p:cxnSp>
          <p:nvCxnSpPr>
            <p:cNvPr id="9" name="Google Shape;9;p1"/>
            <p:cNvCxnSpPr/>
            <p:nvPr/>
          </p:nvCxnSpPr>
          <p:spPr>
            <a:xfrm>
              <a:off x="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67711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135423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203135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270847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338559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406271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473983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5416952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6094071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677119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744830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812542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880254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947966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1015678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1083390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1151102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1218814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1"/>
          <p:cNvGrpSpPr/>
          <p:nvPr/>
        </p:nvGrpSpPr>
        <p:grpSpPr>
          <a:xfrm>
            <a:off x="-2" y="6987076"/>
            <a:ext cx="12188148" cy="64315"/>
            <a:chOff x="0" y="1773238"/>
            <a:chExt cx="12188148" cy="735300"/>
          </a:xfrm>
        </p:grpSpPr>
        <p:cxnSp>
          <p:nvCxnSpPr>
            <p:cNvPr id="29" name="Google Shape;29;p1"/>
            <p:cNvCxnSpPr/>
            <p:nvPr/>
          </p:nvCxnSpPr>
          <p:spPr>
            <a:xfrm>
              <a:off x="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67711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35423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203135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" name="Google Shape;33;p1"/>
            <p:cNvCxnSpPr/>
            <p:nvPr/>
          </p:nvCxnSpPr>
          <p:spPr>
            <a:xfrm>
              <a:off x="270847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338559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406271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473983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5416952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6094071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6771190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7448309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812542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8802547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9479666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10156785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10833904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11511023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12188148" y="1773238"/>
              <a:ext cx="0" cy="735300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7192273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11">
          <p15:clr>
            <a:srgbClr val="FDE53C"/>
          </p15:clr>
        </p15:guide>
        <p15:guide id="2" pos="5449">
          <p15:clr>
            <a:srgbClr val="FDE53C"/>
          </p15:clr>
        </p15:guide>
        <p15:guide id="3" orient="horz" pos="2929">
          <p15:clr>
            <a:srgbClr val="FDE53C"/>
          </p15:clr>
        </p15:guide>
        <p15:guide id="4" pos="2880">
          <p15:clr>
            <a:srgbClr val="FDE53C"/>
          </p15:clr>
        </p15:guide>
        <p15:guide id="5" orient="horz" pos="327">
          <p15:clr>
            <a:srgbClr val="FDE53C"/>
          </p15:clr>
        </p15:guide>
        <p15:guide id="6" orient="horz" pos="838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hyperlink" Target="https://hwproj.ru/courses/50097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studio.com/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www.jetbrains.com/rider/" TargetMode="External"/><Relationship Id="rId4" Type="http://schemas.openxmlformats.org/officeDocument/2006/relationships/hyperlink" Target="https://code.visualstudio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Analyzers/StyleCopAnalyzers" TargetMode="External"/><Relationship Id="rId2" Type="http://schemas.openxmlformats.org/officeDocument/2006/relationships/hyperlink" Target="https://learn.microsoft.com/en-us/dotnet/csharp/fundamentals/coding-style/coding-convention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hyperlink" Target="https://learn.microsoft.com/ru-ru/previous-versions/visualstudio/visual-studio-2015/code-quality/code-analysis-for-managed-code-overview?view=vs-201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rii-litvinov/courses/tree/master/programming-2nd-semester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learn.me/" TargetMode="External"/><Relationship Id="rId5" Type="http://schemas.openxmlformats.org/officeDocument/2006/relationships/hyperlink" Target="https://devblogs.microsoft.com/dotnet/" TargetMode="External"/><Relationship Id="rId4" Type="http://schemas.openxmlformats.org/officeDocument/2006/relationships/hyperlink" Target="https://github.com/yurii-litvinov/courses/tree/master/programming-3rd-semester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rider/downloa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uriUfimtsev/CSharpDemo" TargetMode="External"/><Relationship Id="rId5" Type="http://schemas.openxmlformats.org/officeDocument/2006/relationships/hyperlink" Target="https://dotnet.microsoft.com/en-us/download" TargetMode="External"/><Relationship Id="rId4" Type="http://schemas.openxmlformats.org/officeDocument/2006/relationships/hyperlink" Target="https://drive.google.com/drive/folders/13gztiyc_jFexCcZBECzwXwCt48wesrAO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41248" y="3657600"/>
            <a:ext cx="10040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700"/>
              </a:lnSpc>
            </a:pPr>
            <a:r>
              <a:rPr lang="ru-RU" sz="32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Юрий Уфимцев</a:t>
            </a:r>
          </a:p>
          <a:p>
            <a:pPr marL="0" indent="0" algn="ctr">
              <a:lnSpc>
                <a:spcPts val="2700"/>
              </a:lnSpc>
              <a:buNone/>
            </a:pPr>
            <a:r>
              <a:rPr lang="en-US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3200" dirty="0" smtClean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2400" dirty="0"/>
          </a:p>
        </p:txBody>
      </p:sp>
      <p:sp>
        <p:nvSpPr>
          <p:cNvPr id="11" name="Text 2"/>
          <p:cNvSpPr txBox="1"/>
          <p:nvPr/>
        </p:nvSpPr>
        <p:spPr>
          <a:xfrm>
            <a:off x="704624" y="3655054"/>
            <a:ext cx="10040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500"/>
              </a:lnSpc>
            </a:pP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Знакомство </a:t>
            </a:r>
            <a:r>
              <a:rPr lang="ru-RU" sz="4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 </a:t>
            </a:r>
            <a:r>
              <a:rPr lang="en-US" sz="4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</a:t>
            </a: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Синтаксис, </a:t>
            </a:r>
            <a:r>
              <a:rPr lang="ru-RU" sz="4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типы </a:t>
            </a: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данных и </a:t>
            </a:r>
            <a:r>
              <a:rPr lang="ru-RU" sz="4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ООП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640080" y="1520825"/>
            <a:ext cx="10862000" cy="481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Организационное вступление</a:t>
            </a:r>
            <a:endParaRPr lang="en-US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Теория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 языке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 </a:t>
            </a: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платформе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 его синтаксисе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 его типах</a:t>
            </a:r>
          </a:p>
          <a:p>
            <a:pPr marL="1104881" lvl="1" indent="-342900">
              <a:lnSpc>
                <a:spcPts val="228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Обсудим модификаторы видимости, абстрактные классы и</a:t>
            </a:r>
            <a:b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интерфейсы,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virtual, new </a:t>
            </a: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override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Вкратце обсудим управление ресурсами: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19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IDisposable</a:t>
            </a:r>
            <a:endParaRPr lang="en-US" sz="19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Практика</a:t>
            </a:r>
          </a:p>
          <a:p>
            <a:pPr marL="1104881" lvl="1" indent="-342900">
              <a:lnSpc>
                <a:spcPts val="228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Поставим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 </a:t>
            </a: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  <a:endParaRPr lang="ru-RU" sz="19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ts val="228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Посмотрим на особенности </a:t>
            </a:r>
            <a:r>
              <a:rPr lang="en-US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 </a:t>
            </a:r>
            <a:r>
              <a:rPr lang="ru-RU" sz="19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практике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endParaRPr lang="en-US" sz="19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endParaRPr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План пары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38" y="1984069"/>
            <a:ext cx="2917553" cy="113593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57001" y="0"/>
            <a:ext cx="6512169" cy="6858000"/>
          </a:xfrm>
          <a:prstGeom prst="rect">
            <a:avLst/>
          </a:prstGeom>
          <a:solidFill>
            <a:srgbClr val="14234C"/>
          </a:solidFill>
          <a:ln>
            <a:solidFill>
              <a:srgbClr val="142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34C"/>
              </a:solidFill>
            </a:endParaRPr>
          </a:p>
        </p:txBody>
      </p:sp>
      <p:sp>
        <p:nvSpPr>
          <p:cNvPr id="8" name="AutoShape 2" descr="data:image/png;base64,iVBORw0KGgoAAAANSUhEUgAAAWQAAACyCAYAAAB1C7WmAAAQAElEQVR4AeydC5BV9X3Hz7n7hH2xu0QeKwvLUmWhCvLQCdbuGNo87CiaymMysWK0mWig0WLD1DEtJqalwWG0VdtUJzG2TqOWJmOUJB2iGcYHCSyiNjFDdQkjEsAEl0Ue7uPefI/u/3r2cvd6H+feex6fzPnm/z/n/P+//+//+S3fvfkvbGIW/4EABCAAAV8QwJB9UQaSgAAEIGBZGDJfBRCAQDgJBHBXGHIAi0bKEIBAOAlgyOGsK7uCAAQCSABDDmDRSBkCpSfAiqUggCGXgjJrQAACEMiCAIacBSSGQAACECgFAQy5FJRZAwKjCXAHgbQEMOS0WHgIAQhAoPQEMOTSM2dFCEAAAmkJYMhpsfAwSATIFQJhIYAhh6WS7AMCEAg8AQw58CVkAxCAQFgIYMhhqaRX+yAOBCBQNgIYctnQszAEIACB0QQw5NE8uIMABCBQNgIYclHRExwCEIBA9gQw5OxZMRICEIBAUQlgyEXFS3AIQAAC2RMIkiFnvytGQgACEAggAQw5gEUjZQhAIJwEMORw1pVdQQACQSIwkiuGPAKCBgIQgEC5CWDI5a4A60MAAhAYIYAhj4CggQAEwkIguPvAkINbOzKHAARCRgBDDllB2Q4EIBBcAhhycGtH5hAoBQHWKCEBDLmEsFkKAhCAQCYCGHImOryDAAQgUEICGHIJYbMUBCAAgUwEMORMdHgHAQhAoIQEMOQSwmYpCEAAApkIYMiZ6PDO3wTIDgIhI4Ahh6ygbAcCEAguAQw5uLUjcwhAIGQEMOSQFTT/7TATAhAoNwEMudwVYH0IQAACIwQw5BEQNBCAAATKTQBDLk4FiAoBCEAgZwIYcs7ImAABCECgOAQw5OJwJSoEIACBnAkEwpBz3hUTIAABCASQAIYcwKKRMgQgEE4CGHI468quIACBQBAYnSSGPJoHdxCAAATKRgBDLht6FvaSQGdnZ2IszZw5c08+ayne7dKYcTs6Oq7OJy5zIDAWAQx5LDI8hwAEgkYg8PliyIEvIRuAAATCQgBDDkslI7SP9vb25hkzZsx2a2ptvWU0uWb8KBqJRKLGPVZHGO2jBozc6Hhilnuc5k00MZ02NW48Hu+aPn36p4waGhpaR0LRQCAvAhhyXtiYVE4ClZWVKysqKl516575Sy2jr829ZFR6tm3Pdo/Vy29JZ1wy4J+6x2nel0xMp02Nq7FfVS5bjVpbW685I2iAH5B66QlgyKVnzooQgAAE0hLAkNNi4SEEIACB0hPAkEvPnBVzJKAz33O6urpu7BpRVVVVp44XXnHpV2+cPp4wOjJwKq53p4203HH1XzeKxWL2woULb0yVnv/WjBlpj5iYTpsaV2OcNSy1RlVaK/3FUwhkQQBDzgISQ8pLoLq6+vMDAwP3G8k4b9V57XlGLS0ts5dcuMA2uuCCP4zpXa1LDep3GjU3N39MMe5PlZ7PM2NG2rNMTKdNjVtTU1Orc2bLaPz48dPLS4rVg04AQw56BckfAhAIDQEMOTSljNJG2CsEwkkAQw5nXSO3q2cP/Noy2nnoDc/2b2I6bWrciooKS+fZbjUvWrTo6rlz57Z4lgCBIkUAQ45UucO72X/Y8bRldE/Pc55t1MR02tS4OjO2GhoakpI5X6Tz5Md15j3TswQIFCkCGHKkyp12szyEAAR8QgBD9kkhSAMCEIAAhszXgC8JdHR0rDGKx+MTampqLCMdDfgyZ5KCQKEEMORCCabM59YbArFY7F+MZMhz6+rqLCPHmDOtovHWqVOnCpbzDz4yrcM7CHhNAEP2mijxfEHAC0P2xUZIIlIEMORIlZvNQgACfibgb0P2MzlygwAEIOAxAQzZY6CEKw0B53zXraqqhOWWF1m44zl993qm78U6xICAIYAhGxK0gSLQ19dnvf322+/J6T/z2DTLaMu/T/VkLz/57gcxn/jW1PfWMms67cDAgCfrECSSBNJuGkNOi4WHEIAABEpPAEMuPXNWhAAEIJCWAIacFgsPy02gu7vbMpo/f/6kcueTy/qXXXbZ9Zs2bXrQrY0bNzblEoOxuREIy2gMOSyVDNk+5syZYxm1tbUFyswaGhq6bdu+3q1YLDYuZCViO0UggCEXASohIQABCORDAEPOhxpzIBBmAuytbAQw5LKhZ+FMBLZu3WoZ9fT0vJk61vnl8G69/OpJy+iXe0+lDs/r3sRz2l8opns9p69jiLRxe3t7N+u44nK3Tp482Zd2MA8h4CKAIbtg0PUPgf3791tGhw4dOpGaWWNjo9XU1PSenP5Ntx21jG77p36rpaVllM5v77Duv2JVUjdf8iej3qeOd+7XfuXtZMxbv9b33lpmTacd67fO7dy5c8+6deuedGvDhg2nU/fAPQRSCWDIqUS4DyWB8VVV1uLJ05Ka1dRaon2yDASyJ4AhZ8+KkRCAAASKSgBDLipegkMAAhDIngCGnD0rRpaQwPLlyy2j7u7u6SNLZ904P3BrbW21jPqsuHXTtu8n9eAve5LvnDH19fVZx/6wgVddddWdd911154UTfywebyHAIbM14AvCUycONEyklnW5JqkbdtWdXV1UsMx23q973dJHT51IvnOGef8rYlc1xhrvOK16908t+LxeKXuuSCQkUAs41teQgACEIBAyQhgyCVD7b+FyAgCEPAXAQzZX/UgmxECL7zwwmKjnp6evxt5nHUzPDxsHT58OCnn9xe7Jzu/y9j9vr+/3/26oP6OHTtu1vrT3JoxY8ZbBQVlciQIYMiRKHPwNrlly5ZdRrMO/nraJ958zRpLs44fTbtBndtabrkHOf+PH+53zr37fSH9/fv3H12/fv0Bt1asWDFcSEzmRoMAhuxVnYlTNAKxRKKyOh63xlJFIlG0tQkMgVISwJBLSZu1IAABCGQggCFngMMrfxBIWHYirk/BY0mv/JEoWUCgQAI+NeQCd8X0wBKYOXPmk52dnQm3tsdqbv2P+o9YY6liaGD/5W/stbLRZw6+Zt3Z/2ZeuuFQb3KNS3+z7wzGtm3fsHPnTvvFF1/cdcZLHkAgCwIYchaQGAIBCECgFAQw5FJQZg0IQAACIwQyNRhyJjq8KzqBc88991LpeiMteEr6RS6KDw0fGbSsk1kpHj89GI8njAbicWssmTHJ1rIGzBp2InEgkUisdWtwcPD/lTcXBPImgCHnjY6JHhH416GhoQeHRtTQ0HB1S0vL3Fy0d/K0xT+ads74bPT42efU3jFhmu3or+16+5b4OMto/uOLrY8/89Gk7mx9f5wz1tF3Js+sNmv8ZErHiV27dt3r1ksvvXTG/7OJR4wIExECGHJECs02IRBKAiHbFIYcsoJ6uZ2Ojo7PdnZ2fjeT2tvb53i5JrEgEGUCGHKUq/8he4/FYvM1ZGUmacxZep/11dXVdaPOi79npPnvVFVVvVk1It07f2VsuwIWXTE7dsS27RNGh94aOnbg4OAJI9u2xsxBZ8evKEcuCHhKIOZpNIJB4EMIDA8P/4XOi680qqysXKhz4zYj3S9SiD8uhRoam86a0NxaZ3TTbb9tWvXFw3VGQ0PWmHnYtn2ecgzZxXbKTQBDLncFArS+PhVaqYrH4x9pa2s726XWAG2JVCHgKwIYsq/K4f9k9MnQcktHDY/V1ta+4dJ9/t8FGULAnwQwZH/WhayCT4AdQCBnAhhyzsiYAAEIQKA4BDDk4nANRVSdDz+hM+NbjHT/j6HYGJuAgE8JYMg+LYwf0tq3b9/23t7eu42U08NSWS4WhUAUCGDIUahymfc4e/bsh4xisVi8oqLisJFSe1mfvJ8NmpS38/s21HBBwDsCGLJ3LIk0BoHBwcFrjSorK5c0NTVNMqqtrT1fJv1HQZO2OlfigoCnBDBkT3EGJBhpQgACviSAIfuyLCQFAQhEkQCGHMWqs2cIQMCXBDDkgstCAAhAAALeEMCQveFIFAhAAAIFE8CQC0ZIAAhAAALeEPCbIXuzK6JAAAIQCCABDDmARSNlCEAgnAQw5HDWlV1BAAJ+I5BFPhhyFpAYAgEIQKAUBDDkUlBmDQhAAAJZEMCQs4DEEAhAwG8EwpkPhhzOurIrCEAggAQw5AAWjZQhAIFwEsCQw1lXdgWBXAgw1icEMGSfFII08idw+vRp69ixY0m9++67eQdzx3H6eQdiIgTyIIAh5wGNKf4iEI/HreHh4aSc+3wzdOa6Y+Ubh3kQyIcAhpwPNeZAIAMBXkEgXwIYcr7kmAcBCEDAYwIYssdAox5O/5O/dsaMGZPd8prJ4OCgdeLEiaSGhoa8XiIZz73OyZMnk88TicRZixcvvtutBQsWzEoOoAOBPAhgyHlAY8rYBGKx2LKKiorfuDX26CzepBninPE6P7gzkjmmGeXNI7OG0zo/PDRRbdtuVv9LbmnvZ+ueCwJ5E8CQ80bHRAhAAALeEsCQveUZ6mh1dXV5fb3U19dbRlVVVaFltGbNmpV9fX3Ljx07dqFa5xN0aPfKxopDIK8/YMVJhajFJ5D9Cjo7nSJT+Xh/f/86GcxDUs9TTz3Vs3btWsutqVOnWs6RgVupq1RXV1tGlZWVqa/PuG9tbbWWLVs2plauXGmtXr06qXnz5p0Rw6sHq13rOH2T15VXXnlGflOmTPmCbduPae2fqT0qfgfE74dqvyF+17zzzjvzxKlG77kgkJYAhpwWS/QeyjhaZRzLpW/KPHr1g7KDMpUfy0DuEo1rpQXNzc211113neWWTMjSuFHS2IIux7QnTZpkZdLkyZMto8bGxoLWyzTZrGHaTDnpB5qjQolLm/h9Uu3f6MXDw8PDe8RZeI9tE+f10kK958+g4HC9T4Avhvc5RPK/ZQbVMojVcoifqf+WjOMx6fOC0SFxFYeA8wl5qThvlHaJ/xEZ8wNqzy3OckQNEgEMOf9qBXamzDcmE157/Pjx19X/tjZyoWRLXKUn0CpjvkF1eFWmvEWaXfoUWNEvBDBkv1SihHnoD/1Xtdw/ywTOVlvQ9cADD1i7d+/OqG3btlm56JFHHrFWrFiRtTZv3jxq/eeeey6n9dy59fT0jIqVSx5LliwphKWtenxaxx7PO+f3hQRibnAJYMjBrV3emcdisUV5T2ZiUQno03KzzppnFnURgvuWgG8M2beEQpiYPon9lba1V+LyF4FhpfP1hoaG59VyRZAAhhzBojc2Nu6V5sqYV2n7eySu8hI4reXvq66u/oOmpqbb9Sk5oXuuCBLAkCNYdGfL+kM/NGHChEdlzAvUv1jP7pCcT2bOpzR1uYpM4JDi/6d0rY6Q2mXEa8aNG7dP91yhI5D9hjDk7FmFcqTMOCFTfl6GsEG6WP0WPVumT8/f0IZ/qP4BtVyFEXB+Y/5uhfiOdLMM+Dxxnire10gP64jiLT3ngoCFIfNFMIqADLhfZvGEPj2vl1lcpv40DWiViXSrXSv9m8b8SO2r0ge//kw3Eb+cY4aDYrBDelS6U9/UVohVlxjWi+VCabV0jwz4//Tc8bb0uQAAA3JJREFUGa9hXBD4gACG/AELemMQkIkclYlsV3uvdKMM5lNq56itl7FMrKysXKj205p+s0xok+T83eYf6N4xp9fU9klBvQaVuPOvFl/WHp9W3zHb+9Ru0P11+kb1Me13lliME5M26aPSKukr+qb2uJ7/SuOGNJ7LGwKhjoIhh7q8xd2cjMY57vhdXV3dbhnP92RC98iEvix9Tv0rJMecnB9UNet9dUVFxRTpfM27RJl9UmZ2tVrnn2V/Uc++rL7z96M3q/9N9R+RnH85+D9qn5C2avz/6t3TMsDtunfOu3+u1jkK2KPnu9R3vgE8q/5PNWabWueT/JPqf1/9/9b7R9X/tuLcq/uN6t+uZ7eo/5dqP6P2Cr1bqv5FetepnJukGu2jTe08aan6jtmuUXuH7h/SN6pntN/XNdc5ltBULgjkTwBDzp8dM3MgIMMarK+vPyS9IiN7Vob2Y5nZFrUPS/fr2Sa1fy+tU/8Laj8rrVT/z9Uuk/5M4z+h+6UywG7dXyxdJDlHARfo+WL1nW8Al6h/qcb8qVrnk/zl6l+l/nK9X6X+5xRnre7/Vv2v69nd6j+o9r/U/kDvnlb/53rXq5z7JY4WcqgzQwsjgCEXxo/ZEAg0AZL3FwEM2V/1IBsIQCDCBDDkCBefrUMAAv4igCH7qx5kE2QC5A6BAglgyAUCZDoEIAABrwhgyF6RJA4EIACBAglgyAUCZHqxCBAXAtEjgCFHr+bsGAIQ8CkBDNmnhSEtCEAgegQw5GjUnF1CAAIBIIAhB6BIpAgBCESDAIYcjTqzSwhAIAAEMOQ8isQUCEAAAsUggCEXgyoxIQABCORBAEPOAxpTIAABCBSDQPkNuRi7IiYEIACBABLAkANYNFKGAATCSQBDDmdd2RUEIFB+AjlngCHnjIwJEIAABIpDAEMuDleiQgACEMiZAIacMzImQAAC5SAQhTUx5ChUmT1CAAKBIIAhB6JMJAkBCESBAIYchSqzRwikEuDelwQwZF+WhaQgAIEoEsCQo1h19gwBCPiSAIbsy7KQVLAIkC0EvCGAIXvDkSgQgAAECiaAIReMkAAQgAAEvCGAIXvDkSjeESASBCJLAEOObOnZOAQg4DcCGLLfKkI+EIBAZAlgyCEvPduDAASCQwBDDk6tyBQCEAg5AQw55AVmexCAQHAI/B4AAP//GWsPrQAAAAZJREFUAwAk2vXODDsZrgAAAABJRU5ErkJggg=="/>
          <p:cNvSpPr>
            <a:spLocks noChangeAspect="1" noChangeArrowheads="1"/>
          </p:cNvSpPr>
          <p:nvPr/>
        </p:nvSpPr>
        <p:spPr bwMode="auto">
          <a:xfrm>
            <a:off x="11325003" y="1687450"/>
            <a:ext cx="2183179" cy="81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958" y="1724524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7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16002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000"/>
              </a:lnSpc>
            </a:pP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Вступление</a:t>
            </a:r>
            <a:endParaRPr lang="ru-RU" sz="4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713" y="546637"/>
            <a:ext cx="1801059" cy="877846"/>
          </a:xfrm>
          <a:prstGeom prst="rect">
            <a:avLst/>
          </a:prstGeom>
        </p:spPr>
      </p:pic>
      <p:sp>
        <p:nvSpPr>
          <p:cNvPr id="5" name="Google Shape;220;p25"/>
          <p:cNvSpPr txBox="1">
            <a:spLocks/>
          </p:cNvSpPr>
          <p:nvPr/>
        </p:nvSpPr>
        <p:spPr>
          <a:xfrm>
            <a:off x="9768254" y="5231423"/>
            <a:ext cx="1733826" cy="110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endParaRPr lang="ru-RU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2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640080" y="1520825"/>
            <a:ext cx="10862000" cy="481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Комфортный ООП-язык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Java, </a:t>
            </a: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 удобнее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</a:t>
            </a:r>
            <a:r>
              <a:rPr lang="en-US" sz="23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Kotlin</a:t>
            </a: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но на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  <a:endParaRPr lang="en-US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Востребован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Контур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Озон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Т-Банк</a:t>
            </a:r>
            <a:endParaRPr lang="en-US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Актуален на матмехе</a:t>
            </a:r>
            <a:endParaRPr lang="en-US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en-US" sz="23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HwProj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пишется на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Есть много полезных материалов</a:t>
            </a:r>
            <a:endParaRPr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О С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38" y="1984069"/>
            <a:ext cx="2917553" cy="113593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57001" y="0"/>
            <a:ext cx="6512169" cy="6858000"/>
          </a:xfrm>
          <a:prstGeom prst="rect">
            <a:avLst/>
          </a:prstGeom>
          <a:solidFill>
            <a:srgbClr val="14234C"/>
          </a:solidFill>
          <a:ln>
            <a:solidFill>
              <a:srgbClr val="142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34C"/>
              </a:solidFill>
            </a:endParaRPr>
          </a:p>
        </p:txBody>
      </p:sp>
      <p:sp>
        <p:nvSpPr>
          <p:cNvPr id="8" name="AutoShape 2" descr="data:image/png;base64,iVBORw0KGgoAAAANSUhEUgAAAWQAAACyCAYAAAB1C7WmAAAQAElEQVR4AeydC5BV9X3Hz7n7hH2xu0QeKwvLUmWhCvLQCdbuGNo87CiaymMysWK0mWig0WLD1DEtJqalwWG0VdtUJzG2TqOWJmOUJB2iGcYHCSyiNjFDdQkjEsAEl0Ue7uPefI/u/3r2cvd6H+feex6fzPnm/z/n/P+//+//+S3fvfkvbGIW/4EABCAAAV8QwJB9UQaSgAAEIGBZGDJfBRCAQDgJBHBXGHIAi0bKEIBAOAlgyOGsK7uCAAQCSABDDmDRSBkCpSfAiqUggCGXgjJrQAACEMiCAIacBSSGQAACECgFAQy5FJRZAwKjCXAHgbQEMOS0WHgIAQhAoPQEMOTSM2dFCEAAAmkJYMhpsfAwSATIFQJhIYAhh6WS7AMCEAg8AQw58CVkAxCAQFgIYMhhqaRX+yAOBCBQNgIYctnQszAEIACB0QQw5NE8uIMABCBQNgIYclHRExwCEIBA9gQw5OxZMRICEIBAUQlgyEXFS3AIQAAC2RMIkiFnvytGQgACEAggAQw5gEUjZQhAIJwEMORw1pVdQQACQSIwkiuGPAKCBgIQgEC5CWDI5a4A60MAAhAYIYAhj4CggQAEwkIguPvAkINbOzKHAARCRgBDDllB2Q4EIBBcAhhycGtH5hAoBQHWKCEBDLmEsFkKAhCAQCYCGHImOryDAAQgUEICGHIJYbMUBCAAgUwEMORMdHgHAQhAoIQEMOQSwmYpCEAAApkIYMiZ6PDO3wTIDgIhI4Ahh6ygbAcCEAguAQw5uLUjcwhAIGQEMOSQFTT/7TATAhAoNwEMudwVYH0IQAACIwQw5BEQNBCAAATKTQBDLk4FiAoBCEAgZwIYcs7ImAABCECgOAQw5OJwJSoEIACBnAkEwpBz3hUTIAABCASQAIYcwKKRMgQgEE4CGHI468quIACBQBAYnSSGPJoHdxCAAATKRgBDLht6FvaSQGdnZ2IszZw5c08+ayne7dKYcTs6Oq7OJy5zIDAWAQx5LDI8hwAEgkYg8PliyIEvIRuAAATCQgBDDkslI7SP9vb25hkzZsx2a2ptvWU0uWb8KBqJRKLGPVZHGO2jBozc6Hhilnuc5k00MZ02NW48Hu+aPn36p4waGhpaR0LRQCAvAhhyXtiYVE4ClZWVKysqKl516575Sy2jr829ZFR6tm3Pdo/Vy29JZ1wy4J+6x2nel0xMp02Nq7FfVS5bjVpbW685I2iAH5B66QlgyKVnzooQgAAE0hLAkNNi4SEEIACB0hPAkEvPnBVzJKAz33O6urpu7BpRVVVVp44XXnHpV2+cPp4wOjJwKq53p4203HH1XzeKxWL2woULb0yVnv/WjBlpj5iYTpsaV2OcNSy1RlVaK/3FUwhkQQBDzgISQ8pLoLq6+vMDAwP3G8k4b9V57XlGLS0ts5dcuMA2uuCCP4zpXa1LDep3GjU3N39MMe5PlZ7PM2NG2rNMTKdNjVtTU1Orc2bLaPz48dPLS4rVg04AQw56BckfAhAIDQEMOTSljNJG2CsEwkkAQw5nXSO3q2cP/Noy2nnoDc/2b2I6bWrciooKS+fZbjUvWrTo6rlz57Z4lgCBIkUAQ45UucO72X/Y8bRldE/Pc55t1MR02tS4OjO2GhoakpI5X6Tz5Md15j3TswQIFCkCGHKkyp12szyEAAR8QgBD9kkhSAMCEIAAhszXgC8JdHR0rDGKx+MTampqLCMdDfgyZ5KCQKEEMORCCabM59YbArFY7F+MZMhz6+rqLCPHmDOtovHWqVOnCpbzDz4yrcM7CHhNAEP2mijxfEHAC0P2xUZIIlIEMORIlZvNQgACfibgb0P2MzlygwAEIOAxAQzZY6CEKw0B53zXraqqhOWWF1m44zl993qm78U6xICAIYAhGxK0gSLQ19dnvf322+/J6T/z2DTLaMu/T/VkLz/57gcxn/jW1PfWMms67cDAgCfrECSSBNJuGkNOi4WHEIAABEpPAEMuPXNWhAAEIJCWAIacFgsPy02gu7vbMpo/f/6kcueTy/qXXXbZ9Zs2bXrQrY0bNzblEoOxuREIy2gMOSyVDNk+5syZYxm1tbUFyswaGhq6bdu+3q1YLDYuZCViO0UggCEXASohIQABCORDAEPOhxpzIBBmAuytbAQw5LKhZ+FMBLZu3WoZ9fT0vJk61vnl8G69/OpJy+iXe0+lDs/r3sRz2l8opns9p69jiLRxe3t7N+u44nK3Tp482Zd2MA8h4CKAIbtg0PUPgf3791tGhw4dOpGaWWNjo9XU1PSenP5Ntx21jG77p36rpaVllM5v77Duv2JVUjdf8iej3qeOd+7XfuXtZMxbv9b33lpmTacd67fO7dy5c8+6deuedGvDhg2nU/fAPQRSCWDIqUS4DyWB8VVV1uLJ05Ka1dRaon2yDASyJ4AhZ8+KkRCAAASKSgBDLipegkMAAhDIngCGnD0rRpaQwPLlyy2j7u7u6SNLZ904P3BrbW21jPqsuHXTtu8n9eAve5LvnDH19fVZx/6wgVddddWdd911154UTfywebyHAIbM14AvCUycONEyklnW5JqkbdtWdXV1UsMx23q973dJHT51IvnOGef8rYlc1xhrvOK16908t+LxeKXuuSCQkUAs41teQgACEIBAyQhgyCVD7b+FyAgCEPAXAQzZX/UgmxECL7zwwmKjnp6evxt5nHUzPDxsHT58OCnn9xe7Jzu/y9j9vr+/3/26oP6OHTtu1vrT3JoxY8ZbBQVlciQIYMiRKHPwNrlly5ZdRrMO/nraJ958zRpLs44fTbtBndtabrkHOf+PH+53zr37fSH9/fv3H12/fv0Bt1asWDFcSEzmRoMAhuxVnYlTNAKxRKKyOh63xlJFIlG0tQkMgVISwJBLSZu1IAABCGQggCFngMMrfxBIWHYirk/BY0mv/JEoWUCgQAI+NeQCd8X0wBKYOXPmk52dnQm3tsdqbv2P+o9YY6liaGD/5W/stbLRZw6+Zt3Z/2ZeuuFQb3KNS3+z7wzGtm3fsHPnTvvFF1/cdcZLHkAgCwIYchaQGAIBCECgFAQw5FJQZg0IQAACIwQyNRhyJjq8KzqBc88991LpeiMteEr6RS6KDw0fGbSsk1kpHj89GI8njAbicWssmTHJ1rIGzBp2InEgkUisdWtwcPD/lTcXBPImgCHnjY6JHhH416GhoQeHRtTQ0HB1S0vL3Fy0d/K0xT+ads74bPT42efU3jFhmu3or+16+5b4OMto/uOLrY8/89Gk7mx9f5wz1tF3Js+sNmv8ZErHiV27dt3r1ksvvXTG/7OJR4wIExECGHJECs02IRBKAiHbFIYcsoJ6uZ2Ojo7PdnZ2fjeT2tvb53i5JrEgEGUCGHKUq/8he4/FYvM1ZGUmacxZep/11dXVdaPOi79npPnvVFVVvVk1It07f2VsuwIWXTE7dsS27RNGh94aOnbg4OAJI9u2xsxBZ8evKEcuCHhKIOZpNIJB4EMIDA8P/4XOi680qqysXKhz4zYj3S9SiD8uhRoam86a0NxaZ3TTbb9tWvXFw3VGQ0PWmHnYtn2ecgzZxXbKTQBDLncFArS+PhVaqYrH4x9pa2s726XWAG2JVCHgKwIYsq/K4f9k9MnQcktHDY/V1ta+4dJ9/t8FGULAnwQwZH/WhayCT4AdQCBnAhhyzsiYAAEIQKA4BDDk4nANRVSdDz+hM+NbjHT/j6HYGJuAgE8JYMg+LYwf0tq3b9/23t7eu42U08NSWS4WhUAUCGDIUahymfc4e/bsh4xisVi8oqLisJFSe1mfvJ8NmpS38/s21HBBwDsCGLJ3LIk0BoHBwcFrjSorK5c0NTVNMqqtrT1fJv1HQZO2OlfigoCnBDBkT3EGJBhpQgACviSAIfuyLCQFAQhEkQCGHMWqs2cIQMCXBDDkgstCAAhAAALeEMCQveFIFAhAAAIFE8CQC0ZIAAhAAALeEPCbIXuzK6JAAAIQCCABDDmARSNlCEAgnAQw5HDWlV1BAAJ+I5BFPhhyFpAYAgEIQKAUBDDkUlBmDQhAAAJZEMCQs4DEEAhAwG8EwpkPhhzOurIrCEAggAQw5AAWjZQhAIFwEsCQw1lXdgWBXAgw1icEMGSfFII08idw+vRp69ixY0m9++67eQdzx3H6eQdiIgTyIIAh5wGNKf4iEI/HreHh4aSc+3wzdOa6Y+Ubh3kQyIcAhpwPNeZAIAMBXkEgXwIYcr7kmAcBCEDAYwIYssdAox5O/5O/dsaMGZPd8prJ4OCgdeLEiaSGhoa8XiIZz73OyZMnk88TicRZixcvvtutBQsWzEoOoAOBPAhgyHlAY8rYBGKx2LKKiorfuDX26CzepBninPE6P7gzkjmmGeXNI7OG0zo/PDRRbdtuVv9LbmnvZ+ueCwJ5E8CQ80bHRAhAAALeEsCQveUZ6mh1dXV5fb3U19dbRlVVVaFltGbNmpV9fX3Ljx07dqFa5xN0aPfKxopDIK8/YMVJhajFJ5D9Cjo7nSJT+Xh/f/86GcxDUs9TTz3Vs3btWsutqVOnWs6RgVupq1RXV1tGlZWVqa/PuG9tbbWWLVs2plauXGmtXr06qXnz5p0Rw6sHq13rOH2T15VXXnlGflOmTPmCbduPae2fqT0qfgfE74dqvyF+17zzzjvzxKlG77kgkJYAhpwWS/QeyjhaZRzLpW/KPHr1g7KDMpUfy0DuEo1rpQXNzc211113neWWTMjSuFHS2IIux7QnTZpkZdLkyZMto8bGxoLWyzTZrGHaTDnpB5qjQolLm/h9Uu3f6MXDw8PDe8RZeI9tE+f10kK958+g4HC9T4Avhvc5RPK/ZQbVMojVcoifqf+WjOMx6fOC0SFxFYeA8wl5qThvlHaJ/xEZ8wNqzy3OckQNEgEMOf9qBXamzDcmE157/Pjx19X/tjZyoWRLXKUn0CpjvkF1eFWmvEWaXfoUWNEvBDBkv1SihHnoD/1Xtdw/ywTOVlvQ9cADD1i7d+/OqG3btlm56JFHHrFWrFiRtTZv3jxq/eeeey6n9dy59fT0jIqVSx5LliwphKWtenxaxx7PO+f3hQRibnAJYMjBrV3emcdisUV5T2ZiUQno03KzzppnFnURgvuWgG8M2beEQpiYPon9lba1V+LyF4FhpfP1hoaG59VyRZAAhhzBojc2Nu6V5sqYV2n7eySu8hI4reXvq66u/oOmpqbb9Sk5oXuuCBLAkCNYdGfL+kM/NGHChEdlzAvUv1jP7pCcT2bOpzR1uYpM4JDi/6d0rY6Q2mXEa8aNG7dP91yhI5D9hjDk7FmFcqTMOCFTfl6GsEG6WP0WPVumT8/f0IZ/qP4BtVyFEXB+Y/5uhfiOdLMM+Dxxnire10gP64jiLT3ngoCFIfNFMIqADLhfZvGEPj2vl1lcpv40DWiViXSrXSv9m8b8SO2r0ge//kw3Eb+cY4aDYrBDelS6U9/UVohVlxjWi+VCabV0jwz4//Tc8bb0uQAAA3JJREFUGa9hXBD4gACG/AELemMQkIkclYlsV3uvdKMM5lNq56itl7FMrKysXKj205p+s0xok+T83eYf6N4xp9fU9klBvQaVuPOvFl/WHp9W3zHb+9Ru0P11+kb1Me13lliME5M26aPSKukr+qb2uJ7/SuOGNJ7LGwKhjoIhh7q8xd2cjMY57vhdXV3dbhnP92RC98iEvix9Tv0rJMecnB9UNet9dUVFxRTpfM27RJl9UmZ2tVrnn2V/Uc++rL7z96M3q/9N9R+RnH85+D9qn5C2avz/6t3TMsDtunfOu3+u1jkK2KPnu9R3vgE8q/5PNWabWueT/JPqf1/9/9b7R9X/tuLcq/uN6t+uZ7eo/5dqP6P2Cr1bqv5FetepnJukGu2jTe08aan6jtmuUXuH7h/SN6pntN/XNdc5ltBULgjkTwBDzp8dM3MgIMMarK+vPyS9IiN7Vob2Y5nZFrUPS/fr2Sa1fy+tU/8Laj8rrVT/z9Uuk/5M4z+h+6UywG7dXyxdJDlHARfo+WL1nW8Al6h/qcb8qVrnk/zl6l+l/nK9X6X+5xRnre7/Vv2v69nd6j+o9r/U/kDvnlb/53rXq5z7JY4WcqgzQwsjgCEXxo/ZEAg0AZL3FwEM2V/1IBsIQCDCBDDkCBefrUMAAv4igCH7qx5kE2QC5A6BAglgyAUCZDoEIAABrwhgyF6RJA4EIACBAglgyAUCZHqxCBAXAtEjgCFHr+bsGAIQ8CkBDNmnhSEtCEAgegQw5GjUnF1CAAIBIIAhB6BIpAgBCESDAIYcjTqzSwhAIAAEMOQ8isQUCEAAAsUggCEXgyoxIQABCORBAEPOAxpTIAABCBSDQPkNuRi7IiYEIACBABLAkANYNFKGAATCSQBDDmdd2RUEIFB+AjlngCHnjIwJEIAABIpDAEMuDleiQgACEMiZAIacMzImQAAC5SAQhTUx5ChUmT1CAAKBIIAhB6JMJAkBCESBAIYchSqzRwikEuDelwQwZF+WhaQgAIEoEsCQo1h19gwBCPiSAIbsy7KQVLAIkC0EvCGAIXvDkSgQgAAECiaAIReMkAAQgAAEvCGAIXvDkSjeESASBCJLAEOObOnZOAQg4DcCGLLfKkI+EIBAZAlgyCEvPduDAASCQwBDDk6tyBQCEAg5AQw55AVmexCAQHAI/B4AAP//GWsPrQAAAAZJREFUAwAk2vXODDsZrgAAAABJRU5ErkJggg=="/>
          <p:cNvSpPr>
            <a:spLocks noChangeAspect="1" noChangeArrowheads="1"/>
          </p:cNvSpPr>
          <p:nvPr/>
        </p:nvSpPr>
        <p:spPr bwMode="auto">
          <a:xfrm>
            <a:off x="11325003" y="1687450"/>
            <a:ext cx="2183179" cy="81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958" y="1724524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1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640080" y="1520825"/>
            <a:ext cx="10862000" cy="481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Бэкенд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-разработчик в Т-Банке</a:t>
            </a: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Несколько лет в разработке </a:t>
            </a:r>
            <a:r>
              <a:rPr lang="ru-RU" sz="24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бэкенда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СПбГУ, ИТМО</a:t>
            </a:r>
            <a:endParaRPr lang="en-US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Связаться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en-US" sz="2300" dirty="0" err="1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3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@</a:t>
            </a:r>
            <a:r>
              <a:rPr lang="en-US" sz="23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yu_ufimtsev</a:t>
            </a:r>
            <a:endParaRPr lang="ru-RU" sz="23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YuriUfimtsev@yandex.ru</a:t>
            </a:r>
            <a:endParaRPr lang="en-US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О себе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38" y="1984069"/>
            <a:ext cx="2917553" cy="113593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57001" y="0"/>
            <a:ext cx="6512169" cy="6858000"/>
          </a:xfrm>
          <a:prstGeom prst="rect">
            <a:avLst/>
          </a:prstGeom>
          <a:solidFill>
            <a:srgbClr val="14234C"/>
          </a:solidFill>
          <a:ln>
            <a:solidFill>
              <a:srgbClr val="142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34C"/>
              </a:solidFill>
            </a:endParaRPr>
          </a:p>
        </p:txBody>
      </p:sp>
      <p:sp>
        <p:nvSpPr>
          <p:cNvPr id="8" name="AutoShape 2" descr="data:image/png;base64,iVBORw0KGgoAAAANSUhEUgAAAWQAAACyCAYAAAB1C7WmAAAQAElEQVR4AeydC5BV9X3Hz7n7hH2xu0QeKwvLUmWhCvLQCdbuGNo87CiaymMysWK0mWig0WLD1DEtJqalwWG0VdtUJzG2TqOWJmOUJB2iGcYHCSyiNjFDdQkjEsAEl0Ue7uPefI/u/3r2cvd6H+feex6fzPnm/z/n/P+//+//+S3fvfkvbGIW/4EABCAAAV8QwJB9UQaSgAAEIGBZGDJfBRCAQDgJBHBXGHIAi0bKEIBAOAlgyOGsK7uCAAQCSABDDmDRSBkCpSfAiqUggCGXgjJrQAACEMiCAIacBSSGQAACECgFAQy5FJRZAwKjCXAHgbQEMOS0WHgIAQhAoPQEMOTSM2dFCEAAAmkJYMhpsfAwSATIFQJhIYAhh6WS7AMCEAg8AQw58CVkAxCAQFgIYMhhqaRX+yAOBCBQNgIYctnQszAEIACB0QQw5NE8uIMABCBQNgIYclHRExwCEIBA9gQw5OxZMRICEIBAUQlgyEXFS3AIQAAC2RMIkiFnvytGQgACEAggAQw5gEUjZQhAIJwEMORw1pVdQQACQSIwkiuGPAKCBgIQgEC5CWDI5a4A60MAAhAYIYAhj4CggQAEwkIguPvAkINbOzKHAARCRgBDDllB2Q4EIBBcAhhycGtH5hAoBQHWKCEBDLmEsFkKAhCAQCYCGHImOryDAAQgUEICGHIJYbMUBCAAgUwEMORMdHgHAQhAoIQEMOQSwmYpCEAAApkIYMiZ6PDO3wTIDgIhI4Ahh6ygbAcCEAguAQw5uLUjcwhAIGQEMOSQFTT/7TATAhAoNwEMudwVYH0IQAACIwQw5BEQNBCAAATKTQBDLk4FiAoBCEAgZwIYcs7ImAABCECgOAQw5OJwJSoEIACBnAkEwpBz3hUTIAABCASQAIYcwKKRMgQgEE4CGHI468quIACBQBAYnSSGPJoHdxCAAATKRgBDLht6FvaSQGdnZ2IszZw5c08+ayne7dKYcTs6Oq7OJy5zIDAWAQx5LDI8hwAEgkYg8PliyIEvIRuAAATCQgBDDkslI7SP9vb25hkzZsx2a2ptvWU0uWb8KBqJRKLGPVZHGO2jBozc6Hhilnuc5k00MZ02NW48Hu+aPn36p4waGhpaR0LRQCAvAhhyXtiYVE4ClZWVKysqKl516575Sy2jr829ZFR6tm3Pdo/Vy29JZ1wy4J+6x2nel0xMp02Nq7FfVS5bjVpbW685I2iAH5B66QlgyKVnzooQgAAE0hLAkNNi4SEEIACB0hPAkEvPnBVzJKAz33O6urpu7BpRVVVVp44XXnHpV2+cPp4wOjJwKq53p4203HH1XzeKxWL2woULb0yVnv/WjBlpj5iYTpsaV2OcNSy1RlVaK/3FUwhkQQBDzgISQ8pLoLq6+vMDAwP3G8k4b9V57XlGLS0ts5dcuMA2uuCCP4zpXa1LDep3GjU3N39MMe5PlZ7PM2NG2rNMTKdNjVtTU1Orc2bLaPz48dPLS4rVg04AQw56BckfAhAIDQEMOTSljNJG2CsEwkkAQw5nXSO3q2cP/Noy2nnoDc/2b2I6bWrciooKS+fZbjUvWrTo6rlz57Z4lgCBIkUAQ45UucO72X/Y8bRldE/Pc55t1MR02tS4OjO2GhoakpI5X6Tz5Md15j3TswQIFCkCGHKkyp12szyEAAR8QgBD9kkhSAMCEIAAhszXgC8JdHR0rDGKx+MTampqLCMdDfgyZ5KCQKEEMORCCabM59YbArFY7F+MZMhz6+rqLCPHmDOtovHWqVOnCpbzDz4yrcM7CHhNAEP2mijxfEHAC0P2xUZIIlIEMORIlZvNQgACfibgb0P2MzlygwAEIOAxAQzZY6CEKw0B53zXraqqhOWWF1m44zl993qm78U6xICAIYAhGxK0gSLQ19dnvf322+/J6T/z2DTLaMu/T/VkLz/57gcxn/jW1PfWMms67cDAgCfrECSSBNJuGkNOi4WHEIAABEpPAEMuPXNWhAAEIJCWAIacFgsPy02gu7vbMpo/f/6kcueTy/qXXXbZ9Zs2bXrQrY0bNzblEoOxuREIy2gMOSyVDNk+5syZYxm1tbUFyswaGhq6bdu+3q1YLDYuZCViO0UggCEXASohIQABCORDAEPOhxpzIBBmAuytbAQw5LKhZ+FMBLZu3WoZ9fT0vJk61vnl8G69/OpJy+iXe0+lDs/r3sRz2l8opns9p69jiLRxe3t7N+u44nK3Tp482Zd2MA8h4CKAIbtg0PUPgf3791tGhw4dOpGaWWNjo9XU1PSenP5Ntx21jG77p36rpaVllM5v77Duv2JVUjdf8iej3qeOd+7XfuXtZMxbv9b33lpmTacd67fO7dy5c8+6deuedGvDhg2nU/fAPQRSCWDIqUS4DyWB8VVV1uLJ05Ka1dRaon2yDASyJ4AhZ8+KkRCAAASKSgBDLipegkMAAhDIngCGnD0rRpaQwPLlyy2j7u7u6SNLZ904P3BrbW21jPqsuHXTtu8n9eAve5LvnDH19fVZx/6wgVddddWdd911154UTfywebyHAIbM14AvCUycONEyklnW5JqkbdtWdXV1UsMx23q973dJHT51IvnOGef8rYlc1xhrvOK16908t+LxeKXuuSCQkUAs41teQgACEIBAyQhgyCVD7b+FyAgCEPAXAQzZX/UgmxECL7zwwmKjnp6evxt5nHUzPDxsHT58OCnn9xe7Jzu/y9j9vr+/3/26oP6OHTtu1vrT3JoxY8ZbBQVlciQIYMiRKHPwNrlly5ZdRrMO/nraJ958zRpLs44fTbtBndtabrkHOf+PH+53zr37fSH9/fv3H12/fv0Bt1asWDFcSEzmRoMAhuxVnYlTNAKxRKKyOh63xlJFIlG0tQkMgVISwJBLSZu1IAABCGQggCFngMMrfxBIWHYirk/BY0mv/JEoWUCgQAI+NeQCd8X0wBKYOXPmk52dnQm3tsdqbv2P+o9YY6liaGD/5W/stbLRZw6+Zt3Z/2ZeuuFQb3KNS3+z7wzGtm3fsHPnTvvFF1/cdcZLHkAgCwIYchaQGAIBCECgFAQw5FJQZg0IQAACIwQyNRhyJjq8KzqBc88991LpeiMteEr6RS6KDw0fGbSsk1kpHj89GI8njAbicWssmTHJ1rIGzBp2InEgkUisdWtwcPD/lTcXBPImgCHnjY6JHhH416GhoQeHRtTQ0HB1S0vL3Fy0d/K0xT+ads74bPT42efU3jFhmu3or+16+5b4OMto/uOLrY8/89Gk7mx9f5wz1tF3Js+sNmv8ZErHiV27dt3r1ksvvXTG/7OJR4wIExECGHJECs02IRBKAiHbFIYcsoJ6uZ2Ojo7PdnZ2fjeT2tvb53i5JrEgEGUCGHKUq/8he4/FYvM1ZGUmacxZep/11dXVdaPOi79npPnvVFVVvVk1It07f2VsuwIWXTE7dsS27RNGh94aOnbg4OAJI9u2xsxBZ8evKEcuCHhKIOZpNIJB4EMIDA8P/4XOi680qqysXKhz4zYj3S9SiD8uhRoam86a0NxaZ3TTbb9tWvXFw3VGQ0PWmHnYtn2ecgzZxXbKTQBDLncFArS+PhVaqYrH4x9pa2s726XWAG2JVCHgKwIYsq/K4f9k9MnQcktHDY/V1ta+4dJ9/t8FGULAnwQwZH/WhayCT4AdQCBnAhhyzsiYAAEIQKA4BDDk4nANRVSdDz+hM+NbjHT/j6HYGJuAgE8JYMg+LYwf0tq3b9/23t7eu42U08NSWS4WhUAUCGDIUahymfc4e/bsh4xisVi8oqLisJFSe1mfvJ8NmpS38/s21HBBwDsCGLJ3LIk0BoHBwcFrjSorK5c0NTVNMqqtrT1fJv1HQZO2OlfigoCnBDBkT3EGJBhpQgACviSAIfuyLCQFAQhEkQCGHMWqs2cIQMCXBDDkgstCAAhAAALeEMCQveFIFAhAAAIFE8CQC0ZIAAhAAALeEPCbIXuzK6JAAAIQCCABDDmARSNlCEAgnAQw5HDWlV1BAAJ+I5BFPhhyFpAYAgEIQKAUBDDkUlBmDQhAAAJZEMCQs4DEEAhAwG8EwpkPhhzOurIrCEAggAQw5AAWjZQhAIFwEsCQw1lXdgWBXAgw1icEMGSfFII08idw+vRp69ixY0m9++67eQdzx3H6eQdiIgTyIIAh5wGNKf4iEI/HreHh4aSc+3wzdOa6Y+Ubh3kQyIcAhpwPNeZAIAMBXkEgXwIYcr7kmAcBCEDAYwIYssdAox5O/5O/dsaMGZPd8prJ4OCgdeLEiaSGhoa8XiIZz73OyZMnk88TicRZixcvvtutBQsWzEoOoAOBPAhgyHlAY8rYBGKx2LKKiorfuDX26CzepBninPE6P7gzkjmmGeXNI7OG0zo/PDRRbdtuVv9LbmnvZ+ueCwJ5E8CQ80bHRAhAAALeEsCQveUZ6mh1dXV5fb3U19dbRlVVVaFltGbNmpV9fX3Ljx07dqFa5xN0aPfKxopDIK8/YMVJhajFJ5D9Cjo7nSJT+Xh/f/86GcxDUs9TTz3Vs3btWsutqVOnWs6RgVupq1RXV1tGlZWVqa/PuG9tbbWWLVs2plauXGmtXr06qXnz5p0Rw6sHq13rOH2T15VXXnlGflOmTPmCbduPae2fqT0qfgfE74dqvyF+17zzzjvzxKlG77kgkJYAhpwWS/QeyjhaZRzLpW/KPHr1g7KDMpUfy0DuEo1rpQXNzc211113neWWTMjSuFHS2IIux7QnTZpkZdLkyZMto8bGxoLWyzTZrGHaTDnpB5qjQolLm/h9Uu3f6MXDw8PDe8RZeI9tE+f10kK958+g4HC9T4Avhvc5RPK/ZQbVMojVcoifqf+WjOMx6fOC0SFxFYeA8wl5qThvlHaJ/xEZ8wNqzy3OckQNEgEMOf9qBXamzDcmE157/Pjx19X/tjZyoWRLXKUn0CpjvkF1eFWmvEWaXfoUWNEvBDBkv1SihHnoD/1Xtdw/ywTOVlvQ9cADD1i7d+/OqG3btlm56JFHHrFWrFiRtTZv3jxq/eeeey6n9dy59fT0jIqVSx5LliwphKWtenxaxx7PO+f3hQRibnAJYMjBrV3emcdisUV5T2ZiUQno03KzzppnFnURgvuWgG8M2beEQpiYPon9lba1V+LyF4FhpfP1hoaG59VyRZAAhhzBojc2Nu6V5sqYV2n7eySu8hI4reXvq66u/oOmpqbb9Sk5oXuuCBLAkCNYdGfL+kM/NGHChEdlzAvUv1jP7pCcT2bOpzR1uYpM4JDi/6d0rY6Q2mXEa8aNG7dP91yhI5D9hjDk7FmFcqTMOCFTfl6GsEG6WP0WPVumT8/f0IZ/qP4BtVyFEXB+Y/5uhfiOdLMM+Dxxnire10gP64jiLT3ngoCFIfNFMIqADLhfZvGEPj2vl1lcpv40DWiViXSrXSv9m8b8SO2r0ge//kw3Eb+cY4aDYrBDelS6U9/UVohVlxjWi+VCabV0jwz4//Tc8bb0uQAAA3JJREFUGa9hXBD4gACG/AELemMQkIkclYlsV3uvdKMM5lNq56itl7FMrKysXKj205p+s0xok+T83eYf6N4xp9fU9klBvQaVuPOvFl/WHp9W3zHb+9Ru0P11+kb1Me13lliME5M26aPSKukr+qb2uJ7/SuOGNJ7LGwKhjoIhh7q8xd2cjMY57vhdXV3dbhnP92RC98iEvix9Tv0rJMecnB9UNet9dUVFxRTpfM27RJl9UmZ2tVrnn2V/Uc++rL7z96M3q/9N9R+RnH85+D9qn5C2avz/6t3TMsDtunfOu3+u1jkK2KPnu9R3vgE8q/5PNWabWueT/JPqf1/9/9b7R9X/tuLcq/uN6t+uZ7eo/5dqP6P2Cr1bqv5FetepnJukGu2jTe08aan6jtmuUXuH7h/SN6pntN/XNdc5ltBULgjkTwBDzp8dM3MgIMMarK+vPyS9IiN7Vob2Y5nZFrUPS/fr2Sa1fy+tU/8Laj8rrVT/z9Uuk/5M4z+h+6UywG7dXyxdJDlHARfo+WL1nW8Al6h/qcb8qVrnk/zl6l+l/nK9X6X+5xRnre7/Vv2v69nd6j+o9r/U/kDvnlb/53rXq5z7JY4WcqgzQwsjgCEXxo/ZEAg0AZL3FwEM2V/1IBsIQCDCBDDkCBefrUMAAv4igCH7qx5kE2QC5A6BAglgyAUCZDoEIAABrwhgyF6RJA4EIACBAglgyAUCZHqxCBAXAtEjgCFHr+bsGAIQ8CkBDNmnhSEtCEAgegQw5GjUnF1CAAIBIIAhB6BIpAgBCESDAIYcjTqzSwhAIAAEMOQ8isQUCEAAAsUggCEXgyoxIQABCORBAEPOAxpTIAABCBSDQPkNuRi7IiYEIACBABLAkANYNFKGAATCSQBDDmdd2RUEIFB+AjlngCHnjIwJEIAABIpDAEMuDleiQgACEMiZAIacMzImQAAC5SAQhTUx5ChUmT1CAAKBIIAhB6JMJAkBCESBAIYchSqzRwikEuDelwQwZF+WhaQgAIEoEsCQo1h19gwBCPiSAIbsy7KQVLAIkC0EvCGAIXvDkSgQgAAECiaAIReMkAAQgAAEvCGAIXvDkSjeESASBCJLAEOObOnZOAQg4DcCGLLfKkI+EIBAZAlgyCEvPduDAASCQwBDDk6tyBQCEAg5AQw55AVmexCAQHAI/B4AAP//GWsPrQAAAAZJREFUAwAk2vXODDsZrgAAAABJRU5ErkJggg=="/>
          <p:cNvSpPr>
            <a:spLocks noChangeAspect="1" noChangeArrowheads="1"/>
          </p:cNvSpPr>
          <p:nvPr/>
        </p:nvSpPr>
        <p:spPr bwMode="auto">
          <a:xfrm>
            <a:off x="11325003" y="1687450"/>
            <a:ext cx="2183179" cy="81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958" y="1724524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4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557785" y="1520825"/>
            <a:ext cx="7773966" cy="481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Обсудим основы 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 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промышленной разработки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Современные подходы и технологии </a:t>
            </a:r>
            <a:r>
              <a:rPr lang="ru-RU" sz="2300" b="1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примере </a:t>
            </a:r>
            <a:r>
              <a:rPr lang="en-US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</a:t>
            </a:r>
            <a:endParaRPr lang="ru-RU" sz="23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Важно понимать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Спрашивают на собесах</a:t>
            </a:r>
            <a:endParaRPr lang="en-US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Будет несколько </a:t>
            </a:r>
            <a:r>
              <a:rPr lang="ru-RU" sz="24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домашек</a:t>
            </a:r>
            <a:r>
              <a:rPr lang="en-US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мини-проектов</a:t>
            </a:r>
            <a:endParaRPr lang="ru-RU" sz="2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2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Потрогать руками и закрепить знания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2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Показать на парах для контрольных</a:t>
            </a:r>
          </a:p>
          <a:p>
            <a:pPr marL="1104881" lvl="1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3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Сохранить для портфолио</a:t>
            </a:r>
          </a:p>
          <a:p>
            <a:pPr marL="495296" indent="-34290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50000"/>
              <a:buFontTx/>
              <a:buChar char="•"/>
            </a:pP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Основная </a:t>
            </a:r>
            <a:r>
              <a:rPr lang="ru-RU" sz="24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коммуникация по курсу –</a:t>
            </a:r>
            <a:r>
              <a:rPr lang="ru-RU" sz="2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err="1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HwProj</a:t>
            </a:r>
            <a:endParaRPr lang="ru-RU" sz="23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О курсе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38" y="1984069"/>
            <a:ext cx="2917553" cy="113593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57001" y="0"/>
            <a:ext cx="6512169" cy="6858000"/>
          </a:xfrm>
          <a:prstGeom prst="rect">
            <a:avLst/>
          </a:prstGeom>
          <a:solidFill>
            <a:srgbClr val="14234C"/>
          </a:solidFill>
          <a:ln>
            <a:solidFill>
              <a:srgbClr val="142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34C"/>
              </a:solidFill>
            </a:endParaRPr>
          </a:p>
        </p:txBody>
      </p:sp>
      <p:sp>
        <p:nvSpPr>
          <p:cNvPr id="8" name="AutoShape 2" descr="data:image/png;base64,iVBORw0KGgoAAAANSUhEUgAAAWQAAACyCAYAAAB1C7WmAAAQAElEQVR4AeydC5BV9X3Hz7n7hH2xu0QeKwvLUmWhCvLQCdbuGNo87CiaymMysWK0mWig0WLD1DEtJqalwWG0VdtUJzG2TqOWJmOUJB2iGcYHCSyiNjFDdQkjEsAEl0Ue7uPefI/u/3r2cvd6H+feex6fzPnm/z/n/P+//+//+S3fvfkvbGIW/4EABCAAAV8QwJB9UQaSgAAEIGBZGDJfBRCAQDgJBHBXGHIAi0bKEIBAOAlgyOGsK7uCAAQCSABDDmDRSBkCpSfAiqUggCGXgjJrQAACEMiCAIacBSSGQAACECgFAQy5FJRZAwKjCXAHgbQEMOS0WHgIAQhAoPQEMOTSM2dFCEAAAmkJYMhpsfAwSATIFQJhIYAhh6WS7AMCEAg8AQw58CVkAxCAQFgIYMhhqaRX+yAOBCBQNgIYctnQszAEIACB0QQw5NE8uIMABCBQNgIYclHRExwCEIBA9gQw5OxZMRICEIBAUQlgyEXFS3AIQAAC2RMIkiFnvytGQgACEAggAQw5gEUjZQhAIJwEMORw1pVdQQACQSIwkiuGPAKCBgIQgEC5CWDI5a4A60MAAhAYIYAhj4CggQAEwkIguPvAkINbOzKHAARCRgBDDllB2Q4EIBBcAhhycGtH5hAoBQHWKCEBDLmEsFkKAhCAQCYCGHImOryDAAQgUEICGHIJYbMUBCAAgUwEMORMdHgHAQhAoIQEMOQSwmYpCEAAApkIYMiZ6PDO3wTIDgIhI4Ahh6ygbAcCEAguAQw5uLUjcwhAIGQEMOSQFTT/7TATAhAoNwEMudwVYH0IQAACIwQw5BEQNBCAAATKTQBDLk4FiAoBCEAgZwIYcs7ImAABCECgOAQw5OJwJSoEIACBnAkEwpBz3hUTIAABCASQAIYcwKKRMgQgEE4CGHI468quIACBQBAYnSSGPJoHdxCAAATKRgBDLht6FvaSQGdnZ2IszZw5c08+ayne7dKYcTs6Oq7OJy5zIDAWAQx5LDI8hwAEgkYg8PliyIEvIRuAAATCQgBDDkslI7SP9vb25hkzZsx2a2ptvWU0uWb8KBqJRKLGPVZHGO2jBozc6Hhilnuc5k00MZ02NW48Hu+aPn36p4waGhpaR0LRQCAvAhhyXtiYVE4ClZWVKysqKl516575Sy2jr829ZFR6tm3Pdo/Vy29JZ1wy4J+6x2nel0xMp02Nq7FfVS5bjVpbW685I2iAH5B66QlgyKVnzooQgAAE0hLAkNNi4SEEIACB0hPAkEvPnBVzJKAz33O6urpu7BpRVVVVp44XXnHpV2+cPp4wOjJwKq53p4203HH1XzeKxWL2woULb0yVnv/WjBlpj5iYTpsaV2OcNSy1RlVaK/3FUwhkQQBDzgISQ8pLoLq6+vMDAwP3G8k4b9V57XlGLS0ts5dcuMA2uuCCP4zpXa1LDep3GjU3N39MMe5PlZ7PM2NG2rNMTKdNjVtTU1Orc2bLaPz48dPLS4rVg04AQw56BckfAhAIDQEMOTSljNJG2CsEwkkAQw5nXSO3q2cP/Noy2nnoDc/2b2I6bWrciooKS+fZbjUvWrTo6rlz57Z4lgCBIkUAQ45UucO72X/Y8bRldE/Pc55t1MR02tS4OjO2GhoakpI5X6Tz5Md15j3TswQIFCkCGHKkyp12szyEAAR8QgBD9kkhSAMCEIAAhszXgC8JdHR0rDGKx+MTampqLCMdDfgyZ5KCQKEEMORCCabM59YbArFY7F+MZMhz6+rqLCPHmDOtovHWqVOnCpbzDz4yrcM7CHhNAEP2mijxfEHAC0P2xUZIIlIEMORIlZvNQgACfibgb0P2MzlygwAEIOAxAQzZY6CEKw0B53zXraqqhOWWF1m44zl993qm78U6xICAIYAhGxK0gSLQ19dnvf322+/J6T/z2DTLaMu/T/VkLz/57gcxn/jW1PfWMms67cDAgCfrECSSBNJuGkNOi4WHEIAABEpPAEMuPXNWhAAEIJCWAIacFgsPy02gu7vbMpo/f/6kcueTy/qXXXbZ9Zs2bXrQrY0bNzblEoOxuREIy2gMOSyVDNk+5syZYxm1tbUFyswaGhq6bdu+3q1YLDYuZCViO0UggCEXASohIQABCORDAEPOhxpzIBBmAuytbAQw5LKhZ+FMBLZu3WoZ9fT0vJk61vnl8G69/OpJy+iXe0+lDs/r3sRz2l8opns9p69jiLRxe3t7N+u44nK3Tp482Zd2MA8h4CKAIbtg0PUPgf3791tGhw4dOpGaWWNjo9XU1PSenP5Ntx21jG77p36rpaVllM5v77Duv2JVUjdf8iej3qeOd+7XfuXtZMxbv9b33lpmTacd67fO7dy5c8+6deuedGvDhg2nU/fAPQRSCWDIqUS4DyWB8VVV1uLJ05Ka1dRaon2yDASyJ4AhZ8+KkRCAAASKSgBDLipegkMAAhDIngCGnD0rRpaQwPLlyy2j7u7u6SNLZ904P3BrbW21jPqsuHXTtu8n9eAve5LvnDH19fVZx/6wgVddddWdd911154UTfywebyHAIbM14AvCUycONEyklnW5JqkbdtWdXV1UsMx23q973dJHT51IvnOGef8rYlc1xhrvOK16908t+LxeKXuuSCQkUAs41teQgACEIBAyQhgyCVD7b+FyAgCEPAXAQzZX/UgmxECL7zwwmKjnp6evxt5nHUzPDxsHT58OCnn9xe7Jzu/y9j9vr+/3/26oP6OHTtu1vrT3JoxY8ZbBQVlciQIYMiRKHPwNrlly5ZdRrMO/nraJ958zRpLs44fTbtBndtabrkHOf+PH+53zr37fSH9/fv3H12/fv0Bt1asWDFcSEzmRoMAhuxVnYlTNAKxRKKyOh63xlJFIlG0tQkMgVISwJBLSZu1IAABCGQggCFngMMrfxBIWHYirk/BY0mv/JEoWUCgQAI+NeQCd8X0wBKYOXPmk52dnQm3tsdqbv2P+o9YY6liaGD/5W/stbLRZw6+Zt3Z/2ZeuuFQb3KNS3+z7wzGtm3fsHPnTvvFF1/cdcZLHkAgCwIYchaQGAIBCECgFAQw5FJQZg0IQAACIwQyNRhyJjq8KzqBc88991LpeiMteEr6RS6KDw0fGbSsk1kpHj89GI8njAbicWssmTHJ1rIGzBp2InEgkUisdWtwcPD/lTcXBPImgCHnjY6JHhH416GhoQeHRtTQ0HB1S0vL3Fy0d/K0xT+ads74bPT42efU3jFhmu3or+16+5b4OMto/uOLrY8/89Gk7mx9f5wz1tF3Js+sNmv8ZErHiV27dt3r1ksvvXTG/7OJR4wIExECGHJECs02IRBKAiHbFIYcsoJ6uZ2Ojo7PdnZ2fjeT2tvb53i5JrEgEGUCGHKUq/8he4/FYvM1ZGUmacxZep/11dXVdaPOi79npPnvVFVVvVk1It07f2VsuwIWXTE7dsS27RNGh94aOnbg4OAJI9u2xsxBZ8evKEcuCHhKIOZpNIJB4EMIDA8P/4XOi680qqysXKhz4zYj3S9SiD8uhRoam86a0NxaZ3TTbb9tWvXFw3VGQ0PWmHnYtn2ecgzZxXbKTQBDLncFArS+PhVaqYrH4x9pa2s726XWAG2JVCHgKwIYsq/K4f9k9MnQcktHDY/V1ta+4dJ9/t8FGULAnwQwZH/WhayCT4AdQCBnAhhyzsiYAAEIQKA4BDDk4nANRVSdDz+hM+NbjHT/j6HYGJuAgE8JYMg+LYwf0tq3b9/23t7eu42U08NSWS4WhUAUCGDIUahymfc4e/bsh4xisVi8oqLisJFSe1mfvJ8NmpS38/s21HBBwDsCGLJ3LIk0BoHBwcFrjSorK5c0NTVNMqqtrT1fJv1HQZO2OlfigoCnBDBkT3EGJBhpQgACviSAIfuyLCQFAQhEkQCGHMWqs2cIQMCXBDDkgstCAAhAAALeEMCQveFIFAhAAAIFE8CQC0ZIAAhAAALeEPCbIXuzK6JAAAIQCCABDDmARSNlCEAgnAQw5HDWlV1BAAJ+I5BFPhhyFpAYAgEIQKAUBDDkUlBmDQhAAAJZEMCQs4DEEAhAwG8EwpkPhhzOurIrCEAggAQw5AAWjZQhAIFwEsCQw1lXdgWBXAgw1icEMGSfFII08idw+vRp69ixY0m9++67eQdzx3H6eQdiIgTyIIAh5wGNKf4iEI/HreHh4aSc+3wzdOa6Y+Ubh3kQyIcAhpwPNeZAIAMBXkEgXwIYcr7kmAcBCEDAYwIYssdAox5O/5O/dsaMGZPd8prJ4OCgdeLEiaSGhoa8XiIZz73OyZMnk88TicRZixcvvtutBQsWzEoOoAOBPAhgyHlAY8rYBGKx2LKKiorfuDX26CzepBninPE6P7gzkjmmGeXNI7OG0zo/PDRRbdtuVv9LbmnvZ+ueCwJ5E8CQ80bHRAhAAALeEsCQveUZ6mh1dXV5fb3U19dbRlVVVaFltGbNmpV9fX3Ljx07dqFa5xN0aPfKxopDIK8/YMVJhajFJ5D9Cjo7nSJT+Xh/f/86GcxDUs9TTz3Vs3btWsutqVOnWs6RgVupq1RXV1tGlZWVqa/PuG9tbbWWLVs2plauXGmtXr06qXnz5p0Rw6sHq13rOH2T15VXXnlGflOmTPmCbduPae2fqT0qfgfE74dqvyF+17zzzjvzxKlG77kgkJYAhpwWS/QeyjhaZRzLpW/KPHr1g7KDMpUfy0DuEo1rpQXNzc211113neWWTMjSuFHS2IIux7QnTZpkZdLkyZMto8bGxoLWyzTZrGHaTDnpB5qjQolLm/h9Uu3f6MXDw8PDe8RZeI9tE+f10kK958+g4HC9T4Avhvc5RPK/ZQbVMojVcoifqf+WjOMx6fOC0SFxFYeA8wl5qThvlHaJ/xEZ8wNqzy3OckQNEgEMOf9qBXamzDcmE157/Pjx19X/tjZyoWRLXKUn0CpjvkF1eFWmvEWaXfoUWNEvBDBkv1SihHnoD/1Xtdw/ywTOVlvQ9cADD1i7d+/OqG3btlm56JFHHrFWrFiRtTZv3jxq/eeeey6n9dy59fT0jIqVSx5LliwphKWtenxaxx7PO+f3hQRibnAJYMjBrV3emcdisUV5T2ZiUQno03KzzppnFnURgvuWgG8M2beEQpiYPon9lba1V+LyF4FhpfP1hoaG59VyRZAAhhzBojc2Nu6V5sqYV2n7eySu8hI4reXvq66u/oOmpqbb9Sk5oXuuCBLAkCNYdGfL+kM/NGHChEdlzAvUv1jP7pCcT2bOpzR1uYpM4JDi/6d0rY6Q2mXEa8aNG7dP91yhI5D9hjDk7FmFcqTMOCFTfl6GsEG6WP0WPVumT8/f0IZ/qP4BtVyFEXB+Y/5uhfiOdLMM+Dxxnire10gP64jiLT3ngoCFIfNFMIqADLhfZvGEPj2vl1lcpv40DWiViXSrXSv9m8b8SO2r0ge//kw3Eb+cY4aDYrBDelS6U9/UVohVlxjWi+VCabV0jwz4//Tc8bb0uQAAA3JJREFUGa9hXBD4gACG/AELemMQkIkclYlsV3uvdKMM5lNq56itl7FMrKysXKj205p+s0xok+T83eYf6N4xp9fU9klBvQaVuPOvFl/WHp9W3zHb+9Ru0P11+kb1Me13lliME5M26aPSKukr+qb2uJ7/SuOGNJ7LGwKhjoIhh7q8xd2cjMY57vhdXV3dbhnP92RC98iEvix9Tv0rJMecnB9UNet9dUVFxRTpfM27RJl9UmZ2tVrnn2V/Uc++rL7z96M3q/9N9R+RnH85+D9qn5C2avz/6t3TMsDtunfOu3+u1jkK2KPnu9R3vgE8q/5PNWabWueT/JPqf1/9/9b7R9X/tuLcq/uN6t+uZ7eo/5dqP6P2Cr1bqv5FetepnJukGu2jTe08aan6jtmuUXuH7h/SN6pntN/XNdc5ltBULgjkTwBDzp8dM3MgIMMarK+vPyS9IiN7Vob2Y5nZFrUPS/fr2Sa1fy+tU/8Laj8rrVT/z9Uuk/5M4z+h+6UywG7dXyxdJDlHARfo+WL1nW8Al6h/qcb8qVrnk/zl6l+l/nK9X6X+5xRnre7/Vv2v69nd6j+o9r/U/kDvnlb/53rXq5z7JY4WcqgzQwsjgCEXxo/ZEAg0AZL3FwEM2V/1IBsIQCDCBDDkCBefrUMAAv4igCH7qx5kE2QC5A6BAglgyAUCZDoEIAABrwhgyF6RJA4EIACBAglgyAUCZHqxCBAXAtEjgCFHr+bsGAIQ8CkBDNmnhSEtCEAgegQw5GjUnF1CAAIBIIAhB6BIpAgBCESDAIYcjTqzSwhAIAAEMOQ8isQUCEAAAsUggCEXgyoxIQABCORBAEPOAxpTIAABCBSDQPkNuRi7IiYEIACBABLAkANYNFKGAATCSQBDDmdd2RUEIFB+AjlngCHnjIwJEIAABIpDAEMuDleiQgACEMiZAIacMzImQAAC5SAQhTUx5ChUmT1CAAKBIIAhB6JMJAkBCESBAIYchSqzRwikEuDelwQwZF+WhaQgAIEoEsCQo1h19gwBCPiSAIbsy7KQVLAIkC0EvCGAIXvDkSgQgAAECiaAIReMkAAQgAAEvCGAIXvDkSjeESASBCJLAEOObOnZOAQg4DcCGLLfKkI+EIBAZAlgyCEvPduDAASCQwBDDk6tyBQCEAg5AQw55AVmexCAQHAI/B4AAP//GWsPrQAAAAZJREFUAwAk2vXODDsZrgAAAABJRU5ErkJggg=="/>
          <p:cNvSpPr>
            <a:spLocks noChangeAspect="1" noChangeArrowheads="1"/>
          </p:cNvSpPr>
          <p:nvPr/>
        </p:nvSpPr>
        <p:spPr bwMode="auto">
          <a:xfrm>
            <a:off x="11325003" y="1687450"/>
            <a:ext cx="2183179" cy="81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958" y="1724524"/>
            <a:ext cx="3310044" cy="1655022"/>
          </a:xfrm>
          <a:prstGeom prst="rect">
            <a:avLst/>
          </a:prstGeom>
        </p:spPr>
      </p:pic>
      <p:pic>
        <p:nvPicPr>
          <p:cNvPr id="2" name="Рисунок 1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294" y="3914191"/>
            <a:ext cx="2442797" cy="237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2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16002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000"/>
              </a:lnSpc>
            </a:pP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Вопросы?</a:t>
            </a:r>
            <a:endParaRPr lang="ru-RU" sz="4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713" y="546637"/>
            <a:ext cx="1801059" cy="87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6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33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Объектно-ориентированный язык общего назначения с сильной </a:t>
            </a:r>
            <a:r>
              <a:rPr lang="ru-RU" sz="2400" dirty="0" smtClean="0">
                <a:solidFill>
                  <a:srgbClr val="14234C"/>
                </a:solidFill>
              </a:rPr>
              <a:t>типизацией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Основной язык программирования для платформы .</a:t>
            </a:r>
            <a:r>
              <a:rPr lang="ru-RU" sz="2400" dirty="0" smtClean="0">
                <a:solidFill>
                  <a:srgbClr val="14234C"/>
                </a:solidFill>
              </a:rPr>
              <a:t>NET</a:t>
            </a:r>
            <a:endParaRPr lang="ru-RU" sz="2400" dirty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Первая </a:t>
            </a:r>
            <a:r>
              <a:rPr lang="ru-RU" sz="2400" dirty="0">
                <a:solidFill>
                  <a:srgbClr val="14234C"/>
                </a:solidFill>
              </a:rPr>
              <a:t>версия — 2002 год, </a:t>
            </a:r>
            <a:r>
              <a:rPr lang="ru-RU" sz="2400" dirty="0" smtClean="0">
                <a:solidFill>
                  <a:srgbClr val="14234C"/>
                </a:solidFill>
              </a:rPr>
              <a:t>актуальная </a:t>
            </a:r>
            <a:r>
              <a:rPr lang="en-US" sz="2400" dirty="0" smtClean="0">
                <a:solidFill>
                  <a:srgbClr val="14234C"/>
                </a:solidFill>
              </a:rPr>
              <a:t>LTS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</a:t>
            </a:r>
            <a:r>
              <a:rPr lang="ru-RU" sz="2400" dirty="0" smtClean="0">
                <a:solidFill>
                  <a:srgbClr val="14234C"/>
                </a:solidFill>
              </a:rPr>
              <a:t>11.11.2025, </a:t>
            </a:r>
            <a:r>
              <a:rPr lang="ru-RU" sz="2400" dirty="0">
                <a:solidFill>
                  <a:srgbClr val="14234C"/>
                </a:solidFill>
              </a:rPr>
              <a:t>C# </a:t>
            </a:r>
            <a:r>
              <a:rPr lang="ru-RU" sz="2400" dirty="0" smtClean="0">
                <a:solidFill>
                  <a:srgbClr val="14234C"/>
                </a:solidFill>
              </a:rPr>
              <a:t>14 (</a:t>
            </a:r>
            <a:r>
              <a:rPr lang="en-US" sz="2400" dirty="0" smtClean="0">
                <a:solidFill>
                  <a:srgbClr val="14234C"/>
                </a:solidFill>
              </a:rPr>
              <a:t>.NET 10)</a:t>
            </a: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Стабильные новые версии раз в год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5-е </a:t>
            </a:r>
            <a:r>
              <a:rPr lang="ru-RU" sz="2400" dirty="0">
                <a:solidFill>
                  <a:srgbClr val="14234C"/>
                </a:solidFill>
              </a:rPr>
              <a:t>место в индексе TIOBE на </a:t>
            </a:r>
            <a:r>
              <a:rPr lang="ru-RU" sz="2400" dirty="0" smtClean="0">
                <a:solidFill>
                  <a:srgbClr val="14234C"/>
                </a:solidFill>
              </a:rPr>
              <a:t>сентябрь 2026 </a:t>
            </a:r>
            <a:r>
              <a:rPr lang="ru-RU" sz="2400" dirty="0">
                <a:solidFill>
                  <a:srgbClr val="14234C"/>
                </a:solidFill>
              </a:rPr>
              <a:t>(после </a:t>
            </a:r>
            <a:r>
              <a:rPr lang="ru-RU" sz="2400" dirty="0" err="1">
                <a:solidFill>
                  <a:srgbClr val="14234C"/>
                </a:solidFill>
              </a:rPr>
              <a:t>Python</a:t>
            </a:r>
            <a:r>
              <a:rPr lang="ru-RU" sz="2400" dirty="0">
                <a:solidFill>
                  <a:srgbClr val="14234C"/>
                </a:solidFill>
              </a:rPr>
              <a:t>, C++, </a:t>
            </a:r>
            <a:r>
              <a:rPr lang="ru-RU" sz="2400" dirty="0" err="1">
                <a:solidFill>
                  <a:srgbClr val="14234C"/>
                </a:solidFill>
              </a:rPr>
              <a:t>Java</a:t>
            </a:r>
            <a:r>
              <a:rPr lang="ru-RU" sz="2400" dirty="0">
                <a:solidFill>
                  <a:srgbClr val="14234C"/>
                </a:solidFill>
              </a:rPr>
              <a:t>, C</a:t>
            </a:r>
            <a:r>
              <a:rPr lang="ru-RU" sz="2400" dirty="0" smtClean="0">
                <a:solidFill>
                  <a:srgbClr val="14234C"/>
                </a:solidFill>
              </a:rPr>
              <a:t>)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  <a:hlinkClick r:id="rId2"/>
              </a:rPr>
              <a:t>https</a:t>
            </a:r>
            <a:r>
              <a:rPr lang="en-US" sz="2000" dirty="0">
                <a:solidFill>
                  <a:srgbClr val="14234C"/>
                </a:solidFill>
                <a:hlinkClick r:id="rId2"/>
              </a:rPr>
              <a:t>://www.tiobe.com/tiobe-index</a:t>
            </a:r>
            <a:r>
              <a:rPr lang="en-US" sz="2000" dirty="0" smtClean="0">
                <a:solidFill>
                  <a:srgbClr val="14234C"/>
                </a:solidFill>
                <a:hlinkClick r:id="rId2"/>
              </a:rPr>
              <a:t>/</a:t>
            </a:r>
            <a:r>
              <a:rPr lang="en-US" sz="2000" dirty="0" smtClean="0">
                <a:solidFill>
                  <a:srgbClr val="14234C"/>
                </a:solidFill>
              </a:rPr>
              <a:t> </a:t>
            </a:r>
            <a:endParaRPr lang="en-US" sz="2000" dirty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Работает </a:t>
            </a:r>
            <a:r>
              <a:rPr lang="ru-RU" sz="2400" dirty="0">
                <a:solidFill>
                  <a:srgbClr val="14234C"/>
                </a:solidFill>
              </a:rPr>
              <a:t>под </a:t>
            </a:r>
            <a:r>
              <a:rPr lang="ru-RU" sz="2400" dirty="0" err="1">
                <a:solidFill>
                  <a:srgbClr val="14234C"/>
                </a:solidFill>
              </a:rPr>
              <a:t>Windows</a:t>
            </a:r>
            <a:r>
              <a:rPr lang="ru-RU" sz="2400" dirty="0">
                <a:solidFill>
                  <a:srgbClr val="14234C"/>
                </a:solidFill>
              </a:rPr>
              <a:t> и </a:t>
            </a:r>
            <a:r>
              <a:rPr lang="ru-RU" sz="2400" dirty="0" err="1">
                <a:solidFill>
                  <a:srgbClr val="14234C"/>
                </a:solidFill>
              </a:rPr>
              <a:t>Linux</a:t>
            </a:r>
            <a:r>
              <a:rPr lang="ru-RU" sz="2400" dirty="0">
                <a:solidFill>
                  <a:srgbClr val="14234C"/>
                </a:solidFill>
              </a:rPr>
              <a:t>/</a:t>
            </a:r>
            <a:r>
              <a:rPr lang="ru-RU" sz="2400" dirty="0" err="1">
                <a:solidFill>
                  <a:srgbClr val="14234C"/>
                </a:solidFill>
              </a:rPr>
              <a:t>Mac</a:t>
            </a:r>
            <a:r>
              <a:rPr lang="ru-RU" sz="2400" dirty="0">
                <a:solidFill>
                  <a:srgbClr val="14234C"/>
                </a:solidFill>
              </a:rPr>
              <a:t> OS 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Средства разработки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</a:rPr>
              <a:t>Microsoft </a:t>
            </a:r>
            <a:r>
              <a:rPr lang="en-US" sz="2000" dirty="0">
                <a:solidFill>
                  <a:srgbClr val="14234C"/>
                </a:solidFill>
              </a:rPr>
              <a:t>Visual Studio (</a:t>
            </a:r>
            <a:r>
              <a:rPr lang="en-US" sz="2000" dirty="0">
                <a:solidFill>
                  <a:srgbClr val="14234C"/>
                </a:solidFill>
                <a:hlinkClick r:id="rId3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hlinkClick r:id="rId3"/>
              </a:rPr>
              <a:t>www.visualstudio.com</a:t>
            </a:r>
            <a:r>
              <a:rPr lang="en-US" sz="2000" dirty="0" smtClean="0">
                <a:solidFill>
                  <a:srgbClr val="14234C"/>
                </a:solidFill>
              </a:rPr>
              <a:t>)</a:t>
            </a: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</a:rPr>
              <a:t>Visual </a:t>
            </a:r>
            <a:r>
              <a:rPr lang="en-US" sz="2000" dirty="0">
                <a:solidFill>
                  <a:srgbClr val="14234C"/>
                </a:solidFill>
              </a:rPr>
              <a:t>Studio Code (</a:t>
            </a:r>
            <a:r>
              <a:rPr lang="en-US" sz="2000" dirty="0">
                <a:solidFill>
                  <a:srgbClr val="14234C"/>
                </a:solidFill>
                <a:hlinkClick r:id="rId4"/>
              </a:rPr>
              <a:t>https://code.visualstudio.com</a:t>
            </a:r>
            <a:r>
              <a:rPr lang="en-US" sz="2000" dirty="0" smtClean="0">
                <a:solidFill>
                  <a:srgbClr val="14234C"/>
                </a:solidFill>
                <a:hlinkClick r:id="rId4"/>
              </a:rPr>
              <a:t>/</a:t>
            </a:r>
            <a:r>
              <a:rPr lang="en-US" sz="2000" dirty="0" smtClean="0">
                <a:solidFill>
                  <a:srgbClr val="14234C"/>
                </a:solidFill>
              </a:rPr>
              <a:t>) </a:t>
            </a:r>
            <a:r>
              <a:rPr lang="en-US" sz="2000" dirty="0">
                <a:solidFill>
                  <a:srgbClr val="14234C"/>
                </a:solidFill>
              </a:rPr>
              <a:t>+ C# </a:t>
            </a:r>
            <a:r>
              <a:rPr lang="en-US" sz="2000" dirty="0" err="1" smtClean="0">
                <a:solidFill>
                  <a:srgbClr val="14234C"/>
                </a:solidFill>
              </a:rPr>
              <a:t>DevKit</a:t>
            </a:r>
            <a:endParaRPr lang="en-US" sz="2000" dirty="0" smtClean="0">
              <a:solidFill>
                <a:srgbClr val="14234C"/>
              </a:solidFill>
            </a:endParaRP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300" b="1" dirty="0" smtClean="0">
                <a:solidFill>
                  <a:srgbClr val="14234C"/>
                </a:solidFill>
              </a:rPr>
              <a:t>Rider</a:t>
            </a:r>
            <a:r>
              <a:rPr lang="en-US" sz="2300" dirty="0" smtClean="0">
                <a:solidFill>
                  <a:srgbClr val="14234C"/>
                </a:solidFill>
              </a:rPr>
              <a:t> </a:t>
            </a:r>
            <a:r>
              <a:rPr lang="en-US" sz="2300" dirty="0">
                <a:solidFill>
                  <a:srgbClr val="14234C"/>
                </a:solidFill>
              </a:rPr>
              <a:t>(</a:t>
            </a:r>
            <a:r>
              <a:rPr lang="en-US" sz="2300" dirty="0">
                <a:solidFill>
                  <a:srgbClr val="14234C"/>
                </a:solidFill>
                <a:hlinkClick r:id="rId5"/>
              </a:rPr>
              <a:t>https://www.jetbrains.com/rider</a:t>
            </a:r>
            <a:r>
              <a:rPr lang="en-US" sz="2300" dirty="0" smtClean="0">
                <a:solidFill>
                  <a:srgbClr val="14234C"/>
                </a:solidFill>
                <a:hlinkClick r:id="rId5"/>
              </a:rPr>
              <a:t>/</a:t>
            </a:r>
            <a:r>
              <a:rPr lang="en-US" sz="2300" dirty="0" smtClean="0">
                <a:solidFill>
                  <a:srgbClr val="14234C"/>
                </a:solidFill>
              </a:rPr>
              <a:t>) </a:t>
            </a:r>
            <a:endParaRPr lang="ru-RU" sz="23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Язык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7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2"/>
            <a:ext cx="5901397" cy="459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Компиляция не в машинные коды, а в </a:t>
            </a:r>
            <a:r>
              <a:rPr lang="ru-RU" sz="2400" dirty="0" err="1">
                <a:solidFill>
                  <a:srgbClr val="14234C"/>
                </a:solidFill>
              </a:rPr>
              <a:t>байткод</a:t>
            </a:r>
            <a:r>
              <a:rPr lang="ru-RU" sz="2400" dirty="0">
                <a:solidFill>
                  <a:srgbClr val="14234C"/>
                </a:solidFill>
              </a:rPr>
              <a:t> виртуальной машины (</a:t>
            </a:r>
            <a:r>
              <a:rPr lang="ru-RU" sz="2400" dirty="0" err="1">
                <a:solidFill>
                  <a:srgbClr val="14234C"/>
                </a:solidFill>
              </a:rPr>
              <a:t>Common</a:t>
            </a:r>
            <a:r>
              <a:rPr lang="ru-RU" sz="2400" dirty="0">
                <a:solidFill>
                  <a:srgbClr val="14234C"/>
                </a:solidFill>
              </a:rPr>
              <a:t> </a:t>
            </a:r>
            <a:r>
              <a:rPr lang="ru-RU" sz="2400" dirty="0" err="1">
                <a:solidFill>
                  <a:srgbClr val="14234C"/>
                </a:solidFill>
              </a:rPr>
              <a:t>Intermediate</a:t>
            </a:r>
            <a:r>
              <a:rPr lang="ru-RU" sz="2400" dirty="0">
                <a:solidFill>
                  <a:srgbClr val="14234C"/>
                </a:solidFill>
              </a:rPr>
              <a:t> </a:t>
            </a:r>
            <a:r>
              <a:rPr lang="ru-RU" sz="2400" dirty="0" err="1">
                <a:solidFill>
                  <a:srgbClr val="14234C"/>
                </a:solidFill>
              </a:rPr>
              <a:t>Language</a:t>
            </a:r>
            <a:r>
              <a:rPr lang="ru-RU" sz="2400" dirty="0">
                <a:solidFill>
                  <a:srgbClr val="14234C"/>
                </a:solidFill>
              </a:rPr>
              <a:t>, </a:t>
            </a:r>
            <a:r>
              <a:rPr lang="ru-RU" sz="2400" dirty="0" smtClean="0">
                <a:solidFill>
                  <a:srgbClr val="14234C"/>
                </a:solidFill>
              </a:rPr>
              <a:t>CIL)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Виртуальная </a:t>
            </a:r>
            <a:r>
              <a:rPr lang="ru-RU" sz="2400" dirty="0">
                <a:solidFill>
                  <a:srgbClr val="14234C"/>
                </a:solidFill>
              </a:rPr>
              <a:t>машина и набор библиотек (</a:t>
            </a:r>
            <a:r>
              <a:rPr lang="ru-RU" sz="2400" dirty="0" err="1">
                <a:solidFill>
                  <a:srgbClr val="14234C"/>
                </a:solidFill>
              </a:rPr>
              <a:t>Common</a:t>
            </a:r>
            <a:r>
              <a:rPr lang="ru-RU" sz="2400" dirty="0">
                <a:solidFill>
                  <a:srgbClr val="14234C"/>
                </a:solidFill>
              </a:rPr>
              <a:t> </a:t>
            </a:r>
            <a:r>
              <a:rPr lang="ru-RU" sz="2400" dirty="0" err="1">
                <a:solidFill>
                  <a:srgbClr val="14234C"/>
                </a:solidFill>
              </a:rPr>
              <a:t>Language</a:t>
            </a:r>
            <a:r>
              <a:rPr lang="ru-RU" sz="2400" dirty="0">
                <a:solidFill>
                  <a:srgbClr val="14234C"/>
                </a:solidFill>
              </a:rPr>
              <a:t> </a:t>
            </a:r>
            <a:r>
              <a:rPr lang="ru-RU" sz="2400" dirty="0" err="1">
                <a:solidFill>
                  <a:srgbClr val="14234C"/>
                </a:solidFill>
              </a:rPr>
              <a:t>Runtime</a:t>
            </a:r>
            <a:r>
              <a:rPr lang="ru-RU" sz="2400" dirty="0">
                <a:solidFill>
                  <a:srgbClr val="14234C"/>
                </a:solidFill>
              </a:rPr>
              <a:t>) реализуется для каждой платформы (ОС), на которой хотим запускать </a:t>
            </a:r>
            <a:r>
              <a:rPr lang="ru-RU" sz="2400" dirty="0" smtClean="0">
                <a:solidFill>
                  <a:srgbClr val="14234C"/>
                </a:solidFill>
              </a:rPr>
              <a:t>байт-код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Машина </a:t>
            </a:r>
            <a:r>
              <a:rPr lang="ru-RU" sz="2400" dirty="0">
                <a:solidFill>
                  <a:srgbClr val="14234C"/>
                </a:solidFill>
              </a:rPr>
              <a:t>интерпретирует байт-код или компилирует его «на лету» в машинные коды </a:t>
            </a:r>
            <a:endParaRPr lang="ru-RU" sz="23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Common Language Infrastructure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75" y="1520823"/>
            <a:ext cx="4906092" cy="485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6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866728" cy="461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Единый </a:t>
            </a:r>
            <a:r>
              <a:rPr lang="ru-RU" sz="2400" dirty="0" err="1">
                <a:solidFill>
                  <a:srgbClr val="14234C"/>
                </a:solidFill>
              </a:rPr>
              <a:t>байткод</a:t>
            </a:r>
            <a:r>
              <a:rPr lang="ru-RU" sz="2400" dirty="0">
                <a:solidFill>
                  <a:srgbClr val="14234C"/>
                </a:solidFill>
              </a:rPr>
              <a:t> с механизмом оптимизации, интерпретации и генерации машинного кода позволяет экономить время на разработку </a:t>
            </a:r>
            <a:r>
              <a:rPr lang="ru-RU" sz="2400" dirty="0" smtClean="0">
                <a:solidFill>
                  <a:srgbClr val="14234C"/>
                </a:solidFill>
              </a:rPr>
              <a:t>компиляторов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Поэтому </a:t>
            </a:r>
            <a:r>
              <a:rPr lang="ru-RU" sz="2000" dirty="0">
                <a:solidFill>
                  <a:srgbClr val="14234C"/>
                </a:solidFill>
              </a:rPr>
              <a:t>под .NET можно писать на C#, F#, </a:t>
            </a:r>
            <a:r>
              <a:rPr lang="ru-RU" sz="2000" dirty="0" err="1">
                <a:solidFill>
                  <a:srgbClr val="14234C"/>
                </a:solidFill>
              </a:rPr>
              <a:t>Visual</a:t>
            </a:r>
            <a:r>
              <a:rPr lang="ru-RU" sz="2000" dirty="0">
                <a:solidFill>
                  <a:srgbClr val="14234C"/>
                </a:solidFill>
              </a:rPr>
              <a:t> </a:t>
            </a:r>
            <a:r>
              <a:rPr lang="ru-RU" sz="2000" dirty="0" err="1" smtClean="0">
                <a:solidFill>
                  <a:srgbClr val="14234C"/>
                </a:solidFill>
              </a:rPr>
              <a:t>Basic</a:t>
            </a:r>
            <a:r>
              <a:rPr lang="ru-RU" sz="2000" dirty="0" smtClean="0">
                <a:solidFill>
                  <a:srgbClr val="14234C"/>
                </a:solidFill>
              </a:rPr>
              <a:t>, </a:t>
            </a:r>
            <a:r>
              <a:rPr lang="ru-RU" sz="2000" dirty="0">
                <a:solidFill>
                  <a:srgbClr val="14234C"/>
                </a:solidFill>
              </a:rPr>
              <a:t>куче сторонних языков (например, </a:t>
            </a:r>
            <a:r>
              <a:rPr lang="ru-RU" sz="2000" dirty="0" err="1">
                <a:solidFill>
                  <a:srgbClr val="14234C"/>
                </a:solidFill>
              </a:rPr>
              <a:t>Delphi</a:t>
            </a:r>
            <a:r>
              <a:rPr lang="ru-RU" sz="2000" dirty="0">
                <a:solidFill>
                  <a:srgbClr val="14234C"/>
                </a:solidFill>
              </a:rPr>
              <a:t>) </a:t>
            </a:r>
            <a:r>
              <a:rPr lang="ru-RU" sz="2000" dirty="0" smtClean="0">
                <a:solidFill>
                  <a:srgbClr val="14234C"/>
                </a:solidFill>
              </a:rPr>
              <a:t/>
            </a:r>
            <a:br>
              <a:rPr lang="ru-RU" sz="2000" dirty="0" smtClean="0">
                <a:solidFill>
                  <a:srgbClr val="14234C"/>
                </a:solidFill>
              </a:rPr>
            </a:br>
            <a:endParaRPr lang="ru-RU" sz="2000" dirty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Совместимость </a:t>
            </a:r>
            <a:r>
              <a:rPr lang="ru-RU" sz="2400" dirty="0">
                <a:solidFill>
                  <a:srgbClr val="14234C"/>
                </a:solidFill>
              </a:rPr>
              <a:t>кода, написанного на разных языках, возможность из кода на F# без усилий использовать библиотеки на C# и </a:t>
            </a:r>
            <a:r>
              <a:rPr lang="ru-RU" sz="2400" dirty="0" smtClean="0">
                <a:solidFill>
                  <a:srgbClr val="14234C"/>
                </a:solidFill>
              </a:rPr>
              <a:t>наоборот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Виртуальная </a:t>
            </a:r>
            <a:r>
              <a:rPr lang="ru-RU" sz="2400" dirty="0">
                <a:solidFill>
                  <a:srgbClr val="14234C"/>
                </a:solidFill>
              </a:rPr>
              <a:t>машина знает всё о выполнении программы и многое может проверять (обращения к памяти, границы массивов и т.д</a:t>
            </a:r>
            <a:r>
              <a:rPr lang="ru-RU" sz="2400" dirty="0" smtClean="0">
                <a:solidFill>
                  <a:srgbClr val="14234C"/>
                </a:solidFill>
              </a:rPr>
              <a:t>.)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JIT-компиляция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Зачем так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787597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Виртуальная </a:t>
            </a:r>
            <a:r>
              <a:rPr lang="ru-RU" sz="2400" dirty="0">
                <a:solidFill>
                  <a:srgbClr val="14234C"/>
                </a:solidFill>
              </a:rPr>
              <a:t>машина сама следит за используемой памятью и освобождает её, когда она перестаёт быть </a:t>
            </a:r>
            <a:r>
              <a:rPr lang="ru-RU" sz="2400" dirty="0" smtClean="0">
                <a:solidFill>
                  <a:srgbClr val="14234C"/>
                </a:solidFill>
              </a:rPr>
              <a:t>нужной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Корневое </a:t>
            </a:r>
            <a:r>
              <a:rPr lang="ru-RU" sz="2400" dirty="0">
                <a:solidFill>
                  <a:srgbClr val="14234C"/>
                </a:solidFill>
              </a:rPr>
              <a:t>множество (глобальные переменные и стек вызовов), достижимое </a:t>
            </a:r>
            <a:r>
              <a:rPr lang="ru-RU" sz="2400" dirty="0" smtClean="0">
                <a:solidFill>
                  <a:srgbClr val="14234C"/>
                </a:solidFill>
              </a:rPr>
              <a:t>множество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Вызывается</a:t>
            </a:r>
            <a:r>
              <a:rPr lang="ru-RU" sz="2400" dirty="0">
                <a:solidFill>
                  <a:srgbClr val="14234C"/>
                </a:solidFill>
              </a:rPr>
              <a:t>, «когда </a:t>
            </a:r>
            <a:r>
              <a:rPr lang="ru-RU" sz="2400" dirty="0" smtClean="0">
                <a:solidFill>
                  <a:srgbClr val="14234C"/>
                </a:solidFill>
              </a:rPr>
              <a:t>захочет»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Относительно </a:t>
            </a:r>
            <a:r>
              <a:rPr lang="ru-RU" sz="2400" dirty="0">
                <a:solidFill>
                  <a:srgbClr val="14234C"/>
                </a:solidFill>
              </a:rPr>
              <a:t>вычислительно </a:t>
            </a:r>
            <a:r>
              <a:rPr lang="ru-RU" sz="2400" dirty="0" smtClean="0">
                <a:solidFill>
                  <a:srgbClr val="14234C"/>
                </a:solidFill>
              </a:rPr>
              <a:t>сложно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Устроено </a:t>
            </a:r>
            <a:r>
              <a:rPr lang="ru-RU" sz="2400" dirty="0">
                <a:solidFill>
                  <a:srgbClr val="14234C"/>
                </a:solidFill>
              </a:rPr>
              <a:t>обычно довольно </a:t>
            </a:r>
            <a:r>
              <a:rPr lang="ru-RU" sz="2400" dirty="0" smtClean="0">
                <a:solidFill>
                  <a:srgbClr val="14234C"/>
                </a:solidFill>
              </a:rPr>
              <a:t>хитро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Поколения</a:t>
            </a:r>
            <a:r>
              <a:rPr lang="ru-RU" sz="2000" dirty="0">
                <a:solidFill>
                  <a:srgbClr val="14234C"/>
                </a:solidFill>
              </a:rPr>
              <a:t>, </a:t>
            </a:r>
            <a:r>
              <a:rPr lang="ru-RU" sz="2000" dirty="0" err="1">
                <a:solidFill>
                  <a:srgbClr val="14234C"/>
                </a:solidFill>
              </a:rPr>
              <a:t>Large</a:t>
            </a:r>
            <a:r>
              <a:rPr lang="ru-RU" sz="2000" dirty="0">
                <a:solidFill>
                  <a:srgbClr val="14234C"/>
                </a:solidFill>
              </a:rPr>
              <a:t> </a:t>
            </a:r>
            <a:r>
              <a:rPr lang="ru-RU" sz="2000" dirty="0" err="1">
                <a:solidFill>
                  <a:srgbClr val="14234C"/>
                </a:solidFill>
              </a:rPr>
              <a:t>Object</a:t>
            </a:r>
            <a:r>
              <a:rPr lang="ru-RU" sz="2000" dirty="0">
                <a:solidFill>
                  <a:srgbClr val="14234C"/>
                </a:solidFill>
              </a:rPr>
              <a:t> </a:t>
            </a:r>
            <a:r>
              <a:rPr lang="ru-RU" sz="2000" dirty="0" err="1">
                <a:solidFill>
                  <a:srgbClr val="14234C"/>
                </a:solidFill>
              </a:rPr>
              <a:t>Heap</a:t>
            </a:r>
            <a:r>
              <a:rPr lang="ru-RU" sz="2000" dirty="0">
                <a:solidFill>
                  <a:srgbClr val="14234C"/>
                </a:solidFill>
              </a:rPr>
              <a:t> и т.д</a:t>
            </a:r>
            <a:r>
              <a:rPr lang="ru-RU" sz="2000" dirty="0" smtClean="0">
                <a:solidFill>
                  <a:srgbClr val="14234C"/>
                </a:solidFill>
              </a:rPr>
              <a:t>.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 разобраться нужно, и позже разберёмся</a:t>
            </a: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Сборка мусора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958" y="2999028"/>
            <a:ext cx="3838526" cy="298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5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620543" cy="4079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1800" dirty="0" smtClean="0">
                <a:solidFill>
                  <a:srgbClr val="14234C"/>
                </a:solidFill>
              </a:rPr>
              <a:t>Roslyn – </a:t>
            </a:r>
            <a:r>
              <a:rPr lang="ru-RU" sz="1800" dirty="0" smtClean="0">
                <a:solidFill>
                  <a:srgbClr val="14234C"/>
                </a:solidFill>
              </a:rPr>
              <a:t>компилятор </a:t>
            </a:r>
            <a:r>
              <a:rPr lang="en-US" sz="1800" dirty="0" smtClean="0">
                <a:solidFill>
                  <a:srgbClr val="14234C"/>
                </a:solidFill>
              </a:rPr>
              <a:t>C#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1800" dirty="0" err="1" smtClean="0">
                <a:solidFill>
                  <a:srgbClr val="14234C"/>
                </a:solidFill>
              </a:rPr>
              <a:t>MSBuild</a:t>
            </a:r>
            <a:r>
              <a:rPr lang="en-US" sz="1800" dirty="0" smtClean="0">
                <a:solidFill>
                  <a:srgbClr val="14234C"/>
                </a:solidFill>
              </a:rPr>
              <a:t> – </a:t>
            </a:r>
            <a:r>
              <a:rPr lang="ru-RU" sz="1800" dirty="0" smtClean="0">
                <a:solidFill>
                  <a:srgbClr val="14234C"/>
                </a:solidFill>
              </a:rPr>
              <a:t>утилита сборки</a:t>
            </a:r>
            <a:br>
              <a:rPr lang="ru-RU" sz="1800" dirty="0" smtClean="0">
                <a:solidFill>
                  <a:srgbClr val="14234C"/>
                </a:solidFill>
              </a:rPr>
            </a:br>
            <a:endParaRPr lang="en-US" sz="18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1800" dirty="0" err="1" smtClean="0">
                <a:solidFill>
                  <a:srgbClr val="14234C"/>
                </a:solidFill>
              </a:rPr>
              <a:t>MSBuild</a:t>
            </a:r>
            <a:r>
              <a:rPr lang="en-US" sz="1800" dirty="0" smtClean="0">
                <a:solidFill>
                  <a:srgbClr val="14234C"/>
                </a:solidFill>
              </a:rPr>
              <a:t> </a:t>
            </a:r>
            <a:r>
              <a:rPr lang="ru-RU" sz="1800" dirty="0" smtClean="0">
                <a:solidFill>
                  <a:srgbClr val="14234C"/>
                </a:solidFill>
              </a:rPr>
              <a:t>превращает </a:t>
            </a:r>
            <a:r>
              <a:rPr lang="en-US" sz="1800" dirty="0" smtClean="0">
                <a:solidFill>
                  <a:srgbClr val="14234C"/>
                </a:solidFill>
              </a:rPr>
              <a:t>.</a:t>
            </a:r>
            <a:r>
              <a:rPr lang="en-US" sz="1800" dirty="0" err="1" smtClean="0">
                <a:solidFill>
                  <a:srgbClr val="14234C"/>
                </a:solidFill>
              </a:rPr>
              <a:t>cs</a:t>
            </a:r>
            <a:r>
              <a:rPr lang="en-US" sz="1800" dirty="0" smtClean="0">
                <a:solidFill>
                  <a:srgbClr val="14234C"/>
                </a:solidFill>
              </a:rPr>
              <a:t> </a:t>
            </a:r>
            <a:r>
              <a:rPr lang="ru-RU" sz="1800" dirty="0" smtClean="0">
                <a:solidFill>
                  <a:srgbClr val="14234C"/>
                </a:solidFill>
              </a:rPr>
              <a:t>и </a:t>
            </a:r>
            <a:r>
              <a:rPr lang="en-US" sz="1800" dirty="0" smtClean="0">
                <a:solidFill>
                  <a:srgbClr val="14234C"/>
                </a:solidFill>
              </a:rPr>
              <a:t>.</a:t>
            </a:r>
            <a:r>
              <a:rPr lang="en-US" sz="1800" dirty="0" err="1" smtClean="0">
                <a:solidFill>
                  <a:srgbClr val="14234C"/>
                </a:solidFill>
              </a:rPr>
              <a:t>csproj</a:t>
            </a:r>
            <a:r>
              <a:rPr lang="en-US" sz="1800" dirty="0" smtClean="0">
                <a:solidFill>
                  <a:srgbClr val="14234C"/>
                </a:solidFill>
              </a:rPr>
              <a:t> </a:t>
            </a:r>
            <a:r>
              <a:rPr lang="ru-RU" sz="1800" dirty="0" smtClean="0">
                <a:solidFill>
                  <a:srgbClr val="14234C"/>
                </a:solidFill>
              </a:rPr>
              <a:t>файлы в «сборки» -- </a:t>
            </a:r>
            <a:r>
              <a:rPr lang="en-US" sz="1800" dirty="0" smtClean="0">
                <a:solidFill>
                  <a:srgbClr val="14234C"/>
                </a:solidFill>
              </a:rPr>
              <a:t>.</a:t>
            </a:r>
            <a:r>
              <a:rPr lang="en-US" sz="1800" dirty="0" err="1" smtClean="0">
                <a:solidFill>
                  <a:srgbClr val="14234C"/>
                </a:solidFill>
              </a:rPr>
              <a:t>dll</a:t>
            </a:r>
            <a:r>
              <a:rPr lang="en-US" sz="1800" dirty="0" smtClean="0">
                <a:solidFill>
                  <a:srgbClr val="14234C"/>
                </a:solidFill>
              </a:rPr>
              <a:t> </a:t>
            </a:r>
            <a:r>
              <a:rPr lang="ru-RU" sz="1800" dirty="0" smtClean="0">
                <a:solidFill>
                  <a:srgbClr val="14234C"/>
                </a:solidFill>
              </a:rPr>
              <a:t>или </a:t>
            </a:r>
            <a:r>
              <a:rPr lang="en-US" sz="1800" dirty="0" smtClean="0">
                <a:solidFill>
                  <a:srgbClr val="14234C"/>
                </a:solidFill>
              </a:rPr>
              <a:t>.exe </a:t>
            </a:r>
            <a:r>
              <a:rPr lang="ru-RU" sz="1800" dirty="0" smtClean="0">
                <a:solidFill>
                  <a:srgbClr val="14234C"/>
                </a:solidFill>
              </a:rPr>
              <a:t>файлы. «Сборки» содержат </a:t>
            </a:r>
            <a:r>
              <a:rPr lang="ru-RU" sz="1800" dirty="0" err="1" smtClean="0">
                <a:solidFill>
                  <a:srgbClr val="14234C"/>
                </a:solidFill>
              </a:rPr>
              <a:t>байткод</a:t>
            </a:r>
            <a:r>
              <a:rPr lang="ru-RU" sz="1800" dirty="0" smtClean="0">
                <a:solidFill>
                  <a:srgbClr val="14234C"/>
                </a:solidFill>
              </a:rPr>
              <a:t> виртуальной машины – тот самый промежуточный код, а также метаданные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1800" dirty="0" smtClean="0">
                <a:solidFill>
                  <a:srgbClr val="14234C"/>
                </a:solidFill>
              </a:rPr>
              <a:t>.NET CLR (runtime)</a:t>
            </a:r>
            <a:r>
              <a:rPr lang="ru-RU" sz="1800" dirty="0" smtClean="0">
                <a:solidFill>
                  <a:srgbClr val="14234C"/>
                </a:solidFill>
              </a:rPr>
              <a:t> </a:t>
            </a:r>
            <a:r>
              <a:rPr lang="ru-RU" sz="1800" dirty="0">
                <a:solidFill>
                  <a:srgbClr val="14234C"/>
                </a:solidFill>
              </a:rPr>
              <a:t>интерпретирует байт-код или компилирует его «на лету» в машинные коды </a:t>
            </a:r>
            <a:r>
              <a:rPr lang="en-US" sz="1800" dirty="0" smtClean="0">
                <a:solidFill>
                  <a:srgbClr val="14234C"/>
                </a:solidFill>
              </a:rPr>
              <a:t> 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1800" dirty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1800" dirty="0" smtClean="0">
                <a:solidFill>
                  <a:srgbClr val="14234C"/>
                </a:solidFill>
              </a:rPr>
              <a:t>Существуют дизассемблеры, которые по промежуточному коду восстанавливают исходный</a:t>
            </a:r>
            <a:endParaRPr lang="en-US" sz="1800" dirty="0" smtClean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1600" dirty="0" smtClean="0">
                <a:solidFill>
                  <a:srgbClr val="14234C"/>
                </a:solidFill>
              </a:rPr>
              <a:t>Оригинальный </a:t>
            </a:r>
            <a:r>
              <a:rPr lang="en-US" sz="1600" dirty="0" smtClean="0">
                <a:solidFill>
                  <a:srgbClr val="14234C"/>
                </a:solidFill>
              </a:rPr>
              <a:t>ildasm.exe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1600" dirty="0" err="1" smtClean="0">
                <a:solidFill>
                  <a:srgbClr val="14234C"/>
                </a:solidFill>
              </a:rPr>
              <a:t>Jetbrains</a:t>
            </a:r>
            <a:r>
              <a:rPr lang="en-US" sz="1600" dirty="0" smtClean="0">
                <a:solidFill>
                  <a:srgbClr val="14234C"/>
                </a:solidFill>
              </a:rPr>
              <a:t> Disassembler </a:t>
            </a:r>
            <a:r>
              <a:rPr lang="ru-RU" sz="1600" dirty="0" smtClean="0">
                <a:solidFill>
                  <a:srgbClr val="14234C"/>
                </a:solidFill>
              </a:rPr>
              <a:t>в </a:t>
            </a:r>
            <a:r>
              <a:rPr lang="en-US" sz="1600" dirty="0" smtClean="0">
                <a:solidFill>
                  <a:srgbClr val="14234C"/>
                </a:solidFill>
              </a:rPr>
              <a:t>Rider</a:t>
            </a:r>
            <a:endParaRPr lang="ru-RU" sz="16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Сборка и запуск (1)</a:t>
            </a:r>
            <a:endParaRPr lang="en-US" sz="4000" dirty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2"/>
            <a:ext cx="9620543" cy="459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96" lvl="1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0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Напрямую вызывать </a:t>
            </a:r>
            <a:r>
              <a:rPr lang="en-US" sz="2400" dirty="0" err="1" smtClean="0">
                <a:solidFill>
                  <a:srgbClr val="14234C"/>
                </a:solidFill>
              </a:rPr>
              <a:t>MSBuild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 smtClean="0">
                <a:solidFill>
                  <a:srgbClr val="14234C"/>
                </a:solidFill>
              </a:rPr>
              <a:t>для сборки уже не модно, используем утилиту </a:t>
            </a:r>
            <a:r>
              <a:rPr lang="en-US" sz="2400" b="1" dirty="0" err="1" smtClean="0">
                <a:solidFill>
                  <a:srgbClr val="14234C"/>
                </a:solidFill>
              </a:rPr>
              <a:t>dotnet</a:t>
            </a:r>
            <a:r>
              <a:rPr lang="en-US" sz="2400" b="1" dirty="0" smtClean="0">
                <a:solidFill>
                  <a:srgbClr val="14234C"/>
                </a:solidFill>
              </a:rPr>
              <a:t> </a:t>
            </a:r>
            <a:r>
              <a:rPr lang="ru-RU" sz="2400" dirty="0" smtClean="0">
                <a:solidFill>
                  <a:srgbClr val="14234C"/>
                </a:solidFill>
              </a:rPr>
              <a:t>(распространяется в составе </a:t>
            </a:r>
            <a:r>
              <a:rPr lang="en-US" sz="2400" dirty="0"/>
              <a:t>.NET </a:t>
            </a:r>
            <a:r>
              <a:rPr lang="en-US" sz="2400" dirty="0" smtClean="0"/>
              <a:t>SDK</a:t>
            </a:r>
            <a:r>
              <a:rPr lang="ru-RU" sz="2400" dirty="0" smtClean="0"/>
              <a:t>)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b="1" dirty="0" err="1" smtClean="0">
                <a:solidFill>
                  <a:srgbClr val="14234C"/>
                </a:solidFill>
              </a:rPr>
              <a:t>dotnet</a:t>
            </a:r>
            <a:r>
              <a:rPr lang="en-US" sz="2000" b="1" dirty="0" smtClean="0">
                <a:solidFill>
                  <a:srgbClr val="14234C"/>
                </a:solidFill>
              </a:rPr>
              <a:t> build</a:t>
            </a:r>
            <a:r>
              <a:rPr lang="en-US" sz="2000" dirty="0" smtClean="0">
                <a:solidFill>
                  <a:srgbClr val="14234C"/>
                </a:solidFill>
              </a:rPr>
              <a:t> </a:t>
            </a:r>
            <a:r>
              <a:rPr lang="ru-RU" sz="2000" dirty="0" smtClean="0">
                <a:solidFill>
                  <a:srgbClr val="14234C"/>
                </a:solidFill>
              </a:rPr>
              <a:t>для сборки</a:t>
            </a:r>
            <a:r>
              <a:rPr lang="en-US" sz="2000" dirty="0" smtClean="0">
                <a:solidFill>
                  <a:srgbClr val="14234C"/>
                </a:solidFill>
              </a:rPr>
              <a:t> (</a:t>
            </a:r>
            <a:r>
              <a:rPr lang="ru-RU" sz="2000" dirty="0" smtClean="0">
                <a:solidFill>
                  <a:srgbClr val="14234C"/>
                </a:solidFill>
              </a:rPr>
              <a:t>под капотом </a:t>
            </a:r>
            <a:r>
              <a:rPr lang="en-US" sz="2000" dirty="0" err="1" smtClean="0">
                <a:solidFill>
                  <a:srgbClr val="14234C"/>
                </a:solidFill>
              </a:rPr>
              <a:t>MSBuild</a:t>
            </a:r>
            <a:r>
              <a:rPr lang="en-US" sz="2000" dirty="0" smtClean="0">
                <a:solidFill>
                  <a:srgbClr val="14234C"/>
                </a:solidFill>
              </a:rPr>
              <a:t> -&gt; Roslyn)</a:t>
            </a:r>
            <a:endParaRPr lang="ru-RU" sz="2000" dirty="0" smtClean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b="1" dirty="0" err="1">
                <a:solidFill>
                  <a:srgbClr val="14234C"/>
                </a:solidFill>
              </a:rPr>
              <a:t>d</a:t>
            </a:r>
            <a:r>
              <a:rPr lang="en-US" sz="2000" b="1" dirty="0" err="1" smtClean="0">
                <a:solidFill>
                  <a:srgbClr val="14234C"/>
                </a:solidFill>
              </a:rPr>
              <a:t>otnet</a:t>
            </a:r>
            <a:r>
              <a:rPr lang="en-US" sz="2000" b="1" dirty="0" smtClean="0">
                <a:solidFill>
                  <a:srgbClr val="14234C"/>
                </a:solidFill>
              </a:rPr>
              <a:t> run</a:t>
            </a:r>
            <a:r>
              <a:rPr lang="en-US" sz="2000" dirty="0" smtClean="0">
                <a:solidFill>
                  <a:srgbClr val="14234C"/>
                </a:solidFill>
              </a:rPr>
              <a:t> </a:t>
            </a:r>
            <a:r>
              <a:rPr lang="ru-RU" sz="2000" dirty="0" smtClean="0">
                <a:solidFill>
                  <a:srgbClr val="14234C"/>
                </a:solidFill>
              </a:rPr>
              <a:t>для запуска</a:t>
            </a:r>
            <a:r>
              <a:rPr lang="en-US" sz="2000" dirty="0" smtClean="0">
                <a:solidFill>
                  <a:srgbClr val="14234C"/>
                </a:solidFill>
              </a:rPr>
              <a:t> (</a:t>
            </a:r>
            <a:r>
              <a:rPr lang="ru-RU" sz="2000" dirty="0" smtClean="0">
                <a:solidFill>
                  <a:srgbClr val="14234C"/>
                </a:solidFill>
              </a:rPr>
              <a:t>уже включает в себя этап сборки)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000" dirty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Скорее всего, вы будете запускаться напрямую из </a:t>
            </a:r>
            <a:r>
              <a:rPr lang="en-US" sz="2400" dirty="0" smtClean="0">
                <a:solidFill>
                  <a:srgbClr val="14234C"/>
                </a:solidFill>
              </a:rPr>
              <a:t>IDE</a:t>
            </a:r>
            <a:r>
              <a:rPr lang="ru-RU" sz="2400" dirty="0" smtClean="0">
                <a:solidFill>
                  <a:srgbClr val="14234C"/>
                </a:solidFill>
              </a:rPr>
              <a:t>, но знать полезно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Сборка и запуск (2)</a:t>
            </a:r>
            <a:endParaRPr lang="en-US" sz="4000" dirty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99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err="1" smtClean="0">
                <a:solidFill>
                  <a:srgbClr val="14234C"/>
                </a:solidFill>
              </a:rPr>
              <a:t>Hello</a:t>
            </a:r>
            <a:r>
              <a:rPr lang="ru-RU" sz="2400" dirty="0">
                <a:solidFill>
                  <a:srgbClr val="14234C"/>
                </a:solidFill>
              </a:rPr>
              <a:t>, </a:t>
            </a:r>
            <a:r>
              <a:rPr lang="en-US" sz="2400" dirty="0" smtClean="0">
                <a:solidFill>
                  <a:srgbClr val="14234C"/>
                </a:solidFill>
              </a:rPr>
              <a:t>world</a:t>
            </a:r>
            <a:r>
              <a:rPr lang="ru-RU" sz="2400" dirty="0" smtClean="0">
                <a:solidFill>
                  <a:srgbClr val="14234C"/>
                </a:solidFill>
              </a:rPr>
              <a:t>: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Технические детали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067283" y="2283306"/>
            <a:ext cx="841599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System.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Goodbye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cruel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world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!"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36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Или «полная форма»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Технические детали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067283" y="2195882"/>
            <a:ext cx="12192000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using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System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namespace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HelloWorld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Program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Goodbye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cruel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world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!"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31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Или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Технические детали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. Циклы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19908" y="1635048"/>
            <a:ext cx="7116051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for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i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i &lt;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300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++i)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"Мат-мех не для всех!"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19909" y="3829324"/>
            <a:ext cx="7116051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for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i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i &lt;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300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++i)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"Мат-мех не для всех!"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2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Или так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Технические детали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. Функции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43000" y="1520823"/>
            <a:ext cx="6444762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if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(n &lt;=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*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(n -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097280" y="4755417"/>
            <a:ext cx="6362639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=&gt;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&lt;=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?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*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(n -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29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Использование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97436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Технические детали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81454" y="2261213"/>
            <a:ext cx="6362639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using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System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=&gt;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&lt;=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?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*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(n -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4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));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Использование – «полная» форма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97436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Технические детали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C#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2662" y="2100907"/>
            <a:ext cx="8170827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namespace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HelloWorld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Program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static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return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&lt;=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?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 *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(n -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System.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4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99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86200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dirty="0">
                <a:solidFill>
                  <a:srgbClr val="14234C"/>
                </a:solidFill>
              </a:rPr>
              <a:t>C# Coding </a:t>
            </a:r>
            <a:r>
              <a:rPr lang="en-US" sz="2400" dirty="0" smtClean="0">
                <a:solidFill>
                  <a:srgbClr val="14234C"/>
                </a:solidFill>
              </a:rPr>
              <a:t>Conventions</a:t>
            </a:r>
            <a:endParaRPr lang="ru-RU" sz="2400" dirty="0" smtClean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  <a:hlinkClick r:id="rId2"/>
              </a:rPr>
              <a:t>https</a:t>
            </a:r>
            <a:r>
              <a:rPr lang="en-US" sz="2000" dirty="0">
                <a:solidFill>
                  <a:srgbClr val="14234C"/>
                </a:solidFill>
                <a:hlinkClick r:id="rId2"/>
              </a:rPr>
              <a:t>://</a:t>
            </a:r>
            <a:r>
              <a:rPr lang="en-US" sz="2000" dirty="0" smtClean="0">
                <a:solidFill>
                  <a:srgbClr val="14234C"/>
                </a:solidFill>
                <a:hlinkClick r:id="rId2"/>
              </a:rPr>
              <a:t>learn.microsoft.com/en-us/dotnet/csharp/fundamentals/coding-style/coding-conventions</a:t>
            </a:r>
            <a:r>
              <a:rPr lang="ru-RU" sz="2000" dirty="0" smtClean="0">
                <a:solidFill>
                  <a:srgbClr val="14234C"/>
                </a:solidFill>
              </a:rPr>
              <a:t> 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  <a:hlinkClick r:id="rId3"/>
              </a:rPr>
              <a:t>https</a:t>
            </a:r>
            <a:r>
              <a:rPr lang="en-US" sz="2000" dirty="0">
                <a:solidFill>
                  <a:srgbClr val="14234C"/>
                </a:solidFill>
                <a:hlinkClick r:id="rId3"/>
              </a:rPr>
              <a:t>://</a:t>
            </a:r>
            <a:r>
              <a:rPr lang="en-US" sz="2000" dirty="0" smtClean="0">
                <a:solidFill>
                  <a:srgbClr val="14234C"/>
                </a:solidFill>
                <a:hlinkClick r:id="rId3"/>
              </a:rPr>
              <a:t>github.com/DotNetAnalyzers/StyleCopAnalyzers</a:t>
            </a:r>
            <a:r>
              <a:rPr lang="ru-RU" sz="2000" dirty="0" smtClean="0">
                <a:solidFill>
                  <a:srgbClr val="14234C"/>
                </a:solidFill>
              </a:rPr>
              <a:t> </a:t>
            </a:r>
            <a:r>
              <a:rPr lang="ru-RU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ru-RU" sz="2000" dirty="0" smtClean="0">
                <a:solidFill>
                  <a:srgbClr val="14234C"/>
                </a:solidFill>
              </a:rPr>
              <a:t> полезно, но в </a:t>
            </a:r>
            <a:r>
              <a:rPr lang="ru-RU" sz="2000" dirty="0" err="1" smtClean="0">
                <a:solidFill>
                  <a:srgbClr val="14234C"/>
                </a:solidFill>
              </a:rPr>
              <a:t>продакшене</a:t>
            </a:r>
            <a:r>
              <a:rPr lang="ru-RU" sz="2000" dirty="0" smtClean="0">
                <a:solidFill>
                  <a:srgbClr val="14234C"/>
                </a:solidFill>
              </a:rPr>
              <a:t> используется мало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  <a:hlinkClick r:id="rId4"/>
              </a:rPr>
              <a:t>Code Analysis for Managed Code</a:t>
            </a:r>
            <a:endParaRPr lang="ru-RU" sz="2000" dirty="0" smtClean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b="1" dirty="0" smtClean="0">
                <a:solidFill>
                  <a:srgbClr val="14234C"/>
                </a:solidFill>
              </a:rPr>
              <a:t>Здравый смысл </a:t>
            </a:r>
            <a:r>
              <a:rPr lang="en-US" sz="2000" b="1" dirty="0" smtClean="0">
                <a:solidFill>
                  <a:srgbClr val="14234C"/>
                </a:solidFill>
              </a:rPr>
              <a:t/>
            </a:r>
            <a:br>
              <a:rPr lang="en-US" sz="2000" b="1" dirty="0" smtClean="0">
                <a:solidFill>
                  <a:srgbClr val="14234C"/>
                </a:solidFill>
              </a:rPr>
            </a:br>
            <a:endParaRPr lang="ru-RU" sz="2000" b="1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Позже на курсе поговорим про минимальный «чистый код»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6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97436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Стайлгайд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2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297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Типы </a:t>
            </a:r>
            <a:r>
              <a:rPr lang="ru-RU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даных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. Всё </a:t>
            </a:r>
            <a:r>
              <a:rPr lang="ru-RU" sz="4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 объект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11" y="1718341"/>
            <a:ext cx="1138396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9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Методы </a:t>
            </a:r>
            <a:r>
              <a:rPr lang="en-US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System.Object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b="1" dirty="0" smtClean="0">
                <a:solidFill>
                  <a:srgbClr val="14234C"/>
                </a:solidFill>
              </a:rPr>
              <a:t>Equals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en-US" sz="2400" dirty="0">
                <a:solidFill>
                  <a:srgbClr val="14234C"/>
                </a:solidFill>
              </a:rPr>
              <a:t>— </a:t>
            </a:r>
            <a:r>
              <a:rPr lang="ru-RU" sz="2400" dirty="0" smtClean="0">
                <a:solidFill>
                  <a:srgbClr val="14234C"/>
                </a:solidFill>
              </a:rPr>
              <a:t>виртуальный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b="1" dirty="0" err="1" smtClean="0">
                <a:solidFill>
                  <a:srgbClr val="14234C"/>
                </a:solidFill>
              </a:rPr>
              <a:t>GetHashCode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en-US" sz="2400" dirty="0">
                <a:solidFill>
                  <a:srgbClr val="14234C"/>
                </a:solidFill>
              </a:rPr>
              <a:t>— </a:t>
            </a:r>
            <a:r>
              <a:rPr lang="ru-RU" sz="2400" dirty="0" smtClean="0">
                <a:solidFill>
                  <a:srgbClr val="14234C"/>
                </a:solidFill>
              </a:rPr>
              <a:t>виртуальный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b="1" dirty="0" err="1" smtClean="0">
                <a:solidFill>
                  <a:srgbClr val="14234C"/>
                </a:solidFill>
              </a:rPr>
              <a:t>ToString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en-US" sz="2400" dirty="0">
                <a:solidFill>
                  <a:srgbClr val="14234C"/>
                </a:solidFill>
              </a:rPr>
              <a:t>— </a:t>
            </a:r>
            <a:r>
              <a:rPr lang="ru-RU" sz="2400" dirty="0" smtClean="0">
                <a:solidFill>
                  <a:srgbClr val="14234C"/>
                </a:solidFill>
              </a:rPr>
              <a:t>виртуальный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b="1" dirty="0" err="1" smtClean="0">
                <a:solidFill>
                  <a:srgbClr val="14234C"/>
                </a:solidFill>
              </a:rPr>
              <a:t>GetType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en-US" sz="2400" dirty="0">
                <a:solidFill>
                  <a:srgbClr val="14234C"/>
                </a:solidFill>
              </a:rPr>
              <a:t>— </a:t>
            </a:r>
            <a:r>
              <a:rPr lang="ru-RU" sz="2400" dirty="0" err="1" smtClean="0">
                <a:solidFill>
                  <a:srgbClr val="14234C"/>
                </a:solidFill>
              </a:rPr>
              <a:t>невиртуальный</a:t>
            </a:r>
            <a:r>
              <a:rPr lang="ru-RU" sz="2400" dirty="0" smtClean="0">
                <a:solidFill>
                  <a:srgbClr val="14234C"/>
                </a:solidFill>
              </a:rPr>
              <a:t/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en-US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dirty="0" err="1" smtClean="0">
                <a:solidFill>
                  <a:srgbClr val="14234C"/>
                </a:solidFill>
              </a:rPr>
              <a:t>MemberwiseClone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en-US" sz="2400" dirty="0">
                <a:solidFill>
                  <a:srgbClr val="14234C"/>
                </a:solidFill>
              </a:rPr>
              <a:t>— </a:t>
            </a:r>
            <a:r>
              <a:rPr lang="ru-RU" sz="2400" dirty="0" err="1">
                <a:solidFill>
                  <a:srgbClr val="14234C"/>
                </a:solidFill>
              </a:rPr>
              <a:t>невиртуальный</a:t>
            </a:r>
            <a:r>
              <a:rPr lang="ru-RU" sz="2400" dirty="0">
                <a:solidFill>
                  <a:srgbClr val="14234C"/>
                </a:solidFill>
              </a:rPr>
              <a:t> </a:t>
            </a:r>
            <a:r>
              <a:rPr lang="ru-RU" sz="2400" dirty="0" smtClean="0">
                <a:solidFill>
                  <a:srgbClr val="14234C"/>
                </a:solidFill>
              </a:rPr>
              <a:t>защищённый</a:t>
            </a:r>
            <a:r>
              <a:rPr lang="en-US" sz="2400" dirty="0" smtClean="0">
                <a:solidFill>
                  <a:srgbClr val="14234C"/>
                </a:solidFill>
              </a:rPr>
              <a:t> (</a:t>
            </a:r>
            <a:r>
              <a:rPr lang="ru-RU" sz="2400" dirty="0" smtClean="0">
                <a:solidFill>
                  <a:srgbClr val="14234C"/>
                </a:solidFill>
              </a:rPr>
              <a:t>просто так не вызывать)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Создаёт </a:t>
            </a:r>
            <a:r>
              <a:rPr lang="ru-RU" sz="2000" dirty="0">
                <a:solidFill>
                  <a:srgbClr val="14234C"/>
                </a:solidFill>
              </a:rPr>
              <a:t>объект, не вызывая </a:t>
            </a:r>
            <a:r>
              <a:rPr lang="ru-RU" sz="2000" dirty="0" smtClean="0">
                <a:solidFill>
                  <a:srgbClr val="14234C"/>
                </a:solidFill>
              </a:rPr>
              <a:t>конструктор</a:t>
            </a:r>
            <a:endParaRPr lang="en-US" sz="20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dirty="0" smtClean="0">
                <a:solidFill>
                  <a:srgbClr val="14234C"/>
                </a:solidFill>
              </a:rPr>
              <a:t>Finalize </a:t>
            </a:r>
            <a:r>
              <a:rPr lang="en-US" sz="2400" dirty="0">
                <a:solidFill>
                  <a:srgbClr val="14234C"/>
                </a:solidFill>
              </a:rPr>
              <a:t>— </a:t>
            </a:r>
            <a:r>
              <a:rPr lang="ru-RU" sz="2400" dirty="0">
                <a:solidFill>
                  <a:srgbClr val="14234C"/>
                </a:solidFill>
              </a:rPr>
              <a:t>виртуальный </a:t>
            </a:r>
            <a:r>
              <a:rPr lang="ru-RU" sz="2400" dirty="0" smtClean="0">
                <a:solidFill>
                  <a:srgbClr val="14234C"/>
                </a:solidFill>
              </a:rPr>
              <a:t>защищённый </a:t>
            </a:r>
            <a:r>
              <a:rPr lang="en-US" sz="2400" dirty="0" smtClean="0">
                <a:solidFill>
                  <a:srgbClr val="14234C"/>
                </a:solidFill>
              </a:rPr>
              <a:t>(</a:t>
            </a:r>
            <a:r>
              <a:rPr lang="ru-RU" sz="2400" dirty="0">
                <a:solidFill>
                  <a:srgbClr val="14234C"/>
                </a:solidFill>
              </a:rPr>
              <a:t>просто так не вызывать)</a:t>
            </a:r>
            <a:endParaRPr lang="en-US" sz="2400" dirty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16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787597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Ссылочные </a:t>
            </a:r>
            <a:r>
              <a:rPr lang="ru-RU" sz="2400" dirty="0" smtClean="0">
                <a:solidFill>
                  <a:srgbClr val="14234C"/>
                </a:solidFill>
              </a:rPr>
              <a:t>типы: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Пользовательские классы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Строки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Массивы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Исключения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Делегаты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Типы-значения: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Примитивные типы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Перечисления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Структуры </a:t>
            </a:r>
            <a:endParaRPr lang="ru-RU" sz="12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Ссылочные типы и типы-значения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704088" y="1570423"/>
            <a:ext cx="9787597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12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Ссылочные типы и типы-значения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06300" y="4355534"/>
            <a:ext cx="5759910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circle1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circle2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15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circle3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null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circle3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circle2;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35" y="1419738"/>
            <a:ext cx="7887105" cy="264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0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Всё — объект, даже </a:t>
            </a:r>
            <a:r>
              <a:rPr lang="ru-RU" sz="2400" dirty="0" err="1">
                <a:solidFill>
                  <a:srgbClr val="14234C"/>
                </a:solidFill>
              </a:rPr>
              <a:t>int</a:t>
            </a:r>
            <a:r>
              <a:rPr lang="ru-RU" sz="2400" dirty="0">
                <a:solidFill>
                  <a:srgbClr val="14234C"/>
                </a:solidFill>
              </a:rPr>
              <a:t> наследуется от </a:t>
            </a:r>
            <a:r>
              <a:rPr lang="ru-RU" sz="2400" dirty="0" err="1" smtClean="0">
                <a:solidFill>
                  <a:srgbClr val="14234C"/>
                </a:solidFill>
              </a:rPr>
              <a:t>Object</a:t>
            </a:r>
            <a:r>
              <a:rPr lang="ru-RU" sz="2400" dirty="0" smtClean="0">
                <a:solidFill>
                  <a:srgbClr val="14234C"/>
                </a:solidFill>
              </a:rPr>
              <a:t/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Типы стандартизованы: размер </a:t>
            </a:r>
            <a:r>
              <a:rPr lang="ru-RU" sz="2400" dirty="0">
                <a:solidFill>
                  <a:srgbClr val="14234C"/>
                </a:solidFill>
              </a:rPr>
              <a:t>и множество значений одинаковы во всех </a:t>
            </a:r>
            <a:r>
              <a:rPr lang="ru-RU" sz="2400" dirty="0" smtClean="0">
                <a:solidFill>
                  <a:srgbClr val="14234C"/>
                </a:solidFill>
              </a:rPr>
              <a:t>реализациях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Каждому </a:t>
            </a:r>
            <a:r>
              <a:rPr lang="ru-RU" sz="2400" dirty="0">
                <a:solidFill>
                  <a:srgbClr val="14234C"/>
                </a:solidFill>
              </a:rPr>
              <a:t>типу соответствует библиотечный </a:t>
            </a:r>
            <a:r>
              <a:rPr lang="ru-RU" sz="2400" dirty="0" smtClean="0">
                <a:solidFill>
                  <a:srgbClr val="14234C"/>
                </a:solidFill>
              </a:rPr>
              <a:t>класс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Например</a:t>
            </a:r>
            <a:r>
              <a:rPr lang="ru-RU" sz="2000" dirty="0">
                <a:solidFill>
                  <a:srgbClr val="14234C"/>
                </a:solidFill>
              </a:rPr>
              <a:t>, </a:t>
            </a:r>
            <a:r>
              <a:rPr lang="ru-RU" sz="2000" dirty="0" err="1">
                <a:solidFill>
                  <a:srgbClr val="14234C"/>
                </a:solidFill>
              </a:rPr>
              <a:t>int</a:t>
            </a:r>
            <a:r>
              <a:rPr lang="ru-RU" sz="2000" dirty="0">
                <a:solidFill>
                  <a:srgbClr val="14234C"/>
                </a:solidFill>
              </a:rPr>
              <a:t> — </a:t>
            </a:r>
            <a:r>
              <a:rPr lang="ru-RU" sz="2000" dirty="0" smtClean="0">
                <a:solidFill>
                  <a:srgbClr val="14234C"/>
                </a:solidFill>
              </a:rPr>
              <a:t>System.Int32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У </a:t>
            </a:r>
            <a:r>
              <a:rPr lang="ru-RU" sz="2400" dirty="0">
                <a:solidFill>
                  <a:srgbClr val="14234C"/>
                </a:solidFill>
              </a:rPr>
              <a:t>каждого типа есть значение по </a:t>
            </a:r>
            <a:r>
              <a:rPr lang="ru-RU" sz="2400" dirty="0" smtClean="0">
                <a:solidFill>
                  <a:srgbClr val="14234C"/>
                </a:solidFill>
              </a:rPr>
              <a:t>умолчанию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Ими </a:t>
            </a:r>
            <a:r>
              <a:rPr lang="ru-RU" sz="2000" dirty="0" smtClean="0">
                <a:solidFill>
                  <a:srgbClr val="14234C"/>
                </a:solidFill>
              </a:rPr>
              <a:t>поля </a:t>
            </a:r>
            <a:r>
              <a:rPr lang="ru-RU" sz="2000" dirty="0">
                <a:solidFill>
                  <a:srgbClr val="14234C"/>
                </a:solidFill>
              </a:rPr>
              <a:t>инициализируются при создании</a:t>
            </a:r>
            <a:endParaRPr lang="ru-RU" sz="8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Примитивные типы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2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Это то же самое, что</a:t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000" dirty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8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Методы у типов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38554" y="1794960"/>
            <a:ext cx="5759910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inputString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ReadLine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number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Parse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(inputString);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38554" y="3467508"/>
            <a:ext cx="5910592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inputString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ReadLine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number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00073"/>
                </a:solidFill>
                <a:effectLst/>
                <a:latin typeface="Cascadia Code" panose="020B0609020000020004" pitchFamily="49" charset="0"/>
              </a:rPr>
              <a:t>Int32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Parse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(inputString);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59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388941"/>
            <a:ext cx="9383151" cy="502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или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Пример: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Двумерные массивы: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000" dirty="0">
                <a:solidFill>
                  <a:srgbClr val="14234C"/>
                </a:solidFill>
              </a:rPr>
              <a:t>Массивы знают свою длину (см. свойство </a:t>
            </a:r>
            <a:r>
              <a:rPr lang="ru-RU" sz="2000" dirty="0" err="1">
                <a:solidFill>
                  <a:srgbClr val="14234C"/>
                </a:solidFill>
              </a:rPr>
              <a:t>Length</a:t>
            </a:r>
            <a:r>
              <a:rPr lang="ru-RU" sz="2000" dirty="0">
                <a:solidFill>
                  <a:srgbClr val="14234C"/>
                </a:solidFill>
              </a:rPr>
              <a:t> и метод </a:t>
            </a:r>
            <a:r>
              <a:rPr lang="ru-RU" sz="2000" dirty="0" err="1">
                <a:solidFill>
                  <a:srgbClr val="14234C"/>
                </a:solidFill>
              </a:rPr>
              <a:t>GetLength</a:t>
            </a:r>
            <a:r>
              <a:rPr lang="ru-RU" sz="2000" dirty="0">
                <a:solidFill>
                  <a:srgbClr val="14234C"/>
                </a:solidFill>
              </a:rPr>
              <a:t>())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8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Массивы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720622"/>
            <a:ext cx="2917553" cy="1135932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02679" y="1459601"/>
            <a:ext cx="3499676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];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02679" y="2096421"/>
            <a:ext cx="3198311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a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];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02679" y="2961028"/>
            <a:ext cx="5307863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for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i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i &lt;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a.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Length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++i)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a[i] = i;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02679" y="4877952"/>
            <a:ext cx="10431061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[,]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numbers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];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numbers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]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[,]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numbers2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] { 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}, 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6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}, 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4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 };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14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Значения копируются при присваивании</a:t>
            </a: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Структуры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0080" y="1520823"/>
            <a:ext cx="2746265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struct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Point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6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Record-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Похожи на </a:t>
            </a:r>
            <a:r>
              <a:rPr lang="en-US" sz="2400" dirty="0">
                <a:solidFill>
                  <a:srgbClr val="14234C"/>
                </a:solidFill>
              </a:rPr>
              <a:t>data</a:t>
            </a:r>
            <a:r>
              <a:rPr lang="ru-RU" sz="2400" dirty="0">
                <a:solidFill>
                  <a:srgbClr val="14234C"/>
                </a:solidFill>
              </a:rPr>
              <a:t> </a:t>
            </a:r>
            <a:r>
              <a:rPr lang="en-US" sz="2400" dirty="0">
                <a:solidFill>
                  <a:srgbClr val="14234C"/>
                </a:solidFill>
              </a:rPr>
              <a:t>class</a:t>
            </a:r>
            <a:r>
              <a:rPr lang="ru-RU" sz="2400" dirty="0">
                <a:solidFill>
                  <a:srgbClr val="14234C"/>
                </a:solidFill>
              </a:rPr>
              <a:t> в </a:t>
            </a:r>
            <a:r>
              <a:rPr lang="en-US" sz="2400" dirty="0" err="1" smtClean="0">
                <a:solidFill>
                  <a:srgbClr val="14234C"/>
                </a:solidFill>
              </a:rPr>
              <a:t>Kotlin</a:t>
            </a: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Неизменяемый тип данных с дополнительными возможностями</a:t>
            </a:r>
            <a:endParaRPr lang="ru-RU" sz="2400" dirty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</a:rPr>
              <a:t>Equals, </a:t>
            </a:r>
            <a:r>
              <a:rPr lang="en-US" sz="2000" dirty="0" err="1" smtClean="0">
                <a:solidFill>
                  <a:srgbClr val="14234C"/>
                </a:solidFill>
              </a:rPr>
              <a:t>HashCode</a:t>
            </a:r>
            <a:r>
              <a:rPr lang="en-US" sz="2000" dirty="0" smtClean="0">
                <a:solidFill>
                  <a:srgbClr val="14234C"/>
                </a:solidFill>
              </a:rPr>
              <a:t>, </a:t>
            </a:r>
            <a:r>
              <a:rPr lang="en-US" sz="2000" dirty="0" err="1" smtClean="0">
                <a:solidFill>
                  <a:srgbClr val="14234C"/>
                </a:solidFill>
              </a:rPr>
              <a:t>ToString</a:t>
            </a:r>
            <a:r>
              <a:rPr lang="en-US" sz="2000" dirty="0" smtClean="0">
                <a:solidFill>
                  <a:srgbClr val="14234C"/>
                </a:solidFill>
              </a:rPr>
              <a:t> </a:t>
            </a:r>
            <a:r>
              <a:rPr lang="ru-RU" sz="2000" dirty="0" smtClean="0">
                <a:solidFill>
                  <a:srgbClr val="14234C"/>
                </a:solidFill>
              </a:rPr>
              <a:t>из коробки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Копирование через </a:t>
            </a:r>
            <a:r>
              <a:rPr lang="en-US" sz="2000" dirty="0" smtClean="0">
                <a:solidFill>
                  <a:srgbClr val="14234C"/>
                </a:solidFill>
              </a:rPr>
              <a:t>with</a:t>
            </a:r>
            <a:r>
              <a:rPr lang="ru-RU" sz="2000" dirty="0" smtClean="0">
                <a:solidFill>
                  <a:srgbClr val="14234C"/>
                </a:solidFill>
              </a:rPr>
              <a:t>, деструктуризация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/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      А под капотом </a:t>
            </a:r>
            <a:r>
              <a:rPr lang="en-US" sz="2400" dirty="0" smtClean="0">
                <a:solidFill>
                  <a:srgbClr val="14234C"/>
                </a:solidFill>
              </a:rPr>
              <a:t>(+</a:t>
            </a:r>
            <a:r>
              <a:rPr lang="ru-RU" sz="2400" dirty="0" smtClean="0">
                <a:solidFill>
                  <a:srgbClr val="14234C"/>
                </a:solidFill>
              </a:rPr>
              <a:t>конструктор, </a:t>
            </a:r>
            <a:r>
              <a:rPr lang="en-US" sz="2400" dirty="0">
                <a:solidFill>
                  <a:srgbClr val="14234C"/>
                </a:solidFill>
              </a:rPr>
              <a:t>Equals, </a:t>
            </a:r>
            <a:r>
              <a:rPr lang="en-US" sz="2400" dirty="0" err="1">
                <a:solidFill>
                  <a:srgbClr val="14234C"/>
                </a:solidFill>
              </a:rPr>
              <a:t>HashCode</a:t>
            </a:r>
            <a:r>
              <a:rPr lang="en-US" sz="2400" dirty="0">
                <a:solidFill>
                  <a:srgbClr val="14234C"/>
                </a:solidFill>
              </a:rPr>
              <a:t>, </a:t>
            </a:r>
            <a:r>
              <a:rPr lang="en-US" sz="2400" dirty="0" err="1" smtClean="0">
                <a:solidFill>
                  <a:srgbClr val="14234C"/>
                </a:solidFill>
              </a:rPr>
              <a:t>ToString</a:t>
            </a:r>
            <a:r>
              <a:rPr lang="ru-RU" sz="2400" dirty="0" smtClean="0">
                <a:solidFill>
                  <a:srgbClr val="14234C"/>
                </a:solidFill>
              </a:rPr>
              <a:t>)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41126" y="3354519"/>
            <a:ext cx="8622873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record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Person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FirstName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LastName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241126" y="4412336"/>
            <a:ext cx="7869462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Person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required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FirstName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get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init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required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LastName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get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init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3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Record-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3"/>
            <a:ext cx="10015728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То есть просто синтаксический сахар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Бывают </a:t>
            </a:r>
            <a:r>
              <a:rPr lang="en-US" sz="2400" dirty="0" smtClean="0">
                <a:solidFill>
                  <a:srgbClr val="14234C"/>
                </a:solidFill>
              </a:rPr>
              <a:t>record </a:t>
            </a:r>
            <a:r>
              <a:rPr lang="en-US" sz="2400" dirty="0" err="1" smtClean="0">
                <a:solidFill>
                  <a:srgbClr val="14234C"/>
                </a:solidFill>
              </a:rPr>
              <a:t>struct</a:t>
            </a:r>
            <a:r>
              <a:rPr lang="en-US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 smtClean="0">
                <a:solidFill>
                  <a:srgbClr val="14234C"/>
                </a:solidFill>
              </a:rPr>
              <a:t>и </a:t>
            </a:r>
            <a:r>
              <a:rPr lang="en-US" sz="2400" dirty="0" smtClean="0">
                <a:solidFill>
                  <a:srgbClr val="14234C"/>
                </a:solidFill>
              </a:rPr>
              <a:t>record class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1600" dirty="0" smtClean="0">
                <a:solidFill>
                  <a:srgbClr val="14234C"/>
                </a:solidFill>
              </a:rPr>
              <a:t>По умолчанию </a:t>
            </a:r>
            <a:r>
              <a:rPr lang="en-US" sz="1600" dirty="0" smtClean="0">
                <a:solidFill>
                  <a:srgbClr val="14234C"/>
                </a:solidFill>
              </a:rPr>
              <a:t>record = record class</a:t>
            </a:r>
            <a:endParaRPr lang="ru-RU" sz="1600" dirty="0" smtClean="0">
              <a:solidFill>
                <a:srgbClr val="14234C"/>
              </a:solidFill>
            </a:endParaRP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1600" dirty="0" smtClean="0">
                <a:solidFill>
                  <a:srgbClr val="14234C"/>
                </a:solidFill>
              </a:rPr>
              <a:t>Разница ожидаемая — где хранится, как передаётся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000" dirty="0" smtClean="0">
                <a:solidFill>
                  <a:srgbClr val="14234C"/>
                </a:solidFill>
              </a:rPr>
              <a:t>Record-</a:t>
            </a:r>
            <a:r>
              <a:rPr lang="ru-RU" sz="2000" dirty="0" smtClean="0">
                <a:solidFill>
                  <a:srgbClr val="14234C"/>
                </a:solidFill>
              </a:rPr>
              <a:t>ы могут наследоваться, в отличие от </a:t>
            </a:r>
            <a:r>
              <a:rPr lang="en-US" sz="2000" dirty="0" smtClean="0">
                <a:solidFill>
                  <a:srgbClr val="14234C"/>
                </a:solidFill>
              </a:rPr>
              <a:t>data class-</a:t>
            </a:r>
            <a:r>
              <a:rPr lang="ru-RU" sz="2000" dirty="0" err="1" smtClean="0">
                <a:solidFill>
                  <a:srgbClr val="14234C"/>
                </a:solidFill>
              </a:rPr>
              <a:t>ов</a:t>
            </a:r>
            <a:r>
              <a:rPr lang="ru-RU" sz="2000" dirty="0" smtClean="0">
                <a:solidFill>
                  <a:srgbClr val="14234C"/>
                </a:solidFill>
              </a:rPr>
              <a:t> в </a:t>
            </a:r>
            <a:r>
              <a:rPr lang="en-US" sz="2000" dirty="0" err="1" smtClean="0">
                <a:solidFill>
                  <a:srgbClr val="14234C"/>
                </a:solidFill>
              </a:rPr>
              <a:t>Kotlin</a:t>
            </a:r>
            <a:endParaRPr lang="ru-RU" sz="20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/>
            </a:r>
            <a:br>
              <a:rPr lang="ru-RU" sz="2400" dirty="0" smtClean="0">
                <a:solidFill>
                  <a:srgbClr val="14234C"/>
                </a:solidFill>
              </a:rPr>
            </a:br>
            <a:endParaRPr lang="ru-RU" sz="2400" dirty="0" smtClean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29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79" y="952857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Конструкторы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80" y="1634817"/>
            <a:ext cx="5910592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r;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-806697" y="952857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8" y="457200"/>
            <a:ext cx="90754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Перегрузка конструкторов,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chaining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10416" y="1491523"/>
            <a:ext cx="5910592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r;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r)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24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Типы времени компиляции и времени выполнения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Каждый объект на самом деле имеет много типов — свой и всех своих </a:t>
            </a:r>
            <a:r>
              <a:rPr lang="ru-RU" sz="2400" dirty="0" smtClean="0">
                <a:solidFill>
                  <a:srgbClr val="14234C"/>
                </a:solidFill>
              </a:rPr>
              <a:t>предков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Его </a:t>
            </a:r>
            <a:r>
              <a:rPr lang="ru-RU" sz="2400" dirty="0">
                <a:solidFill>
                  <a:srgbClr val="14234C"/>
                </a:solidFill>
              </a:rPr>
              <a:t>«настоящий» тип — тип времени </a:t>
            </a:r>
            <a:r>
              <a:rPr lang="ru-RU" sz="2400" dirty="0" smtClean="0">
                <a:solidFill>
                  <a:srgbClr val="14234C"/>
                </a:solidFill>
              </a:rPr>
              <a:t>выполнения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Тип</a:t>
            </a:r>
            <a:r>
              <a:rPr lang="ru-RU" sz="2400" dirty="0">
                <a:solidFill>
                  <a:srgbClr val="14234C"/>
                </a:solidFill>
              </a:rPr>
              <a:t>, по которому мы с ним работаем в конкретном месте программы — тип времени компиляции </a:t>
            </a: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b="1" dirty="0" smtClean="0">
                <a:solidFill>
                  <a:srgbClr val="14234C"/>
                </a:solidFill>
              </a:rPr>
              <a:t>Тип </a:t>
            </a:r>
            <a:r>
              <a:rPr lang="ru-RU" sz="2400" b="1" dirty="0">
                <a:solidFill>
                  <a:srgbClr val="14234C"/>
                </a:solidFill>
              </a:rPr>
              <a:t>времени компиляции </a:t>
            </a:r>
            <a:r>
              <a:rPr lang="ru-RU" sz="2400" dirty="0">
                <a:solidFill>
                  <a:srgbClr val="14234C"/>
                </a:solidFill>
              </a:rPr>
              <a:t>— </a:t>
            </a:r>
            <a:r>
              <a:rPr lang="ru-RU" sz="2400" dirty="0" err="1">
                <a:solidFill>
                  <a:srgbClr val="14234C"/>
                </a:solidFill>
              </a:rPr>
              <a:t>Shape</a:t>
            </a:r>
            <a:r>
              <a:rPr lang="ru-RU" sz="2400" dirty="0">
                <a:solidFill>
                  <a:srgbClr val="14234C"/>
                </a:solidFill>
              </a:rPr>
              <a:t>, следовательно у a можно вызывать только методы </a:t>
            </a:r>
            <a:r>
              <a:rPr lang="ru-RU" sz="2400" dirty="0" err="1" smtClean="0">
                <a:solidFill>
                  <a:srgbClr val="14234C"/>
                </a:solidFill>
              </a:rPr>
              <a:t>Shape</a:t>
            </a:r>
            <a:r>
              <a:rPr lang="ru-RU" sz="2400" dirty="0" smtClean="0">
                <a:solidFill>
                  <a:srgbClr val="14234C"/>
                </a:solidFill>
              </a:rPr>
              <a:t>.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b="1" dirty="0" smtClean="0">
                <a:solidFill>
                  <a:srgbClr val="14234C"/>
                </a:solidFill>
              </a:rPr>
              <a:t>Тип </a:t>
            </a:r>
            <a:r>
              <a:rPr lang="ru-RU" sz="2400" b="1" dirty="0">
                <a:solidFill>
                  <a:srgbClr val="14234C"/>
                </a:solidFill>
              </a:rPr>
              <a:t>времени выполнения </a:t>
            </a:r>
            <a:r>
              <a:rPr lang="ru-RU" sz="2400" dirty="0">
                <a:solidFill>
                  <a:srgbClr val="14234C"/>
                </a:solidFill>
              </a:rPr>
              <a:t>— </a:t>
            </a:r>
            <a:r>
              <a:rPr lang="ru-RU" sz="2400" dirty="0" err="1" smtClean="0">
                <a:solidFill>
                  <a:srgbClr val="14234C"/>
                </a:solidFill>
              </a:rPr>
              <a:t>Circle</a:t>
            </a: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71610" y="3754629"/>
            <a:ext cx="3650358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4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358726" y="407475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Вспомним про полиморфизм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196015" y="-936319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87380" y="1616381"/>
            <a:ext cx="6261620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List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&gt;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List</a:t>
            </a:r>
            <a:endParaRPr lang="ru-RU" altLang="ru-RU" sz="2000" dirty="0">
              <a:solidFill>
                <a:srgbClr val="6B2FBA"/>
              </a:solidFill>
              <a:latin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solidFill>
                  <a:srgbClr val="383838"/>
                </a:solidFill>
                <a:latin typeface="Cascadia Code" panose="020B0609020000020004" pitchFamily="49" charset="0"/>
              </a:rPr>
              <a:t> </a:t>
            </a:r>
            <a:r>
              <a:rPr lang="ru-RU" altLang="ru-RU" sz="2000" dirty="0" smtClean="0">
                <a:solidFill>
                  <a:srgbClr val="383838"/>
                </a:solidFill>
                <a:latin typeface="Cascadia Code" panose="020B0609020000020004" pitchFamily="49" charset="0"/>
              </a:rPr>
              <a:t>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foreach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965" y="1535502"/>
            <a:ext cx="4197566" cy="30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3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Абстрактные классы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</a:rPr>
              <a:t>Иногда у предка нет разумного поведения по </a:t>
            </a:r>
            <a:r>
              <a:rPr lang="ru-RU" sz="2400" dirty="0" smtClean="0">
                <a:solidFill>
                  <a:srgbClr val="14234C"/>
                </a:solidFill>
              </a:rPr>
              <a:t>умолчанию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Например</a:t>
            </a:r>
            <a:r>
              <a:rPr lang="ru-RU" sz="2400" dirty="0">
                <a:solidFill>
                  <a:srgbClr val="14234C"/>
                </a:solidFill>
              </a:rPr>
              <a:t>, что такое </a:t>
            </a:r>
            <a:r>
              <a:rPr lang="ru-RU" sz="2400" dirty="0" err="1">
                <a:solidFill>
                  <a:srgbClr val="14234C"/>
                </a:solidFill>
              </a:rPr>
              <a:t>Draw</a:t>
            </a:r>
            <a:r>
              <a:rPr lang="ru-RU" sz="2400" dirty="0">
                <a:solidFill>
                  <a:srgbClr val="14234C"/>
                </a:solidFill>
              </a:rPr>
              <a:t> для просто </a:t>
            </a:r>
            <a:r>
              <a:rPr lang="ru-RU" sz="2400" dirty="0" err="1" smtClean="0">
                <a:solidFill>
                  <a:srgbClr val="14234C"/>
                </a:solidFill>
              </a:rPr>
              <a:t>Shape</a:t>
            </a:r>
            <a:r>
              <a:rPr lang="ru-RU" sz="2400" dirty="0" smtClean="0">
                <a:solidFill>
                  <a:srgbClr val="14234C"/>
                </a:solidFill>
              </a:rPr>
              <a:t>?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Такие </a:t>
            </a:r>
            <a:r>
              <a:rPr lang="ru-RU" sz="2400" dirty="0">
                <a:solidFill>
                  <a:srgbClr val="14234C"/>
                </a:solidFill>
              </a:rPr>
              <a:t>методы не реализуются, а остаются </a:t>
            </a:r>
            <a:r>
              <a:rPr lang="ru-RU" sz="2400" dirty="0" smtClean="0">
                <a:solidFill>
                  <a:srgbClr val="14234C"/>
                </a:solidFill>
              </a:rPr>
              <a:t>абстрактными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Если </a:t>
            </a:r>
            <a:r>
              <a:rPr lang="ru-RU" sz="2400" dirty="0">
                <a:solidFill>
                  <a:srgbClr val="14234C"/>
                </a:solidFill>
              </a:rPr>
              <a:t>у класса есть хоть один абстрактный метод, он не может порождать </a:t>
            </a:r>
            <a:r>
              <a:rPr lang="ru-RU" sz="2400" dirty="0" smtClean="0">
                <a:solidFill>
                  <a:srgbClr val="14234C"/>
                </a:solidFill>
              </a:rPr>
              <a:t>объекты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То </a:t>
            </a:r>
            <a:r>
              <a:rPr lang="ru-RU" sz="2000" dirty="0">
                <a:solidFill>
                  <a:srgbClr val="14234C"/>
                </a:solidFill>
              </a:rPr>
              <a:t>есть сам класс является </a:t>
            </a:r>
            <a:r>
              <a:rPr lang="ru-RU" sz="2000" dirty="0" smtClean="0">
                <a:solidFill>
                  <a:srgbClr val="14234C"/>
                </a:solidFill>
              </a:rPr>
              <a:t>абстрактным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smtClean="0">
                <a:solidFill>
                  <a:srgbClr val="14234C"/>
                </a:solidFill>
              </a:rPr>
              <a:t>Интерфейс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класс, у которого все методы </a:t>
            </a:r>
            <a:r>
              <a:rPr lang="ru-RU" sz="2400" dirty="0" smtClean="0">
                <a:solidFill>
                  <a:srgbClr val="14234C"/>
                </a:solidFill>
              </a:rPr>
              <a:t>абстрактные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Например</a:t>
            </a:r>
            <a:r>
              <a:rPr lang="ru-RU" sz="2000" dirty="0">
                <a:solidFill>
                  <a:srgbClr val="14234C"/>
                </a:solidFill>
              </a:rPr>
              <a:t>, </a:t>
            </a:r>
            <a:r>
              <a:rPr lang="ru-RU" sz="2000" dirty="0" err="1">
                <a:solidFill>
                  <a:srgbClr val="14234C"/>
                </a:solidFill>
              </a:rPr>
              <a:t>Shape</a:t>
            </a:r>
            <a:r>
              <a:rPr lang="ru-RU" sz="2000" dirty="0">
                <a:solidFill>
                  <a:srgbClr val="14234C"/>
                </a:solidFill>
              </a:rPr>
              <a:t> мог бы быть </a:t>
            </a:r>
            <a:r>
              <a:rPr lang="ru-RU" sz="2000" dirty="0" smtClean="0">
                <a:solidFill>
                  <a:srgbClr val="14234C"/>
                </a:solidFill>
              </a:rPr>
              <a:t>интерфейсом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На </a:t>
            </a:r>
            <a:r>
              <a:rPr lang="ru-RU" sz="2400" dirty="0">
                <a:solidFill>
                  <a:srgbClr val="14234C"/>
                </a:solidFill>
              </a:rPr>
              <a:t>самом деле, интерфейс — это контракт класса</a:t>
            </a: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8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Пример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80" y="1551721"/>
            <a:ext cx="7417415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s3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s3 = s1 + s2;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"a"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"b"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"c"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(s1, s2, s3);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1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Передача параметров по ссылке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79" y="1428116"/>
            <a:ext cx="8020144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ref 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s3 = s1 + s2;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"a"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"b"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"c"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(s1, s2,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ref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22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Out-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параметры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0080" y="1321358"/>
            <a:ext cx="8020144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out 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s3 = s1 + s2;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"a"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"b"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(s1, s2,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out string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(s3);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2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На самом деле это не нужно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/>
              <a:t>C# умеет возвращать пары, тройки и т.д. </a:t>
            </a: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51912" y="1445264"/>
            <a:ext cx="6061275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 + s2;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static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s1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"a"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s2 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"b"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s3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(s1, s2);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(s3);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92480" y="5077541"/>
            <a:ext cx="55603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14234C"/>
                </a:solidFill>
              </a:rPr>
              <a:t>C# умеет возвращать пары, тройки и т.д. </a:t>
            </a:r>
          </a:p>
        </p:txBody>
      </p:sp>
    </p:spTree>
    <p:extLst>
      <p:ext uri="{BB962C8B-B14F-4D97-AF65-F5344CB8AC3E}">
        <p14:creationId xmlns:p14="http://schemas.microsoft.com/office/powerpoint/2010/main" val="363009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Наследование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19210" y="1347097"/>
            <a:ext cx="4705134" cy="4093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497614" y="1166251"/>
            <a:ext cx="4855816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Shape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x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y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r;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base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5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Интерфейсы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640080" y="1673222"/>
            <a:ext cx="101681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Принято начинать с </a:t>
            </a:r>
            <a:r>
              <a:rPr lang="en-US" sz="2400" dirty="0" smtClean="0">
                <a:solidFill>
                  <a:srgbClr val="14234C"/>
                </a:solidFill>
              </a:rPr>
              <a:t>I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в отличие от </a:t>
            </a:r>
            <a:r>
              <a:rPr lang="en-US" sz="2000" dirty="0" smtClean="0">
                <a:solidFill>
                  <a:srgbClr val="14234C"/>
                </a:solidFill>
              </a:rPr>
              <a:t>Java :)</a:t>
            </a:r>
            <a:endParaRPr lang="ru-RU" sz="20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20969" y="1492972"/>
            <a:ext cx="3047629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interface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02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Интерфейсы. Реализация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51912" y="1384570"/>
            <a:ext cx="6061275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IDrawable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"Drawing Shape"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69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Интерфейсы. Явная реализация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51912" y="1325731"/>
            <a:ext cx="6061275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Drawing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41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Интерфейсы. Явная реализация. Зачем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10083" y="1214608"/>
            <a:ext cx="11080068" cy="5355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interface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interface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IMySpecialDrawable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IMySpecialDrawable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=&gt;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Drawing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IMySpecialDrawable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=&gt;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Drawing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but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completely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unrelated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to</a:t>
            </a:r>
            <a:r>
              <a:rPr lang="ru-RU" altLang="ru-RU" dirty="0">
                <a:solidFill>
                  <a:srgbClr val="8C6C41"/>
                </a:solidFill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6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Интерфейсы. Явная реализация. Зачем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8854" y="1507860"/>
            <a:ext cx="9225602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 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// Ошибка компиляции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IDrawable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 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//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Drawing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Shape</a:t>
            </a:r>
            <a:endParaRPr kumimoji="0" lang="ru-RU" altLang="ru-RU" sz="2000" b="0" i="1" u="none" strike="noStrike" cap="none" normalizeH="0" baseline="0" dirty="0" smtClean="0">
              <a:ln>
                <a:noFill/>
              </a:ln>
              <a:solidFill>
                <a:srgbClr val="248700"/>
              </a:solidFill>
              <a:effectLst/>
              <a:latin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IMySpecialDrawable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 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//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Drawing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but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...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71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Абстрактные классы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92480" y="1323535"/>
            <a:ext cx="5006499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abstract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abstract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43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Виртуальные методы (1)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92480" y="1323535"/>
            <a:ext cx="8170827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virtual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$"Drawing Shape with coords 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)"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47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Виртуальные методы (2)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99346" y="1171136"/>
            <a:ext cx="9376285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Shape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x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y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r;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override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$"Drawing Circle with radius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81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Виртуальные методы (3)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80" y="1053693"/>
            <a:ext cx="11184472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Rectangle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Shape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Rectangle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width,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height)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x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y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width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width;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height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height;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override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base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$"Drawing Rectangle with width=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width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and height=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height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width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height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5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Виртуальные методы (4)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8854" y="1323535"/>
            <a:ext cx="9225602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static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Main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string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[]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args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rectangle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Rectangle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list 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System.Collections.Generic.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List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&gt;();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list.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(circle);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list.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Add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(rectangle);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foreach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list)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shape.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6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Абстрактные методы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61646" y="1232441"/>
            <a:ext cx="5006499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abstract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abstract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17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Перевведение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 (перекрытие) методов,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new (1)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92480" y="1540843"/>
            <a:ext cx="8170827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Shape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virtual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$"Drawing Shape with coords 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)"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protected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1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Перевведение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 (перекрытие) методов,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new (2)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23191" y="1384570"/>
            <a:ext cx="9376285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x,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y,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x;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y;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r;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Drawing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with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radius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78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411135" y="159560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sp>
        <p:nvSpPr>
          <p:cNvPr id="7" name="Text 0"/>
          <p:cNvSpPr txBox="1"/>
          <p:nvPr/>
        </p:nvSpPr>
        <p:spPr>
          <a:xfrm>
            <a:off x="640079" y="439616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Перевведение</a:t>
            </a: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 (перекрытие) методов, </a:t>
            </a: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new (3)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Лучше про это забыть и не пользоваться, но на собеседованиях спрашивают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92480" y="1547536"/>
            <a:ext cx="6061275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circle1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circle2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circle3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383838"/>
              </a:solidFill>
              <a:effectLst/>
              <a:latin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circle1.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circle2.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circle3.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7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Управление ресурсами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Ресурсы бывают управляемые и неуправляемые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Память в </a:t>
            </a:r>
            <a:r>
              <a:rPr lang="en-US" sz="2000" dirty="0" smtClean="0">
                <a:solidFill>
                  <a:srgbClr val="14234C"/>
                </a:solidFill>
              </a:rPr>
              <a:t>C# </a:t>
            </a:r>
            <a:r>
              <a:rPr lang="ru-RU" sz="2000" dirty="0">
                <a:solidFill>
                  <a:srgbClr val="14234C"/>
                </a:solidFill>
              </a:rPr>
              <a:t>–</a:t>
            </a:r>
            <a:r>
              <a:rPr lang="en-US" sz="2000" dirty="0" smtClean="0">
                <a:solidFill>
                  <a:srgbClr val="14234C"/>
                </a:solidFill>
              </a:rPr>
              <a:t> </a:t>
            </a:r>
            <a:r>
              <a:rPr lang="ru-RU" sz="2000" dirty="0" smtClean="0">
                <a:solidFill>
                  <a:srgbClr val="14234C"/>
                </a:solidFill>
              </a:rPr>
              <a:t>управляемый ресурс, за неё отвечает сборщик мусора </a:t>
            </a:r>
            <a:r>
              <a:rPr lang="en-US" sz="2000" dirty="0" smtClean="0">
                <a:solidFill>
                  <a:srgbClr val="14234C"/>
                </a:solidFill>
              </a:rPr>
              <a:t>(GC)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Файлы</a:t>
            </a:r>
            <a:r>
              <a:rPr lang="ru-RU" sz="2000" dirty="0">
                <a:solidFill>
                  <a:srgbClr val="14234C"/>
                </a:solidFill>
              </a:rPr>
              <a:t>, соединения с БД, сетевые сокеты, дескрипторы </a:t>
            </a:r>
            <a:r>
              <a:rPr lang="ru-RU" sz="2000" dirty="0" smtClean="0">
                <a:solidFill>
                  <a:srgbClr val="14234C"/>
                </a:solidFill>
              </a:rPr>
              <a:t>ОС – неуправляемые (внешние) ресурсы. После того, как их использование в программе завершилось, их освобождением занимается разработчик – иначе утечка, блокирование ресурса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Для удобного освобождения неуправляемых ресурсов в </a:t>
            </a:r>
            <a:r>
              <a:rPr lang="en-US" sz="2400" dirty="0" smtClean="0">
                <a:solidFill>
                  <a:srgbClr val="14234C"/>
                </a:solidFill>
              </a:rPr>
              <a:t>C# </a:t>
            </a:r>
            <a:r>
              <a:rPr lang="ru-RU" sz="2400" dirty="0" smtClean="0">
                <a:solidFill>
                  <a:srgbClr val="14234C"/>
                </a:solidFill>
              </a:rPr>
              <a:t>существует механизм </a:t>
            </a:r>
            <a:r>
              <a:rPr lang="en-US" sz="2400" b="1" dirty="0" smtClean="0">
                <a:solidFill>
                  <a:srgbClr val="14234C"/>
                </a:solidFill>
              </a:rPr>
              <a:t>using</a:t>
            </a:r>
            <a:r>
              <a:rPr lang="ru-RU" sz="2400" b="1" dirty="0" smtClean="0">
                <a:solidFill>
                  <a:srgbClr val="14234C"/>
                </a:solidFill>
              </a:rPr>
              <a:t> и </a:t>
            </a:r>
            <a:r>
              <a:rPr lang="en-US" sz="2400" b="1" dirty="0" err="1" smtClean="0">
                <a:solidFill>
                  <a:srgbClr val="14234C"/>
                </a:solidFill>
              </a:rPr>
              <a:t>IDisposable</a:t>
            </a:r>
            <a:endParaRPr lang="ru-RU" sz="2400" b="1" dirty="0" smtClean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31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IDIsposable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/>
              <a:t>Интерфейс </a:t>
            </a:r>
            <a:r>
              <a:rPr lang="en-US" sz="2400" dirty="0" err="1" smtClean="0"/>
              <a:t>IDisposable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/>
              <a:t>В </a:t>
            </a:r>
            <a:r>
              <a:rPr lang="en-US" sz="2400" dirty="0" smtClean="0"/>
              <a:t>Dispose</a:t>
            </a:r>
            <a:r>
              <a:rPr lang="ru-RU" sz="2400" dirty="0" smtClean="0"/>
              <a:t> принято размещать</a:t>
            </a:r>
            <a:r>
              <a:rPr lang="en-US" sz="2400" dirty="0" smtClean="0"/>
              <a:t> </a:t>
            </a:r>
            <a:r>
              <a:rPr lang="ru-RU" sz="2400" dirty="0" smtClean="0"/>
              <a:t>логику освобождения ресурса</a:t>
            </a: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/>
              <a:t>Обычно в формате</a:t>
            </a:r>
            <a:br>
              <a:rPr lang="ru-RU" sz="2400" dirty="0" smtClean="0"/>
            </a:b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39715" y="2107858"/>
            <a:ext cx="4403770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interface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IDisposable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Dispose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54395" y="4035932"/>
            <a:ext cx="5458546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try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// какая-то логика работы с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obj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finally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obj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Dispose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23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using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35370"/>
            <a:ext cx="10015728" cy="4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/>
              <a:t>Чтобы не писать </a:t>
            </a:r>
            <a:r>
              <a:rPr lang="en-US" sz="2400" dirty="0" err="1" smtClean="0"/>
              <a:t>try+finally</a:t>
            </a:r>
            <a:r>
              <a:rPr lang="en-US" sz="2400" dirty="0" smtClean="0"/>
              <a:t> </a:t>
            </a:r>
            <a:r>
              <a:rPr lang="ru-RU" sz="2400" dirty="0" smtClean="0"/>
              <a:t>с </a:t>
            </a:r>
            <a:r>
              <a:rPr lang="en-US" sz="2400" dirty="0" smtClean="0"/>
              <a:t>Dispose</a:t>
            </a:r>
            <a:r>
              <a:rPr lang="ru-RU" sz="2400" dirty="0" smtClean="0"/>
              <a:t>, придумали </a:t>
            </a:r>
            <a:r>
              <a:rPr lang="en-US" sz="2400" dirty="0" smtClean="0"/>
              <a:t>using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dirty="0"/>
              <a:t>u</a:t>
            </a:r>
            <a:r>
              <a:rPr lang="en-US" sz="2400" dirty="0" smtClean="0"/>
              <a:t>sing – </a:t>
            </a:r>
            <a:r>
              <a:rPr lang="ru-RU" sz="2400" dirty="0" smtClean="0"/>
              <a:t>просто синтаксический сахар</a:t>
            </a: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/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/>
              <a:t>Иногда можно так</a:t>
            </a:r>
            <a:endParaRPr lang="ru-RU" sz="2400" dirty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/>
              <a:t>В </a:t>
            </a:r>
            <a:r>
              <a:rPr lang="en-US" sz="2400" dirty="0" smtClean="0"/>
              <a:t>java </a:t>
            </a:r>
            <a:r>
              <a:rPr lang="ru-RU" sz="2400" dirty="0" smtClean="0"/>
              <a:t>аналог </a:t>
            </a:r>
            <a:r>
              <a:rPr lang="en-US" sz="2400" dirty="0" smtClean="0"/>
              <a:t>using</a:t>
            </a:r>
            <a:r>
              <a:rPr lang="ru-RU" sz="2400" dirty="0" smtClean="0"/>
              <a:t> называется </a:t>
            </a:r>
            <a:r>
              <a:rPr lang="en-US" sz="2400" dirty="0" smtClean="0"/>
              <a:t>try-with-resources</a:t>
            </a:r>
            <a:br>
              <a:rPr lang="en-US" sz="2400" dirty="0" smtClean="0"/>
            </a:br>
            <a:r>
              <a:rPr lang="ru-RU" sz="2400" dirty="0" smtClean="0"/>
              <a:t/>
            </a:r>
            <a:br>
              <a:rPr lang="ru-RU" sz="2400" dirty="0" smtClean="0"/>
            </a:br>
            <a:endParaRPr lang="en-US" sz="2400" dirty="0" smtClean="0"/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70900" y="2419997"/>
            <a:ext cx="6362639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using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obj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SomeDisposableObj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// какая-то логика работы с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obj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// </a:t>
            </a:r>
            <a:r>
              <a:rPr kumimoji="0" lang="ru-RU" altLang="ru-RU" sz="2000" b="0" i="1" u="none" strike="noStrike" cap="none" normalizeH="0" baseline="0" dirty="0" err="1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obj.Dispose</a:t>
            </a:r>
            <a:r>
              <a:rPr kumimoji="0" lang="ru-RU" altLang="ru-RU" sz="2000" b="0" i="1" u="none" strike="noStrike" cap="none" normalizeH="0" baseline="0" dirty="0" smtClean="0">
                <a:ln>
                  <a:noFill/>
                </a:ln>
                <a:solidFill>
                  <a:srgbClr val="248700"/>
                </a:solidFill>
                <a:effectLst/>
                <a:latin typeface="Cascadia Code" panose="020B0609020000020004" pitchFamily="49" charset="0"/>
              </a:rPr>
              <a:t>() </a:t>
            </a:r>
            <a:r>
              <a:rPr lang="ru-RU" altLang="ru-RU" sz="2000" i="1" dirty="0" smtClean="0">
                <a:solidFill>
                  <a:srgbClr val="248700"/>
                </a:solidFill>
                <a:latin typeface="Cascadia Code" panose="020B0609020000020004" pitchFamily="49" charset="0"/>
              </a:rPr>
              <a:t>сработает в конце блока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92470" y="4666963"/>
            <a:ext cx="621195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using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obj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SomeDisposableObj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61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>
                <a:solidFill>
                  <a:srgbClr val="14234C"/>
                </a:solidFill>
              </a:rPr>
              <a:t>public</a:t>
            </a:r>
            <a:r>
              <a:rPr lang="ru-RU" sz="2400" dirty="0">
                <a:solidFill>
                  <a:srgbClr val="14234C"/>
                </a:solidFill>
              </a:rPr>
              <a:t> — применяется к типам и членам, доступ без </a:t>
            </a:r>
            <a:r>
              <a:rPr lang="ru-RU" sz="2400" dirty="0" smtClean="0">
                <a:solidFill>
                  <a:srgbClr val="14234C"/>
                </a:solidFill>
              </a:rPr>
              <a:t>ограничений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protected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применяется только к членам, доступ в типе и </a:t>
            </a:r>
            <a:r>
              <a:rPr lang="ru-RU" sz="2400" dirty="0" smtClean="0">
                <a:solidFill>
                  <a:srgbClr val="14234C"/>
                </a:solidFill>
              </a:rPr>
              <a:t>потомках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internal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применяется к типам и членам, доступ внутри </a:t>
            </a:r>
            <a:r>
              <a:rPr lang="ru-RU" sz="2400" dirty="0" smtClean="0">
                <a:solidFill>
                  <a:srgbClr val="14234C"/>
                </a:solidFill>
              </a:rPr>
              <a:t>сборки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protected</a:t>
            </a:r>
            <a:r>
              <a:rPr lang="ru-RU" sz="2400" b="1" dirty="0" smtClean="0">
                <a:solidFill>
                  <a:srgbClr val="14234C"/>
                </a:solidFill>
              </a:rPr>
              <a:t> </a:t>
            </a:r>
            <a:r>
              <a:rPr lang="ru-RU" sz="2400" b="1" dirty="0" err="1">
                <a:solidFill>
                  <a:srgbClr val="14234C"/>
                </a:solidFill>
              </a:rPr>
              <a:t>internal</a:t>
            </a:r>
            <a:r>
              <a:rPr lang="ru-RU" sz="2400" b="1" dirty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применяется к типам и членам, доступ внутри сборки или в </a:t>
            </a:r>
            <a:r>
              <a:rPr lang="ru-RU" sz="2400" dirty="0" smtClean="0">
                <a:solidFill>
                  <a:srgbClr val="14234C"/>
                </a:solidFill>
              </a:rPr>
              <a:t>потомках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private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применяется к типам и членам, доступ только внутри </a:t>
            </a:r>
            <a:r>
              <a:rPr lang="ru-RU" sz="2400" dirty="0" smtClean="0">
                <a:solidFill>
                  <a:srgbClr val="14234C"/>
                </a:solidFill>
              </a:rPr>
              <a:t>типа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По </a:t>
            </a:r>
            <a:r>
              <a:rPr lang="ru-RU" sz="2400" dirty="0">
                <a:solidFill>
                  <a:srgbClr val="14234C"/>
                </a:solidFill>
              </a:rPr>
              <a:t>умолчанию для типов </a:t>
            </a:r>
            <a:r>
              <a:rPr lang="ru-RU" sz="2400" b="1" dirty="0" err="1">
                <a:solidFill>
                  <a:srgbClr val="14234C"/>
                </a:solidFill>
              </a:rPr>
              <a:t>internal</a:t>
            </a:r>
            <a:r>
              <a:rPr lang="ru-RU" sz="2400" dirty="0">
                <a:solidFill>
                  <a:srgbClr val="14234C"/>
                </a:solidFill>
              </a:rPr>
              <a:t>, для членов — </a:t>
            </a:r>
            <a:r>
              <a:rPr lang="ru-RU" sz="2400" b="1" dirty="0" err="1">
                <a:solidFill>
                  <a:srgbClr val="14234C"/>
                </a:solidFill>
              </a:rPr>
              <a:t>private</a:t>
            </a:r>
            <a:endParaRPr lang="ru-RU" sz="800" b="1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Модификаторы видимости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4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partial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«частичный» класс, декларирует, что определение класса разбито на несколько </a:t>
            </a:r>
            <a:r>
              <a:rPr lang="ru-RU" sz="2400" dirty="0" smtClean="0">
                <a:solidFill>
                  <a:srgbClr val="14234C"/>
                </a:solidFill>
              </a:rPr>
              <a:t>файлов</a:t>
            </a:r>
          </a:p>
          <a:p>
            <a:pPr marL="895346" lvl="1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Для </a:t>
            </a:r>
            <a:r>
              <a:rPr lang="ru-RU" sz="2000" dirty="0">
                <a:solidFill>
                  <a:srgbClr val="14234C"/>
                </a:solidFill>
              </a:rPr>
              <a:t>интеграции сгенерированного и рукописного кода, не используйте без </a:t>
            </a:r>
            <a:r>
              <a:rPr lang="ru-RU" sz="2000" dirty="0" smtClean="0">
                <a:solidFill>
                  <a:srgbClr val="14234C"/>
                </a:solidFill>
              </a:rPr>
              <a:t>нужды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sealed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запрещение наследования от </a:t>
            </a:r>
            <a:r>
              <a:rPr lang="ru-RU" sz="2400" dirty="0" smtClean="0">
                <a:solidFill>
                  <a:srgbClr val="14234C"/>
                </a:solidFill>
              </a:rPr>
              <a:t>класса</a:t>
            </a: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b="1" dirty="0" err="1" smtClean="0">
                <a:solidFill>
                  <a:srgbClr val="14234C"/>
                </a:solidFill>
              </a:rPr>
              <a:t>static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r>
              <a:rPr lang="ru-RU" sz="2400" dirty="0">
                <a:solidFill>
                  <a:srgbClr val="14234C"/>
                </a:solidFill>
              </a:rPr>
              <a:t>— не может быть </a:t>
            </a:r>
            <a:r>
              <a:rPr lang="ru-RU" sz="2400" dirty="0" err="1" smtClean="0">
                <a:solidFill>
                  <a:srgbClr val="14234C"/>
                </a:solidFill>
              </a:rPr>
              <a:t>инстанциирован</a:t>
            </a:r>
            <a:r>
              <a:rPr lang="ru-RU" sz="2400" dirty="0">
                <a:solidFill>
                  <a:srgbClr val="14234C"/>
                </a:solidFill>
              </a:rPr>
              <a:t>, может содержать только </a:t>
            </a:r>
            <a:r>
              <a:rPr lang="ru-RU" sz="2400" b="1" dirty="0" err="1" smtClean="0">
                <a:solidFill>
                  <a:srgbClr val="14234C"/>
                </a:solidFill>
              </a:rPr>
              <a:t>static</a:t>
            </a:r>
            <a:r>
              <a:rPr lang="ru-RU" sz="2400" b="1" dirty="0" smtClean="0">
                <a:solidFill>
                  <a:srgbClr val="14234C"/>
                </a:solidFill>
              </a:rPr>
              <a:t>-методы </a:t>
            </a:r>
            <a:r>
              <a:rPr lang="ru-RU" sz="2400" dirty="0" smtClean="0">
                <a:solidFill>
                  <a:srgbClr val="14234C"/>
                </a:solidFill>
              </a:rPr>
              <a:t>(похоже на </a:t>
            </a:r>
            <a:r>
              <a:rPr lang="en-US" sz="2400" dirty="0" smtClean="0">
                <a:solidFill>
                  <a:srgbClr val="14234C"/>
                </a:solidFill>
              </a:rPr>
              <a:t>companion object </a:t>
            </a:r>
            <a:r>
              <a:rPr lang="ru-RU" sz="2400" dirty="0" smtClean="0">
                <a:solidFill>
                  <a:srgbClr val="14234C"/>
                </a:solidFill>
              </a:rPr>
              <a:t>в </a:t>
            </a:r>
            <a:r>
              <a:rPr lang="en-US" sz="2400" dirty="0" err="1" smtClean="0">
                <a:solidFill>
                  <a:srgbClr val="14234C"/>
                </a:solidFill>
              </a:rPr>
              <a:t>kotlin</a:t>
            </a:r>
            <a:r>
              <a:rPr lang="en-US" sz="2400" dirty="0" smtClean="0">
                <a:solidFill>
                  <a:srgbClr val="14234C"/>
                </a:solidFill>
              </a:rPr>
              <a:t>)</a:t>
            </a:r>
            <a:r>
              <a:rPr lang="ru-RU" sz="2400" dirty="0" smtClean="0">
                <a:solidFill>
                  <a:srgbClr val="14234C"/>
                </a:solidFill>
              </a:rPr>
              <a:t> </a:t>
            </a:r>
            <a:endParaRPr lang="ru-RU" sz="8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Другие модификаторы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2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875520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b="1" dirty="0" smtClean="0">
                <a:solidFill>
                  <a:srgbClr val="14234C"/>
                </a:solidFill>
              </a:rPr>
              <a:t>В </a:t>
            </a:r>
            <a:r>
              <a:rPr lang="en-US" sz="2400" b="1" dirty="0" smtClean="0">
                <a:solidFill>
                  <a:srgbClr val="14234C"/>
                </a:solidFill>
              </a:rPr>
              <a:t>C# </a:t>
            </a:r>
            <a:r>
              <a:rPr lang="ru-RU" sz="2400" b="1" dirty="0">
                <a:solidFill>
                  <a:srgbClr val="14234C"/>
                </a:solidFill>
              </a:rPr>
              <a:t>—</a:t>
            </a:r>
            <a:r>
              <a:rPr lang="ru-RU" sz="2400" b="1" dirty="0" smtClean="0">
                <a:solidFill>
                  <a:srgbClr val="14234C"/>
                </a:solidFill>
              </a:rPr>
              <a:t> </a:t>
            </a:r>
            <a:r>
              <a:rPr lang="ru-RU" sz="2400" b="1" dirty="0" smtClean="0">
                <a:solidFill>
                  <a:srgbClr val="14234C"/>
                </a:solidFill>
              </a:rPr>
              <a:t>константы на основе целочисленных значений </a:t>
            </a:r>
            <a:r>
              <a:rPr lang="en-US" sz="2400" b="1" dirty="0" smtClean="0">
                <a:solidFill>
                  <a:srgbClr val="14234C"/>
                </a:solidFill>
              </a:rPr>
              <a:t>(byte, </a:t>
            </a:r>
            <a:r>
              <a:rPr lang="en-US" sz="2400" b="1" dirty="0" err="1" smtClean="0">
                <a:solidFill>
                  <a:srgbClr val="14234C"/>
                </a:solidFill>
              </a:rPr>
              <a:t>int</a:t>
            </a:r>
            <a:r>
              <a:rPr lang="en-US" sz="2400" b="1" dirty="0" smtClean="0">
                <a:solidFill>
                  <a:srgbClr val="14234C"/>
                </a:solidFill>
              </a:rPr>
              <a:t>, long, …)</a:t>
            </a:r>
            <a:endParaRPr lang="ru-RU" sz="2400" b="1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>                                то же самое, что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400" dirty="0" smtClean="0">
                <a:solidFill>
                  <a:srgbClr val="14234C"/>
                </a:solidFill>
              </a:rPr>
              <a:t/>
            </a:r>
            <a:br>
              <a:rPr lang="ru-RU" sz="2400" dirty="0" smtClean="0">
                <a:solidFill>
                  <a:srgbClr val="14234C"/>
                </a:solidFill>
              </a:rPr>
            </a:br>
            <a:r>
              <a:rPr lang="ru-RU" sz="2400" dirty="0" smtClean="0">
                <a:solidFill>
                  <a:srgbClr val="14234C"/>
                </a:solidFill>
              </a:rPr>
              <a:t>Использование:</a:t>
            </a: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ru-RU" sz="2000" dirty="0" smtClean="0">
                <a:solidFill>
                  <a:srgbClr val="14234C"/>
                </a:solidFill>
              </a:rPr>
              <a:t>(</a:t>
            </a:r>
            <a:r>
              <a:rPr lang="ru-RU" sz="2000" dirty="0">
                <a:solidFill>
                  <a:srgbClr val="14234C"/>
                </a:solidFill>
              </a:rPr>
              <a:t>ну или через </a:t>
            </a:r>
            <a:r>
              <a:rPr lang="en-US" sz="2000" dirty="0" err="1" smtClean="0">
                <a:solidFill>
                  <a:srgbClr val="14234C"/>
                </a:solidFill>
              </a:rPr>
              <a:t>var</a:t>
            </a:r>
            <a:r>
              <a:rPr lang="en-US" sz="2000" dirty="0" smtClean="0">
                <a:solidFill>
                  <a:srgbClr val="14234C"/>
                </a:solidFill>
              </a:rPr>
              <a:t>)</a:t>
            </a:r>
            <a:endParaRPr lang="ru-RU" sz="2000" dirty="0">
              <a:solidFill>
                <a:srgbClr val="14234C"/>
              </a:solidFill>
            </a:endParaRPr>
          </a:p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ru-RU" sz="8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87728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Enum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8554" y="1907782"/>
            <a:ext cx="2143536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enum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SomeEnum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green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blue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38554" y="4582111"/>
            <a:ext cx="425308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SomeEnum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SomeEnum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blue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73423" y="5317448"/>
            <a:ext cx="3499676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a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SomeEnum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blue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177848" y="1907782"/>
            <a:ext cx="2294218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enum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SomeEnum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red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green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blue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2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68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-806697" y="952857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8" y="457200"/>
            <a:ext cx="90754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Вложенные классы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78" y="1188720"/>
            <a:ext cx="9376285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readonly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Point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pos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readonly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private class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Point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r)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{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pos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Point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AB2F6B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this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r;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}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public void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Draw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=&gt;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Console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855F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$"(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pos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x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pos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y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), radius 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0093A1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2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-806697" y="952857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8" y="457200"/>
            <a:ext cx="90754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Преобразования типов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48183" y="1689094"/>
            <a:ext cx="5307863" cy="4093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383838"/>
              </a:solidFill>
              <a:effectLst/>
              <a:latin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as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383838"/>
              </a:solidFill>
              <a:effectLst/>
              <a:latin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if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 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lang="en-US" altLang="ru-RU" sz="2000" dirty="0">
              <a:solidFill>
                <a:srgbClr val="383838"/>
              </a:solidFill>
              <a:latin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if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is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64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8" y="457200"/>
            <a:ext cx="90754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Сопоставление шаблонов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40078" y="1188720"/>
            <a:ext cx="8622873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switch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case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circle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with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radius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c.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Radius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break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case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Rectangle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when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Length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==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Height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Length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x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s.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Height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square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break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case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Rectangle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$"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Length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x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r.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Height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rectangle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break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default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"&lt;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unknown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8C6C41"/>
                </a:solidFill>
                <a:effectLst/>
                <a:latin typeface="Cascadia Code" panose="020B0609020000020004" pitchFamily="49" charset="0"/>
              </a:rPr>
              <a:t>&gt;"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break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case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null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: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throw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6B2FBA"/>
                </a:solidFill>
                <a:effectLst/>
                <a:latin typeface="Cascadia Code" panose="020B0609020000020004" pitchFamily="49" charset="0"/>
              </a:rPr>
              <a:t>ArgumentNullException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nameof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shape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));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59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9383151" cy="4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79" y="457200"/>
            <a:ext cx="101681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Объекты в памяти</a:t>
            </a:r>
            <a:endParaRPr lang="en-US" sz="4000" dirty="0">
              <a:solidFill>
                <a:srgbClr val="14234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9" name="Google Shape;220;p25"/>
          <p:cNvSpPr txBox="1">
            <a:spLocks/>
          </p:cNvSpPr>
          <p:nvPr/>
        </p:nvSpPr>
        <p:spPr>
          <a:xfrm>
            <a:off x="792480" y="1673222"/>
            <a:ext cx="10015728" cy="477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endParaRPr lang="en-US" sz="2400" dirty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dirty="0" smtClean="0">
              <a:solidFill>
                <a:srgbClr val="14234C"/>
              </a:solidFill>
            </a:endParaRPr>
          </a:p>
          <a:p>
            <a:pPr marL="152396" indent="0">
              <a:lnSpc>
                <a:spcPts val="3000"/>
              </a:lnSpc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ru-RU" sz="2400" dirty="0" smtClean="0">
              <a:solidFill>
                <a:srgbClr val="14234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79" y="1949552"/>
            <a:ext cx="4102405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949494"/>
                </a:solidFill>
                <a:effectLst/>
                <a:latin typeface="Cascadia Code" panose="020B0609020000020004" pitchFamily="49" charset="0"/>
              </a:rPr>
              <a:t>Example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{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Employee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e =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new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54D6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Manager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   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e.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202020"/>
                </a:solidFill>
                <a:effectLst/>
                <a:latin typeface="Cascadia Code" panose="020B0609020000020004" pitchFamily="49" charset="0"/>
              </a:rPr>
              <a:t>GenProgressReport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();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383838"/>
                </a:solidFill>
                <a:effectLst/>
                <a:latin typeface="Cascadia Code" panose="020B0609020000020004" pitchFamily="49" charset="0"/>
              </a:rPr>
              <a:t>}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110" y="1188720"/>
            <a:ext cx="4966121" cy="501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1" y="4852503"/>
            <a:ext cx="2917553" cy="1135932"/>
          </a:xfrm>
          <a:prstGeom prst="rect">
            <a:avLst/>
          </a:prstGeom>
        </p:spPr>
      </p:pic>
      <p:sp>
        <p:nvSpPr>
          <p:cNvPr id="8" name="Google Shape;220;p25"/>
          <p:cNvSpPr txBox="1">
            <a:spLocks/>
          </p:cNvSpPr>
          <p:nvPr/>
        </p:nvSpPr>
        <p:spPr>
          <a:xfrm>
            <a:off x="640080" y="1520823"/>
            <a:ext cx="10948182" cy="39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Конспекты Юрия Викторовича Литвинова</a:t>
            </a: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>
                <a:solidFill>
                  <a:srgbClr val="14234C"/>
                </a:solidFill>
              </a:rPr>
              <a:t>П</a:t>
            </a:r>
            <a:r>
              <a:rPr lang="ru-RU" sz="2000" dirty="0" smtClean="0">
                <a:solidFill>
                  <a:srgbClr val="14234C"/>
                </a:solidFill>
              </a:rPr>
              <a:t>о ООП и основам </a:t>
            </a:r>
            <a:r>
              <a:rPr lang="en-US" sz="2000" dirty="0" smtClean="0">
                <a:solidFill>
                  <a:srgbClr val="14234C"/>
                </a:solidFill>
              </a:rPr>
              <a:t>C#</a:t>
            </a:r>
            <a:r>
              <a:rPr lang="ru-RU" sz="2000" dirty="0">
                <a:solidFill>
                  <a:srgbClr val="14234C"/>
                </a:solidFill>
              </a:rPr>
              <a:t> —</a:t>
            </a:r>
            <a:r>
              <a:rPr lang="ru-RU" sz="2000" dirty="0" smtClean="0">
                <a:solidFill>
                  <a:srgbClr val="14234C"/>
                </a:solidFill>
              </a:rPr>
              <a:t> </a:t>
            </a:r>
            <a:r>
              <a:rPr lang="en-US" sz="2000" dirty="0">
                <a:solidFill>
                  <a:srgbClr val="14234C"/>
                </a:solidFill>
                <a:hlinkClick r:id="rId3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hlinkClick r:id="rId3"/>
              </a:rPr>
              <a:t>github.com/yurii-litvinov/courses/tree/master/programming-2nd-semester</a:t>
            </a:r>
            <a:r>
              <a:rPr lang="ru-RU" sz="2000" dirty="0" smtClean="0">
                <a:solidFill>
                  <a:srgbClr val="14234C"/>
                </a:solidFill>
              </a:rPr>
              <a:t> </a:t>
            </a: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>
                <a:solidFill>
                  <a:srgbClr val="14234C"/>
                </a:solidFill>
              </a:rPr>
              <a:t>П</a:t>
            </a:r>
            <a:r>
              <a:rPr lang="ru-RU" sz="2000" dirty="0" smtClean="0">
                <a:solidFill>
                  <a:srgbClr val="14234C"/>
                </a:solidFill>
              </a:rPr>
              <a:t>о </a:t>
            </a:r>
            <a:r>
              <a:rPr lang="ru-RU" sz="2000" dirty="0" err="1" smtClean="0">
                <a:solidFill>
                  <a:srgbClr val="14234C"/>
                </a:solidFill>
              </a:rPr>
              <a:t>многопоточке</a:t>
            </a:r>
            <a:r>
              <a:rPr lang="ru-RU" sz="2000" dirty="0" smtClean="0">
                <a:solidFill>
                  <a:srgbClr val="14234C"/>
                </a:solidFill>
              </a:rPr>
              <a:t>, рефлексии и «углубленному </a:t>
            </a:r>
            <a:r>
              <a:rPr lang="en-US" sz="2000" dirty="0" smtClean="0">
                <a:solidFill>
                  <a:srgbClr val="14234C"/>
                </a:solidFill>
              </a:rPr>
              <a:t>.NET</a:t>
            </a:r>
            <a:r>
              <a:rPr lang="ru-RU" sz="2000" dirty="0" smtClean="0">
                <a:solidFill>
                  <a:srgbClr val="14234C"/>
                </a:solidFill>
              </a:rPr>
              <a:t>»: </a:t>
            </a:r>
            <a:r>
              <a:rPr lang="en-US" sz="2000" dirty="0">
                <a:solidFill>
                  <a:srgbClr val="14234C"/>
                </a:solidFill>
                <a:hlinkClick r:id="rId4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hlinkClick r:id="rId4"/>
              </a:rPr>
              <a:t>github.com/yurii-litvinov/courses/tree/master/programming-3rd-semester</a:t>
            </a:r>
            <a:r>
              <a:rPr lang="ru-RU" sz="2000" dirty="0" smtClean="0">
                <a:solidFill>
                  <a:srgbClr val="14234C"/>
                </a:solidFill>
              </a:rPr>
              <a:t> </a:t>
            </a:r>
            <a:endParaRPr lang="en-US" sz="2000" dirty="0" smtClean="0">
              <a:solidFill>
                <a:srgbClr val="14234C"/>
              </a:solidFill>
            </a:endParaRP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Читаются легко, полезного много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solidFill>
                  <a:srgbClr val="14234C"/>
                </a:solidFill>
                <a:hlinkClick r:id="rId5"/>
              </a:rPr>
              <a:t>https://devblogs.microsoft.com/dotnet</a:t>
            </a:r>
            <a:r>
              <a:rPr lang="ru-RU" sz="2400" dirty="0" smtClean="0">
                <a:solidFill>
                  <a:srgbClr val="14234C"/>
                </a:solidFill>
                <a:hlinkClick r:id="rId5"/>
              </a:rPr>
              <a:t>/</a:t>
            </a:r>
            <a:r>
              <a:rPr lang="ru-RU" sz="2400" dirty="0" smtClean="0">
                <a:solidFill>
                  <a:srgbClr val="14234C"/>
                </a:solidFill>
              </a:rPr>
              <a:t> — </a:t>
            </a:r>
            <a:r>
              <a:rPr lang="ru-RU" sz="2400" dirty="0">
                <a:solidFill>
                  <a:srgbClr val="14234C"/>
                </a:solidFill>
              </a:rPr>
              <a:t>официальный блог о .</a:t>
            </a:r>
            <a:r>
              <a:rPr lang="ru-RU" sz="2400" dirty="0" smtClean="0">
                <a:solidFill>
                  <a:srgbClr val="14234C"/>
                </a:solidFill>
              </a:rPr>
              <a:t>NET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err="1">
                <a:solidFill>
                  <a:srgbClr val="14234C"/>
                </a:solidFill>
              </a:rPr>
              <a:t>Джепикс</a:t>
            </a:r>
            <a:r>
              <a:rPr lang="ru-RU" sz="2400" dirty="0">
                <a:solidFill>
                  <a:srgbClr val="14234C"/>
                </a:solidFill>
              </a:rPr>
              <a:t>, </a:t>
            </a:r>
            <a:r>
              <a:rPr lang="ru-RU" sz="2400" dirty="0" err="1">
                <a:solidFill>
                  <a:srgbClr val="14234C"/>
                </a:solidFill>
              </a:rPr>
              <a:t>Троелсен</a:t>
            </a:r>
            <a:r>
              <a:rPr lang="ru-RU" sz="2400" dirty="0">
                <a:solidFill>
                  <a:srgbClr val="14234C"/>
                </a:solidFill>
              </a:rPr>
              <a:t> Язык программирования C# 9 и платформа .NET 5 — C# для самых </a:t>
            </a:r>
            <a:r>
              <a:rPr lang="ru-RU" sz="2400" dirty="0" smtClean="0">
                <a:solidFill>
                  <a:srgbClr val="14234C"/>
                </a:solidFill>
              </a:rPr>
              <a:t>маленьких</a:t>
            </a: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 smtClean="0">
                <a:solidFill>
                  <a:srgbClr val="14234C"/>
                </a:solidFill>
              </a:rPr>
              <a:t>Джозеф </a:t>
            </a:r>
            <a:r>
              <a:rPr lang="ru-RU" sz="2400" dirty="0" err="1">
                <a:solidFill>
                  <a:srgbClr val="14234C"/>
                </a:solidFill>
              </a:rPr>
              <a:t>Албахари</a:t>
            </a:r>
            <a:r>
              <a:rPr lang="ru-RU" sz="2400" dirty="0">
                <a:solidFill>
                  <a:srgbClr val="14234C"/>
                </a:solidFill>
              </a:rPr>
              <a:t>, Бен </a:t>
            </a:r>
            <a:r>
              <a:rPr lang="ru-RU" sz="2400" dirty="0" err="1">
                <a:solidFill>
                  <a:srgbClr val="14234C"/>
                </a:solidFill>
              </a:rPr>
              <a:t>Албахари</a:t>
            </a:r>
            <a:r>
              <a:rPr lang="ru-RU" sz="2400" dirty="0">
                <a:solidFill>
                  <a:srgbClr val="14234C"/>
                </a:solidFill>
              </a:rPr>
              <a:t> C# 9.0. Справочник. Полное описание языка</a:t>
            </a:r>
            <a:endParaRPr lang="ru-RU" sz="24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2400" dirty="0">
                <a:solidFill>
                  <a:srgbClr val="14234C"/>
                </a:solidFill>
              </a:rPr>
              <a:t>Jeffrey Richter CLR via C# — must read </a:t>
            </a:r>
            <a:r>
              <a:rPr lang="ru-RU" sz="2400" dirty="0">
                <a:solidFill>
                  <a:srgbClr val="14234C"/>
                </a:solidFill>
              </a:rPr>
              <a:t>про </a:t>
            </a:r>
            <a:r>
              <a:rPr lang="en-US" sz="2400" dirty="0" smtClean="0">
                <a:solidFill>
                  <a:srgbClr val="14234C"/>
                </a:solidFill>
              </a:rPr>
              <a:t>C#</a:t>
            </a:r>
            <a:r>
              <a:rPr lang="ru-RU" sz="2400" dirty="0" smtClean="0">
                <a:solidFill>
                  <a:srgbClr val="14234C"/>
                </a:solidFill>
              </a:rPr>
              <a:t>, хоть и не всё уже актуально</a:t>
            </a:r>
          </a:p>
          <a:p>
            <a:pPr marL="895346" lvl="1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000" dirty="0" smtClean="0">
                <a:solidFill>
                  <a:srgbClr val="14234C"/>
                </a:solidFill>
              </a:rPr>
              <a:t>Или </a:t>
            </a:r>
            <a:r>
              <a:rPr lang="ru-RU" sz="2000" dirty="0">
                <a:solidFill>
                  <a:srgbClr val="14234C"/>
                </a:solidFill>
              </a:rPr>
              <a:t>её русское издание «</a:t>
            </a:r>
            <a:r>
              <a:rPr lang="en-US" sz="2000" dirty="0">
                <a:solidFill>
                  <a:srgbClr val="14234C"/>
                </a:solidFill>
              </a:rPr>
              <a:t>CLR via C#. </a:t>
            </a:r>
            <a:r>
              <a:rPr lang="ru-RU" sz="2000" dirty="0">
                <a:solidFill>
                  <a:srgbClr val="14234C"/>
                </a:solidFill>
              </a:rPr>
              <a:t>Программирование на платформе </a:t>
            </a:r>
            <a:r>
              <a:rPr lang="en-US" sz="2000" dirty="0">
                <a:solidFill>
                  <a:srgbClr val="14234C"/>
                </a:solidFill>
              </a:rPr>
              <a:t>Microsoft.NET Framework 4.5 </a:t>
            </a:r>
            <a:r>
              <a:rPr lang="ru-RU" sz="2000" dirty="0">
                <a:solidFill>
                  <a:srgbClr val="14234C"/>
                </a:solidFill>
              </a:rPr>
              <a:t>на языке </a:t>
            </a:r>
            <a:r>
              <a:rPr lang="en-US" sz="2000" dirty="0">
                <a:solidFill>
                  <a:srgbClr val="14234C"/>
                </a:solidFill>
              </a:rPr>
              <a:t>C</a:t>
            </a:r>
            <a:r>
              <a:rPr lang="en-US" sz="2000" dirty="0" smtClean="0">
                <a:solidFill>
                  <a:srgbClr val="14234C"/>
                </a:solidFill>
              </a:rPr>
              <a:t>#»</a:t>
            </a:r>
            <a:endParaRPr lang="ru-RU" sz="2000" dirty="0" smtClean="0">
              <a:solidFill>
                <a:srgbClr val="14234C"/>
              </a:solidFill>
            </a:endParaRPr>
          </a:p>
          <a:p>
            <a:pPr marL="495296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ru-RU" sz="2400" dirty="0">
                <a:hlinkClick r:id="rId6"/>
              </a:rPr>
              <a:t>https://ulearn.me</a:t>
            </a:r>
            <a:r>
              <a:rPr lang="ru-RU" sz="2400" dirty="0" smtClean="0">
                <a:hlinkClick r:id="rId6"/>
              </a:rPr>
              <a:t>/</a:t>
            </a:r>
            <a:r>
              <a:rPr lang="ru-RU" sz="2400" dirty="0" smtClean="0"/>
              <a:t> — </a:t>
            </a:r>
            <a:r>
              <a:rPr lang="ru-RU" sz="2400" dirty="0"/>
              <a:t>набор открытых онлайн-курсов от «Контур» и </a:t>
            </a:r>
            <a:r>
              <a:rPr lang="ru-RU" sz="2400" dirty="0" err="1" smtClean="0"/>
              <a:t>УрГУ</a:t>
            </a:r>
            <a:endParaRPr lang="ru-RU" sz="2400" dirty="0" smtClean="0">
              <a:solidFill>
                <a:srgbClr val="14234C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21" y="226182"/>
            <a:ext cx="3310044" cy="16550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 smtClean="0">
                <a:solidFill>
                  <a:srgbClr val="14234C"/>
                </a:solidFill>
                <a:latin typeface="Cambria" pitchFamily="34" charset="0"/>
                <a:ea typeface="Cambria" pitchFamily="34" charset="-122"/>
              </a:rPr>
              <a:t>Литература</a:t>
            </a:r>
            <a:endParaRPr lang="en-US" sz="4000" dirty="0">
              <a:solidFill>
                <a:srgbClr val="1423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1600199"/>
            <a:ext cx="10058400" cy="232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000"/>
              </a:lnSpc>
            </a:pP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Теперь практика</a:t>
            </a:r>
            <a: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44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20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000"/>
              </a:lnSpc>
            </a:pP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Ставим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Rider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www.jetbrains.com/rider/download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проблемы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VPN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то </a:t>
            </a:r>
            <a:r>
              <a:rPr lang="en-US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drive.google.com/drive/folders/13gztiyc_jFexCcZBECzwXwCt48wesrAO?usp=sharing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000"/>
              </a:lnSpc>
            </a:pP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Ставим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 SDK 10</a:t>
            </a:r>
            <a:r>
              <a:rPr lang="en-US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dotnet.microsoft.com/en-us/download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000"/>
              </a:lnSpc>
            </a:pP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Клонируем </a:t>
            </a:r>
            <a:r>
              <a:rPr lang="ru-RU" sz="20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репозиторий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</a:t>
            </a:r>
            <a:r>
              <a:rPr lang="ru-RU" sz="2000" dirty="0" err="1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демо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-проектом:</a:t>
            </a:r>
            <a:r>
              <a:rPr lang="en-US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github.com/YuriUfimtsev/CSharpDemo</a:t>
            </a:r>
            <a:r>
              <a:rPr lang="en-US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smtClean="0">
                <a:solidFill>
                  <a:srgbClr val="14234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 smtClean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000"/>
              </a:lnSpc>
            </a:pPr>
            <a:endParaRPr lang="ru-RU" sz="4400" dirty="0">
              <a:solidFill>
                <a:srgbClr val="14234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31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1569</Words>
  <Application>Microsoft Office PowerPoint</Application>
  <PresentationFormat>Широкоэкранный</PresentationFormat>
  <Paragraphs>503</Paragraphs>
  <Slides>66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66</vt:i4>
      </vt:variant>
    </vt:vector>
  </HeadingPairs>
  <TitlesOfParts>
    <vt:vector size="74" baseType="lpstr">
      <vt:lpstr>Arial</vt:lpstr>
      <vt:lpstr>Calibri</vt:lpstr>
      <vt:lpstr>Calibri Light</vt:lpstr>
      <vt:lpstr>Cambria</vt:lpstr>
      <vt:lpstr>Cascadia Code</vt:lpstr>
      <vt:lpstr>Play</vt:lpstr>
      <vt:lpstr>Office Theme</vt:lpstr>
      <vt:lpstr>VK New Color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Home</cp:lastModifiedBy>
  <cp:revision>67</cp:revision>
  <dcterms:created xsi:type="dcterms:W3CDTF">2026-08-31T16:37:12Z</dcterms:created>
  <dcterms:modified xsi:type="dcterms:W3CDTF">2026-09-05T03:42:42Z</dcterms:modified>
</cp:coreProperties>
</file>