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embeddedFontLst>
    <p:embeddedFont>
      <p:font typeface="JetBrains Mono" panose="02000009000000000000" pitchFamily="49" charset="0"/>
      <p:regular r:id="rId64"/>
      <p:bold r:id="rId6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font" Target="fonts/font1.fntdata"/><Relationship Id="rId6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Unit-тесты = модульные тесты. Selenium - автотесты GUI, или end-to-end тесты, которые проверяют работу всего приложения.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Длинное имя теста - это нормально. Главное, чтобы оно отражало проверяемый сценарий.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По-русски: Организуй - Действуй - Утверждай.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Также важна детерминированность: тест должен давать одинаковый результат при каждом запуске - никаких случайных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оригинальном слайде в метод передавался сам Mock и использовался Assert.Equals - здесь исправлено на .Object и Assert.Equal, чтобы код компилировался.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Unit-тест на контроллер можно написать, если там есть сложная логика, но лучше такого избегать - контроллер просто координирует. Используют NUnit, xUnit и MSTest; исторически популярнее стал xUnit.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слайде лекции в Dispose вызывался stack.Dispose(), но Stack&lt;T&gt; не реализует IDisposable - заменено на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Подробнее про фикстуры - в документации xUnit, раздел Shared Context between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NUnit 4 классические проверки вида Assert.AreEqual вынесены в ClassicAssert; рекомендуемый стиль - Assert.That с constraint-ами (Is.EqualTo, Is.Null, Has.Count и т.д.).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[TestFixture] в NUnit писать необязательно: это нужно только для параметризованных или generic-классов. Assert.Throws&lt;T&gt; выглядит одинаково в обоих фреймворках.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Assert - класс со статическими методами. У большинства есть пара-отрицание: NotEqual, NotSame, DoesNotContain, NotInRange, NotEmpty, IsNotType, NotNull. На практике чаще используют FluentAssertions.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Проверки читаются как естественный текст, а сообщения об ошибках подробные. Важно: начиная с версии 8 FluentAssertions распространяется по платной лицензии для коммерческого использования; бесплатная альтернатива - форк AwesomeAssertions или версия 7.x.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Пример кода справа составлен для иллюстрации схемы из лекции, его не было на слайдах. Сложные вычисления проверяем сравнением с ответом, посчитанным вручную, через InlineData.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Moq 4.20 (август 2023) включал SponsorLink, который собирал хэши email разработчиков при сборке; после критики это убрали, но часть сообщества перешла на NSubstitute. Для исключений в NSubstitute есть Throws() из пространства имён NSubstitute.ExceptionExtensions.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Bogus по умолчанию требует конструктор без параметров. Если его нет - используем CustomInstantiator.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Очень мощная библиотека с множеством расширений. Учтите: оригинальный пакет AutoBogus давно не обновляется, у него есть поддерживаемые форки.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Кастомизации AutoFixture.AutoMoq и AutoFixture.AutoNSubstitute добавлены от себя: new Fixture().Customize(new AutoMoqCustomization()) - тогда для интерфейсов автоматически создаются моки.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AFB"/>
        </a:solidFill>
      </p:bgPr>
    </p:bg>
    <p:spTree>
      <p:nvGrpSpPr>
        <p:cNvPr id="1" name=""/>
        <p:cNvGrpSpPr/>
        <p:nvPr/>
      </p:nvGrpSpPr>
      <p:grpSpPr>
        <a:xfrm>
          <a:off x="0" y="0"/>
          <a:ext cx="0" cy="0"/>
          <a:chOff x="0" y="0"/>
          <a:chExt cx="0" cy="0"/>
        </a:xfrm>
      </p:grpSpPr>
      <p:sp>
        <p:nvSpPr>
          <p:cNvPr id="2" name="Title Placeholder 1"/>
          <p:cNvSpPr/>
          <p:nvPr>
            <p:ph type="title"/>
          </p:nvPr>
        </p:nvSpPr>
        <p:spPr>
          <a:xfrm>
            <a:off x="457200" y="838200"/>
            <a:ext cx="11277600" cy="447040"/>
          </a:xfrm>
          <a:prstGeom prst="rect">
            <a:avLst/>
          </a:prstGeom>
          <a:noFill/>
          <a:ln/>
        </p:spPr>
        <p:txBody>
          <a:bodyPr wrap="square" lIns="0" tIns="0" rIns="0" bIns="0" rtlCol="0" anchor="t"/>
          <a:lstStyle>
            <a:lvl1pPr algn="l" indent="0" marL="0">
              <a:lnSpc>
                <a:spcPct val="115000"/>
              </a:lnSpc>
              <a:buNone/>
              <a:defRPr lang="en-US" sz="3200" dirty="0">
                <a:solidFill>
                  <a:srgbClr val="1323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457200" y="1590040"/>
            <a:ext cx="10922000" cy="4455160"/>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B"/>
        </a:solidFill>
      </p:bgPr>
    </p:bg>
    <p:spTree>
      <p:nvGrpSpPr>
        <p:cNvPr id="1" name=""/>
        <p:cNvGrpSpPr/>
        <p:nvPr/>
      </p:nvGrpSpPr>
      <p:grpSpPr>
        <a:xfrm>
          <a:off x="0" y="0"/>
          <a:ext cx="0" cy="0"/>
          <a:chOff x="0" y="0"/>
          <a:chExt cx="0" cy="0"/>
        </a:xfrm>
      </p:grpSpPr>
      <p:sp>
        <p:nvSpPr>
          <p:cNvPr id="2" name="Title Placeholder 1"/>
          <p:cNvSpPr/>
          <p:nvPr>
            <p:ph type="title"/>
          </p:nvPr>
        </p:nvSpPr>
        <p:spPr>
          <a:xfrm>
            <a:off x="457200" y="838200"/>
            <a:ext cx="11277600" cy="447040"/>
          </a:xfrm>
          <a:prstGeom prst="rect">
            <a:avLst/>
          </a:prstGeom>
          <a:noFill/>
          <a:ln/>
        </p:spPr>
        <p:txBody>
          <a:bodyPr wrap="square" lIns="0" tIns="0" rIns="0" bIns="0" rtlCol="0" anchor="t"/>
          <a:lstStyle>
            <a:lvl1pPr algn="l" indent="0" marL="0">
              <a:lnSpc>
                <a:spcPct val="115000"/>
              </a:lnSpc>
              <a:buNone/>
              <a:defRPr lang="en-US" sz="3200" dirty="0">
                <a:solidFill>
                  <a:srgbClr val="1323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457200" y="1590040"/>
            <a:ext cx="10922000" cy="4455160"/>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slideLayout" Target="../slideLayouts/slideLayout2.xml"/><Relationship Id="rId7"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55000">
                <a:srgbClr val="F8FAFB"/>
              </a:gs>
              <a:gs pos="100000">
                <a:srgbClr val="DCEFE1"/>
              </a:gs>
            </a:gsLst>
            <a:lin ang="1800000" scaled="0"/>
          </a:gradFill>
          <a:ln/>
        </p:spPr>
      </p:sp>
      <p:sp>
        <p:nvSpPr>
          <p:cNvPr id="3" name="Text 1"/>
          <p:cNvSpPr/>
          <p:nvPr/>
        </p:nvSpPr>
        <p:spPr>
          <a:xfrm>
            <a:off x="7302500" y="1905000"/>
            <a:ext cx="4316730" cy="3168650"/>
          </a:xfrm>
          <a:prstGeom prst="rect">
            <a:avLst/>
          </a:prstGeom>
          <a:noFill/>
          <a:ln/>
        </p:spPr>
        <p:txBody>
          <a:bodyPr wrap="square" lIns="0" tIns="0" rIns="0" bIns="0" rtlCol="0" anchor="t">
            <a:normAutofit/>
          </a:bodyPr>
          <a:lstStyle/>
          <a:p>
            <a:pPr algn="l" indent="0" marL="0">
              <a:lnSpc>
                <a:spcPts val="8250"/>
              </a:lnSpc>
              <a:buNone/>
            </a:pPr>
            <a:r>
              <a:rPr lang="en-US" sz="7500" b="1" dirty="0">
                <a:solidFill>
                  <a:srgbClr val="C9DECF"/>
                </a:solidFill>
                <a:latin typeface="JetBrains Mono" pitchFamily="49" charset="0"/>
                <a:ea typeface="JetBrains Mono" pitchFamily="49" charset="-122"/>
                <a:cs typeface="JetBrains Mono" pitchFamily="49" charset="-120"/>
              </a:rPr>
              <a:t>[Fact]</a:t>
            </a:r>
            <a:endParaRPr lang="en-US" sz="7500" dirty="0"/>
          </a:p>
          <a:p>
            <a:pPr algn="l" indent="0" marL="0">
              <a:lnSpc>
                <a:spcPts val="8250"/>
              </a:lnSpc>
              <a:buNone/>
            </a:pPr>
            <a:r>
              <a:rPr lang="en-US" sz="7500" b="1" dirty="0">
                <a:solidFill>
                  <a:srgbClr val="C9DECF"/>
                </a:solidFill>
                <a:latin typeface="JetBrains Mono" pitchFamily="49" charset="0"/>
                <a:ea typeface="JetBrains Mono" pitchFamily="49" charset="-122"/>
                <a:cs typeface="JetBrains Mono" pitchFamily="49" charset="-120"/>
              </a:rPr>
              <a:t>[Theory]</a:t>
            </a:r>
            <a:endParaRPr lang="en-US" sz="7500" dirty="0"/>
          </a:p>
        </p:txBody>
      </p:sp>
      <p:sp>
        <p:nvSpPr>
          <p:cNvPr id="4" name="Shape 2"/>
          <p:cNvSpPr/>
          <p:nvPr/>
        </p:nvSpPr>
        <p:spPr>
          <a:xfrm>
            <a:off x="812800" y="1041956"/>
            <a:ext cx="762000" cy="63500"/>
          </a:xfrm>
          <a:prstGeom prst="roundRect">
            <a:avLst>
              <a:gd name="adj" fmla="val 50000"/>
            </a:avLst>
          </a:prstGeom>
          <a:solidFill>
            <a:srgbClr val="1A7F37"/>
          </a:solidFill>
          <a:ln/>
        </p:spPr>
      </p:sp>
      <p:sp>
        <p:nvSpPr>
          <p:cNvPr id="5" name="Text 3"/>
          <p:cNvSpPr/>
          <p:nvPr/>
        </p:nvSpPr>
        <p:spPr>
          <a:xfrm>
            <a:off x="812800" y="1334056"/>
            <a:ext cx="10883392" cy="327660"/>
          </a:xfrm>
          <a:prstGeom prst="rect">
            <a:avLst/>
          </a:prstGeom>
          <a:noFill/>
          <a:ln/>
        </p:spPr>
        <p:txBody>
          <a:bodyPr wrap="square" lIns="0" tIns="0" rIns="0" bIns="0" rtlCol="0" anchor="t">
            <a:normAutofit/>
          </a:bodyPr>
          <a:lstStyle/>
          <a:p>
            <a:pPr algn="l" indent="0" marL="0">
              <a:lnSpc>
                <a:spcPts val="2380"/>
              </a:lnSpc>
              <a:buNone/>
            </a:pPr>
            <a:r>
              <a:rPr lang="en-US" sz="1700" b="1" spc="200" kern="0" dirty="0">
                <a:solidFill>
                  <a:srgbClr val="1A7F37"/>
                </a:solidFill>
                <a:latin typeface="IBM Plex Sans" pitchFamily="34" charset="0"/>
                <a:ea typeface="IBM Plex Sans" pitchFamily="34" charset="-122"/>
                <a:cs typeface="IBM Plex Sans" pitchFamily="34" charset="-120"/>
              </a:rPr>
              <a:t>РАЗРАБОТКА НА C#</a:t>
            </a:r>
            <a:endParaRPr lang="en-US" sz="1700" dirty="0"/>
          </a:p>
        </p:txBody>
      </p:sp>
      <p:sp>
        <p:nvSpPr>
          <p:cNvPr id="6" name="Text 4"/>
          <p:cNvSpPr/>
          <p:nvPr>
            <p:ph type="title"/>
          </p:nvPr>
        </p:nvSpPr>
        <p:spPr>
          <a:xfrm>
            <a:off x="812800" y="1864916"/>
            <a:ext cx="7194550" cy="2434749"/>
          </a:xfrm>
          <a:prstGeom prst="rect">
            <a:avLst/>
          </a:prstGeom>
          <a:noFill/>
          <a:ln/>
        </p:spPr>
        <p:txBody>
          <a:bodyPr wrap="square" lIns="0" tIns="0" rIns="0" bIns="0" rtlCol="0" anchor="t">
            <a:normAutofit/>
          </a:bodyPr>
          <a:lstStyle/>
          <a:p>
            <a:pPr algn="l" indent="0" marL="0">
              <a:lnSpc>
                <a:spcPts val="6324"/>
              </a:lnSpc>
              <a:buNone/>
            </a:pPr>
            <a:r>
              <a:rPr lang="en-US" sz="6200" b="1" i="0" dirty="0">
                <a:solidFill>
                  <a:srgbClr val="13233A"/>
                </a:solidFill>
                <a:latin typeface="IBM Plex Sans" pitchFamily="34" charset="0"/>
                <a:ea typeface="IBM Plex Sans" pitchFamily="34" charset="-122"/>
                <a:cs typeface="IBM Plex Sans" pitchFamily="34" charset="-120"/>
              </a:rPr>
              <a:t>Unit-тестирование</a:t>
            </a:r>
            <a:endParaRPr lang="en-US" sz="6200" dirty="0"/>
          </a:p>
          <a:p>
            <a:pPr algn="l" indent="0" marL="0">
              <a:lnSpc>
                <a:spcPts val="6324"/>
              </a:lnSpc>
              <a:buNone/>
            </a:pPr>
            <a:r>
              <a:rPr lang="en-US" sz="6200" b="1" i="0" dirty="0">
                <a:solidFill>
                  <a:srgbClr val="13233A"/>
                </a:solidFill>
                <a:latin typeface="IBM Plex Sans" pitchFamily="34" charset="0"/>
                <a:ea typeface="IBM Plex Sans" pitchFamily="34" charset="-122"/>
                <a:cs typeface="IBM Plex Sans" pitchFamily="34" charset="-120"/>
              </a:rPr>
              <a:t>в C#</a:t>
            </a:r>
            <a:endParaRPr lang="en-US" sz="6200" dirty="0"/>
          </a:p>
        </p:txBody>
      </p:sp>
      <p:sp>
        <p:nvSpPr>
          <p:cNvPr id="7" name="Text 5"/>
          <p:cNvSpPr/>
          <p:nvPr/>
        </p:nvSpPr>
        <p:spPr>
          <a:xfrm>
            <a:off x="812800" y="4502864"/>
            <a:ext cx="6540500" cy="77216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3A4B5E"/>
                </a:solidFill>
                <a:latin typeface="IBM Plex Sans" pitchFamily="34" charset="0"/>
                <a:ea typeface="IBM Plex Sans" pitchFamily="34" charset="-122"/>
                <a:cs typeface="IBM Plex Sans" pitchFamily="34" charset="-120"/>
              </a:rPr>
              <a:t>Пирамида тестов, best practices, TDD, xUnit, Assertions, моки и тестовые данные</a:t>
            </a:r>
            <a:endParaRPr lang="en-US" sz="2100" dirty="0"/>
          </a:p>
        </p:txBody>
      </p:sp>
      <p:sp>
        <p:nvSpPr>
          <p:cNvPr id="8" name="Text 6"/>
          <p:cNvSpPr/>
          <p:nvPr/>
        </p:nvSpPr>
        <p:spPr>
          <a:xfrm>
            <a:off x="812800" y="5478225"/>
            <a:ext cx="10883392"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3233A"/>
                </a:solidFill>
                <a:latin typeface="IBM Plex Sans" pitchFamily="34" charset="0"/>
                <a:ea typeface="IBM Plex Sans" pitchFamily="34" charset="-122"/>
                <a:cs typeface="IBM Plex Sans" pitchFamily="34" charset="-120"/>
              </a:rPr>
              <a:t>Юрий Уфимцев</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Text 0"/>
          <p:cNvSpPr/>
          <p:nvPr>
            <p:ph type="title"/>
          </p:nvPr>
        </p:nvSpPr>
        <p:spPr>
          <a:xfrm>
            <a:off x="457200" y="5080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О чём поговорим</a:t>
            </a:r>
            <a:endParaRPr lang="en-US" sz="3200" dirty="0"/>
          </a:p>
        </p:txBody>
      </p:sp>
      <p:sp>
        <p:nvSpPr>
          <p:cNvPr id="3" name="Shape 1"/>
          <p:cNvSpPr/>
          <p:nvPr/>
        </p:nvSpPr>
        <p:spPr>
          <a:xfrm>
            <a:off x="457200" y="1158240"/>
            <a:ext cx="2705100" cy="2545080"/>
          </a:xfrm>
          <a:prstGeom prst="roundRect">
            <a:avLst>
              <a:gd name="adj" fmla="val 4990"/>
            </a:avLst>
          </a:prstGeom>
          <a:solidFill>
            <a:srgbClr val="EDF1F5"/>
          </a:solidFill>
          <a:ln/>
        </p:spPr>
      </p:sp>
      <p:sp>
        <p:nvSpPr>
          <p:cNvPr id="4" name="Text 2"/>
          <p:cNvSpPr/>
          <p:nvPr/>
        </p:nvSpPr>
        <p:spPr>
          <a:xfrm>
            <a:off x="660400" y="1361440"/>
            <a:ext cx="236766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A7F37"/>
                </a:solidFill>
                <a:latin typeface="JetBrains Mono" pitchFamily="49" charset="0"/>
                <a:ea typeface="JetBrains Mono" pitchFamily="49" charset="-122"/>
                <a:cs typeface="JetBrains Mono" pitchFamily="49" charset="-120"/>
              </a:rPr>
              <a:t>01</a:t>
            </a:r>
            <a:endParaRPr lang="en-US" sz="3000" dirty="0"/>
          </a:p>
        </p:txBody>
      </p:sp>
      <p:sp>
        <p:nvSpPr>
          <p:cNvPr id="5" name="Text 3"/>
          <p:cNvSpPr/>
          <p:nvPr/>
        </p:nvSpPr>
        <p:spPr>
          <a:xfrm>
            <a:off x="660400" y="2588260"/>
            <a:ext cx="236766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3233A"/>
                </a:solidFill>
                <a:latin typeface="IBM Plex Sans" pitchFamily="34" charset="0"/>
                <a:ea typeface="IBM Plex Sans" pitchFamily="34" charset="-122"/>
                <a:cs typeface="IBM Plex Sans" pitchFamily="34" charset="-120"/>
              </a:rPr>
              <a:t>Тестирование</a:t>
            </a:r>
            <a:endParaRPr lang="en-US" sz="2000" dirty="0"/>
          </a:p>
        </p:txBody>
      </p:sp>
      <p:sp>
        <p:nvSpPr>
          <p:cNvPr id="6" name="Text 4"/>
          <p:cNvSpPr/>
          <p:nvPr/>
        </p:nvSpPr>
        <p:spPr>
          <a:xfrm>
            <a:off x="660400" y="2931160"/>
            <a:ext cx="2367661"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цели и пирамида тестов</a:t>
            </a:r>
            <a:endParaRPr lang="en-US" sz="1600" dirty="0"/>
          </a:p>
        </p:txBody>
      </p:sp>
      <p:sp>
        <p:nvSpPr>
          <p:cNvPr id="7" name="Shape 5"/>
          <p:cNvSpPr/>
          <p:nvPr/>
        </p:nvSpPr>
        <p:spPr>
          <a:xfrm>
            <a:off x="3314700" y="1158240"/>
            <a:ext cx="2705100" cy="2545080"/>
          </a:xfrm>
          <a:prstGeom prst="roundRect">
            <a:avLst>
              <a:gd name="adj" fmla="val 4990"/>
            </a:avLst>
          </a:prstGeom>
          <a:solidFill>
            <a:srgbClr val="EDF1F5"/>
          </a:solidFill>
          <a:ln/>
        </p:spPr>
      </p:sp>
      <p:sp>
        <p:nvSpPr>
          <p:cNvPr id="8" name="Text 6"/>
          <p:cNvSpPr/>
          <p:nvPr/>
        </p:nvSpPr>
        <p:spPr>
          <a:xfrm>
            <a:off x="3517900" y="1361440"/>
            <a:ext cx="236766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A7F37"/>
                </a:solidFill>
                <a:latin typeface="JetBrains Mono" pitchFamily="49" charset="0"/>
                <a:ea typeface="JetBrains Mono" pitchFamily="49" charset="-122"/>
                <a:cs typeface="JetBrains Mono" pitchFamily="49" charset="-120"/>
              </a:rPr>
              <a:t>02</a:t>
            </a:r>
            <a:endParaRPr lang="en-US" sz="3000" dirty="0"/>
          </a:p>
        </p:txBody>
      </p:sp>
      <p:sp>
        <p:nvSpPr>
          <p:cNvPr id="9" name="Text 7"/>
          <p:cNvSpPr/>
          <p:nvPr/>
        </p:nvSpPr>
        <p:spPr>
          <a:xfrm>
            <a:off x="3517900" y="2588260"/>
            <a:ext cx="236766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3233A"/>
                </a:solidFill>
                <a:latin typeface="IBM Plex Sans" pitchFamily="34" charset="0"/>
                <a:ea typeface="IBM Plex Sans" pitchFamily="34" charset="-122"/>
                <a:cs typeface="IBM Plex Sans" pitchFamily="34" charset="-120"/>
              </a:rPr>
              <a:t>Unit-тесты</a:t>
            </a:r>
            <a:endParaRPr lang="en-US" sz="2000" dirty="0"/>
          </a:p>
        </p:txBody>
      </p:sp>
      <p:sp>
        <p:nvSpPr>
          <p:cNvPr id="10" name="Text 8"/>
          <p:cNvSpPr/>
          <p:nvPr/>
        </p:nvSpPr>
        <p:spPr>
          <a:xfrm>
            <a:off x="3517900" y="2931160"/>
            <a:ext cx="2367661"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заглушки и best practices</a:t>
            </a:r>
            <a:endParaRPr lang="en-US" sz="1600" dirty="0"/>
          </a:p>
        </p:txBody>
      </p:sp>
      <p:sp>
        <p:nvSpPr>
          <p:cNvPr id="11" name="Shape 9"/>
          <p:cNvSpPr/>
          <p:nvPr/>
        </p:nvSpPr>
        <p:spPr>
          <a:xfrm>
            <a:off x="6172200" y="1158240"/>
            <a:ext cx="2705100" cy="2545080"/>
          </a:xfrm>
          <a:prstGeom prst="roundRect">
            <a:avLst>
              <a:gd name="adj" fmla="val 4990"/>
            </a:avLst>
          </a:prstGeom>
          <a:solidFill>
            <a:srgbClr val="EDF1F5"/>
          </a:solidFill>
          <a:ln/>
        </p:spPr>
      </p:sp>
      <p:sp>
        <p:nvSpPr>
          <p:cNvPr id="12" name="Text 10"/>
          <p:cNvSpPr/>
          <p:nvPr/>
        </p:nvSpPr>
        <p:spPr>
          <a:xfrm>
            <a:off x="6375400" y="1361440"/>
            <a:ext cx="236766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A7F37"/>
                </a:solidFill>
                <a:latin typeface="JetBrains Mono" pitchFamily="49" charset="0"/>
                <a:ea typeface="JetBrains Mono" pitchFamily="49" charset="-122"/>
                <a:cs typeface="JetBrains Mono" pitchFamily="49" charset="-120"/>
              </a:rPr>
              <a:t>03</a:t>
            </a:r>
            <a:endParaRPr lang="en-US" sz="3000" dirty="0"/>
          </a:p>
        </p:txBody>
      </p:sp>
      <p:sp>
        <p:nvSpPr>
          <p:cNvPr id="13" name="Text 11"/>
          <p:cNvSpPr/>
          <p:nvPr/>
        </p:nvSpPr>
        <p:spPr>
          <a:xfrm>
            <a:off x="6375400" y="2872740"/>
            <a:ext cx="236766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3233A"/>
                </a:solidFill>
                <a:latin typeface="IBM Plex Sans" pitchFamily="34" charset="0"/>
                <a:ea typeface="IBM Plex Sans" pitchFamily="34" charset="-122"/>
                <a:cs typeface="IBM Plex Sans" pitchFamily="34" charset="-120"/>
              </a:rPr>
              <a:t>TDD</a:t>
            </a:r>
            <a:endParaRPr lang="en-US" sz="2000" dirty="0"/>
          </a:p>
        </p:txBody>
      </p:sp>
      <p:sp>
        <p:nvSpPr>
          <p:cNvPr id="14" name="Text 12"/>
          <p:cNvSpPr/>
          <p:nvPr/>
        </p:nvSpPr>
        <p:spPr>
          <a:xfrm>
            <a:off x="6375400" y="3215640"/>
            <a:ext cx="25019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разработка через тесты</a:t>
            </a:r>
            <a:endParaRPr lang="en-US" sz="1600" dirty="0"/>
          </a:p>
        </p:txBody>
      </p:sp>
      <p:sp>
        <p:nvSpPr>
          <p:cNvPr id="15" name="Shape 13"/>
          <p:cNvSpPr/>
          <p:nvPr/>
        </p:nvSpPr>
        <p:spPr>
          <a:xfrm>
            <a:off x="9029700" y="1158240"/>
            <a:ext cx="2705100" cy="2545080"/>
          </a:xfrm>
          <a:prstGeom prst="roundRect">
            <a:avLst>
              <a:gd name="adj" fmla="val 4990"/>
            </a:avLst>
          </a:prstGeom>
          <a:solidFill>
            <a:srgbClr val="EDF1F5"/>
          </a:solidFill>
          <a:ln/>
        </p:spPr>
      </p:sp>
      <p:sp>
        <p:nvSpPr>
          <p:cNvPr id="16" name="Text 14"/>
          <p:cNvSpPr/>
          <p:nvPr/>
        </p:nvSpPr>
        <p:spPr>
          <a:xfrm>
            <a:off x="9232900" y="1361440"/>
            <a:ext cx="236766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A7F37"/>
                </a:solidFill>
                <a:latin typeface="JetBrains Mono" pitchFamily="49" charset="0"/>
                <a:ea typeface="JetBrains Mono" pitchFamily="49" charset="-122"/>
                <a:cs typeface="JetBrains Mono" pitchFamily="49" charset="-120"/>
              </a:rPr>
              <a:t>04</a:t>
            </a:r>
            <a:endParaRPr lang="en-US" sz="3000" dirty="0"/>
          </a:p>
        </p:txBody>
      </p:sp>
      <p:sp>
        <p:nvSpPr>
          <p:cNvPr id="17" name="Text 15"/>
          <p:cNvSpPr/>
          <p:nvPr/>
        </p:nvSpPr>
        <p:spPr>
          <a:xfrm>
            <a:off x="9232900" y="2872740"/>
            <a:ext cx="236766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3233A"/>
                </a:solidFill>
                <a:latin typeface="IBM Plex Sans" pitchFamily="34" charset="0"/>
                <a:ea typeface="IBM Plex Sans" pitchFamily="34" charset="-122"/>
                <a:cs typeface="IBM Plex Sans" pitchFamily="34" charset="-120"/>
              </a:rPr>
              <a:t>Unit-тесты в C#</a:t>
            </a:r>
            <a:endParaRPr lang="en-US" sz="2000" dirty="0"/>
          </a:p>
        </p:txBody>
      </p:sp>
      <p:sp>
        <p:nvSpPr>
          <p:cNvPr id="18" name="Text 16"/>
          <p:cNvSpPr/>
          <p:nvPr/>
        </p:nvSpPr>
        <p:spPr>
          <a:xfrm>
            <a:off x="9232900" y="3215640"/>
            <a:ext cx="236766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фреймворки и xUnit</a:t>
            </a:r>
            <a:endParaRPr lang="en-US" sz="1600" dirty="0"/>
          </a:p>
        </p:txBody>
      </p:sp>
      <p:sp>
        <p:nvSpPr>
          <p:cNvPr id="19" name="Shape 17"/>
          <p:cNvSpPr/>
          <p:nvPr/>
        </p:nvSpPr>
        <p:spPr>
          <a:xfrm>
            <a:off x="457200" y="3855720"/>
            <a:ext cx="2705100" cy="2545080"/>
          </a:xfrm>
          <a:prstGeom prst="roundRect">
            <a:avLst>
              <a:gd name="adj" fmla="val 4990"/>
            </a:avLst>
          </a:prstGeom>
          <a:solidFill>
            <a:srgbClr val="EDF1F5"/>
          </a:solidFill>
          <a:ln/>
        </p:spPr>
      </p:sp>
      <p:sp>
        <p:nvSpPr>
          <p:cNvPr id="20" name="Text 18"/>
          <p:cNvSpPr/>
          <p:nvPr/>
        </p:nvSpPr>
        <p:spPr>
          <a:xfrm>
            <a:off x="660400" y="4058920"/>
            <a:ext cx="236766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A7F37"/>
                </a:solidFill>
                <a:latin typeface="JetBrains Mono" pitchFamily="49" charset="0"/>
                <a:ea typeface="JetBrains Mono" pitchFamily="49" charset="-122"/>
                <a:cs typeface="JetBrains Mono" pitchFamily="49" charset="-120"/>
              </a:rPr>
              <a:t>05</a:t>
            </a:r>
            <a:endParaRPr lang="en-US" sz="3000" dirty="0"/>
          </a:p>
        </p:txBody>
      </p:sp>
      <p:sp>
        <p:nvSpPr>
          <p:cNvPr id="21" name="Text 19"/>
          <p:cNvSpPr/>
          <p:nvPr/>
        </p:nvSpPr>
        <p:spPr>
          <a:xfrm>
            <a:off x="660400" y="5285740"/>
            <a:ext cx="236766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3233A"/>
                </a:solidFill>
                <a:latin typeface="IBM Plex Sans" pitchFamily="34" charset="0"/>
                <a:ea typeface="IBM Plex Sans" pitchFamily="34" charset="-122"/>
                <a:cs typeface="IBM Plex Sans" pitchFamily="34" charset="-120"/>
              </a:rPr>
              <a:t>Assertions</a:t>
            </a:r>
            <a:endParaRPr lang="en-US" sz="2000" dirty="0"/>
          </a:p>
        </p:txBody>
      </p:sp>
      <p:sp>
        <p:nvSpPr>
          <p:cNvPr id="22" name="Text 20"/>
          <p:cNvSpPr/>
          <p:nvPr/>
        </p:nvSpPr>
        <p:spPr>
          <a:xfrm>
            <a:off x="660400" y="5628640"/>
            <a:ext cx="2367661"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Assert и FluentAssertions</a:t>
            </a:r>
            <a:endParaRPr lang="en-US" sz="1600" dirty="0"/>
          </a:p>
        </p:txBody>
      </p:sp>
      <p:sp>
        <p:nvSpPr>
          <p:cNvPr id="23" name="Shape 21"/>
          <p:cNvSpPr/>
          <p:nvPr/>
        </p:nvSpPr>
        <p:spPr>
          <a:xfrm>
            <a:off x="3314700" y="3855720"/>
            <a:ext cx="2705100" cy="2545080"/>
          </a:xfrm>
          <a:prstGeom prst="roundRect">
            <a:avLst>
              <a:gd name="adj" fmla="val 4990"/>
            </a:avLst>
          </a:prstGeom>
          <a:solidFill>
            <a:srgbClr val="EDF1F5"/>
          </a:solidFill>
          <a:ln/>
        </p:spPr>
      </p:sp>
      <p:sp>
        <p:nvSpPr>
          <p:cNvPr id="24" name="Text 22"/>
          <p:cNvSpPr/>
          <p:nvPr/>
        </p:nvSpPr>
        <p:spPr>
          <a:xfrm>
            <a:off x="3517900" y="4058920"/>
            <a:ext cx="236766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A7F37"/>
                </a:solidFill>
                <a:latin typeface="JetBrains Mono" pitchFamily="49" charset="0"/>
                <a:ea typeface="JetBrains Mono" pitchFamily="49" charset="-122"/>
                <a:cs typeface="JetBrains Mono" pitchFamily="49" charset="-120"/>
              </a:rPr>
              <a:t>06</a:t>
            </a:r>
            <a:endParaRPr lang="en-US" sz="3000" dirty="0"/>
          </a:p>
        </p:txBody>
      </p:sp>
      <p:sp>
        <p:nvSpPr>
          <p:cNvPr id="25" name="Text 23"/>
          <p:cNvSpPr/>
          <p:nvPr/>
        </p:nvSpPr>
        <p:spPr>
          <a:xfrm>
            <a:off x="3517900" y="5570220"/>
            <a:ext cx="236766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3233A"/>
                </a:solidFill>
                <a:latin typeface="IBM Plex Sans" pitchFamily="34" charset="0"/>
                <a:ea typeface="IBM Plex Sans" pitchFamily="34" charset="-122"/>
                <a:cs typeface="IBM Plex Sans" pitchFamily="34" charset="-120"/>
              </a:rPr>
              <a:t>Моки</a:t>
            </a:r>
            <a:endParaRPr lang="en-US" sz="2000" dirty="0"/>
          </a:p>
        </p:txBody>
      </p:sp>
      <p:sp>
        <p:nvSpPr>
          <p:cNvPr id="26" name="Text 24"/>
          <p:cNvSpPr/>
          <p:nvPr/>
        </p:nvSpPr>
        <p:spPr>
          <a:xfrm>
            <a:off x="3517900" y="5913120"/>
            <a:ext cx="236766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Moq и NSubstitute</a:t>
            </a:r>
            <a:endParaRPr lang="en-US" sz="1600" dirty="0"/>
          </a:p>
        </p:txBody>
      </p:sp>
      <p:sp>
        <p:nvSpPr>
          <p:cNvPr id="27" name="Shape 25"/>
          <p:cNvSpPr/>
          <p:nvPr/>
        </p:nvSpPr>
        <p:spPr>
          <a:xfrm>
            <a:off x="6172200" y="3855720"/>
            <a:ext cx="2705100" cy="2545080"/>
          </a:xfrm>
          <a:prstGeom prst="roundRect">
            <a:avLst>
              <a:gd name="adj" fmla="val 4990"/>
            </a:avLst>
          </a:prstGeom>
          <a:solidFill>
            <a:srgbClr val="EDF1F5"/>
          </a:solidFill>
          <a:ln/>
        </p:spPr>
      </p:sp>
      <p:sp>
        <p:nvSpPr>
          <p:cNvPr id="28" name="Text 26"/>
          <p:cNvSpPr/>
          <p:nvPr/>
        </p:nvSpPr>
        <p:spPr>
          <a:xfrm>
            <a:off x="6375400" y="4058920"/>
            <a:ext cx="2367661"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1A7F37"/>
                </a:solidFill>
                <a:latin typeface="JetBrains Mono" pitchFamily="49" charset="0"/>
                <a:ea typeface="JetBrains Mono" pitchFamily="49" charset="-122"/>
                <a:cs typeface="JetBrains Mono" pitchFamily="49" charset="-120"/>
              </a:rPr>
              <a:t>07</a:t>
            </a:r>
            <a:endParaRPr lang="en-US" sz="3000" dirty="0"/>
          </a:p>
        </p:txBody>
      </p:sp>
      <p:sp>
        <p:nvSpPr>
          <p:cNvPr id="29" name="Text 27"/>
          <p:cNvSpPr/>
          <p:nvPr/>
        </p:nvSpPr>
        <p:spPr>
          <a:xfrm>
            <a:off x="6375400" y="5285740"/>
            <a:ext cx="236766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3233A"/>
                </a:solidFill>
                <a:latin typeface="IBM Plex Sans" pitchFamily="34" charset="0"/>
                <a:ea typeface="IBM Plex Sans" pitchFamily="34" charset="-122"/>
                <a:cs typeface="IBM Plex Sans" pitchFamily="34" charset="-120"/>
              </a:rPr>
              <a:t>Тестовые данные</a:t>
            </a:r>
            <a:endParaRPr lang="en-US" sz="2000" dirty="0"/>
          </a:p>
        </p:txBody>
      </p:sp>
      <p:sp>
        <p:nvSpPr>
          <p:cNvPr id="30" name="Text 28"/>
          <p:cNvSpPr/>
          <p:nvPr/>
        </p:nvSpPr>
        <p:spPr>
          <a:xfrm>
            <a:off x="6375400" y="5628640"/>
            <a:ext cx="2367661"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Builder, Bogus, AutoFixture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nvSpPr>
        <p:spPr>
          <a:xfrm>
            <a:off x="812800" y="2476500"/>
            <a:ext cx="2621375" cy="1930400"/>
          </a:xfrm>
          <a:prstGeom prst="rect">
            <a:avLst/>
          </a:prstGeom>
          <a:noFill/>
          <a:ln/>
        </p:spPr>
        <p:txBody>
          <a:bodyPr wrap="square" lIns="0" tIns="0" rIns="0" bIns="0" rtlCol="0" anchor="t">
            <a:normAutofit/>
          </a:bodyPr>
          <a:lstStyle/>
          <a:p>
            <a:pPr algn="l" indent="0" marL="0">
              <a:lnSpc>
                <a:spcPts val="15000"/>
              </a:lnSpc>
              <a:buNone/>
            </a:pPr>
            <a:r>
              <a:rPr lang="en-US" sz="15000" spc="-400" kern="0" dirty="0">
                <a:solidFill>
                  <a:srgbClr val="1A7F37"/>
                </a:solidFill>
                <a:latin typeface="IBM Plex Sans" pitchFamily="34" charset="0"/>
                <a:ea typeface="IBM Plex Sans" pitchFamily="34" charset="-122"/>
                <a:cs typeface="IBM Plex Sans" pitchFamily="34" charset="-120"/>
              </a:rPr>
              <a:t>01</a:t>
            </a:r>
            <a:endParaRPr lang="en-US" sz="15000" dirty="0"/>
          </a:p>
        </p:txBody>
      </p:sp>
      <p:sp>
        <p:nvSpPr>
          <p:cNvPr id="4" name="Text 2"/>
          <p:cNvSpPr/>
          <p:nvPr>
            <p:ph type="title"/>
          </p:nvPr>
        </p:nvSpPr>
        <p:spPr>
          <a:xfrm>
            <a:off x="3454479" y="2867661"/>
            <a:ext cx="6372573"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3233A"/>
                </a:solidFill>
                <a:latin typeface="IBM Plex Sans" pitchFamily="34" charset="0"/>
                <a:ea typeface="IBM Plex Sans" pitchFamily="34" charset="-122"/>
                <a:cs typeface="IBM Plex Sans" pitchFamily="34" charset="-120"/>
              </a:rPr>
              <a:t>Тестирование</a:t>
            </a:r>
            <a:endParaRPr lang="en-US" sz="4800" dirty="0"/>
          </a:p>
        </p:txBody>
      </p:sp>
      <p:sp>
        <p:nvSpPr>
          <p:cNvPr id="5" name="Text 3"/>
          <p:cNvSpPr/>
          <p:nvPr/>
        </p:nvSpPr>
        <p:spPr>
          <a:xfrm>
            <a:off x="3454479" y="3634741"/>
            <a:ext cx="7424357"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C6C7D"/>
                </a:solidFill>
                <a:latin typeface="IBM Plex Sans" pitchFamily="34" charset="0"/>
                <a:ea typeface="IBM Plex Sans" pitchFamily="34" charset="-122"/>
                <a:cs typeface="IBM Plex Sans" pitchFamily="34" charset="-120"/>
              </a:rPr>
              <a:t>Зачем тестировать и как устроена пирамида тестов</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01 · ТЕСТИРОВАНИЕ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Что такое тестирование?</a:t>
            </a:r>
            <a:endParaRPr lang="en-US" sz="3200" dirty="0"/>
          </a:p>
        </p:txBody>
      </p:sp>
      <p:sp>
        <p:nvSpPr>
          <p:cNvPr id="4" name="Text 2"/>
          <p:cNvSpPr/>
          <p:nvPr/>
        </p:nvSpPr>
        <p:spPr>
          <a:xfrm>
            <a:off x="457200" y="3350261"/>
            <a:ext cx="5624830" cy="121412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3233A"/>
                </a:solidFill>
                <a:latin typeface="IBM Plex Sans" pitchFamily="34" charset="0"/>
                <a:ea typeface="IBM Plex Sans" pitchFamily="34" charset="-122"/>
                <a:cs typeface="IBM Plex Sans" pitchFamily="34" charset="-120"/>
              </a:rPr>
              <a:t>Тестирование ПО</a:t>
            </a:r>
            <a:r>
              <a:rPr lang="en-US" sz="2400" dirty="0">
                <a:solidFill>
                  <a:srgbClr val="13233A"/>
                </a:solidFill>
                <a:latin typeface="IBM Plex Sans" pitchFamily="34" charset="0"/>
                <a:ea typeface="IBM Plex Sans" pitchFamily="34" charset="-122"/>
                <a:cs typeface="IBM Plex Sans" pitchFamily="34" charset="-120"/>
              </a:rPr>
              <a:t> - процесс испытания программного продукта, имеющий различные цели.</a:t>
            </a:r>
            <a:endParaRPr lang="en-US" sz="2400" dirty="0"/>
          </a:p>
        </p:txBody>
      </p:sp>
      <p:sp>
        <p:nvSpPr>
          <p:cNvPr id="5" name="Shape 3"/>
          <p:cNvSpPr/>
          <p:nvPr/>
        </p:nvSpPr>
        <p:spPr>
          <a:xfrm>
            <a:off x="6273800" y="2236470"/>
            <a:ext cx="5461000" cy="601980"/>
          </a:xfrm>
          <a:prstGeom prst="roundRect">
            <a:avLst>
              <a:gd name="adj" fmla="val 14768"/>
            </a:avLst>
          </a:prstGeom>
          <a:solidFill>
            <a:srgbClr val="EDF1F5"/>
          </a:solidFill>
          <a:ln/>
        </p:spPr>
      </p:sp>
      <p:pic>
        <p:nvPicPr>
          <p:cNvPr id="6" name="Image 0" descr="CheckCircle">    </p:cNvPr>
          <p:cNvPicPr>
            <a:picLocks noChangeAspect="1"/>
          </p:cNvPicPr>
          <p:nvPr/>
        </p:nvPicPr>
        <p:blipFill>
          <a:blip r:embed="rId1"/>
          <a:srcRect l="0" r="0" t="0" b="0"/>
          <a:stretch/>
        </p:blipFill>
        <p:spPr>
          <a:xfrm>
            <a:off x="6451600" y="2410461"/>
            <a:ext cx="254000" cy="254000"/>
          </a:xfrm>
          <a:prstGeom prst="rect">
            <a:avLst/>
          </a:prstGeom>
        </p:spPr>
      </p:pic>
      <p:sp>
        <p:nvSpPr>
          <p:cNvPr id="7" name="Text 4"/>
          <p:cNvSpPr/>
          <p:nvPr/>
        </p:nvSpPr>
        <p:spPr>
          <a:xfrm>
            <a:off x="6832600" y="2388870"/>
            <a:ext cx="3101530"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3233A"/>
                </a:solidFill>
                <a:latin typeface="IBM Plex Sans" pitchFamily="34" charset="0"/>
                <a:ea typeface="IBM Plex Sans" pitchFamily="34" charset="-122"/>
                <a:cs typeface="IBM Plex Sans" pitchFamily="34" charset="-120"/>
              </a:rPr>
              <a:t>Обнаружение дефектов</a:t>
            </a:r>
            <a:endParaRPr lang="en-US" sz="1800" dirty="0"/>
          </a:p>
        </p:txBody>
      </p:sp>
      <p:sp>
        <p:nvSpPr>
          <p:cNvPr id="8" name="Shape 5"/>
          <p:cNvSpPr/>
          <p:nvPr/>
        </p:nvSpPr>
        <p:spPr>
          <a:xfrm>
            <a:off x="6273800" y="2940050"/>
            <a:ext cx="5461000" cy="601980"/>
          </a:xfrm>
          <a:prstGeom prst="roundRect">
            <a:avLst>
              <a:gd name="adj" fmla="val 14768"/>
            </a:avLst>
          </a:prstGeom>
          <a:solidFill>
            <a:srgbClr val="EDF1F5"/>
          </a:solidFill>
          <a:ln/>
        </p:spPr>
      </p:sp>
      <p:pic>
        <p:nvPicPr>
          <p:cNvPr id="9" name="Image 1" descr="CheckCircle">    </p:cNvPr>
          <p:cNvPicPr>
            <a:picLocks noChangeAspect="1"/>
          </p:cNvPicPr>
          <p:nvPr/>
        </p:nvPicPr>
        <p:blipFill>
          <a:blip r:embed="rId2"/>
          <a:srcRect l="0" r="0" t="0" b="0"/>
          <a:stretch/>
        </p:blipFill>
        <p:spPr>
          <a:xfrm>
            <a:off x="6451600" y="3114041"/>
            <a:ext cx="254000" cy="254000"/>
          </a:xfrm>
          <a:prstGeom prst="rect">
            <a:avLst/>
          </a:prstGeom>
        </p:spPr>
      </p:pic>
      <p:sp>
        <p:nvSpPr>
          <p:cNvPr id="10" name="Text 6"/>
          <p:cNvSpPr/>
          <p:nvPr/>
        </p:nvSpPr>
        <p:spPr>
          <a:xfrm>
            <a:off x="6832600" y="3092450"/>
            <a:ext cx="4072318"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3233A"/>
                </a:solidFill>
                <a:latin typeface="IBM Plex Sans" pitchFamily="34" charset="0"/>
                <a:ea typeface="IBM Plex Sans" pitchFamily="34" charset="-122"/>
                <a:cs typeface="IBM Plex Sans" pitchFamily="34" charset="-120"/>
              </a:rPr>
              <a:t>Уверенность в уровне качества</a:t>
            </a:r>
            <a:endParaRPr lang="en-US" sz="1800" dirty="0"/>
          </a:p>
        </p:txBody>
      </p:sp>
      <p:sp>
        <p:nvSpPr>
          <p:cNvPr id="11" name="Shape 7"/>
          <p:cNvSpPr/>
          <p:nvPr/>
        </p:nvSpPr>
        <p:spPr>
          <a:xfrm>
            <a:off x="6273800" y="3643630"/>
            <a:ext cx="5461000" cy="601980"/>
          </a:xfrm>
          <a:prstGeom prst="roundRect">
            <a:avLst>
              <a:gd name="adj" fmla="val 14768"/>
            </a:avLst>
          </a:prstGeom>
          <a:solidFill>
            <a:srgbClr val="EDF1F5"/>
          </a:solidFill>
          <a:ln/>
        </p:spPr>
      </p:sp>
      <p:pic>
        <p:nvPicPr>
          <p:cNvPr id="12" name="Image 2" descr="CheckCircle">    </p:cNvPr>
          <p:cNvPicPr>
            <a:picLocks noChangeAspect="1"/>
          </p:cNvPicPr>
          <p:nvPr/>
        </p:nvPicPr>
        <p:blipFill>
          <a:blip r:embed="rId3"/>
          <a:srcRect l="0" r="0" t="0" b="0"/>
          <a:stretch/>
        </p:blipFill>
        <p:spPr>
          <a:xfrm>
            <a:off x="6451600" y="3817620"/>
            <a:ext cx="254000" cy="254000"/>
          </a:xfrm>
          <a:prstGeom prst="rect">
            <a:avLst/>
          </a:prstGeom>
        </p:spPr>
      </p:pic>
      <p:sp>
        <p:nvSpPr>
          <p:cNvPr id="13" name="Text 8"/>
          <p:cNvSpPr/>
          <p:nvPr/>
        </p:nvSpPr>
        <p:spPr>
          <a:xfrm>
            <a:off x="6832600" y="3796030"/>
            <a:ext cx="4732020"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3233A"/>
                </a:solidFill>
                <a:latin typeface="IBM Plex Sans" pitchFamily="34" charset="0"/>
                <a:ea typeface="IBM Plex Sans" pitchFamily="34" charset="-122"/>
                <a:cs typeface="IBM Plex Sans" pitchFamily="34" charset="-120"/>
              </a:rPr>
              <a:t>Информация для принятия решений</a:t>
            </a:r>
            <a:endParaRPr lang="en-US" sz="1800" dirty="0"/>
          </a:p>
        </p:txBody>
      </p:sp>
      <p:sp>
        <p:nvSpPr>
          <p:cNvPr id="14" name="Shape 9"/>
          <p:cNvSpPr/>
          <p:nvPr/>
        </p:nvSpPr>
        <p:spPr>
          <a:xfrm>
            <a:off x="6273800" y="4347211"/>
            <a:ext cx="5461000" cy="601980"/>
          </a:xfrm>
          <a:prstGeom prst="roundRect">
            <a:avLst>
              <a:gd name="adj" fmla="val 14768"/>
            </a:avLst>
          </a:prstGeom>
          <a:solidFill>
            <a:srgbClr val="EDF1F5"/>
          </a:solidFill>
          <a:ln/>
        </p:spPr>
      </p:sp>
      <p:pic>
        <p:nvPicPr>
          <p:cNvPr id="15" name="Image 3" descr="CheckCircle">    </p:cNvPr>
          <p:cNvPicPr>
            <a:picLocks noChangeAspect="1"/>
          </p:cNvPicPr>
          <p:nvPr/>
        </p:nvPicPr>
        <p:blipFill>
          <a:blip r:embed="rId4"/>
          <a:srcRect l="0" r="0" t="0" b="0"/>
          <a:stretch/>
        </p:blipFill>
        <p:spPr>
          <a:xfrm>
            <a:off x="6451600" y="4521200"/>
            <a:ext cx="254000" cy="254000"/>
          </a:xfrm>
          <a:prstGeom prst="rect">
            <a:avLst/>
          </a:prstGeom>
        </p:spPr>
      </p:pic>
      <p:sp>
        <p:nvSpPr>
          <p:cNvPr id="16" name="Text 10"/>
          <p:cNvSpPr/>
          <p:nvPr/>
        </p:nvSpPr>
        <p:spPr>
          <a:xfrm>
            <a:off x="6832600" y="4499611"/>
            <a:ext cx="3571399"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3233A"/>
                </a:solidFill>
                <a:latin typeface="IBM Plex Sans" pitchFamily="34" charset="0"/>
                <a:ea typeface="IBM Plex Sans" pitchFamily="34" charset="-122"/>
                <a:cs typeface="IBM Plex Sans" pitchFamily="34" charset="-120"/>
              </a:rPr>
              <a:t>Предотвращение дефектов</a:t>
            </a:r>
            <a:endParaRPr lang="en-US" sz="1800" dirty="0"/>
          </a:p>
        </p:txBody>
      </p:sp>
      <p:sp>
        <p:nvSpPr>
          <p:cNvPr id="17" name="Shape 11"/>
          <p:cNvSpPr/>
          <p:nvPr/>
        </p:nvSpPr>
        <p:spPr>
          <a:xfrm>
            <a:off x="6273800" y="5050791"/>
            <a:ext cx="5461000" cy="601980"/>
          </a:xfrm>
          <a:prstGeom prst="roundRect">
            <a:avLst>
              <a:gd name="adj" fmla="val 14768"/>
            </a:avLst>
          </a:prstGeom>
          <a:solidFill>
            <a:srgbClr val="EDF1F5"/>
          </a:solidFill>
          <a:ln/>
        </p:spPr>
      </p:sp>
      <p:pic>
        <p:nvPicPr>
          <p:cNvPr id="18" name="Image 4" descr="CheckCircle">    </p:cNvPr>
          <p:cNvPicPr>
            <a:picLocks noChangeAspect="1"/>
          </p:cNvPicPr>
          <p:nvPr/>
        </p:nvPicPr>
        <p:blipFill>
          <a:blip r:embed="rId5"/>
          <a:srcRect l="0" r="0" t="0" b="0"/>
          <a:stretch/>
        </p:blipFill>
        <p:spPr>
          <a:xfrm>
            <a:off x="6451600" y="5224780"/>
            <a:ext cx="254000" cy="254000"/>
          </a:xfrm>
          <a:prstGeom prst="rect">
            <a:avLst/>
          </a:prstGeom>
        </p:spPr>
      </p:pic>
      <p:sp>
        <p:nvSpPr>
          <p:cNvPr id="19" name="Text 12"/>
          <p:cNvSpPr/>
          <p:nvPr/>
        </p:nvSpPr>
        <p:spPr>
          <a:xfrm>
            <a:off x="6832600" y="5203191"/>
            <a:ext cx="4902200"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3233A"/>
                </a:solidFill>
                <a:latin typeface="IBM Plex Sans" pitchFamily="34" charset="0"/>
                <a:ea typeface="IBM Plex Sans" pitchFamily="34" charset="-122"/>
                <a:cs typeface="IBM Plex Sans" pitchFamily="34" charset="-120"/>
              </a:rPr>
              <a:t>Демонстрация соответствия требованиям</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01 · ТЕСТИРОВАНИЕ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Пирамида тестирования</a:t>
            </a:r>
            <a:endParaRPr lang="en-US" sz="3200" dirty="0"/>
          </a:p>
        </p:txBody>
      </p:sp>
      <p:sp>
        <p:nvSpPr>
          <p:cNvPr id="4" name="Text 2"/>
          <p:cNvSpPr/>
          <p:nvPr/>
        </p:nvSpPr>
        <p:spPr>
          <a:xfrm>
            <a:off x="2241550" y="2627632"/>
            <a:ext cx="2146300" cy="607060"/>
          </a:xfrm>
          <a:prstGeom prst="roundRect">
            <a:avLst>
              <a:gd name="adj" fmla="val 11506"/>
            </a:avLst>
          </a:prstGeom>
          <a:noFill/>
          <a:ln w="12700">
            <a:solidFill>
              <a:srgbClr val="8A9AAA"/>
            </a:solidFill>
            <a:prstDash val="dash"/>
          </a:ln>
        </p:spPr>
        <p:txBody>
          <a:bodyPr wrap="square" lIns="108243" tIns="123052" rIns="108243" bIns="97652" rtlCol="0" anchor="t">
            <a:normAutofit/>
          </a:bodyPr>
          <a:lstStyle/>
          <a:p>
            <a:pPr algn="ctr" indent="0" marL="0">
              <a:lnSpc>
                <a:spcPts val="2520"/>
              </a:lnSpc>
              <a:buNone/>
            </a:pPr>
            <a:r>
              <a:rPr lang="en-US" sz="1800" b="1" dirty="0">
                <a:solidFill>
                  <a:srgbClr val="13233A"/>
                </a:solidFill>
                <a:latin typeface="IBM Plex Sans" pitchFamily="34" charset="0"/>
                <a:ea typeface="IBM Plex Sans" pitchFamily="34" charset="-122"/>
                <a:cs typeface="IBM Plex Sans" pitchFamily="34" charset="-120"/>
              </a:rPr>
              <a:t>Ручное</a:t>
            </a:r>
            <a:endParaRPr lang="en-US" sz="1800" dirty="0"/>
          </a:p>
        </p:txBody>
      </p:sp>
      <p:sp>
        <p:nvSpPr>
          <p:cNvPr id="5" name="Text 3"/>
          <p:cNvSpPr/>
          <p:nvPr/>
        </p:nvSpPr>
        <p:spPr>
          <a:xfrm>
            <a:off x="1600200" y="3317239"/>
            <a:ext cx="3429000" cy="599440"/>
          </a:xfrm>
          <a:prstGeom prst="roundRect">
            <a:avLst>
              <a:gd name="adj" fmla="val 12712"/>
            </a:avLst>
          </a:prstGeom>
          <a:solidFill>
            <a:srgbClr val="1F5FBF"/>
          </a:solidFill>
          <a:ln/>
        </p:spPr>
        <p:txBody>
          <a:bodyPr wrap="square" lIns="83219" tIns="117382" rIns="83219" bIns="91982" rtlCol="0" anchor="t">
            <a:normAutofit/>
          </a:bodyPr>
          <a:lstStyle/>
          <a:p>
            <a:pPr algn="ctr" indent="0" marL="0">
              <a:lnSpc>
                <a:spcPts val="2520"/>
              </a:lnSpc>
              <a:buNone/>
            </a:pPr>
            <a:r>
              <a:rPr lang="en-US" sz="1800" b="1" dirty="0">
                <a:solidFill>
                  <a:srgbClr val="FDFDFD"/>
                </a:solidFill>
                <a:latin typeface="IBM Plex Sans" pitchFamily="34" charset="0"/>
                <a:ea typeface="IBM Plex Sans" pitchFamily="34" charset="-122"/>
                <a:cs typeface="IBM Plex Sans" pitchFamily="34" charset="-120"/>
              </a:rPr>
              <a:t>GUI / E2E · Selenium</a:t>
            </a:r>
            <a:endParaRPr lang="en-US" sz="1800" dirty="0"/>
          </a:p>
        </p:txBody>
      </p:sp>
      <p:sp>
        <p:nvSpPr>
          <p:cNvPr id="6" name="Text 4"/>
          <p:cNvSpPr/>
          <p:nvPr/>
        </p:nvSpPr>
        <p:spPr>
          <a:xfrm>
            <a:off x="1028700" y="3992882"/>
            <a:ext cx="4572000" cy="599440"/>
          </a:xfrm>
          <a:prstGeom prst="roundRect">
            <a:avLst>
              <a:gd name="adj" fmla="val 12712"/>
            </a:avLst>
          </a:prstGeom>
          <a:solidFill>
            <a:srgbClr val="127C7C"/>
          </a:solidFill>
          <a:ln/>
        </p:spPr>
        <p:txBody>
          <a:bodyPr wrap="square" lIns="66074" tIns="117382" rIns="66074" bIns="91982" rtlCol="0" anchor="t">
            <a:normAutofit/>
          </a:bodyPr>
          <a:lstStyle/>
          <a:p>
            <a:pPr algn="ctr" indent="0" marL="0">
              <a:lnSpc>
                <a:spcPts val="2520"/>
              </a:lnSpc>
              <a:buNone/>
            </a:pPr>
            <a:r>
              <a:rPr lang="en-US" sz="1800" b="1" dirty="0">
                <a:solidFill>
                  <a:srgbClr val="FDFDFD"/>
                </a:solidFill>
                <a:latin typeface="IBM Plex Sans" pitchFamily="34" charset="0"/>
                <a:ea typeface="IBM Plex Sans" pitchFamily="34" charset="-122"/>
                <a:cs typeface="IBM Plex Sans" pitchFamily="34" charset="-120"/>
              </a:rPr>
              <a:t>Интеграционные</a:t>
            </a:r>
            <a:endParaRPr lang="en-US" sz="1800" dirty="0"/>
          </a:p>
        </p:txBody>
      </p:sp>
      <p:sp>
        <p:nvSpPr>
          <p:cNvPr id="7" name="Text 5"/>
          <p:cNvSpPr/>
          <p:nvPr/>
        </p:nvSpPr>
        <p:spPr>
          <a:xfrm>
            <a:off x="457200" y="4668521"/>
            <a:ext cx="5715000" cy="599440"/>
          </a:xfrm>
          <a:prstGeom prst="roundRect">
            <a:avLst>
              <a:gd name="adj" fmla="val 12712"/>
            </a:avLst>
          </a:prstGeom>
          <a:solidFill>
            <a:srgbClr val="1A7F37"/>
          </a:solidFill>
          <a:ln/>
        </p:spPr>
        <p:txBody>
          <a:bodyPr wrap="square" lIns="48929" tIns="117382" rIns="48929" bIns="91982" rtlCol="0" anchor="t">
            <a:normAutofit/>
          </a:bodyPr>
          <a:lstStyle/>
          <a:p>
            <a:pPr algn="ctr" indent="0" marL="0">
              <a:lnSpc>
                <a:spcPts val="2520"/>
              </a:lnSpc>
              <a:buNone/>
            </a:pPr>
            <a:r>
              <a:rPr lang="en-US" sz="1800" b="1" dirty="0">
                <a:solidFill>
                  <a:srgbClr val="FDFDFD"/>
                </a:solidFill>
                <a:latin typeface="IBM Plex Sans" pitchFamily="34" charset="0"/>
                <a:ea typeface="IBM Plex Sans" pitchFamily="34" charset="-122"/>
                <a:cs typeface="IBM Plex Sans" pitchFamily="34" charset="-120"/>
              </a:rPr>
              <a:t>Unit (модульные)</a:t>
            </a:r>
            <a:endParaRPr lang="en-US" sz="1800" dirty="0"/>
          </a:p>
        </p:txBody>
      </p:sp>
      <p:sp>
        <p:nvSpPr>
          <p:cNvPr id="8" name="Shape 6"/>
          <p:cNvSpPr/>
          <p:nvPr/>
        </p:nvSpPr>
        <p:spPr>
          <a:xfrm>
            <a:off x="6477000" y="1805939"/>
            <a:ext cx="5257800" cy="1341120"/>
          </a:xfrm>
          <a:prstGeom prst="roundRect">
            <a:avLst>
              <a:gd name="adj" fmla="val 7576"/>
            </a:avLst>
          </a:prstGeom>
          <a:solidFill>
            <a:srgbClr val="EDF1F5"/>
          </a:solidFill>
          <a:ln/>
        </p:spPr>
      </p:sp>
      <p:sp>
        <p:nvSpPr>
          <p:cNvPr id="9" name="Shape 7"/>
          <p:cNvSpPr/>
          <p:nvPr/>
        </p:nvSpPr>
        <p:spPr>
          <a:xfrm>
            <a:off x="6477000" y="1805939"/>
            <a:ext cx="5257800" cy="1341120"/>
          </a:xfrm>
          <a:custGeom>
            <a:avLst/>
            <a:gdLst/>
            <a:ahLst/>
            <a:cxnLst/>
            <a:rect l="l" t="t" r="r" b="b"/>
            <a:pathLst>
              <a:path w="5257800" h="1341120">
                <a:moveTo>
                  <a:pt x="101600" y="1341120"/>
                </a:moveTo>
                <a:lnTo>
                  <a:pt x="101600" y="1341120"/>
                </a:lnTo>
                <a:arcTo hR="101600" wR="101600" stAng="5400000" swAng="5400000"/>
                <a:lnTo>
                  <a:pt x="0" y="101600"/>
                </a:lnTo>
                <a:arcTo hR="101600" wR="101600" stAng="10800000" swAng="5400000"/>
                <a:lnTo>
                  <a:pt x="101600" y="0"/>
                </a:lnTo>
                <a:arcTo hR="101600" wR="63500" stAng="16200000" swAng="-5400000"/>
                <a:lnTo>
                  <a:pt x="38100" y="1239520"/>
                </a:lnTo>
                <a:arcTo hR="101600" wR="63500" stAng="10800000" swAng="-5400000"/>
                <a:close/>
              </a:path>
            </a:pathLst>
          </a:custGeom>
          <a:solidFill>
            <a:srgbClr val="1A7F37"/>
          </a:solidFill>
          <a:ln/>
        </p:spPr>
      </p:sp>
      <p:sp>
        <p:nvSpPr>
          <p:cNvPr id="10" name="Text 8"/>
          <p:cNvSpPr/>
          <p:nvPr/>
        </p:nvSpPr>
        <p:spPr>
          <a:xfrm>
            <a:off x="6715760" y="1983739"/>
            <a:ext cx="4960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Снизу вверх</a:t>
            </a:r>
            <a:endParaRPr lang="en-US" sz="2000" dirty="0"/>
          </a:p>
        </p:txBody>
      </p:sp>
      <p:sp>
        <p:nvSpPr>
          <p:cNvPr id="11" name="Text 9"/>
          <p:cNvSpPr/>
          <p:nvPr/>
        </p:nvSpPr>
        <p:spPr>
          <a:xfrm>
            <a:off x="6715760" y="2364739"/>
            <a:ext cx="4960315"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Разработка ПО - движение по пирамиде снизу вверх.</a:t>
            </a:r>
            <a:endParaRPr lang="en-US" sz="1700" dirty="0"/>
          </a:p>
        </p:txBody>
      </p:sp>
      <p:sp>
        <p:nvSpPr>
          <p:cNvPr id="12" name="Shape 10"/>
          <p:cNvSpPr/>
          <p:nvPr/>
        </p:nvSpPr>
        <p:spPr>
          <a:xfrm>
            <a:off x="6477000" y="3274061"/>
            <a:ext cx="5257800" cy="1341120"/>
          </a:xfrm>
          <a:prstGeom prst="roundRect">
            <a:avLst>
              <a:gd name="adj" fmla="val 7576"/>
            </a:avLst>
          </a:prstGeom>
          <a:solidFill>
            <a:srgbClr val="EDF1F5"/>
          </a:solidFill>
          <a:ln/>
        </p:spPr>
      </p:sp>
      <p:sp>
        <p:nvSpPr>
          <p:cNvPr id="13" name="Shape 11"/>
          <p:cNvSpPr/>
          <p:nvPr/>
        </p:nvSpPr>
        <p:spPr>
          <a:xfrm>
            <a:off x="6477000" y="3274061"/>
            <a:ext cx="5257800" cy="1341120"/>
          </a:xfrm>
          <a:custGeom>
            <a:avLst/>
            <a:gdLst/>
            <a:ahLst/>
            <a:cxnLst/>
            <a:rect l="l" t="t" r="r" b="b"/>
            <a:pathLst>
              <a:path w="5257800" h="1341120">
                <a:moveTo>
                  <a:pt x="101600" y="1341120"/>
                </a:moveTo>
                <a:lnTo>
                  <a:pt x="101600" y="1341120"/>
                </a:lnTo>
                <a:arcTo hR="101600" wR="101600" stAng="5400000" swAng="5400000"/>
                <a:lnTo>
                  <a:pt x="0" y="101600"/>
                </a:lnTo>
                <a:arcTo hR="101600" wR="101600" stAng="10800000" swAng="5400000"/>
                <a:lnTo>
                  <a:pt x="101600" y="0"/>
                </a:lnTo>
                <a:arcTo hR="101600" wR="63500" stAng="16200000" swAng="-5400000"/>
                <a:lnTo>
                  <a:pt x="38100" y="1239520"/>
                </a:lnTo>
                <a:arcTo hR="101600" wR="63500" stAng="10800000" swAng="-5400000"/>
                <a:close/>
              </a:path>
            </a:pathLst>
          </a:custGeom>
          <a:solidFill>
            <a:srgbClr val="1A7F37"/>
          </a:solidFill>
          <a:ln/>
        </p:spPr>
      </p:sp>
      <p:sp>
        <p:nvSpPr>
          <p:cNvPr id="14" name="Text 12"/>
          <p:cNvSpPr/>
          <p:nvPr/>
        </p:nvSpPr>
        <p:spPr>
          <a:xfrm>
            <a:off x="6715760" y="3451861"/>
            <a:ext cx="4960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Выше - дороже</a:t>
            </a:r>
            <a:endParaRPr lang="en-US" sz="2000" dirty="0"/>
          </a:p>
        </p:txBody>
      </p:sp>
      <p:sp>
        <p:nvSpPr>
          <p:cNvPr id="15" name="Text 13"/>
          <p:cNvSpPr/>
          <p:nvPr/>
        </p:nvSpPr>
        <p:spPr>
          <a:xfrm>
            <a:off x="6715760" y="3832861"/>
            <a:ext cx="4960315"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Чем выше уровень, тем тесты сложнее, дороже и медленнее; дольше ищется регресс.</a:t>
            </a:r>
            <a:endParaRPr lang="en-US" sz="1700" dirty="0"/>
          </a:p>
        </p:txBody>
      </p:sp>
      <p:sp>
        <p:nvSpPr>
          <p:cNvPr id="16" name="Shape 14"/>
          <p:cNvSpPr/>
          <p:nvPr/>
        </p:nvSpPr>
        <p:spPr>
          <a:xfrm>
            <a:off x="6477000" y="4742182"/>
            <a:ext cx="5257800" cy="1341120"/>
          </a:xfrm>
          <a:prstGeom prst="roundRect">
            <a:avLst>
              <a:gd name="adj" fmla="val 7576"/>
            </a:avLst>
          </a:prstGeom>
          <a:solidFill>
            <a:srgbClr val="EDF1F5"/>
          </a:solidFill>
          <a:ln/>
        </p:spPr>
      </p:sp>
      <p:sp>
        <p:nvSpPr>
          <p:cNvPr id="17" name="Shape 15"/>
          <p:cNvSpPr/>
          <p:nvPr/>
        </p:nvSpPr>
        <p:spPr>
          <a:xfrm>
            <a:off x="6477000" y="4742182"/>
            <a:ext cx="5257800" cy="1341120"/>
          </a:xfrm>
          <a:custGeom>
            <a:avLst/>
            <a:gdLst/>
            <a:ahLst/>
            <a:cxnLst/>
            <a:rect l="l" t="t" r="r" b="b"/>
            <a:pathLst>
              <a:path w="5257800" h="1341120">
                <a:moveTo>
                  <a:pt x="101600" y="1341120"/>
                </a:moveTo>
                <a:lnTo>
                  <a:pt x="101600" y="1341120"/>
                </a:lnTo>
                <a:arcTo hR="101600" wR="101600" stAng="5400000" swAng="5400000"/>
                <a:lnTo>
                  <a:pt x="0" y="101600"/>
                </a:lnTo>
                <a:arcTo hR="101600" wR="101600" stAng="10800000" swAng="5400000"/>
                <a:lnTo>
                  <a:pt x="101600" y="0"/>
                </a:lnTo>
                <a:arcTo hR="101600" wR="63500" stAng="16200000" swAng="-5400000"/>
                <a:lnTo>
                  <a:pt x="38100" y="1239520"/>
                </a:lnTo>
                <a:arcTo hR="101600" wR="63500" stAng="10800000" swAng="-5400000"/>
                <a:close/>
              </a:path>
            </a:pathLst>
          </a:custGeom>
          <a:solidFill>
            <a:srgbClr val="1A7F37"/>
          </a:solidFill>
          <a:ln/>
        </p:spPr>
      </p:sp>
      <p:sp>
        <p:nvSpPr>
          <p:cNvPr id="18" name="Text 16"/>
          <p:cNvSpPr/>
          <p:nvPr/>
        </p:nvSpPr>
        <p:spPr>
          <a:xfrm>
            <a:off x="6715760" y="4919982"/>
            <a:ext cx="4960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Без дублирования</a:t>
            </a:r>
            <a:endParaRPr lang="en-US" sz="2000" dirty="0"/>
          </a:p>
        </p:txBody>
      </p:sp>
      <p:sp>
        <p:nvSpPr>
          <p:cNvPr id="19" name="Text 17"/>
          <p:cNvSpPr/>
          <p:nvPr/>
        </p:nvSpPr>
        <p:spPr>
          <a:xfrm>
            <a:off x="6715760" y="5300982"/>
            <a:ext cx="4960315"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Тесты верхнего уровня не перепроверяют нижние.</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01 · ТЕСТИРОВАНИЕ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Уровни автотестов</a:t>
            </a:r>
            <a:endParaRPr lang="en-US" sz="3200" dirty="0"/>
          </a:p>
        </p:txBody>
      </p:sp>
      <p:sp>
        <p:nvSpPr>
          <p:cNvPr id="4" name="Shape 2"/>
          <p:cNvSpPr/>
          <p:nvPr/>
        </p:nvSpPr>
        <p:spPr>
          <a:xfrm>
            <a:off x="457200" y="1488439"/>
            <a:ext cx="3640614" cy="4912360"/>
          </a:xfrm>
          <a:prstGeom prst="roundRect">
            <a:avLst>
              <a:gd name="adj" fmla="val 3488"/>
            </a:avLst>
          </a:prstGeom>
          <a:solidFill>
            <a:srgbClr val="EDF1F5"/>
          </a:solidFill>
          <a:ln/>
        </p:spPr>
      </p:sp>
      <p:sp>
        <p:nvSpPr>
          <p:cNvPr id="5" name="Shape 3"/>
          <p:cNvSpPr/>
          <p:nvPr/>
        </p:nvSpPr>
        <p:spPr>
          <a:xfrm>
            <a:off x="457200" y="1488439"/>
            <a:ext cx="3640614" cy="4912360"/>
          </a:xfrm>
          <a:custGeom>
            <a:avLst/>
            <a:gdLst/>
            <a:ahLst/>
            <a:cxnLst/>
            <a:rect l="l" t="t" r="r" b="b"/>
            <a:pathLst>
              <a:path w="3640614" h="4912360">
                <a:moveTo>
                  <a:pt x="0" y="127000"/>
                </a:moveTo>
                <a:lnTo>
                  <a:pt x="0" y="127000"/>
                </a:lnTo>
                <a:arcTo hR="127000" wR="127000" stAng="10800000" swAng="5400000"/>
                <a:lnTo>
                  <a:pt x="3513614" y="0"/>
                </a:lnTo>
                <a:arcTo hR="127000" wR="127000" stAng="16200000" swAng="5400000"/>
                <a:lnTo>
                  <a:pt x="3640614" y="127000"/>
                </a:lnTo>
                <a:arcTo hR="88900" wR="127000" stAng="0" swAng="-5400000"/>
                <a:lnTo>
                  <a:pt x="127000" y="38100"/>
                </a:lnTo>
                <a:arcTo hR="88900" wR="127000" stAng="16200000" swAng="-5400000"/>
                <a:close/>
              </a:path>
            </a:pathLst>
          </a:custGeom>
          <a:solidFill>
            <a:srgbClr val="1A7F37"/>
          </a:solidFill>
          <a:ln/>
        </p:spPr>
      </p:sp>
      <p:sp>
        <p:nvSpPr>
          <p:cNvPr id="6" name="Text 4"/>
          <p:cNvSpPr/>
          <p:nvPr/>
        </p:nvSpPr>
        <p:spPr>
          <a:xfrm>
            <a:off x="711200" y="1778000"/>
            <a:ext cx="322659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Unit</a:t>
            </a:r>
            <a:endParaRPr lang="en-US" sz="2200" dirty="0"/>
          </a:p>
        </p:txBody>
      </p:sp>
      <p:sp>
        <p:nvSpPr>
          <p:cNvPr id="7" name="Text 5"/>
          <p:cNvSpPr/>
          <p:nvPr/>
        </p:nvSpPr>
        <p:spPr>
          <a:xfrm>
            <a:off x="754634" y="2265682"/>
            <a:ext cx="3175538" cy="2425700"/>
          </a:xfrm>
          <a:prstGeom prst="rect">
            <a:avLst/>
          </a:prstGeom>
          <a:noFill/>
          <a:ln/>
        </p:spPr>
        <p:txBody>
          <a:bodyPr wrap="square" lIns="0" tIns="0" rIns="0" bIns="0" rtlCol="0" anchor="t">
            <a:normAutofit/>
          </a:bodyPr>
          <a:lstStyle/>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Методы и классы</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Очень простые и быстрые</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Их больше всего</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Не зависят от других модулей</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Быстро показывают регресс</a:t>
            </a:r>
            <a:endParaRPr lang="en-US" sz="1800" dirty="0"/>
          </a:p>
        </p:txBody>
      </p:sp>
      <p:sp>
        <p:nvSpPr>
          <p:cNvPr id="8" name="Shape 6"/>
          <p:cNvSpPr/>
          <p:nvPr/>
        </p:nvSpPr>
        <p:spPr>
          <a:xfrm>
            <a:off x="4275614" y="1488439"/>
            <a:ext cx="3640693" cy="4912360"/>
          </a:xfrm>
          <a:prstGeom prst="roundRect">
            <a:avLst>
              <a:gd name="adj" fmla="val 3488"/>
            </a:avLst>
          </a:prstGeom>
          <a:solidFill>
            <a:srgbClr val="EDF1F5"/>
          </a:solidFill>
          <a:ln/>
        </p:spPr>
      </p:sp>
      <p:sp>
        <p:nvSpPr>
          <p:cNvPr id="9" name="Shape 7"/>
          <p:cNvSpPr/>
          <p:nvPr/>
        </p:nvSpPr>
        <p:spPr>
          <a:xfrm>
            <a:off x="4275614" y="1488439"/>
            <a:ext cx="3640693" cy="4912360"/>
          </a:xfrm>
          <a:custGeom>
            <a:avLst/>
            <a:gdLst/>
            <a:ahLst/>
            <a:cxnLst/>
            <a:rect l="l" t="t" r="r" b="b"/>
            <a:pathLst>
              <a:path w="3640693" h="4912360">
                <a:moveTo>
                  <a:pt x="0" y="127000"/>
                </a:moveTo>
                <a:lnTo>
                  <a:pt x="0" y="127000"/>
                </a:lnTo>
                <a:arcTo hR="127000" wR="127000" stAng="10800000" swAng="5400000"/>
                <a:lnTo>
                  <a:pt x="3513693" y="0"/>
                </a:lnTo>
                <a:arcTo hR="127000" wR="127000" stAng="16200000" swAng="5400000"/>
                <a:lnTo>
                  <a:pt x="3640693" y="127000"/>
                </a:lnTo>
                <a:arcTo hR="88900" wR="127000" stAng="0" swAng="-5400000"/>
                <a:lnTo>
                  <a:pt x="127000" y="38100"/>
                </a:lnTo>
                <a:arcTo hR="88900" wR="127000" stAng="16200000" swAng="-5400000"/>
                <a:close/>
              </a:path>
            </a:pathLst>
          </a:custGeom>
          <a:solidFill>
            <a:srgbClr val="127C7C"/>
          </a:solidFill>
          <a:ln/>
        </p:spPr>
      </p:sp>
      <p:sp>
        <p:nvSpPr>
          <p:cNvPr id="10" name="Text 8"/>
          <p:cNvSpPr/>
          <p:nvPr/>
        </p:nvSpPr>
        <p:spPr>
          <a:xfrm>
            <a:off x="4529614" y="1778000"/>
            <a:ext cx="322667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Интеграционные</a:t>
            </a:r>
            <a:endParaRPr lang="en-US" sz="2200" dirty="0"/>
          </a:p>
        </p:txBody>
      </p:sp>
      <p:sp>
        <p:nvSpPr>
          <p:cNvPr id="11" name="Text 9"/>
          <p:cNvSpPr/>
          <p:nvPr/>
        </p:nvSpPr>
        <p:spPr>
          <a:xfrm>
            <a:off x="4573048" y="2265682"/>
            <a:ext cx="3175620" cy="1397000"/>
          </a:xfrm>
          <a:prstGeom prst="rect">
            <a:avLst/>
          </a:prstGeom>
          <a:noFill/>
          <a:ln/>
        </p:spPr>
        <p:txBody>
          <a:bodyPr wrap="square" lIns="0" tIns="0" rIns="0" bIns="0" rtlCol="0" anchor="t">
            <a:normAutofit/>
          </a:bodyPr>
          <a:lstStyle/>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Взаимодействие компонентов</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Внешние зависимости: БД, сеть, другие сервисы</a:t>
            </a:r>
            <a:endParaRPr lang="en-US" sz="1800" dirty="0"/>
          </a:p>
        </p:txBody>
      </p:sp>
      <p:sp>
        <p:nvSpPr>
          <p:cNvPr id="12" name="Shape 10"/>
          <p:cNvSpPr/>
          <p:nvPr/>
        </p:nvSpPr>
        <p:spPr>
          <a:xfrm>
            <a:off x="8094107" y="1488439"/>
            <a:ext cx="3640693" cy="4912360"/>
          </a:xfrm>
          <a:prstGeom prst="roundRect">
            <a:avLst>
              <a:gd name="adj" fmla="val 3488"/>
            </a:avLst>
          </a:prstGeom>
          <a:solidFill>
            <a:srgbClr val="EDF1F5"/>
          </a:solidFill>
          <a:ln/>
        </p:spPr>
      </p:sp>
      <p:sp>
        <p:nvSpPr>
          <p:cNvPr id="13" name="Shape 11"/>
          <p:cNvSpPr/>
          <p:nvPr/>
        </p:nvSpPr>
        <p:spPr>
          <a:xfrm>
            <a:off x="8094107" y="1488439"/>
            <a:ext cx="3640693" cy="4912360"/>
          </a:xfrm>
          <a:custGeom>
            <a:avLst/>
            <a:gdLst/>
            <a:ahLst/>
            <a:cxnLst/>
            <a:rect l="l" t="t" r="r" b="b"/>
            <a:pathLst>
              <a:path w="3640693" h="4912360">
                <a:moveTo>
                  <a:pt x="0" y="127000"/>
                </a:moveTo>
                <a:lnTo>
                  <a:pt x="0" y="127000"/>
                </a:lnTo>
                <a:arcTo hR="127000" wR="127000" stAng="10800000" swAng="5400000"/>
                <a:lnTo>
                  <a:pt x="3513693" y="0"/>
                </a:lnTo>
                <a:arcTo hR="127000" wR="127000" stAng="16200000" swAng="5400000"/>
                <a:lnTo>
                  <a:pt x="3640693" y="127000"/>
                </a:lnTo>
                <a:arcTo hR="88900" wR="127000" stAng="0" swAng="-5400000"/>
                <a:lnTo>
                  <a:pt x="127000" y="38100"/>
                </a:lnTo>
                <a:arcTo hR="88900" wR="127000" stAng="16200000" swAng="-5400000"/>
                <a:close/>
              </a:path>
            </a:pathLst>
          </a:custGeom>
          <a:solidFill>
            <a:srgbClr val="1F5FBF"/>
          </a:solidFill>
          <a:ln/>
        </p:spPr>
      </p:sp>
      <p:sp>
        <p:nvSpPr>
          <p:cNvPr id="14" name="Text 12"/>
          <p:cNvSpPr/>
          <p:nvPr/>
        </p:nvSpPr>
        <p:spPr>
          <a:xfrm>
            <a:off x="8348107" y="1778000"/>
            <a:ext cx="322667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End-to-end</a:t>
            </a:r>
            <a:endParaRPr lang="en-US" sz="2200" dirty="0"/>
          </a:p>
        </p:txBody>
      </p:sp>
      <p:sp>
        <p:nvSpPr>
          <p:cNvPr id="15" name="Text 13"/>
          <p:cNvSpPr/>
          <p:nvPr/>
        </p:nvSpPr>
        <p:spPr>
          <a:xfrm>
            <a:off x="8391541" y="2265682"/>
            <a:ext cx="3175620" cy="2082800"/>
          </a:xfrm>
          <a:prstGeom prst="rect">
            <a:avLst/>
          </a:prstGeom>
          <a:noFill/>
          <a:ln/>
        </p:spPr>
        <p:txBody>
          <a:bodyPr wrap="square" lIns="0" tIns="0" rIns="0" bIns="0" rtlCol="0" anchor="t">
            <a:normAutofit/>
          </a:bodyPr>
          <a:lstStyle/>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Всё приложение целиком</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Сценарии пользователя</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Часто пишут QA-инженеры</a:t>
            </a:r>
            <a:endParaRPr lang="en-US" sz="1800" dirty="0"/>
          </a:p>
          <a:p>
            <a:pPr algn="l" marL="210566" indent="-210566">
              <a:lnSpc>
                <a:spcPts val="270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Пишут, когда продукт достиг нужного качества</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nvSpPr>
        <p:spPr>
          <a:xfrm>
            <a:off x="812800" y="2476500"/>
            <a:ext cx="2621375" cy="1930400"/>
          </a:xfrm>
          <a:prstGeom prst="rect">
            <a:avLst/>
          </a:prstGeom>
          <a:noFill/>
          <a:ln/>
        </p:spPr>
        <p:txBody>
          <a:bodyPr wrap="square" lIns="0" tIns="0" rIns="0" bIns="0" rtlCol="0" anchor="t">
            <a:normAutofit/>
          </a:bodyPr>
          <a:lstStyle/>
          <a:p>
            <a:pPr algn="l" indent="0" marL="0">
              <a:lnSpc>
                <a:spcPts val="15000"/>
              </a:lnSpc>
              <a:buNone/>
            </a:pPr>
            <a:r>
              <a:rPr lang="en-US" sz="15000" spc="-400" kern="0" dirty="0">
                <a:solidFill>
                  <a:srgbClr val="1A7F37"/>
                </a:solidFill>
                <a:latin typeface="IBM Plex Sans" pitchFamily="34" charset="0"/>
                <a:ea typeface="IBM Plex Sans" pitchFamily="34" charset="-122"/>
                <a:cs typeface="IBM Plex Sans" pitchFamily="34" charset="-120"/>
              </a:rPr>
              <a:t>02</a:t>
            </a:r>
            <a:endParaRPr lang="en-US" sz="15000" dirty="0"/>
          </a:p>
        </p:txBody>
      </p:sp>
      <p:sp>
        <p:nvSpPr>
          <p:cNvPr id="4" name="Text 2"/>
          <p:cNvSpPr/>
          <p:nvPr>
            <p:ph type="title"/>
          </p:nvPr>
        </p:nvSpPr>
        <p:spPr>
          <a:xfrm>
            <a:off x="3454479" y="2867661"/>
            <a:ext cx="7334517"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3233A"/>
                </a:solidFill>
                <a:latin typeface="IBM Plex Sans" pitchFamily="34" charset="0"/>
                <a:ea typeface="IBM Plex Sans" pitchFamily="34" charset="-122"/>
                <a:cs typeface="IBM Plex Sans" pitchFamily="34" charset="-120"/>
              </a:rPr>
              <a:t>Unit-тесты</a:t>
            </a:r>
            <a:endParaRPr lang="en-US" sz="4800" dirty="0"/>
          </a:p>
        </p:txBody>
      </p:sp>
      <p:sp>
        <p:nvSpPr>
          <p:cNvPr id="5" name="Text 3"/>
          <p:cNvSpPr/>
          <p:nvPr/>
        </p:nvSpPr>
        <p:spPr>
          <a:xfrm>
            <a:off x="3454479" y="3634739"/>
            <a:ext cx="8545068"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C6C7D"/>
                </a:solidFill>
                <a:latin typeface="IBM Plex Sans" pitchFamily="34" charset="0"/>
                <a:ea typeface="IBM Plex Sans" pitchFamily="34" charset="-122"/>
                <a:cs typeface="IBM Plex Sans" pitchFamily="34" charset="-120"/>
              </a:rPr>
              <a:t>Что это, какие бывают заглушки и как писать тесты хорошо</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02 · UNIT-ТЕСТЫ</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Unit-тесты</a:t>
            </a:r>
            <a:endParaRPr lang="en-US" sz="3200" dirty="0"/>
          </a:p>
        </p:txBody>
      </p:sp>
      <p:sp>
        <p:nvSpPr>
          <p:cNvPr id="4" name="Text 2"/>
          <p:cNvSpPr/>
          <p:nvPr/>
        </p:nvSpPr>
        <p:spPr>
          <a:xfrm>
            <a:off x="457200" y="1488439"/>
            <a:ext cx="11615928" cy="779780"/>
          </a:xfrm>
          <a:prstGeom prst="rect">
            <a:avLst/>
          </a:prstGeom>
          <a:noFill/>
          <a:ln/>
        </p:spPr>
        <p:txBody>
          <a:bodyPr wrap="square" lIns="0" tIns="0" rIns="0" bIns="0" rtlCol="0" anchor="t">
            <a:normAutofit/>
          </a:bodyPr>
          <a:lstStyle/>
          <a:p>
            <a:pPr algn="l" indent="0" marL="0">
              <a:lnSpc>
                <a:spcPts val="2970"/>
              </a:lnSpc>
              <a:buNone/>
            </a:pPr>
            <a:r>
              <a:rPr lang="en-US" sz="2200" b="1" dirty="0">
                <a:solidFill>
                  <a:srgbClr val="13233A"/>
                </a:solidFill>
                <a:latin typeface="IBM Plex Sans" pitchFamily="34" charset="0"/>
                <a:ea typeface="IBM Plex Sans" pitchFamily="34" charset="-122"/>
                <a:cs typeface="IBM Plex Sans" pitchFamily="34" charset="-120"/>
              </a:rPr>
              <a:t>Unit-тестирование</a:t>
            </a:r>
            <a:r>
              <a:rPr lang="en-US" sz="2200" dirty="0">
                <a:solidFill>
                  <a:srgbClr val="13233A"/>
                </a:solidFill>
                <a:latin typeface="IBM Plex Sans" pitchFamily="34" charset="0"/>
                <a:ea typeface="IBM Plex Sans" pitchFamily="34" charset="-122"/>
                <a:cs typeface="IBM Plex Sans" pitchFamily="34" charset="-120"/>
              </a:rPr>
              <a:t> - проверка работоспособности отдельных функциональных модулей, процессов или частей кода приложения.</a:t>
            </a:r>
            <a:endParaRPr lang="en-US" sz="2200" dirty="0"/>
          </a:p>
        </p:txBody>
      </p:sp>
      <p:sp>
        <p:nvSpPr>
          <p:cNvPr id="5" name="Text 3"/>
          <p:cNvSpPr/>
          <p:nvPr/>
        </p:nvSpPr>
        <p:spPr>
          <a:xfrm>
            <a:off x="457200" y="4927600"/>
            <a:ext cx="11615928"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Что считается «юнитом»:</a:t>
            </a:r>
            <a:endParaRPr lang="en-US" sz="1800" dirty="0"/>
          </a:p>
        </p:txBody>
      </p:sp>
      <p:sp>
        <p:nvSpPr>
          <p:cNvPr id="6" name="Text 4"/>
          <p:cNvSpPr/>
          <p:nvPr/>
        </p:nvSpPr>
        <p:spPr>
          <a:xfrm>
            <a:off x="457200" y="5450842"/>
            <a:ext cx="2133600" cy="949960"/>
          </a:xfrm>
          <a:prstGeom prst="roundRect">
            <a:avLst>
              <a:gd name="adj" fmla="val 10695"/>
            </a:avLst>
          </a:prstGeom>
          <a:solidFill>
            <a:srgbClr val="EDF1F5"/>
          </a:solidFill>
          <a:ln/>
        </p:spPr>
        <p:txBody>
          <a:bodyPr wrap="square" lIns="42886" tIns="249642" rIns="42886" bIns="259802" rtlCol="0" anchor="t">
            <a:normAutofit/>
          </a:bodyPr>
          <a:lstStyle/>
          <a:p>
            <a:pPr algn="ctr" indent="0" marL="0">
              <a:lnSpc>
                <a:spcPts val="2800"/>
              </a:lnSpc>
              <a:buNone/>
            </a:pPr>
            <a:r>
              <a:rPr lang="en-US" sz="2000" b="1" dirty="0">
                <a:solidFill>
                  <a:srgbClr val="13233A"/>
                </a:solidFill>
                <a:latin typeface="IBM Plex Sans" pitchFamily="34" charset="0"/>
                <a:ea typeface="IBM Plex Sans" pitchFamily="34" charset="-122"/>
                <a:cs typeface="IBM Plex Sans" pitchFamily="34" charset="-120"/>
              </a:rPr>
              <a:t>метод</a:t>
            </a:r>
            <a:endParaRPr lang="en-US" sz="2000" dirty="0"/>
          </a:p>
        </p:txBody>
      </p:sp>
      <p:sp>
        <p:nvSpPr>
          <p:cNvPr id="7" name="Shape 5"/>
          <p:cNvSpPr/>
          <p:nvPr/>
        </p:nvSpPr>
        <p:spPr>
          <a:xfrm>
            <a:off x="457200" y="5450842"/>
            <a:ext cx="2133600" cy="949960"/>
          </a:xfrm>
          <a:custGeom>
            <a:avLst/>
            <a:gdLst/>
            <a:ahLst/>
            <a:cxnLst/>
            <a:rect l="l" t="t" r="r" b="b"/>
            <a:pathLst>
              <a:path w="2133600" h="949960">
                <a:moveTo>
                  <a:pt x="2133600" y="848360"/>
                </a:moveTo>
                <a:lnTo>
                  <a:pt x="2133600" y="848360"/>
                </a:lnTo>
                <a:arcTo hR="101600" wR="101600" stAng="0" swAng="5400000"/>
                <a:lnTo>
                  <a:pt x="101600" y="949960"/>
                </a:lnTo>
                <a:arcTo hR="101600" wR="101600" stAng="5400000" swAng="5400000"/>
                <a:lnTo>
                  <a:pt x="0" y="848360"/>
                </a:lnTo>
                <a:arcTo hR="63500" wR="101600" stAng="10800000" swAng="-5400000"/>
                <a:lnTo>
                  <a:pt x="2032000" y="911860"/>
                </a:lnTo>
                <a:arcTo hR="63500" wR="101600" stAng="5400000" swAng="-5400000"/>
                <a:close/>
              </a:path>
            </a:pathLst>
          </a:custGeom>
          <a:solidFill>
            <a:srgbClr val="1A7F37"/>
          </a:solidFill>
          <a:ln/>
        </p:spPr>
      </p:sp>
      <p:sp>
        <p:nvSpPr>
          <p:cNvPr id="8" name="Text 6"/>
          <p:cNvSpPr/>
          <p:nvPr/>
        </p:nvSpPr>
        <p:spPr>
          <a:xfrm>
            <a:off x="2743200" y="5450842"/>
            <a:ext cx="2133600" cy="949960"/>
          </a:xfrm>
          <a:prstGeom prst="roundRect">
            <a:avLst>
              <a:gd name="adj" fmla="val 10695"/>
            </a:avLst>
          </a:prstGeom>
          <a:solidFill>
            <a:srgbClr val="EDF1F5"/>
          </a:solidFill>
          <a:ln/>
        </p:spPr>
        <p:txBody>
          <a:bodyPr wrap="square" lIns="42886" tIns="249642" rIns="42886" bIns="259802" rtlCol="0" anchor="t">
            <a:normAutofit/>
          </a:bodyPr>
          <a:lstStyle/>
          <a:p>
            <a:pPr algn="ctr" indent="0" marL="0">
              <a:lnSpc>
                <a:spcPts val="2800"/>
              </a:lnSpc>
              <a:buNone/>
            </a:pPr>
            <a:r>
              <a:rPr lang="en-US" sz="2000" b="1" dirty="0">
                <a:solidFill>
                  <a:srgbClr val="13233A"/>
                </a:solidFill>
                <a:latin typeface="IBM Plex Sans" pitchFamily="34" charset="0"/>
                <a:ea typeface="IBM Plex Sans" pitchFamily="34" charset="-122"/>
                <a:cs typeface="IBM Plex Sans" pitchFamily="34" charset="-120"/>
              </a:rPr>
              <a:t>объект</a:t>
            </a:r>
            <a:endParaRPr lang="en-US" sz="2000" dirty="0"/>
          </a:p>
        </p:txBody>
      </p:sp>
      <p:sp>
        <p:nvSpPr>
          <p:cNvPr id="9" name="Shape 7"/>
          <p:cNvSpPr/>
          <p:nvPr/>
        </p:nvSpPr>
        <p:spPr>
          <a:xfrm>
            <a:off x="2743200" y="5450842"/>
            <a:ext cx="2133600" cy="949960"/>
          </a:xfrm>
          <a:custGeom>
            <a:avLst/>
            <a:gdLst/>
            <a:ahLst/>
            <a:cxnLst/>
            <a:rect l="l" t="t" r="r" b="b"/>
            <a:pathLst>
              <a:path w="2133600" h="949960">
                <a:moveTo>
                  <a:pt x="2133600" y="848360"/>
                </a:moveTo>
                <a:lnTo>
                  <a:pt x="2133600" y="848360"/>
                </a:lnTo>
                <a:arcTo hR="101600" wR="101600" stAng="0" swAng="5400000"/>
                <a:lnTo>
                  <a:pt x="101600" y="949960"/>
                </a:lnTo>
                <a:arcTo hR="101600" wR="101600" stAng="5400000" swAng="5400000"/>
                <a:lnTo>
                  <a:pt x="0" y="848360"/>
                </a:lnTo>
                <a:arcTo hR="63500" wR="101600" stAng="10800000" swAng="-5400000"/>
                <a:lnTo>
                  <a:pt x="2032000" y="911860"/>
                </a:lnTo>
                <a:arcTo hR="63500" wR="101600" stAng="5400000" swAng="-5400000"/>
                <a:close/>
              </a:path>
            </a:pathLst>
          </a:custGeom>
          <a:solidFill>
            <a:srgbClr val="1A7F37"/>
          </a:solidFill>
          <a:ln/>
        </p:spPr>
      </p:sp>
      <p:sp>
        <p:nvSpPr>
          <p:cNvPr id="10" name="Text 8"/>
          <p:cNvSpPr/>
          <p:nvPr/>
        </p:nvSpPr>
        <p:spPr>
          <a:xfrm>
            <a:off x="5029200" y="5450842"/>
            <a:ext cx="2133600" cy="949960"/>
          </a:xfrm>
          <a:prstGeom prst="roundRect">
            <a:avLst>
              <a:gd name="adj" fmla="val 10695"/>
            </a:avLst>
          </a:prstGeom>
          <a:solidFill>
            <a:srgbClr val="EDF1F5"/>
          </a:solidFill>
          <a:ln/>
        </p:spPr>
        <p:txBody>
          <a:bodyPr wrap="square" lIns="42886" tIns="249642" rIns="42886" bIns="259802" rtlCol="0" anchor="t">
            <a:normAutofit/>
          </a:bodyPr>
          <a:lstStyle/>
          <a:p>
            <a:pPr algn="ctr" indent="0" marL="0">
              <a:lnSpc>
                <a:spcPts val="2800"/>
              </a:lnSpc>
              <a:buNone/>
            </a:pPr>
            <a:r>
              <a:rPr lang="en-US" sz="2000" b="1" dirty="0">
                <a:solidFill>
                  <a:srgbClr val="13233A"/>
                </a:solidFill>
                <a:latin typeface="IBM Plex Sans" pitchFamily="34" charset="0"/>
                <a:ea typeface="IBM Plex Sans" pitchFamily="34" charset="-122"/>
                <a:cs typeface="IBM Plex Sans" pitchFamily="34" charset="-120"/>
              </a:rPr>
              <a:t>модуль</a:t>
            </a:r>
            <a:endParaRPr lang="en-US" sz="2000" dirty="0"/>
          </a:p>
        </p:txBody>
      </p:sp>
      <p:sp>
        <p:nvSpPr>
          <p:cNvPr id="11" name="Shape 9"/>
          <p:cNvSpPr/>
          <p:nvPr/>
        </p:nvSpPr>
        <p:spPr>
          <a:xfrm>
            <a:off x="5029200" y="5450842"/>
            <a:ext cx="2133600" cy="949960"/>
          </a:xfrm>
          <a:custGeom>
            <a:avLst/>
            <a:gdLst/>
            <a:ahLst/>
            <a:cxnLst/>
            <a:rect l="l" t="t" r="r" b="b"/>
            <a:pathLst>
              <a:path w="2133600" h="949960">
                <a:moveTo>
                  <a:pt x="2133600" y="848360"/>
                </a:moveTo>
                <a:lnTo>
                  <a:pt x="2133600" y="848360"/>
                </a:lnTo>
                <a:arcTo hR="101600" wR="101600" stAng="0" swAng="5400000"/>
                <a:lnTo>
                  <a:pt x="101600" y="949960"/>
                </a:lnTo>
                <a:arcTo hR="101600" wR="101600" stAng="5400000" swAng="5400000"/>
                <a:lnTo>
                  <a:pt x="0" y="848360"/>
                </a:lnTo>
                <a:arcTo hR="63500" wR="101600" stAng="10800000" swAng="-5400000"/>
                <a:lnTo>
                  <a:pt x="2032000" y="911860"/>
                </a:lnTo>
                <a:arcTo hR="63500" wR="101600" stAng="5400000" swAng="-5400000"/>
                <a:close/>
              </a:path>
            </a:pathLst>
          </a:custGeom>
          <a:solidFill>
            <a:srgbClr val="1A7F37"/>
          </a:solidFill>
          <a:ln/>
        </p:spPr>
      </p:sp>
      <p:sp>
        <p:nvSpPr>
          <p:cNvPr id="12" name="Text 10"/>
          <p:cNvSpPr/>
          <p:nvPr/>
        </p:nvSpPr>
        <p:spPr>
          <a:xfrm>
            <a:off x="7315200" y="5450842"/>
            <a:ext cx="2133600" cy="949960"/>
          </a:xfrm>
          <a:prstGeom prst="roundRect">
            <a:avLst>
              <a:gd name="adj" fmla="val 10695"/>
            </a:avLst>
          </a:prstGeom>
          <a:solidFill>
            <a:srgbClr val="EDF1F5"/>
          </a:solidFill>
          <a:ln/>
        </p:spPr>
        <p:txBody>
          <a:bodyPr wrap="square" lIns="42886" tIns="249642" rIns="42886" bIns="259802" rtlCol="0" anchor="t">
            <a:normAutofit/>
          </a:bodyPr>
          <a:lstStyle/>
          <a:p>
            <a:pPr algn="ctr" indent="0" marL="0">
              <a:lnSpc>
                <a:spcPts val="2800"/>
              </a:lnSpc>
              <a:buNone/>
            </a:pPr>
            <a:r>
              <a:rPr lang="en-US" sz="2000" b="1" dirty="0">
                <a:solidFill>
                  <a:srgbClr val="13233A"/>
                </a:solidFill>
                <a:latin typeface="IBM Plex Sans" pitchFamily="34" charset="0"/>
                <a:ea typeface="IBM Plex Sans" pitchFamily="34" charset="-122"/>
                <a:cs typeface="IBM Plex Sans" pitchFamily="34" charset="-120"/>
              </a:rPr>
              <a:t>процедура</a:t>
            </a:r>
            <a:endParaRPr lang="en-US" sz="2000" dirty="0"/>
          </a:p>
        </p:txBody>
      </p:sp>
      <p:sp>
        <p:nvSpPr>
          <p:cNvPr id="13" name="Shape 11"/>
          <p:cNvSpPr/>
          <p:nvPr/>
        </p:nvSpPr>
        <p:spPr>
          <a:xfrm>
            <a:off x="7315200" y="5450842"/>
            <a:ext cx="2133600" cy="949960"/>
          </a:xfrm>
          <a:custGeom>
            <a:avLst/>
            <a:gdLst/>
            <a:ahLst/>
            <a:cxnLst/>
            <a:rect l="l" t="t" r="r" b="b"/>
            <a:pathLst>
              <a:path w="2133600" h="949960">
                <a:moveTo>
                  <a:pt x="2133600" y="848360"/>
                </a:moveTo>
                <a:lnTo>
                  <a:pt x="2133600" y="848360"/>
                </a:lnTo>
                <a:arcTo hR="101600" wR="101600" stAng="0" swAng="5400000"/>
                <a:lnTo>
                  <a:pt x="101600" y="949960"/>
                </a:lnTo>
                <a:arcTo hR="101600" wR="101600" stAng="5400000" swAng="5400000"/>
                <a:lnTo>
                  <a:pt x="0" y="848360"/>
                </a:lnTo>
                <a:arcTo hR="63500" wR="101600" stAng="10800000" swAng="-5400000"/>
                <a:lnTo>
                  <a:pt x="2032000" y="911860"/>
                </a:lnTo>
                <a:arcTo hR="63500" wR="101600" stAng="5400000" swAng="-5400000"/>
                <a:close/>
              </a:path>
            </a:pathLst>
          </a:custGeom>
          <a:solidFill>
            <a:srgbClr val="1A7F37"/>
          </a:solidFill>
          <a:ln/>
        </p:spPr>
      </p:sp>
      <p:sp>
        <p:nvSpPr>
          <p:cNvPr id="14" name="Text 12"/>
          <p:cNvSpPr/>
          <p:nvPr/>
        </p:nvSpPr>
        <p:spPr>
          <a:xfrm>
            <a:off x="9601200" y="5450842"/>
            <a:ext cx="2133600" cy="949960"/>
          </a:xfrm>
          <a:prstGeom prst="roundRect">
            <a:avLst>
              <a:gd name="adj" fmla="val 10695"/>
            </a:avLst>
          </a:prstGeom>
          <a:solidFill>
            <a:srgbClr val="EDF1F5"/>
          </a:solidFill>
          <a:ln/>
        </p:spPr>
        <p:txBody>
          <a:bodyPr wrap="square" lIns="42886" tIns="249642" rIns="42886" bIns="259802" rtlCol="0" anchor="t">
            <a:normAutofit/>
          </a:bodyPr>
          <a:lstStyle/>
          <a:p>
            <a:pPr algn="ctr" indent="0" marL="0">
              <a:lnSpc>
                <a:spcPts val="2800"/>
              </a:lnSpc>
              <a:buNone/>
            </a:pPr>
            <a:r>
              <a:rPr lang="en-US" sz="2000" b="1" dirty="0">
                <a:solidFill>
                  <a:srgbClr val="13233A"/>
                </a:solidFill>
                <a:latin typeface="IBM Plex Sans" pitchFamily="34" charset="0"/>
                <a:ea typeface="IBM Plex Sans" pitchFamily="34" charset="-122"/>
                <a:cs typeface="IBM Plex Sans" pitchFamily="34" charset="-120"/>
              </a:rPr>
              <a:t>функция</a:t>
            </a:r>
            <a:endParaRPr lang="en-US" sz="2000" dirty="0"/>
          </a:p>
        </p:txBody>
      </p:sp>
      <p:sp>
        <p:nvSpPr>
          <p:cNvPr id="15" name="Shape 13"/>
          <p:cNvSpPr/>
          <p:nvPr/>
        </p:nvSpPr>
        <p:spPr>
          <a:xfrm>
            <a:off x="9601200" y="5450842"/>
            <a:ext cx="2133600" cy="949960"/>
          </a:xfrm>
          <a:custGeom>
            <a:avLst/>
            <a:gdLst/>
            <a:ahLst/>
            <a:cxnLst/>
            <a:rect l="l" t="t" r="r" b="b"/>
            <a:pathLst>
              <a:path w="2133600" h="949960">
                <a:moveTo>
                  <a:pt x="2133600" y="848360"/>
                </a:moveTo>
                <a:lnTo>
                  <a:pt x="2133600" y="848360"/>
                </a:lnTo>
                <a:arcTo hR="101600" wR="101600" stAng="0" swAng="5400000"/>
                <a:lnTo>
                  <a:pt x="101600" y="949960"/>
                </a:lnTo>
                <a:arcTo hR="101600" wR="101600" stAng="5400000" swAng="5400000"/>
                <a:lnTo>
                  <a:pt x="0" y="848360"/>
                </a:lnTo>
                <a:arcTo hR="63500" wR="101600" stAng="10800000" swAng="-5400000"/>
                <a:lnTo>
                  <a:pt x="2032000" y="911860"/>
                </a:lnTo>
                <a:arcTo hR="63500" wR="101600" stAng="5400000" swAng="-5400000"/>
                <a:close/>
              </a:path>
            </a:pathLst>
          </a:custGeom>
          <a:solidFill>
            <a:srgbClr val="1A7F37"/>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02 · UNIT-ТЕСТЫ</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Для чего нужны unit-тесты</a:t>
            </a:r>
            <a:endParaRPr lang="en-US" sz="3200" dirty="0"/>
          </a:p>
        </p:txBody>
      </p:sp>
      <p:sp>
        <p:nvSpPr>
          <p:cNvPr id="4" name="Shape 2"/>
          <p:cNvSpPr/>
          <p:nvPr/>
        </p:nvSpPr>
        <p:spPr>
          <a:xfrm>
            <a:off x="457200" y="2115821"/>
            <a:ext cx="11277600" cy="1117600"/>
          </a:xfrm>
          <a:prstGeom prst="roundRect">
            <a:avLst>
              <a:gd name="adj" fmla="val 11364"/>
            </a:avLst>
          </a:prstGeom>
          <a:solidFill>
            <a:srgbClr val="EDF1F5"/>
          </a:solidFill>
          <a:ln/>
        </p:spPr>
      </p:sp>
      <p:sp>
        <p:nvSpPr>
          <p:cNvPr id="5" name="Text 3"/>
          <p:cNvSpPr/>
          <p:nvPr/>
        </p:nvSpPr>
        <p:spPr>
          <a:xfrm>
            <a:off x="711200" y="2319021"/>
            <a:ext cx="495300"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1A7F37"/>
                </a:solidFill>
                <a:latin typeface="JetBrains Mono" pitchFamily="49" charset="0"/>
                <a:ea typeface="JetBrains Mono" pitchFamily="49" charset="-122"/>
                <a:cs typeface="JetBrains Mono" pitchFamily="49" charset="-120"/>
              </a:rPr>
              <a:t>1</a:t>
            </a:r>
            <a:endParaRPr lang="en-US" sz="4000" dirty="0"/>
          </a:p>
        </p:txBody>
      </p:sp>
      <p:sp>
        <p:nvSpPr>
          <p:cNvPr id="6" name="Text 4"/>
          <p:cNvSpPr/>
          <p:nvPr/>
        </p:nvSpPr>
        <p:spPr>
          <a:xfrm>
            <a:off x="1409700" y="2336800"/>
            <a:ext cx="103732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Ранний поиск ошибок</a:t>
            </a:r>
            <a:endParaRPr lang="en-US" sz="2000" dirty="0"/>
          </a:p>
        </p:txBody>
      </p:sp>
      <p:sp>
        <p:nvSpPr>
          <p:cNvPr id="7" name="Text 5"/>
          <p:cNvSpPr/>
          <p:nvPr/>
        </p:nvSpPr>
        <p:spPr>
          <a:xfrm>
            <a:off x="1409700" y="2692400"/>
            <a:ext cx="10373233"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Ошибки находятся и исправляются на ранних этапах - это снижает расходы.</a:t>
            </a:r>
            <a:endParaRPr lang="en-US" sz="1800" dirty="0"/>
          </a:p>
        </p:txBody>
      </p:sp>
      <p:sp>
        <p:nvSpPr>
          <p:cNvPr id="8" name="Shape 6"/>
          <p:cNvSpPr/>
          <p:nvPr/>
        </p:nvSpPr>
        <p:spPr>
          <a:xfrm>
            <a:off x="457200" y="3385821"/>
            <a:ext cx="11277600" cy="1117600"/>
          </a:xfrm>
          <a:prstGeom prst="roundRect">
            <a:avLst>
              <a:gd name="adj" fmla="val 11364"/>
            </a:avLst>
          </a:prstGeom>
          <a:solidFill>
            <a:srgbClr val="EDF1F5"/>
          </a:solidFill>
          <a:ln/>
        </p:spPr>
      </p:sp>
      <p:sp>
        <p:nvSpPr>
          <p:cNvPr id="9" name="Text 7"/>
          <p:cNvSpPr/>
          <p:nvPr/>
        </p:nvSpPr>
        <p:spPr>
          <a:xfrm>
            <a:off x="711200" y="3589021"/>
            <a:ext cx="495300"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1A7F37"/>
                </a:solidFill>
                <a:latin typeface="JetBrains Mono" pitchFamily="49" charset="0"/>
                <a:ea typeface="JetBrains Mono" pitchFamily="49" charset="-122"/>
                <a:cs typeface="JetBrains Mono" pitchFamily="49" charset="-120"/>
              </a:rPr>
              <a:t>2</a:t>
            </a:r>
            <a:endParaRPr lang="en-US" sz="4000" dirty="0"/>
          </a:p>
        </p:txBody>
      </p:sp>
      <p:sp>
        <p:nvSpPr>
          <p:cNvPr id="10" name="Text 8"/>
          <p:cNvSpPr/>
          <p:nvPr/>
        </p:nvSpPr>
        <p:spPr>
          <a:xfrm>
            <a:off x="1409700" y="3606800"/>
            <a:ext cx="103732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Понимание кода</a:t>
            </a:r>
            <a:endParaRPr lang="en-US" sz="2000" dirty="0"/>
          </a:p>
        </p:txBody>
      </p:sp>
      <p:sp>
        <p:nvSpPr>
          <p:cNvPr id="11" name="Text 9"/>
          <p:cNvSpPr/>
          <p:nvPr/>
        </p:nvSpPr>
        <p:spPr>
          <a:xfrm>
            <a:off x="1409700" y="3962400"/>
            <a:ext cx="10373233"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Помогают понять базовый код, упрощают чтение и доработку проекта.</a:t>
            </a:r>
            <a:endParaRPr lang="en-US" sz="1800" dirty="0"/>
          </a:p>
        </p:txBody>
      </p:sp>
      <p:sp>
        <p:nvSpPr>
          <p:cNvPr id="12" name="Shape 10"/>
          <p:cNvSpPr/>
          <p:nvPr/>
        </p:nvSpPr>
        <p:spPr>
          <a:xfrm>
            <a:off x="457200" y="4655821"/>
            <a:ext cx="11277600" cy="1117600"/>
          </a:xfrm>
          <a:prstGeom prst="roundRect">
            <a:avLst>
              <a:gd name="adj" fmla="val 11364"/>
            </a:avLst>
          </a:prstGeom>
          <a:solidFill>
            <a:srgbClr val="EDF1F5"/>
          </a:solidFill>
          <a:ln/>
        </p:spPr>
      </p:sp>
      <p:sp>
        <p:nvSpPr>
          <p:cNvPr id="13" name="Text 11"/>
          <p:cNvSpPr/>
          <p:nvPr/>
        </p:nvSpPr>
        <p:spPr>
          <a:xfrm>
            <a:off x="711200" y="4859021"/>
            <a:ext cx="495300"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1A7F37"/>
                </a:solidFill>
                <a:latin typeface="JetBrains Mono" pitchFamily="49" charset="0"/>
                <a:ea typeface="JetBrains Mono" pitchFamily="49" charset="-122"/>
                <a:cs typeface="JetBrains Mono" pitchFamily="49" charset="-120"/>
              </a:rPr>
              <a:t>3</a:t>
            </a:r>
            <a:endParaRPr lang="en-US" sz="4000" dirty="0"/>
          </a:p>
        </p:txBody>
      </p:sp>
      <p:sp>
        <p:nvSpPr>
          <p:cNvPr id="14" name="Text 12"/>
          <p:cNvSpPr/>
          <p:nvPr/>
        </p:nvSpPr>
        <p:spPr>
          <a:xfrm>
            <a:off x="1409700" y="4876800"/>
            <a:ext cx="103732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Живая документация</a:t>
            </a:r>
            <a:endParaRPr lang="en-US" sz="2000" dirty="0"/>
          </a:p>
        </p:txBody>
      </p:sp>
      <p:sp>
        <p:nvSpPr>
          <p:cNvPr id="15" name="Text 13"/>
          <p:cNvSpPr/>
          <p:nvPr/>
        </p:nvSpPr>
        <p:spPr>
          <a:xfrm>
            <a:off x="1409700" y="5232400"/>
            <a:ext cx="10373233"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Новичок в проекте разберётся в принципах его работы по тестам.</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02 · UNIT-ТЕСТЫ</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Плюсы и минусы unit-тестов</a:t>
            </a:r>
            <a:endParaRPr lang="en-US" sz="3200" dirty="0"/>
          </a:p>
        </p:txBody>
      </p:sp>
      <p:sp>
        <p:nvSpPr>
          <p:cNvPr id="4" name="Shape 2"/>
          <p:cNvSpPr/>
          <p:nvPr/>
        </p:nvSpPr>
        <p:spPr>
          <a:xfrm>
            <a:off x="457200" y="1488442"/>
            <a:ext cx="5537200" cy="4912360"/>
          </a:xfrm>
          <a:prstGeom prst="roundRect">
            <a:avLst>
              <a:gd name="adj" fmla="val 2585"/>
            </a:avLst>
          </a:prstGeom>
          <a:solidFill>
            <a:srgbClr val="EDF1F5"/>
          </a:solidFill>
          <a:ln/>
        </p:spPr>
      </p:sp>
      <p:sp>
        <p:nvSpPr>
          <p:cNvPr id="5" name="Shape 3"/>
          <p:cNvSpPr/>
          <p:nvPr/>
        </p:nvSpPr>
        <p:spPr>
          <a:xfrm>
            <a:off x="457200" y="1488442"/>
            <a:ext cx="5537200" cy="4912360"/>
          </a:xfrm>
          <a:custGeom>
            <a:avLst/>
            <a:gdLst/>
            <a:ahLst/>
            <a:cxnLst/>
            <a:rect l="l" t="t" r="r" b="b"/>
            <a:pathLst>
              <a:path w="5537200" h="4912360">
                <a:moveTo>
                  <a:pt x="0" y="127000"/>
                </a:moveTo>
                <a:lnTo>
                  <a:pt x="0" y="127000"/>
                </a:lnTo>
                <a:arcTo hR="127000" wR="127000" stAng="10800000" swAng="5400000"/>
                <a:lnTo>
                  <a:pt x="5410200" y="0"/>
                </a:lnTo>
                <a:arcTo hR="127000" wR="127000" stAng="16200000" swAng="5400000"/>
                <a:lnTo>
                  <a:pt x="5537200" y="127000"/>
                </a:lnTo>
                <a:arcTo hR="88900" wR="127000" stAng="0" swAng="-5400000"/>
                <a:lnTo>
                  <a:pt x="127000" y="38100"/>
                </a:lnTo>
                <a:arcTo hR="88900" wR="127000" stAng="16200000" swAng="-5400000"/>
                <a:close/>
              </a:path>
            </a:pathLst>
          </a:custGeom>
          <a:solidFill>
            <a:srgbClr val="1A7F37"/>
          </a:solidFill>
          <a:ln/>
        </p:spPr>
      </p:sp>
      <p:sp>
        <p:nvSpPr>
          <p:cNvPr id="6" name="Text 4"/>
          <p:cNvSpPr/>
          <p:nvPr/>
        </p:nvSpPr>
        <p:spPr>
          <a:xfrm>
            <a:off x="736600" y="1803400"/>
            <a:ext cx="512775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A7F37"/>
                </a:solidFill>
                <a:latin typeface="IBM Plex Sans" pitchFamily="34" charset="0"/>
                <a:ea typeface="IBM Plex Sans" pitchFamily="34" charset="-122"/>
                <a:cs typeface="IBM Plex Sans" pitchFamily="34" charset="-120"/>
              </a:rPr>
              <a:t>Плюсы</a:t>
            </a:r>
            <a:endParaRPr lang="en-US" sz="2200" dirty="0"/>
          </a:p>
        </p:txBody>
      </p:sp>
      <p:sp>
        <p:nvSpPr>
          <p:cNvPr id="7" name="Text 5"/>
          <p:cNvSpPr/>
          <p:nvPr/>
        </p:nvSpPr>
        <p:spPr>
          <a:xfrm>
            <a:off x="759460" y="2265679"/>
            <a:ext cx="5097272" cy="1600200"/>
          </a:xfrm>
          <a:prstGeom prst="rect">
            <a:avLst/>
          </a:prstGeom>
          <a:noFill/>
          <a:ln/>
        </p:spPr>
        <p:txBody>
          <a:bodyPr wrap="square" lIns="0" tIns="0" rIns="0" bIns="0" rtlCol="0" anchor="t">
            <a:normAutofit/>
          </a:bodyPr>
          <a:lstStyle/>
          <a:p>
            <a:pPr algn="l" marL="231140" indent="-231140">
              <a:lnSpc>
                <a:spcPts val="3100"/>
              </a:lnSpc>
              <a:buSzPct val="100000"/>
              <a:buChar char="•"/>
            </a:pPr>
            <a:r>
              <a:rPr lang="en-US" sz="2000" dirty="0">
                <a:solidFill>
                  <a:srgbClr val="13233A"/>
                </a:solidFill>
                <a:latin typeface="IBM Plex Sans" pitchFamily="34" charset="0"/>
                <a:ea typeface="IBM Plex Sans" pitchFamily="34" charset="-122"/>
                <a:cs typeface="IBM Plex Sans" pitchFamily="34" charset="-120"/>
              </a:rPr>
              <a:t>Простота</a:t>
            </a:r>
            <a:endParaRPr lang="en-US" sz="2000" dirty="0"/>
          </a:p>
          <a:p>
            <a:pPr algn="l" marL="231140" indent="-231140">
              <a:lnSpc>
                <a:spcPts val="3100"/>
              </a:lnSpc>
              <a:buSzPct val="100000"/>
              <a:buChar char="•"/>
            </a:pPr>
            <a:r>
              <a:rPr lang="en-US" sz="2000" dirty="0">
                <a:solidFill>
                  <a:srgbClr val="13233A"/>
                </a:solidFill>
                <a:latin typeface="IBM Plex Sans" pitchFamily="34" charset="0"/>
                <a:ea typeface="IBM Plex Sans" pitchFamily="34" charset="-122"/>
                <a:cs typeface="IBM Plex Sans" pitchFamily="34" charset="-120"/>
              </a:rPr>
              <a:t>Высокая информативность</a:t>
            </a:r>
            <a:endParaRPr lang="en-US" sz="2000" dirty="0"/>
          </a:p>
          <a:p>
            <a:pPr algn="l" marL="231140" indent="-231140">
              <a:lnSpc>
                <a:spcPts val="3100"/>
              </a:lnSpc>
              <a:buSzPct val="100000"/>
              <a:buChar char="•"/>
            </a:pPr>
            <a:r>
              <a:rPr lang="en-US" sz="2000" dirty="0">
                <a:solidFill>
                  <a:srgbClr val="13233A"/>
                </a:solidFill>
                <a:latin typeface="IBM Plex Sans" pitchFamily="34" charset="0"/>
                <a:ea typeface="IBM Plex Sans" pitchFamily="34" charset="-122"/>
                <a:cs typeface="IBM Plex Sans" pitchFamily="34" charset="-120"/>
              </a:rPr>
              <a:t>Повторное применение</a:t>
            </a:r>
            <a:endParaRPr lang="en-US" sz="2000" dirty="0"/>
          </a:p>
          <a:p>
            <a:pPr algn="l" marL="231140" indent="-231140">
              <a:lnSpc>
                <a:spcPts val="3100"/>
              </a:lnSpc>
              <a:buSzPct val="100000"/>
              <a:buChar char="•"/>
            </a:pPr>
            <a:r>
              <a:rPr lang="en-US" sz="2000" dirty="0">
                <a:solidFill>
                  <a:srgbClr val="13233A"/>
                </a:solidFill>
                <a:latin typeface="IBM Plex Sans" pitchFamily="34" charset="0"/>
                <a:ea typeface="IBM Plex Sans" pitchFamily="34" charset="-122"/>
                <a:cs typeface="IBM Plex Sans" pitchFamily="34" charset="-120"/>
              </a:rPr>
              <a:t>Поддержка параллельной разработки</a:t>
            </a:r>
            <a:endParaRPr lang="en-US" sz="2000" dirty="0"/>
          </a:p>
        </p:txBody>
      </p:sp>
      <p:sp>
        <p:nvSpPr>
          <p:cNvPr id="8" name="Shape 6"/>
          <p:cNvSpPr/>
          <p:nvPr/>
        </p:nvSpPr>
        <p:spPr>
          <a:xfrm>
            <a:off x="6197600" y="1488442"/>
            <a:ext cx="5537200" cy="4912360"/>
          </a:xfrm>
          <a:prstGeom prst="roundRect">
            <a:avLst>
              <a:gd name="adj" fmla="val 2585"/>
            </a:avLst>
          </a:prstGeom>
          <a:solidFill>
            <a:srgbClr val="EDF1F5"/>
          </a:solidFill>
          <a:ln/>
        </p:spPr>
      </p:sp>
      <p:sp>
        <p:nvSpPr>
          <p:cNvPr id="9" name="Shape 7"/>
          <p:cNvSpPr/>
          <p:nvPr/>
        </p:nvSpPr>
        <p:spPr>
          <a:xfrm>
            <a:off x="6197600" y="1488442"/>
            <a:ext cx="5537200" cy="4912360"/>
          </a:xfrm>
          <a:custGeom>
            <a:avLst/>
            <a:gdLst/>
            <a:ahLst/>
            <a:cxnLst/>
            <a:rect l="l" t="t" r="r" b="b"/>
            <a:pathLst>
              <a:path w="5537200" h="4912360">
                <a:moveTo>
                  <a:pt x="0" y="127000"/>
                </a:moveTo>
                <a:lnTo>
                  <a:pt x="0" y="127000"/>
                </a:lnTo>
                <a:arcTo hR="127000" wR="127000" stAng="10800000" swAng="5400000"/>
                <a:lnTo>
                  <a:pt x="5410200" y="0"/>
                </a:lnTo>
                <a:arcTo hR="127000" wR="127000" stAng="16200000" swAng="5400000"/>
                <a:lnTo>
                  <a:pt x="5537200" y="127000"/>
                </a:lnTo>
                <a:arcTo hR="88900" wR="127000" stAng="0" swAng="-5400000"/>
                <a:lnTo>
                  <a:pt x="127000" y="38100"/>
                </a:lnTo>
                <a:arcTo hR="88900" wR="127000" stAng="16200000" swAng="-5400000"/>
                <a:close/>
              </a:path>
            </a:pathLst>
          </a:custGeom>
          <a:solidFill>
            <a:srgbClr val="B85400"/>
          </a:solidFill>
          <a:ln/>
        </p:spPr>
      </p:sp>
      <p:sp>
        <p:nvSpPr>
          <p:cNvPr id="10" name="Text 8"/>
          <p:cNvSpPr/>
          <p:nvPr/>
        </p:nvSpPr>
        <p:spPr>
          <a:xfrm>
            <a:off x="6477000" y="1803400"/>
            <a:ext cx="512775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5400"/>
                </a:solidFill>
                <a:latin typeface="IBM Plex Sans" pitchFamily="34" charset="0"/>
                <a:ea typeface="IBM Plex Sans" pitchFamily="34" charset="-122"/>
                <a:cs typeface="IBM Plex Sans" pitchFamily="34" charset="-120"/>
              </a:rPr>
              <a:t>Минусы</a:t>
            </a:r>
            <a:endParaRPr lang="en-US" sz="2200" dirty="0"/>
          </a:p>
        </p:txBody>
      </p:sp>
      <p:sp>
        <p:nvSpPr>
          <p:cNvPr id="11" name="Text 9"/>
          <p:cNvSpPr/>
          <p:nvPr/>
        </p:nvSpPr>
        <p:spPr>
          <a:xfrm>
            <a:off x="6499860" y="2265679"/>
            <a:ext cx="5097272" cy="1206500"/>
          </a:xfrm>
          <a:prstGeom prst="rect">
            <a:avLst/>
          </a:prstGeom>
          <a:noFill/>
          <a:ln/>
        </p:spPr>
        <p:txBody>
          <a:bodyPr wrap="square" lIns="0" tIns="0" rIns="0" bIns="0" rtlCol="0" anchor="t">
            <a:normAutofit/>
          </a:bodyPr>
          <a:lstStyle/>
          <a:p>
            <a:pPr algn="l" marL="231140" indent="-231140">
              <a:lnSpc>
                <a:spcPts val="3100"/>
              </a:lnSpc>
              <a:buSzPct val="100000"/>
              <a:buChar char="•"/>
            </a:pPr>
            <a:r>
              <a:rPr lang="en-US" sz="2000" dirty="0">
                <a:solidFill>
                  <a:srgbClr val="13233A"/>
                </a:solidFill>
                <a:latin typeface="IBM Plex Sans" pitchFamily="34" charset="0"/>
                <a:ea typeface="IBM Plex Sans" pitchFamily="34" charset="-122"/>
                <a:cs typeface="IBM Plex Sans" pitchFamily="34" charset="-120"/>
              </a:rPr>
              <a:t>Нет гарантии, что найдутся все ошибки</a:t>
            </a:r>
            <a:endParaRPr lang="en-US" sz="2000" dirty="0"/>
          </a:p>
          <a:p>
            <a:pPr algn="l" marL="231140" indent="-231140">
              <a:lnSpc>
                <a:spcPts val="3100"/>
              </a:lnSpc>
              <a:buSzPct val="100000"/>
              <a:buChar char="•"/>
            </a:pPr>
            <a:r>
              <a:rPr lang="en-US" sz="2000" dirty="0">
                <a:solidFill>
                  <a:srgbClr val="13233A"/>
                </a:solidFill>
                <a:latin typeface="IBM Plex Sans" pitchFamily="34" charset="0"/>
                <a:ea typeface="IBM Plex Sans" pitchFamily="34" charset="-122"/>
                <a:cs typeface="IBM Plex Sans" pitchFamily="34" charset="-120"/>
              </a:rPr>
              <a:t>Ориентированность на одну единицу кода (модуль)</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02 · UNIT-ТЕСТЫ</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Типы заглушек в тестировании</a:t>
            </a:r>
            <a:endParaRPr lang="en-US" sz="3200" dirty="0"/>
          </a:p>
        </p:txBody>
      </p:sp>
      <p:sp>
        <p:nvSpPr>
          <p:cNvPr id="4" name="Shape 2"/>
          <p:cNvSpPr/>
          <p:nvPr/>
        </p:nvSpPr>
        <p:spPr>
          <a:xfrm>
            <a:off x="457200" y="1437642"/>
            <a:ext cx="11277600" cy="1262698"/>
          </a:xfrm>
          <a:prstGeom prst="roundRect">
            <a:avLst>
              <a:gd name="adj" fmla="val 8046"/>
            </a:avLst>
          </a:prstGeom>
          <a:solidFill>
            <a:srgbClr val="EDF1F5"/>
          </a:solidFill>
          <a:ln/>
        </p:spPr>
      </p:sp>
      <p:sp>
        <p:nvSpPr>
          <p:cNvPr id="5" name="Shape 3"/>
          <p:cNvSpPr/>
          <p:nvPr/>
        </p:nvSpPr>
        <p:spPr>
          <a:xfrm>
            <a:off x="457200" y="1437642"/>
            <a:ext cx="11277600" cy="1262698"/>
          </a:xfrm>
          <a:custGeom>
            <a:avLst/>
            <a:gdLst/>
            <a:ahLst/>
            <a:cxnLst/>
            <a:rect l="l" t="t" r="r" b="b"/>
            <a:pathLst>
              <a:path w="11277600" h="1262698">
                <a:moveTo>
                  <a:pt x="101600" y="1262698"/>
                </a:moveTo>
                <a:lnTo>
                  <a:pt x="101600" y="1262698"/>
                </a:lnTo>
                <a:arcTo hR="101600" wR="101600" stAng="5400000" swAng="5400000"/>
                <a:lnTo>
                  <a:pt x="0" y="101600"/>
                </a:lnTo>
                <a:arcTo hR="101600" wR="101600" stAng="10800000" swAng="5400000"/>
                <a:lnTo>
                  <a:pt x="101600" y="0"/>
                </a:lnTo>
                <a:arcTo hR="101600" wR="50800" stAng="16200000" swAng="-5400000"/>
                <a:lnTo>
                  <a:pt x="50800" y="1161098"/>
                </a:lnTo>
                <a:arcTo hR="101600" wR="50800" stAng="10800000" swAng="-5400000"/>
                <a:close/>
              </a:path>
            </a:pathLst>
          </a:custGeom>
          <a:solidFill>
            <a:srgbClr val="5C6C7D"/>
          </a:solidFill>
          <a:ln/>
        </p:spPr>
      </p:sp>
      <p:sp>
        <p:nvSpPr>
          <p:cNvPr id="6" name="Text 4"/>
          <p:cNvSpPr/>
          <p:nvPr/>
        </p:nvSpPr>
        <p:spPr>
          <a:xfrm>
            <a:off x="711200" y="1577342"/>
            <a:ext cx="11145012" cy="343853"/>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3233A"/>
                </a:solidFill>
                <a:latin typeface="IBM Plex Sans" pitchFamily="34" charset="0"/>
                <a:ea typeface="IBM Plex Sans" pitchFamily="34" charset="-122"/>
                <a:cs typeface="IBM Plex Sans" pitchFamily="34" charset="-120"/>
              </a:rPr>
              <a:t>1. Фиктивные объекты (Dummy objects)</a:t>
            </a:r>
            <a:endParaRPr lang="en-US" sz="2100" dirty="0"/>
          </a:p>
        </p:txBody>
      </p:sp>
      <p:sp>
        <p:nvSpPr>
          <p:cNvPr id="7" name="Text 5"/>
          <p:cNvSpPr/>
          <p:nvPr/>
        </p:nvSpPr>
        <p:spPr>
          <a:xfrm>
            <a:off x="754634" y="1946591"/>
            <a:ext cx="11093958" cy="639445"/>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Передаются классу, но никогда не используются</a:t>
            </a:r>
            <a:endParaRPr lang="en-US" sz="1800" dirty="0"/>
          </a:p>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Применяются, когда нужно заполнить параметры, не важные для теста</a:t>
            </a:r>
            <a:endParaRPr lang="en-US" sz="1800" dirty="0"/>
          </a:p>
        </p:txBody>
      </p:sp>
      <p:sp>
        <p:nvSpPr>
          <p:cNvPr id="8" name="Shape 6"/>
          <p:cNvSpPr/>
          <p:nvPr/>
        </p:nvSpPr>
        <p:spPr>
          <a:xfrm>
            <a:off x="457200" y="2801938"/>
            <a:ext cx="11277600" cy="1927463"/>
          </a:xfrm>
          <a:prstGeom prst="roundRect">
            <a:avLst>
              <a:gd name="adj" fmla="val 5271"/>
            </a:avLst>
          </a:prstGeom>
          <a:solidFill>
            <a:srgbClr val="EDF1F5"/>
          </a:solidFill>
          <a:ln/>
        </p:spPr>
      </p:sp>
      <p:sp>
        <p:nvSpPr>
          <p:cNvPr id="9" name="Shape 7"/>
          <p:cNvSpPr/>
          <p:nvPr/>
        </p:nvSpPr>
        <p:spPr>
          <a:xfrm>
            <a:off x="457200" y="2801938"/>
            <a:ext cx="11277600" cy="1927463"/>
          </a:xfrm>
          <a:custGeom>
            <a:avLst/>
            <a:gdLst/>
            <a:ahLst/>
            <a:cxnLst/>
            <a:rect l="l" t="t" r="r" b="b"/>
            <a:pathLst>
              <a:path w="11277600" h="1927463">
                <a:moveTo>
                  <a:pt x="101600" y="1927463"/>
                </a:moveTo>
                <a:lnTo>
                  <a:pt x="101600" y="1927463"/>
                </a:lnTo>
                <a:arcTo hR="101600" wR="101600" stAng="5400000" swAng="5400000"/>
                <a:lnTo>
                  <a:pt x="0" y="101600"/>
                </a:lnTo>
                <a:arcTo hR="101600" wR="101600" stAng="10800000" swAng="5400000"/>
                <a:lnTo>
                  <a:pt x="101600" y="0"/>
                </a:lnTo>
                <a:arcTo hR="101600" wR="50800" stAng="16200000" swAng="-5400000"/>
                <a:lnTo>
                  <a:pt x="50800" y="1825863"/>
                </a:lnTo>
                <a:arcTo hR="101600" wR="50800" stAng="10800000" swAng="-5400000"/>
                <a:close/>
              </a:path>
            </a:pathLst>
          </a:custGeom>
          <a:solidFill>
            <a:srgbClr val="127C7C"/>
          </a:solidFill>
          <a:ln/>
        </p:spPr>
      </p:sp>
      <p:sp>
        <p:nvSpPr>
          <p:cNvPr id="10" name="Text 8"/>
          <p:cNvSpPr/>
          <p:nvPr/>
        </p:nvSpPr>
        <p:spPr>
          <a:xfrm>
            <a:off x="711200" y="2941638"/>
            <a:ext cx="11145012" cy="343773"/>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3233A"/>
                </a:solidFill>
                <a:latin typeface="IBM Plex Sans" pitchFamily="34" charset="0"/>
                <a:ea typeface="IBM Plex Sans" pitchFamily="34" charset="-122"/>
                <a:cs typeface="IBM Plex Sans" pitchFamily="34" charset="-120"/>
              </a:rPr>
              <a:t>2. Фальшивые объекты (Fake objects)</a:t>
            </a:r>
            <a:endParaRPr lang="en-US" sz="2100" dirty="0"/>
          </a:p>
        </p:txBody>
      </p:sp>
      <p:sp>
        <p:nvSpPr>
          <p:cNvPr id="11" name="Text 9"/>
          <p:cNvSpPr/>
          <p:nvPr/>
        </p:nvSpPr>
        <p:spPr>
          <a:xfrm>
            <a:off x="754677" y="3310812"/>
            <a:ext cx="11093915" cy="946468"/>
          </a:xfrm>
          <a:prstGeom prst="rect">
            <a:avLst/>
          </a:prstGeom>
          <a:noFill/>
          <a:ln/>
        </p:spPr>
        <p:txBody>
          <a:bodyPr wrap="square" lIns="0" tIns="0" rIns="0" bIns="0" rtlCol="0" anchor="t">
            <a:normAutofit/>
          </a:bodyPr>
          <a:lstStyle/>
          <a:p>
            <a:pPr algn="l" marL="210523" indent="-210523">
              <a:lnSpc>
                <a:spcPts val="2422"/>
              </a:lnSpc>
              <a:buSzPct val="100000"/>
              <a:buChar char="•"/>
            </a:pPr>
            <a:r>
              <a:rPr lang="en-US" sz="1794" dirty="0">
                <a:solidFill>
                  <a:srgbClr val="3A4B5E"/>
                </a:solidFill>
                <a:latin typeface="IBM Plex Sans" pitchFamily="34" charset="0"/>
                <a:ea typeface="IBM Plex Sans" pitchFamily="34" charset="-122"/>
                <a:cs typeface="IBM Plex Sans" pitchFamily="34" charset="-120"/>
              </a:rPr>
              <a:t>Имеют реальную работающую реализацию, но упрощенную</a:t>
            </a:r>
            <a:endParaRPr lang="en-US" sz="1794" dirty="0"/>
          </a:p>
          <a:p>
            <a:pPr algn="l" marL="210523" indent="-210523">
              <a:lnSpc>
                <a:spcPts val="2422"/>
              </a:lnSpc>
              <a:buSzPct val="100000"/>
              <a:buChar char="•"/>
            </a:pPr>
            <a:r>
              <a:rPr lang="en-US" sz="1794" dirty="0">
                <a:solidFill>
                  <a:srgbClr val="3A4B5E"/>
                </a:solidFill>
                <a:latin typeface="IBM Plex Sans" pitchFamily="34" charset="0"/>
                <a:ea typeface="IBM Plex Sans" pitchFamily="34" charset="-122"/>
                <a:cs typeface="IBM Plex Sans" pitchFamily="34" charset="-120"/>
              </a:rPr>
              <a:t>Пример: фальшивая база данных на основе HashMap</a:t>
            </a:r>
            <a:endParaRPr lang="en-US" sz="1794" dirty="0"/>
          </a:p>
          <a:p>
            <a:pPr algn="l" marL="210523" indent="-210523">
              <a:lnSpc>
                <a:spcPts val="2422"/>
              </a:lnSpc>
              <a:buSzPct val="100000"/>
              <a:buChar char="•"/>
            </a:pPr>
            <a:r>
              <a:rPr lang="en-US" sz="1794" dirty="0">
                <a:solidFill>
                  <a:srgbClr val="3A4B5E"/>
                </a:solidFill>
                <a:latin typeface="IBM Plex Sans" pitchFamily="34" charset="0"/>
                <a:ea typeface="IBM Plex Sans" pitchFamily="34" charset="-122"/>
                <a:cs typeface="IBM Plex Sans" pitchFamily="34" charset="-120"/>
              </a:rPr>
              <a:t>Распространенный пример: H2 DB - in-memory база для тестирования</a:t>
            </a:r>
            <a:endParaRPr lang="en-US" sz="1794" dirty="0"/>
          </a:p>
        </p:txBody>
      </p:sp>
      <p:sp>
        <p:nvSpPr>
          <p:cNvPr id="12" name="Text 10"/>
          <p:cNvSpPr/>
          <p:nvPr/>
        </p:nvSpPr>
        <p:spPr>
          <a:xfrm>
            <a:off x="1219200" y="4282678"/>
            <a:ext cx="10621772" cy="332423"/>
          </a:xfrm>
          <a:prstGeom prst="rect">
            <a:avLst/>
          </a:prstGeom>
          <a:noFill/>
          <a:ln/>
        </p:spPr>
        <p:txBody>
          <a:bodyPr wrap="square" lIns="0" tIns="0" rIns="0" bIns="0" rtlCol="0" anchor="t">
            <a:normAutofit/>
          </a:bodyPr>
          <a:lstStyle/>
          <a:p>
            <a:pPr algn="l" indent="0" marL="0">
              <a:lnSpc>
                <a:spcPts val="2422"/>
              </a:lnSpc>
              <a:buNone/>
            </a:pPr>
            <a:r>
              <a:rPr lang="en-US" sz="1794" dirty="0">
                <a:solidFill>
                  <a:srgbClr val="3A4B5E"/>
                </a:solidFill>
                <a:latin typeface="IBM Plex Sans" pitchFamily="34" charset="0"/>
                <a:ea typeface="IBM Plex Sans" pitchFamily="34" charset="-122"/>
                <a:cs typeface="IBM Plex Sans" pitchFamily="34" charset="-120"/>
              </a:rPr>
              <a:t>i. Чаще используется Testcontainers с реальной БД поднятой в docker</a:t>
            </a:r>
            <a:endParaRPr lang="en-US" sz="1794" dirty="0"/>
          </a:p>
        </p:txBody>
      </p:sp>
      <p:sp>
        <p:nvSpPr>
          <p:cNvPr id="13" name="Shape 11"/>
          <p:cNvSpPr/>
          <p:nvPr/>
        </p:nvSpPr>
        <p:spPr>
          <a:xfrm>
            <a:off x="457200" y="4831004"/>
            <a:ext cx="11277600" cy="1569799"/>
          </a:xfrm>
          <a:prstGeom prst="roundRect">
            <a:avLst>
              <a:gd name="adj" fmla="val 6472"/>
            </a:avLst>
          </a:prstGeom>
          <a:solidFill>
            <a:srgbClr val="EDF1F5"/>
          </a:solidFill>
          <a:ln/>
        </p:spPr>
      </p:sp>
      <p:sp>
        <p:nvSpPr>
          <p:cNvPr id="14" name="Shape 12"/>
          <p:cNvSpPr/>
          <p:nvPr/>
        </p:nvSpPr>
        <p:spPr>
          <a:xfrm>
            <a:off x="457200" y="4831004"/>
            <a:ext cx="11277600" cy="1569799"/>
          </a:xfrm>
          <a:custGeom>
            <a:avLst/>
            <a:gdLst/>
            <a:ahLst/>
            <a:cxnLst/>
            <a:rect l="l" t="t" r="r" b="b"/>
            <a:pathLst>
              <a:path w="11277600" h="1569799">
                <a:moveTo>
                  <a:pt x="101600" y="1569799"/>
                </a:moveTo>
                <a:lnTo>
                  <a:pt x="101600" y="1569799"/>
                </a:lnTo>
                <a:arcTo hR="101600" wR="101600" stAng="5400000" swAng="5400000"/>
                <a:lnTo>
                  <a:pt x="0" y="101600"/>
                </a:lnTo>
                <a:arcTo hR="101600" wR="101600" stAng="10800000" swAng="5400000"/>
                <a:lnTo>
                  <a:pt x="101600" y="0"/>
                </a:lnTo>
                <a:arcTo hR="101600" wR="50800" stAng="16200000" swAng="-5400000"/>
                <a:lnTo>
                  <a:pt x="50800" y="1468199"/>
                </a:lnTo>
                <a:arcTo hR="101600" wR="50800" stAng="10800000" swAng="-5400000"/>
                <a:close/>
              </a:path>
            </a:pathLst>
          </a:custGeom>
          <a:solidFill>
            <a:srgbClr val="1A7F37"/>
          </a:solidFill>
          <a:ln/>
        </p:spPr>
      </p:sp>
      <p:sp>
        <p:nvSpPr>
          <p:cNvPr id="15" name="Text 13"/>
          <p:cNvSpPr/>
          <p:nvPr/>
        </p:nvSpPr>
        <p:spPr>
          <a:xfrm>
            <a:off x="711200" y="4970704"/>
            <a:ext cx="11145012" cy="343853"/>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3233A"/>
                </a:solidFill>
                <a:latin typeface="IBM Plex Sans" pitchFamily="34" charset="0"/>
                <a:ea typeface="IBM Plex Sans" pitchFamily="34" charset="-122"/>
                <a:cs typeface="IBM Plex Sans" pitchFamily="34" charset="-120"/>
              </a:rPr>
              <a:t>3. Заглушки (Stubs)</a:t>
            </a:r>
            <a:endParaRPr lang="en-US" sz="2100" dirty="0"/>
          </a:p>
        </p:txBody>
      </p:sp>
      <p:sp>
        <p:nvSpPr>
          <p:cNvPr id="16" name="Text 14"/>
          <p:cNvSpPr/>
          <p:nvPr/>
        </p:nvSpPr>
        <p:spPr>
          <a:xfrm>
            <a:off x="754677" y="5339953"/>
            <a:ext cx="11093915" cy="946547"/>
          </a:xfrm>
          <a:prstGeom prst="rect">
            <a:avLst/>
          </a:prstGeom>
          <a:noFill/>
          <a:ln/>
        </p:spPr>
        <p:txBody>
          <a:bodyPr wrap="square" lIns="0" tIns="0" rIns="0" bIns="0" rtlCol="0" anchor="t">
            <a:normAutofit/>
          </a:bodyPr>
          <a:lstStyle/>
          <a:p>
            <a:pPr algn="l" marL="210523" indent="-210523">
              <a:lnSpc>
                <a:spcPts val="2422"/>
              </a:lnSpc>
              <a:buSzPct val="100000"/>
              <a:buChar char="•"/>
            </a:pPr>
            <a:r>
              <a:rPr lang="en-US" sz="1794" dirty="0">
                <a:solidFill>
                  <a:srgbClr val="3A4B5E"/>
                </a:solidFill>
                <a:latin typeface="IBM Plex Sans" pitchFamily="34" charset="0"/>
                <a:ea typeface="IBM Plex Sans" pitchFamily="34" charset="-122"/>
                <a:cs typeface="IBM Plex Sans" pitchFamily="34" charset="-120"/>
              </a:rPr>
              <a:t>Возвращают предопределенные ответы на вызовы</a:t>
            </a:r>
            <a:endParaRPr lang="en-US" sz="1794" dirty="0"/>
          </a:p>
          <a:p>
            <a:pPr algn="l" marL="210523" indent="-210523">
              <a:lnSpc>
                <a:spcPts val="2422"/>
              </a:lnSpc>
              <a:buSzPct val="100000"/>
              <a:buChar char="•"/>
            </a:pPr>
            <a:r>
              <a:rPr lang="en-US" sz="1794" dirty="0">
                <a:solidFill>
                  <a:srgbClr val="3A4B5E"/>
                </a:solidFill>
                <a:latin typeface="IBM Plex Sans" pitchFamily="34" charset="0"/>
                <a:ea typeface="IBM Plex Sans" pitchFamily="34" charset="-122"/>
                <a:cs typeface="IBM Plex Sans" pitchFamily="34" charset="-120"/>
              </a:rPr>
              <a:t>Не имеют реальной реализации</a:t>
            </a:r>
            <a:endParaRPr lang="en-US" sz="1794" dirty="0"/>
          </a:p>
          <a:p>
            <a:pPr algn="l" marL="210523" indent="-210523">
              <a:lnSpc>
                <a:spcPts val="2422"/>
              </a:lnSpc>
              <a:buSzPct val="100000"/>
              <a:buChar char="•"/>
            </a:pPr>
            <a:r>
              <a:rPr lang="en-US" sz="1794" dirty="0">
                <a:solidFill>
                  <a:srgbClr val="3A4B5E"/>
                </a:solidFill>
                <a:latin typeface="IBM Plex Sans" pitchFamily="34" charset="0"/>
                <a:ea typeface="IBM Plex Sans" pitchFamily="34" charset="-122"/>
                <a:cs typeface="IBM Plex Sans" pitchFamily="34" charset="-120"/>
              </a:rPr>
              <a:t>Самый популярный тип заглушки</a:t>
            </a:r>
            <a:endParaRPr lang="en-US" sz="179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02 · UNIT-ТЕСТЫ</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Типы заглушек в тестировании</a:t>
            </a:r>
            <a:endParaRPr lang="en-US" sz="3200" dirty="0"/>
          </a:p>
        </p:txBody>
      </p:sp>
      <p:sp>
        <p:nvSpPr>
          <p:cNvPr id="4" name="Shape 2"/>
          <p:cNvSpPr/>
          <p:nvPr/>
        </p:nvSpPr>
        <p:spPr>
          <a:xfrm>
            <a:off x="457200" y="2087246"/>
            <a:ext cx="11277600" cy="1935480"/>
          </a:xfrm>
          <a:prstGeom prst="roundRect">
            <a:avLst>
              <a:gd name="adj" fmla="val 5249"/>
            </a:avLst>
          </a:prstGeom>
          <a:solidFill>
            <a:srgbClr val="EDF1F5"/>
          </a:solidFill>
          <a:ln/>
        </p:spPr>
      </p:sp>
      <p:sp>
        <p:nvSpPr>
          <p:cNvPr id="5" name="Shape 3"/>
          <p:cNvSpPr/>
          <p:nvPr/>
        </p:nvSpPr>
        <p:spPr>
          <a:xfrm>
            <a:off x="457200" y="2087246"/>
            <a:ext cx="11277600" cy="1935480"/>
          </a:xfrm>
          <a:custGeom>
            <a:avLst/>
            <a:gdLst/>
            <a:ahLst/>
            <a:cxnLst/>
            <a:rect l="l" t="t" r="r" b="b"/>
            <a:pathLst>
              <a:path w="11277600" h="1935480">
                <a:moveTo>
                  <a:pt x="101600" y="1935480"/>
                </a:moveTo>
                <a:lnTo>
                  <a:pt x="101600" y="1935480"/>
                </a:lnTo>
                <a:arcTo hR="101600" wR="101600" stAng="5400000" swAng="5400000"/>
                <a:lnTo>
                  <a:pt x="0" y="101600"/>
                </a:lnTo>
                <a:arcTo hR="101600" wR="101600" stAng="10800000" swAng="5400000"/>
                <a:lnTo>
                  <a:pt x="101600" y="0"/>
                </a:lnTo>
                <a:arcTo hR="101600" wR="50800" stAng="16200000" swAng="-5400000"/>
                <a:lnTo>
                  <a:pt x="50800" y="1833880"/>
                </a:lnTo>
                <a:arcTo hR="101600" wR="50800" stAng="10800000" swAng="-5400000"/>
                <a:close/>
              </a:path>
            </a:pathLst>
          </a:custGeom>
          <a:solidFill>
            <a:srgbClr val="1F5FBF"/>
          </a:solidFill>
          <a:ln/>
        </p:spPr>
      </p:sp>
      <p:sp>
        <p:nvSpPr>
          <p:cNvPr id="6" name="Text 4"/>
          <p:cNvSpPr/>
          <p:nvPr/>
        </p:nvSpPr>
        <p:spPr>
          <a:xfrm>
            <a:off x="711200" y="2226946"/>
            <a:ext cx="11145012" cy="34544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3233A"/>
                </a:solidFill>
                <a:latin typeface="IBM Plex Sans" pitchFamily="34" charset="0"/>
                <a:ea typeface="IBM Plex Sans" pitchFamily="34" charset="-122"/>
                <a:cs typeface="IBM Plex Sans" pitchFamily="34" charset="-120"/>
              </a:rPr>
              <a:t>4. Макеты (Mocks)</a:t>
            </a:r>
            <a:endParaRPr lang="en-US" sz="2100" dirty="0"/>
          </a:p>
        </p:txBody>
      </p:sp>
      <p:sp>
        <p:nvSpPr>
          <p:cNvPr id="7" name="Text 5"/>
          <p:cNvSpPr/>
          <p:nvPr/>
        </p:nvSpPr>
        <p:spPr>
          <a:xfrm>
            <a:off x="711200" y="2597789"/>
            <a:ext cx="11145012"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A4B5E"/>
                </a:solidFill>
                <a:latin typeface="IBM Plex Sans" pitchFamily="34" charset="0"/>
                <a:ea typeface="IBM Plex Sans" pitchFamily="34" charset="-122"/>
                <a:cs typeface="IBM Plex Sans" pitchFamily="34" charset="-120"/>
              </a:rPr>
              <a:t>Работают как заглушки, но также отслеживают взаимодействия</a:t>
            </a:r>
            <a:endParaRPr lang="en-US" sz="1800" dirty="0"/>
          </a:p>
        </p:txBody>
      </p:sp>
      <p:sp>
        <p:nvSpPr>
          <p:cNvPr id="8" name="Text 6"/>
          <p:cNvSpPr/>
          <p:nvPr/>
        </p:nvSpPr>
        <p:spPr>
          <a:xfrm>
            <a:off x="754634" y="2957196"/>
            <a:ext cx="11093958" cy="951230"/>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Позволяют проверять, сколько раз и с какими параметрами вызывался метод</a:t>
            </a:r>
            <a:endParaRPr lang="en-US" sz="1800" dirty="0"/>
          </a:p>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Пример: проверка, что getAllInvoices вызывался ровно один раз</a:t>
            </a:r>
            <a:endParaRPr lang="en-US" sz="1800" dirty="0"/>
          </a:p>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Популярны для анализа взаимодействия между классами</a:t>
            </a:r>
            <a:endParaRPr lang="en-US" sz="1800" dirty="0"/>
          </a:p>
        </p:txBody>
      </p:sp>
      <p:sp>
        <p:nvSpPr>
          <p:cNvPr id="9" name="Shape 7"/>
          <p:cNvSpPr/>
          <p:nvPr/>
        </p:nvSpPr>
        <p:spPr>
          <a:xfrm>
            <a:off x="457200" y="4175125"/>
            <a:ext cx="11277600" cy="1576070"/>
          </a:xfrm>
          <a:prstGeom prst="roundRect">
            <a:avLst>
              <a:gd name="adj" fmla="val 6446"/>
            </a:avLst>
          </a:prstGeom>
          <a:solidFill>
            <a:srgbClr val="EDF1F5"/>
          </a:solidFill>
          <a:ln/>
        </p:spPr>
      </p:sp>
      <p:sp>
        <p:nvSpPr>
          <p:cNvPr id="10" name="Shape 8"/>
          <p:cNvSpPr/>
          <p:nvPr/>
        </p:nvSpPr>
        <p:spPr>
          <a:xfrm>
            <a:off x="457200" y="4175125"/>
            <a:ext cx="11277600" cy="1576070"/>
          </a:xfrm>
          <a:custGeom>
            <a:avLst/>
            <a:gdLst/>
            <a:ahLst/>
            <a:cxnLst/>
            <a:rect l="l" t="t" r="r" b="b"/>
            <a:pathLst>
              <a:path w="11277600" h="1576070">
                <a:moveTo>
                  <a:pt x="101600" y="1576070"/>
                </a:moveTo>
                <a:lnTo>
                  <a:pt x="101600" y="1576070"/>
                </a:lnTo>
                <a:arcTo hR="101600" wR="101600" stAng="5400000" swAng="5400000"/>
                <a:lnTo>
                  <a:pt x="0" y="101600"/>
                </a:lnTo>
                <a:arcTo hR="101600" wR="101600" stAng="10800000" swAng="5400000"/>
                <a:lnTo>
                  <a:pt x="101600" y="0"/>
                </a:lnTo>
                <a:arcTo hR="101600" wR="50800" stAng="16200000" swAng="-5400000"/>
                <a:lnTo>
                  <a:pt x="50800" y="1474470"/>
                </a:lnTo>
                <a:arcTo hR="101600" wR="50800" stAng="10800000" swAng="-5400000"/>
                <a:close/>
              </a:path>
            </a:pathLst>
          </a:custGeom>
          <a:solidFill>
            <a:srgbClr val="B85400"/>
          </a:solidFill>
          <a:ln/>
        </p:spPr>
      </p:sp>
      <p:sp>
        <p:nvSpPr>
          <p:cNvPr id="11" name="Text 9"/>
          <p:cNvSpPr/>
          <p:nvPr/>
        </p:nvSpPr>
        <p:spPr>
          <a:xfrm>
            <a:off x="711200" y="4314825"/>
            <a:ext cx="11145012" cy="34544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3233A"/>
                </a:solidFill>
                <a:latin typeface="IBM Plex Sans" pitchFamily="34" charset="0"/>
                <a:ea typeface="IBM Plex Sans" pitchFamily="34" charset="-122"/>
                <a:cs typeface="IBM Plex Sans" pitchFamily="34" charset="-120"/>
              </a:rPr>
              <a:t>5. Шпионы (Spies)</a:t>
            </a:r>
            <a:endParaRPr lang="en-US" sz="2100" dirty="0"/>
          </a:p>
        </p:txBody>
      </p:sp>
      <p:sp>
        <p:nvSpPr>
          <p:cNvPr id="12" name="Text 10"/>
          <p:cNvSpPr/>
          <p:nvPr/>
        </p:nvSpPr>
        <p:spPr>
          <a:xfrm>
            <a:off x="754634" y="4685667"/>
            <a:ext cx="11093958" cy="951230"/>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"Обертывают" реальный объект и наблюдают за его поведением</a:t>
            </a:r>
            <a:endParaRPr lang="en-US" sz="1800" dirty="0"/>
          </a:p>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Не имитируют объект, а записывают взаимодействия с ним</a:t>
            </a:r>
            <a:endParaRPr lang="en-US" sz="1800" dirty="0"/>
          </a:p>
          <a:p>
            <a:pPr algn="l" marL="210566" indent="-210566">
              <a:lnSpc>
                <a:spcPts val="243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Используются, когда проще работать с реальной реализацией</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02 · UNIT-ТЕСТЫ</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Best practices</a:t>
            </a:r>
            <a:endParaRPr lang="en-US" sz="3200" dirty="0"/>
          </a:p>
        </p:txBody>
      </p:sp>
      <p:sp>
        <p:nvSpPr>
          <p:cNvPr id="4" name="Shape 2"/>
          <p:cNvSpPr/>
          <p:nvPr/>
        </p:nvSpPr>
        <p:spPr>
          <a:xfrm>
            <a:off x="457200" y="1488442"/>
            <a:ext cx="5549900" cy="1132840"/>
          </a:xfrm>
          <a:prstGeom prst="roundRect">
            <a:avLst>
              <a:gd name="adj" fmla="val 8969"/>
            </a:avLst>
          </a:prstGeom>
          <a:solidFill>
            <a:srgbClr val="EDF1F5"/>
          </a:solidFill>
          <a:ln/>
        </p:spPr>
      </p:sp>
      <p:sp>
        <p:nvSpPr>
          <p:cNvPr id="5" name="Text 3"/>
          <p:cNvSpPr/>
          <p:nvPr/>
        </p:nvSpPr>
        <p:spPr>
          <a:xfrm>
            <a:off x="660400" y="1841500"/>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1</a:t>
            </a:r>
            <a:endParaRPr lang="en-US" sz="2400" dirty="0"/>
          </a:p>
        </p:txBody>
      </p:sp>
      <p:sp>
        <p:nvSpPr>
          <p:cNvPr id="6" name="Text 4"/>
          <p:cNvSpPr/>
          <p:nvPr/>
        </p:nvSpPr>
        <p:spPr>
          <a:xfrm>
            <a:off x="1021080" y="1868171"/>
            <a:ext cx="3368326"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Наименование тестов</a:t>
            </a:r>
            <a:endParaRPr lang="en-US" sz="2100" dirty="0"/>
          </a:p>
        </p:txBody>
      </p:sp>
      <p:sp>
        <p:nvSpPr>
          <p:cNvPr id="7" name="Shape 5"/>
          <p:cNvSpPr/>
          <p:nvPr/>
        </p:nvSpPr>
        <p:spPr>
          <a:xfrm>
            <a:off x="6184900" y="1488442"/>
            <a:ext cx="5549900" cy="1132840"/>
          </a:xfrm>
          <a:prstGeom prst="roundRect">
            <a:avLst>
              <a:gd name="adj" fmla="val 8969"/>
            </a:avLst>
          </a:prstGeom>
          <a:solidFill>
            <a:srgbClr val="EDF1F5"/>
          </a:solidFill>
          <a:ln/>
        </p:spPr>
      </p:sp>
      <p:sp>
        <p:nvSpPr>
          <p:cNvPr id="8" name="Text 6"/>
          <p:cNvSpPr/>
          <p:nvPr/>
        </p:nvSpPr>
        <p:spPr>
          <a:xfrm>
            <a:off x="6388100" y="1841500"/>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2</a:t>
            </a:r>
            <a:endParaRPr lang="en-US" sz="2400" dirty="0"/>
          </a:p>
        </p:txBody>
      </p:sp>
      <p:sp>
        <p:nvSpPr>
          <p:cNvPr id="9" name="Text 7"/>
          <p:cNvSpPr/>
          <p:nvPr/>
        </p:nvSpPr>
        <p:spPr>
          <a:xfrm>
            <a:off x="6748780" y="1868171"/>
            <a:ext cx="3117342"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Arrange · Act · Assert</a:t>
            </a:r>
            <a:endParaRPr lang="en-US" sz="2100" dirty="0"/>
          </a:p>
        </p:txBody>
      </p:sp>
      <p:sp>
        <p:nvSpPr>
          <p:cNvPr id="10" name="Shape 8"/>
          <p:cNvSpPr/>
          <p:nvPr/>
        </p:nvSpPr>
        <p:spPr>
          <a:xfrm>
            <a:off x="457200" y="2748279"/>
            <a:ext cx="5549900" cy="1132840"/>
          </a:xfrm>
          <a:prstGeom prst="roundRect">
            <a:avLst>
              <a:gd name="adj" fmla="val 8969"/>
            </a:avLst>
          </a:prstGeom>
          <a:solidFill>
            <a:srgbClr val="EDF1F5"/>
          </a:solidFill>
          <a:ln/>
        </p:spPr>
      </p:sp>
      <p:sp>
        <p:nvSpPr>
          <p:cNvPr id="11" name="Text 9"/>
          <p:cNvSpPr/>
          <p:nvPr/>
        </p:nvSpPr>
        <p:spPr>
          <a:xfrm>
            <a:off x="660400" y="3101342"/>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3</a:t>
            </a:r>
            <a:endParaRPr lang="en-US" sz="2400" dirty="0"/>
          </a:p>
        </p:txBody>
      </p:sp>
      <p:sp>
        <p:nvSpPr>
          <p:cNvPr id="12" name="Text 10"/>
          <p:cNvSpPr/>
          <p:nvPr/>
        </p:nvSpPr>
        <p:spPr>
          <a:xfrm>
            <a:off x="1021080" y="3128014"/>
            <a:ext cx="3413093"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Minimally passing tests</a:t>
            </a:r>
            <a:endParaRPr lang="en-US" sz="2100" dirty="0"/>
          </a:p>
        </p:txBody>
      </p:sp>
      <p:sp>
        <p:nvSpPr>
          <p:cNvPr id="13" name="Shape 11"/>
          <p:cNvSpPr/>
          <p:nvPr/>
        </p:nvSpPr>
        <p:spPr>
          <a:xfrm>
            <a:off x="6184900" y="2748279"/>
            <a:ext cx="5549900" cy="1132840"/>
          </a:xfrm>
          <a:prstGeom prst="roundRect">
            <a:avLst>
              <a:gd name="adj" fmla="val 8969"/>
            </a:avLst>
          </a:prstGeom>
          <a:solidFill>
            <a:srgbClr val="EDF1F5"/>
          </a:solidFill>
          <a:ln/>
        </p:spPr>
      </p:sp>
      <p:sp>
        <p:nvSpPr>
          <p:cNvPr id="14" name="Text 12"/>
          <p:cNvSpPr/>
          <p:nvPr/>
        </p:nvSpPr>
        <p:spPr>
          <a:xfrm>
            <a:off x="6388100" y="3101342"/>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4</a:t>
            </a:r>
            <a:endParaRPr lang="en-US" sz="2400" dirty="0"/>
          </a:p>
        </p:txBody>
      </p:sp>
      <p:sp>
        <p:nvSpPr>
          <p:cNvPr id="15" name="Text 13"/>
          <p:cNvSpPr/>
          <p:nvPr/>
        </p:nvSpPr>
        <p:spPr>
          <a:xfrm>
            <a:off x="6748780" y="3128014"/>
            <a:ext cx="3681508"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Без «волшебных» строк</a:t>
            </a:r>
            <a:endParaRPr lang="en-US" sz="2100" dirty="0"/>
          </a:p>
        </p:txBody>
      </p:sp>
      <p:sp>
        <p:nvSpPr>
          <p:cNvPr id="16" name="Shape 14"/>
          <p:cNvSpPr/>
          <p:nvPr/>
        </p:nvSpPr>
        <p:spPr>
          <a:xfrm>
            <a:off x="457200" y="4008121"/>
            <a:ext cx="5549900" cy="1132840"/>
          </a:xfrm>
          <a:prstGeom prst="roundRect">
            <a:avLst>
              <a:gd name="adj" fmla="val 8969"/>
            </a:avLst>
          </a:prstGeom>
          <a:solidFill>
            <a:srgbClr val="EDF1F5"/>
          </a:solidFill>
          <a:ln/>
        </p:spPr>
      </p:sp>
      <p:sp>
        <p:nvSpPr>
          <p:cNvPr id="17" name="Text 15"/>
          <p:cNvSpPr/>
          <p:nvPr/>
        </p:nvSpPr>
        <p:spPr>
          <a:xfrm>
            <a:off x="660400" y="4361179"/>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5</a:t>
            </a:r>
            <a:endParaRPr lang="en-US" sz="2400" dirty="0"/>
          </a:p>
        </p:txBody>
      </p:sp>
      <p:sp>
        <p:nvSpPr>
          <p:cNvPr id="18" name="Text 16"/>
          <p:cNvSpPr/>
          <p:nvPr/>
        </p:nvSpPr>
        <p:spPr>
          <a:xfrm>
            <a:off x="1021080" y="4387850"/>
            <a:ext cx="3018568"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Без логики в тестах</a:t>
            </a:r>
            <a:endParaRPr lang="en-US" sz="2100" dirty="0"/>
          </a:p>
        </p:txBody>
      </p:sp>
      <p:sp>
        <p:nvSpPr>
          <p:cNvPr id="19" name="Shape 17"/>
          <p:cNvSpPr/>
          <p:nvPr/>
        </p:nvSpPr>
        <p:spPr>
          <a:xfrm>
            <a:off x="6184900" y="4008121"/>
            <a:ext cx="5549900" cy="1132840"/>
          </a:xfrm>
          <a:prstGeom prst="roundRect">
            <a:avLst>
              <a:gd name="adj" fmla="val 8969"/>
            </a:avLst>
          </a:prstGeom>
          <a:solidFill>
            <a:srgbClr val="EDF1F5"/>
          </a:solidFill>
          <a:ln/>
        </p:spPr>
      </p:sp>
      <p:sp>
        <p:nvSpPr>
          <p:cNvPr id="20" name="Text 18"/>
          <p:cNvSpPr/>
          <p:nvPr/>
        </p:nvSpPr>
        <p:spPr>
          <a:xfrm>
            <a:off x="6388100" y="4361179"/>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6</a:t>
            </a:r>
            <a:endParaRPr lang="en-US" sz="2400" dirty="0"/>
          </a:p>
        </p:txBody>
      </p:sp>
      <p:sp>
        <p:nvSpPr>
          <p:cNvPr id="21" name="Text 19"/>
          <p:cNvSpPr/>
          <p:nvPr/>
        </p:nvSpPr>
        <p:spPr>
          <a:xfrm>
            <a:off x="6748780" y="4387850"/>
            <a:ext cx="3352895"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Один тест - один кейс</a:t>
            </a:r>
            <a:endParaRPr lang="en-US" sz="2100" dirty="0"/>
          </a:p>
        </p:txBody>
      </p:sp>
      <p:sp>
        <p:nvSpPr>
          <p:cNvPr id="22" name="Shape 20"/>
          <p:cNvSpPr/>
          <p:nvPr/>
        </p:nvSpPr>
        <p:spPr>
          <a:xfrm>
            <a:off x="457200" y="5267964"/>
            <a:ext cx="5549900" cy="1132840"/>
          </a:xfrm>
          <a:prstGeom prst="roundRect">
            <a:avLst>
              <a:gd name="adj" fmla="val 8969"/>
            </a:avLst>
          </a:prstGeom>
          <a:solidFill>
            <a:srgbClr val="EDF1F5"/>
          </a:solidFill>
          <a:ln/>
        </p:spPr>
      </p:sp>
      <p:sp>
        <p:nvSpPr>
          <p:cNvPr id="23" name="Text 21"/>
          <p:cNvSpPr/>
          <p:nvPr/>
        </p:nvSpPr>
        <p:spPr>
          <a:xfrm>
            <a:off x="660400" y="5621021"/>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7</a:t>
            </a:r>
            <a:endParaRPr lang="en-US" sz="2400" dirty="0"/>
          </a:p>
        </p:txBody>
      </p:sp>
      <p:sp>
        <p:nvSpPr>
          <p:cNvPr id="24" name="Text 22"/>
          <p:cNvSpPr/>
          <p:nvPr/>
        </p:nvSpPr>
        <p:spPr>
          <a:xfrm>
            <a:off x="1021080" y="5647692"/>
            <a:ext cx="4534662"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Приватное - через публичное</a:t>
            </a:r>
            <a:endParaRPr lang="en-US" sz="2100" dirty="0"/>
          </a:p>
        </p:txBody>
      </p:sp>
      <p:sp>
        <p:nvSpPr>
          <p:cNvPr id="25" name="Shape 23"/>
          <p:cNvSpPr/>
          <p:nvPr/>
        </p:nvSpPr>
        <p:spPr>
          <a:xfrm>
            <a:off x="6184900" y="5267964"/>
            <a:ext cx="5549900" cy="1132840"/>
          </a:xfrm>
          <a:prstGeom prst="roundRect">
            <a:avLst>
              <a:gd name="adj" fmla="val 8969"/>
            </a:avLst>
          </a:prstGeom>
          <a:solidFill>
            <a:srgbClr val="EDF1F5"/>
          </a:solidFill>
          <a:ln/>
        </p:spPr>
      </p:sp>
      <p:sp>
        <p:nvSpPr>
          <p:cNvPr id="26" name="Text 24"/>
          <p:cNvSpPr/>
          <p:nvPr/>
        </p:nvSpPr>
        <p:spPr>
          <a:xfrm>
            <a:off x="6388100" y="5621021"/>
            <a:ext cx="23368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A7F37"/>
                </a:solidFill>
                <a:latin typeface="JetBrains Mono" pitchFamily="49" charset="0"/>
                <a:ea typeface="JetBrains Mono" pitchFamily="49" charset="-122"/>
                <a:cs typeface="JetBrains Mono" pitchFamily="49" charset="-120"/>
              </a:rPr>
              <a:t>8</a:t>
            </a:r>
            <a:endParaRPr lang="en-US" sz="2400" dirty="0"/>
          </a:p>
        </p:txBody>
      </p:sp>
      <p:sp>
        <p:nvSpPr>
          <p:cNvPr id="27" name="Text 25"/>
          <p:cNvSpPr/>
          <p:nvPr/>
        </p:nvSpPr>
        <p:spPr>
          <a:xfrm>
            <a:off x="6748780" y="5647692"/>
            <a:ext cx="3406997" cy="398780"/>
          </a:xfrm>
          <a:prstGeom prst="rect">
            <a:avLst/>
          </a:prstGeom>
          <a:noFill/>
          <a:ln/>
        </p:spPr>
        <p:txBody>
          <a:bodyPr wrap="square" lIns="0" tIns="0" rIns="0" bIns="0" rtlCol="0" anchor="t">
            <a:normAutofit/>
          </a:bodyPr>
          <a:lstStyle/>
          <a:p>
            <a:pPr algn="l" indent="0" marL="0">
              <a:lnSpc>
                <a:spcPts val="2940"/>
              </a:lnSpc>
              <a:buNone/>
            </a:pPr>
            <a:r>
              <a:rPr lang="en-US" sz="2100" dirty="0">
                <a:solidFill>
                  <a:srgbClr val="13233A"/>
                </a:solidFill>
                <a:latin typeface="IBM Plex Sans" pitchFamily="34" charset="0"/>
                <a:ea typeface="IBM Plex Sans" pitchFamily="34" charset="-122"/>
                <a:cs typeface="IBM Plex Sans" pitchFamily="34" charset="-120"/>
              </a:rPr>
              <a:t>Заглушки для статики</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1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Наименование тестов</a:t>
            </a:r>
            <a:endParaRPr lang="en-US" sz="3200" dirty="0"/>
          </a:p>
        </p:txBody>
      </p:sp>
      <p:sp>
        <p:nvSpPr>
          <p:cNvPr id="4" name="Text 2"/>
          <p:cNvSpPr/>
          <p:nvPr/>
        </p:nvSpPr>
        <p:spPr>
          <a:xfrm>
            <a:off x="457200" y="1488442"/>
            <a:ext cx="11615928"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Длинное имя теста - это нормально: главное, чтобы оно описывало проверяемый сценарий.</a:t>
            </a:r>
            <a:endParaRPr lang="en-US" sz="1800" dirty="0"/>
          </a:p>
        </p:txBody>
      </p:sp>
      <p:sp>
        <p:nvSpPr>
          <p:cNvPr id="5" name="Text 3"/>
          <p:cNvSpPr/>
          <p:nvPr/>
        </p:nvSpPr>
        <p:spPr>
          <a:xfrm>
            <a:off x="1029097" y="2014854"/>
            <a:ext cx="740410" cy="511810"/>
          </a:xfrm>
          <a:prstGeom prst="roundRect">
            <a:avLst>
              <a:gd name="adj" fmla="val 14268"/>
            </a:avLst>
          </a:prstGeom>
          <a:solidFill>
            <a:srgbClr val="F2F5F8"/>
          </a:solidFill>
          <a:ln w="6350">
            <a:solidFill>
              <a:srgbClr val="D3DBE4"/>
            </a:solidFill>
            <a:prstDash val="solid"/>
          </a:ln>
        </p:spPr>
        <p:txBody>
          <a:bodyPr wrap="none" lIns="0" tIns="0" rIns="0" bIns="0" rtlCol="0" anchor="ctr">
            <a:normAutofit/>
          </a:bodyPr>
          <a:lstStyle/>
          <a:p>
            <a:pPr algn="ctr" indent="0" marL="0">
              <a:lnSpc>
                <a:spcPts val="2800"/>
              </a:lnSpc>
              <a:buNone/>
            </a:pPr>
            <a:r>
              <a:rPr lang="en-US" sz="2000" b="1" dirty="0">
                <a:solidFill>
                  <a:srgbClr val="1F5FBF"/>
                </a:solidFill>
                <a:latin typeface="JetBrains Mono" pitchFamily="49" charset="0"/>
                <a:ea typeface="JetBrains Mono" pitchFamily="49" charset="-122"/>
                <a:cs typeface="JetBrains Mono" pitchFamily="49" charset="-120"/>
              </a:rPr>
              <a:t>Add</a:t>
            </a:r>
            <a:endParaRPr lang="en-US" sz="2000" dirty="0"/>
          </a:p>
        </p:txBody>
      </p:sp>
      <p:sp>
        <p:nvSpPr>
          <p:cNvPr id="6" name="Text 4"/>
          <p:cNvSpPr/>
          <p:nvPr/>
        </p:nvSpPr>
        <p:spPr>
          <a:xfrm>
            <a:off x="457200" y="2580642"/>
            <a:ext cx="224722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тестируемый метод</a:t>
            </a:r>
            <a:endParaRPr lang="en-US" sz="1600" dirty="0"/>
          </a:p>
        </p:txBody>
      </p:sp>
      <p:sp>
        <p:nvSpPr>
          <p:cNvPr id="7" name="Text 5"/>
          <p:cNvSpPr/>
          <p:nvPr/>
        </p:nvSpPr>
        <p:spPr>
          <a:xfrm>
            <a:off x="2395458" y="2014854"/>
            <a:ext cx="2264410" cy="511810"/>
          </a:xfrm>
          <a:prstGeom prst="roundRect">
            <a:avLst>
              <a:gd name="adj" fmla="val 14268"/>
            </a:avLst>
          </a:prstGeom>
          <a:solidFill>
            <a:srgbClr val="F2F5F8"/>
          </a:solidFill>
          <a:ln w="6350">
            <a:solidFill>
              <a:srgbClr val="D3DBE4"/>
            </a:solidFill>
            <a:prstDash val="solid"/>
          </a:ln>
        </p:spPr>
        <p:txBody>
          <a:bodyPr wrap="none" lIns="0" tIns="0" rIns="0" bIns="0" rtlCol="0" anchor="ctr">
            <a:normAutofit/>
          </a:bodyPr>
          <a:lstStyle/>
          <a:p>
            <a:pPr algn="ctr" indent="0" marL="0">
              <a:lnSpc>
                <a:spcPts val="2800"/>
              </a:lnSpc>
              <a:buNone/>
            </a:pPr>
            <a:r>
              <a:rPr lang="en-US" sz="2000" b="1" dirty="0">
                <a:solidFill>
                  <a:srgbClr val="B85400"/>
                </a:solidFill>
                <a:latin typeface="JetBrains Mono" pitchFamily="49" charset="0"/>
                <a:ea typeface="JetBrains Mono" pitchFamily="49" charset="-122"/>
                <a:cs typeface="JetBrains Mono" pitchFamily="49" charset="-120"/>
              </a:rPr>
              <a:t>_SingleNumber</a:t>
            </a:r>
            <a:endParaRPr lang="en-US" sz="2000" dirty="0"/>
          </a:p>
        </p:txBody>
      </p:sp>
      <p:sp>
        <p:nvSpPr>
          <p:cNvPr id="8" name="Text 6"/>
          <p:cNvSpPr/>
          <p:nvPr/>
        </p:nvSpPr>
        <p:spPr>
          <a:xfrm>
            <a:off x="2975316" y="2580642"/>
            <a:ext cx="1104614"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сценарий</a:t>
            </a:r>
            <a:endParaRPr lang="en-US" sz="1600" dirty="0"/>
          </a:p>
        </p:txBody>
      </p:sp>
      <p:sp>
        <p:nvSpPr>
          <p:cNvPr id="9" name="Text 7"/>
          <p:cNvSpPr/>
          <p:nvPr/>
        </p:nvSpPr>
        <p:spPr>
          <a:xfrm>
            <a:off x="4717018" y="2014854"/>
            <a:ext cx="3026410" cy="511810"/>
          </a:xfrm>
          <a:prstGeom prst="roundRect">
            <a:avLst>
              <a:gd name="adj" fmla="val 14268"/>
            </a:avLst>
          </a:prstGeom>
          <a:solidFill>
            <a:srgbClr val="F2F5F8"/>
          </a:solidFill>
          <a:ln w="6350">
            <a:solidFill>
              <a:srgbClr val="D3DBE4"/>
            </a:solidFill>
            <a:prstDash val="solid"/>
          </a:ln>
        </p:spPr>
        <p:txBody>
          <a:bodyPr wrap="none" lIns="0" tIns="0" rIns="0" bIns="0" rtlCol="0" anchor="ctr">
            <a:normAutofit/>
          </a:bodyPr>
          <a:lstStyle/>
          <a:p>
            <a:pPr algn="ctr" indent="0" marL="0">
              <a:lnSpc>
                <a:spcPts val="2800"/>
              </a:lnSpc>
              <a:buNone/>
            </a:pPr>
            <a:r>
              <a:rPr lang="en-US" sz="2000" b="1" dirty="0">
                <a:solidFill>
                  <a:srgbClr val="1A7F37"/>
                </a:solidFill>
                <a:latin typeface="JetBrains Mono" pitchFamily="49" charset="0"/>
                <a:ea typeface="JetBrains Mono" pitchFamily="49" charset="-122"/>
                <a:cs typeface="JetBrains Mono" pitchFamily="49" charset="-120"/>
              </a:rPr>
              <a:t>_ReturnsSameNumber</a:t>
            </a:r>
            <a:endParaRPr lang="en-US" sz="2000" dirty="0"/>
          </a:p>
        </p:txBody>
      </p:sp>
      <p:sp>
        <p:nvSpPr>
          <p:cNvPr id="10" name="Text 8"/>
          <p:cNvSpPr/>
          <p:nvPr/>
        </p:nvSpPr>
        <p:spPr>
          <a:xfrm>
            <a:off x="4961596" y="2580642"/>
            <a:ext cx="2537174"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C6C7D"/>
                </a:solidFill>
                <a:latin typeface="IBM Plex Sans" pitchFamily="34" charset="0"/>
                <a:ea typeface="IBM Plex Sans" pitchFamily="34" charset="-122"/>
                <a:cs typeface="IBM Plex Sans" pitchFamily="34" charset="-120"/>
              </a:rPr>
              <a:t>ожидаемый результат</a:t>
            </a:r>
            <a:endParaRPr lang="en-US" sz="1600" dirty="0"/>
          </a:p>
        </p:txBody>
      </p:sp>
      <p:sp>
        <p:nvSpPr>
          <p:cNvPr id="11" name="Shape 9"/>
          <p:cNvSpPr/>
          <p:nvPr/>
        </p:nvSpPr>
        <p:spPr>
          <a:xfrm>
            <a:off x="460375" y="3071496"/>
            <a:ext cx="5543550" cy="3326130"/>
          </a:xfrm>
          <a:prstGeom prst="roundRect">
            <a:avLst>
              <a:gd name="adj" fmla="val 2959"/>
            </a:avLst>
          </a:prstGeom>
          <a:solidFill>
            <a:srgbClr val="F2F5F8"/>
          </a:solidFill>
          <a:ln w="6350">
            <a:solidFill>
              <a:srgbClr val="D3DBE4"/>
            </a:solidFill>
            <a:prstDash val="solid"/>
          </a:ln>
        </p:spPr>
      </p:sp>
      <p:sp>
        <p:nvSpPr>
          <p:cNvPr id="12" name="Text 10"/>
          <p:cNvSpPr/>
          <p:nvPr/>
        </p:nvSpPr>
        <p:spPr>
          <a:xfrm>
            <a:off x="614680" y="32131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B85400"/>
                </a:solidFill>
                <a:latin typeface="IBM Plex Sans" pitchFamily="34" charset="0"/>
                <a:ea typeface="IBM Plex Sans" pitchFamily="34" charset="-122"/>
                <a:cs typeface="IBM Plex Sans" pitchFamily="34" charset="-120"/>
              </a:rPr>
              <a:t>ПЛОХО</a:t>
            </a:r>
            <a:endParaRPr lang="en-US" sz="1500" dirty="0"/>
          </a:p>
        </p:txBody>
      </p:sp>
      <p:sp>
        <p:nvSpPr>
          <p:cNvPr id="13" name="Text 11"/>
          <p:cNvSpPr/>
          <p:nvPr/>
        </p:nvSpPr>
        <p:spPr>
          <a:xfrm>
            <a:off x="614680" y="3556000"/>
            <a:ext cx="5391988" cy="2134949"/>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Test_Single()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 = stringCalculator.Add(</a:t>
            </a:r>
            <a:r>
              <a:rPr lang="en-US" sz="1300" dirty="0">
                <a:solidFill>
                  <a:srgbClr val="A31515"/>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 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
        <p:nvSpPr>
          <p:cNvPr id="14" name="Shape 12"/>
          <p:cNvSpPr/>
          <p:nvPr/>
        </p:nvSpPr>
        <p:spPr>
          <a:xfrm>
            <a:off x="6188075" y="3071496"/>
            <a:ext cx="5543550" cy="3326130"/>
          </a:xfrm>
          <a:prstGeom prst="roundRect">
            <a:avLst>
              <a:gd name="adj" fmla="val 2959"/>
            </a:avLst>
          </a:prstGeom>
          <a:solidFill>
            <a:srgbClr val="F2F5F8"/>
          </a:solidFill>
          <a:ln w="6350">
            <a:solidFill>
              <a:srgbClr val="D3DBE4"/>
            </a:solidFill>
            <a:prstDash val="solid"/>
          </a:ln>
        </p:spPr>
      </p:sp>
      <p:sp>
        <p:nvSpPr>
          <p:cNvPr id="15" name="Text 13"/>
          <p:cNvSpPr/>
          <p:nvPr/>
        </p:nvSpPr>
        <p:spPr>
          <a:xfrm>
            <a:off x="6342380" y="32131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ЛУЧШЕ</a:t>
            </a:r>
            <a:endParaRPr lang="en-US" sz="1500" dirty="0"/>
          </a:p>
        </p:txBody>
      </p:sp>
      <p:sp>
        <p:nvSpPr>
          <p:cNvPr id="16" name="Text 14"/>
          <p:cNvSpPr/>
          <p:nvPr/>
        </p:nvSpPr>
        <p:spPr>
          <a:xfrm>
            <a:off x="6342380" y="3556000"/>
            <a:ext cx="5391988" cy="2134949"/>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Add_SingleNumber_ReturnsSameNumber()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 = stringCalculator.Add(</a:t>
            </a:r>
            <a:r>
              <a:rPr lang="en-US" sz="1300" dirty="0">
                <a:solidFill>
                  <a:srgbClr val="A31515"/>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 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2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Организация тестов: AAA</a:t>
            </a:r>
            <a:endParaRPr lang="en-US" sz="3200" dirty="0"/>
          </a:p>
        </p:txBody>
      </p:sp>
      <p:sp>
        <p:nvSpPr>
          <p:cNvPr id="4" name="Shape 2"/>
          <p:cNvSpPr/>
          <p:nvPr/>
        </p:nvSpPr>
        <p:spPr>
          <a:xfrm>
            <a:off x="457200" y="1488442"/>
            <a:ext cx="3657600" cy="889000"/>
          </a:xfrm>
          <a:prstGeom prst="roundRect">
            <a:avLst>
              <a:gd name="adj" fmla="val 10000"/>
            </a:avLst>
          </a:prstGeom>
          <a:solidFill>
            <a:srgbClr val="EDF1F5"/>
          </a:solidFill>
          <a:ln/>
        </p:spPr>
      </p:sp>
      <p:sp>
        <p:nvSpPr>
          <p:cNvPr id="5" name="Shape 3"/>
          <p:cNvSpPr/>
          <p:nvPr/>
        </p:nvSpPr>
        <p:spPr>
          <a:xfrm>
            <a:off x="457200" y="1488442"/>
            <a:ext cx="3657600" cy="889000"/>
          </a:xfrm>
          <a:custGeom>
            <a:avLst/>
            <a:gdLst/>
            <a:ahLst/>
            <a:cxnLst/>
            <a:rect l="l" t="t" r="r" b="b"/>
            <a:pathLst>
              <a:path w="3657600" h="889000">
                <a:moveTo>
                  <a:pt x="88900" y="889000"/>
                </a:moveTo>
                <a:lnTo>
                  <a:pt x="88900" y="889000"/>
                </a:lnTo>
                <a:arcTo hR="88900" wR="88900" stAng="5400000" swAng="5400000"/>
                <a:lnTo>
                  <a:pt x="0" y="88900"/>
                </a:lnTo>
                <a:arcTo hR="88900" wR="88900" stAng="10800000" swAng="5400000"/>
                <a:lnTo>
                  <a:pt x="88900" y="0"/>
                </a:lnTo>
                <a:arcTo hR="88900" wR="50800" stAng="16200000" swAng="-5400000"/>
                <a:lnTo>
                  <a:pt x="38100" y="800100"/>
                </a:lnTo>
                <a:arcTo hR="88900" wR="50800" stAng="10800000" swAng="-5400000"/>
                <a:close/>
              </a:path>
            </a:pathLst>
          </a:custGeom>
          <a:solidFill>
            <a:srgbClr val="1F5FBF"/>
          </a:solidFill>
          <a:ln/>
        </p:spPr>
      </p:sp>
      <p:sp>
        <p:nvSpPr>
          <p:cNvPr id="6" name="Text 4"/>
          <p:cNvSpPr/>
          <p:nvPr/>
        </p:nvSpPr>
        <p:spPr>
          <a:xfrm>
            <a:off x="645160" y="1602742"/>
            <a:ext cx="3416757"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F5FBF"/>
                </a:solidFill>
                <a:latin typeface="IBM Plex Sans" pitchFamily="34" charset="0"/>
                <a:ea typeface="IBM Plex Sans" pitchFamily="34" charset="-122"/>
                <a:cs typeface="IBM Plex Sans" pitchFamily="34" charset="-120"/>
              </a:rPr>
              <a:t>Arrange</a:t>
            </a:r>
            <a:endParaRPr lang="en-US" sz="1900" dirty="0"/>
          </a:p>
        </p:txBody>
      </p:sp>
      <p:sp>
        <p:nvSpPr>
          <p:cNvPr id="7" name="Text 5"/>
          <p:cNvSpPr/>
          <p:nvPr/>
        </p:nvSpPr>
        <p:spPr>
          <a:xfrm>
            <a:off x="645160" y="1978664"/>
            <a:ext cx="34167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создание и настройка объектов</a:t>
            </a:r>
            <a:endParaRPr lang="en-US" sz="1600" dirty="0"/>
          </a:p>
        </p:txBody>
      </p:sp>
      <p:sp>
        <p:nvSpPr>
          <p:cNvPr id="8" name="Shape 6"/>
          <p:cNvSpPr/>
          <p:nvPr/>
        </p:nvSpPr>
        <p:spPr>
          <a:xfrm>
            <a:off x="4267200" y="1488442"/>
            <a:ext cx="3657600" cy="889000"/>
          </a:xfrm>
          <a:prstGeom prst="roundRect">
            <a:avLst>
              <a:gd name="adj" fmla="val 10000"/>
            </a:avLst>
          </a:prstGeom>
          <a:solidFill>
            <a:srgbClr val="EDF1F5"/>
          </a:solidFill>
          <a:ln/>
        </p:spPr>
      </p:sp>
      <p:sp>
        <p:nvSpPr>
          <p:cNvPr id="9" name="Shape 7"/>
          <p:cNvSpPr/>
          <p:nvPr/>
        </p:nvSpPr>
        <p:spPr>
          <a:xfrm>
            <a:off x="4267200" y="1488442"/>
            <a:ext cx="3657600" cy="889000"/>
          </a:xfrm>
          <a:custGeom>
            <a:avLst/>
            <a:gdLst/>
            <a:ahLst/>
            <a:cxnLst/>
            <a:rect l="l" t="t" r="r" b="b"/>
            <a:pathLst>
              <a:path w="3657600" h="889000">
                <a:moveTo>
                  <a:pt x="88900" y="889000"/>
                </a:moveTo>
                <a:lnTo>
                  <a:pt x="88900" y="889000"/>
                </a:lnTo>
                <a:arcTo hR="88900" wR="88900" stAng="5400000" swAng="5400000"/>
                <a:lnTo>
                  <a:pt x="0" y="88900"/>
                </a:lnTo>
                <a:arcTo hR="88900" wR="88900" stAng="10800000" swAng="5400000"/>
                <a:lnTo>
                  <a:pt x="88900" y="0"/>
                </a:lnTo>
                <a:arcTo hR="88900" wR="50800" stAng="16200000" swAng="-5400000"/>
                <a:lnTo>
                  <a:pt x="38100" y="800100"/>
                </a:lnTo>
                <a:arcTo hR="88900" wR="50800" stAng="10800000" swAng="-5400000"/>
                <a:close/>
              </a:path>
            </a:pathLst>
          </a:custGeom>
          <a:solidFill>
            <a:srgbClr val="B85400"/>
          </a:solidFill>
          <a:ln/>
        </p:spPr>
      </p:sp>
      <p:sp>
        <p:nvSpPr>
          <p:cNvPr id="10" name="Text 8"/>
          <p:cNvSpPr/>
          <p:nvPr/>
        </p:nvSpPr>
        <p:spPr>
          <a:xfrm>
            <a:off x="4455160" y="1602742"/>
            <a:ext cx="3416757"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B85400"/>
                </a:solidFill>
                <a:latin typeface="IBM Plex Sans" pitchFamily="34" charset="0"/>
                <a:ea typeface="IBM Plex Sans" pitchFamily="34" charset="-122"/>
                <a:cs typeface="IBM Plex Sans" pitchFamily="34" charset="-120"/>
              </a:rPr>
              <a:t>Act</a:t>
            </a:r>
            <a:endParaRPr lang="en-US" sz="1900" dirty="0"/>
          </a:p>
        </p:txBody>
      </p:sp>
      <p:sp>
        <p:nvSpPr>
          <p:cNvPr id="11" name="Text 9"/>
          <p:cNvSpPr/>
          <p:nvPr/>
        </p:nvSpPr>
        <p:spPr>
          <a:xfrm>
            <a:off x="4455160" y="1978664"/>
            <a:ext cx="34167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действие над объектом</a:t>
            </a:r>
            <a:endParaRPr lang="en-US" sz="1600" dirty="0"/>
          </a:p>
        </p:txBody>
      </p:sp>
      <p:sp>
        <p:nvSpPr>
          <p:cNvPr id="12" name="Shape 10"/>
          <p:cNvSpPr/>
          <p:nvPr/>
        </p:nvSpPr>
        <p:spPr>
          <a:xfrm>
            <a:off x="8077200" y="1488442"/>
            <a:ext cx="3657600" cy="889000"/>
          </a:xfrm>
          <a:prstGeom prst="roundRect">
            <a:avLst>
              <a:gd name="adj" fmla="val 10000"/>
            </a:avLst>
          </a:prstGeom>
          <a:solidFill>
            <a:srgbClr val="EDF1F5"/>
          </a:solidFill>
          <a:ln/>
        </p:spPr>
      </p:sp>
      <p:sp>
        <p:nvSpPr>
          <p:cNvPr id="13" name="Shape 11"/>
          <p:cNvSpPr/>
          <p:nvPr/>
        </p:nvSpPr>
        <p:spPr>
          <a:xfrm>
            <a:off x="8077200" y="1488442"/>
            <a:ext cx="3657600" cy="889000"/>
          </a:xfrm>
          <a:custGeom>
            <a:avLst/>
            <a:gdLst/>
            <a:ahLst/>
            <a:cxnLst/>
            <a:rect l="l" t="t" r="r" b="b"/>
            <a:pathLst>
              <a:path w="3657600" h="889000">
                <a:moveTo>
                  <a:pt x="88900" y="889000"/>
                </a:moveTo>
                <a:lnTo>
                  <a:pt x="88900" y="889000"/>
                </a:lnTo>
                <a:arcTo hR="88900" wR="88900" stAng="5400000" swAng="5400000"/>
                <a:lnTo>
                  <a:pt x="0" y="88900"/>
                </a:lnTo>
                <a:arcTo hR="88900" wR="88900" stAng="10800000" swAng="5400000"/>
                <a:lnTo>
                  <a:pt x="88900" y="0"/>
                </a:lnTo>
                <a:arcTo hR="88900" wR="50800" stAng="16200000" swAng="-5400000"/>
                <a:lnTo>
                  <a:pt x="38100" y="800100"/>
                </a:lnTo>
                <a:arcTo hR="88900" wR="50800" stAng="10800000" swAng="-5400000"/>
                <a:close/>
              </a:path>
            </a:pathLst>
          </a:custGeom>
          <a:solidFill>
            <a:srgbClr val="1A7F37"/>
          </a:solidFill>
          <a:ln/>
        </p:spPr>
      </p:sp>
      <p:sp>
        <p:nvSpPr>
          <p:cNvPr id="14" name="Text 12"/>
          <p:cNvSpPr/>
          <p:nvPr/>
        </p:nvSpPr>
        <p:spPr>
          <a:xfrm>
            <a:off x="8265160" y="1602742"/>
            <a:ext cx="3416757"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A7F37"/>
                </a:solidFill>
                <a:latin typeface="IBM Plex Sans" pitchFamily="34" charset="0"/>
                <a:ea typeface="IBM Plex Sans" pitchFamily="34" charset="-122"/>
                <a:cs typeface="IBM Plex Sans" pitchFamily="34" charset="-120"/>
              </a:rPr>
              <a:t>Assert</a:t>
            </a:r>
            <a:endParaRPr lang="en-US" sz="1900" dirty="0"/>
          </a:p>
        </p:txBody>
      </p:sp>
      <p:sp>
        <p:nvSpPr>
          <p:cNvPr id="15" name="Text 13"/>
          <p:cNvSpPr/>
          <p:nvPr/>
        </p:nvSpPr>
        <p:spPr>
          <a:xfrm>
            <a:off x="8265160" y="1978664"/>
            <a:ext cx="34167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проверка результата</a:t>
            </a:r>
            <a:endParaRPr lang="en-US" sz="1600" dirty="0"/>
          </a:p>
        </p:txBody>
      </p:sp>
      <p:sp>
        <p:nvSpPr>
          <p:cNvPr id="16" name="Shape 14"/>
          <p:cNvSpPr/>
          <p:nvPr/>
        </p:nvSpPr>
        <p:spPr>
          <a:xfrm>
            <a:off x="460375" y="2583817"/>
            <a:ext cx="5543550" cy="3813810"/>
          </a:xfrm>
          <a:prstGeom prst="roundRect">
            <a:avLst>
              <a:gd name="adj" fmla="val 2581"/>
            </a:avLst>
          </a:prstGeom>
          <a:solidFill>
            <a:srgbClr val="F2F5F8"/>
          </a:solidFill>
          <a:ln w="6350">
            <a:solidFill>
              <a:srgbClr val="D3DBE4"/>
            </a:solidFill>
            <a:prstDash val="solid"/>
          </a:ln>
        </p:spPr>
      </p:sp>
      <p:sp>
        <p:nvSpPr>
          <p:cNvPr id="17" name="Text 15"/>
          <p:cNvSpPr/>
          <p:nvPr/>
        </p:nvSpPr>
        <p:spPr>
          <a:xfrm>
            <a:off x="614680" y="2725421"/>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B85400"/>
                </a:solidFill>
                <a:latin typeface="IBM Plex Sans" pitchFamily="34" charset="0"/>
                <a:ea typeface="IBM Plex Sans" pitchFamily="34" charset="-122"/>
                <a:cs typeface="IBM Plex Sans" pitchFamily="34" charset="-120"/>
              </a:rPr>
              <a:t>ПЛОХО</a:t>
            </a:r>
            <a:endParaRPr lang="en-US" sz="1500" dirty="0"/>
          </a:p>
        </p:txBody>
      </p:sp>
      <p:sp>
        <p:nvSpPr>
          <p:cNvPr id="18" name="Text 16"/>
          <p:cNvSpPr/>
          <p:nvPr/>
        </p:nvSpPr>
        <p:spPr>
          <a:xfrm>
            <a:off x="614680" y="3068321"/>
            <a:ext cx="5391988" cy="2134949"/>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Add_EmptyString_ReturnsZero()</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Arrange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Assert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 stringCalculator.Add(</a:t>
            </a:r>
            <a:r>
              <a:rPr lang="en-US" sz="1300" dirty="0">
                <a:solidFill>
                  <a:srgbClr val="A31515"/>
                </a:solidFill>
                <a:latin typeface="JetBrains Mono" pitchFamily="49" charset="0"/>
                <a:ea typeface="JetBrains Mono" pitchFamily="49" charset="-122"/>
                <a:cs typeface="JetBrains Mono" pitchFamily="49" charset="-120"/>
              </a:rPr>
              <a: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
        <p:nvSpPr>
          <p:cNvPr id="19" name="Shape 17"/>
          <p:cNvSpPr/>
          <p:nvPr/>
        </p:nvSpPr>
        <p:spPr>
          <a:xfrm>
            <a:off x="6188075" y="2583817"/>
            <a:ext cx="5543550" cy="3813810"/>
          </a:xfrm>
          <a:prstGeom prst="roundRect">
            <a:avLst>
              <a:gd name="adj" fmla="val 2581"/>
            </a:avLst>
          </a:prstGeom>
          <a:solidFill>
            <a:srgbClr val="F2F5F8"/>
          </a:solidFill>
          <a:ln w="6350">
            <a:solidFill>
              <a:srgbClr val="D3DBE4"/>
            </a:solidFill>
            <a:prstDash val="solid"/>
          </a:ln>
        </p:spPr>
      </p:sp>
      <p:sp>
        <p:nvSpPr>
          <p:cNvPr id="20" name="Text 18"/>
          <p:cNvSpPr/>
          <p:nvPr/>
        </p:nvSpPr>
        <p:spPr>
          <a:xfrm>
            <a:off x="6342380" y="2725421"/>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ЛУЧШЕ</a:t>
            </a:r>
            <a:endParaRPr lang="en-US" sz="1500" dirty="0"/>
          </a:p>
        </p:txBody>
      </p:sp>
      <p:sp>
        <p:nvSpPr>
          <p:cNvPr id="21" name="Text 19"/>
          <p:cNvSpPr/>
          <p:nvPr/>
        </p:nvSpPr>
        <p:spPr>
          <a:xfrm>
            <a:off x="6342380" y="3068321"/>
            <a:ext cx="5391988" cy="2369344"/>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Add_EmptyString_ReturnsZero()</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Arrange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Act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 = stringCalculator.Add(</a:t>
            </a:r>
            <a:r>
              <a:rPr lang="en-US" sz="1300" dirty="0">
                <a:solidFill>
                  <a:srgbClr val="A31515"/>
                </a:solidFill>
                <a:latin typeface="JetBrains Mono" pitchFamily="49" charset="0"/>
                <a:ea typeface="JetBrains Mono" pitchFamily="49" charset="-122"/>
                <a:cs typeface="JetBrains Mono" pitchFamily="49" charset="-120"/>
              </a:rPr>
              <a: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Assert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 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2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Аналог AAA: Given - When - Then</a:t>
            </a:r>
            <a:endParaRPr lang="en-US" sz="3200" dirty="0"/>
          </a:p>
        </p:txBody>
      </p:sp>
      <p:sp>
        <p:nvSpPr>
          <p:cNvPr id="4" name="Text 2"/>
          <p:cNvSpPr/>
          <p:nvPr/>
        </p:nvSpPr>
        <p:spPr>
          <a:xfrm>
            <a:off x="457200" y="1488442"/>
            <a:ext cx="1161592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Тот же шаблон в терминах BDD (Behavior-Driven Development). Встречается в комментариях и в именах тестов.</a:t>
            </a:r>
            <a:endParaRPr lang="en-US" sz="1800" dirty="0"/>
          </a:p>
        </p:txBody>
      </p:sp>
      <p:sp>
        <p:nvSpPr>
          <p:cNvPr id="5" name="Shape 3"/>
          <p:cNvSpPr/>
          <p:nvPr/>
        </p:nvSpPr>
        <p:spPr>
          <a:xfrm>
            <a:off x="457200" y="2512058"/>
            <a:ext cx="5308600" cy="932180"/>
          </a:xfrm>
          <a:prstGeom prst="roundRect">
            <a:avLst>
              <a:gd name="adj" fmla="val 10899"/>
            </a:avLst>
          </a:prstGeom>
          <a:solidFill>
            <a:srgbClr val="EDF1F5"/>
          </a:solidFill>
          <a:ln/>
        </p:spPr>
      </p:sp>
      <p:sp>
        <p:nvSpPr>
          <p:cNvPr id="6" name="Text 4"/>
          <p:cNvSpPr/>
          <p:nvPr/>
        </p:nvSpPr>
        <p:spPr>
          <a:xfrm>
            <a:off x="635000" y="2818135"/>
            <a:ext cx="11303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C6C7D"/>
                </a:solidFill>
                <a:latin typeface="IBM Plex Sans" pitchFamily="34" charset="0"/>
                <a:ea typeface="IBM Plex Sans" pitchFamily="34" charset="-122"/>
                <a:cs typeface="IBM Plex Sans" pitchFamily="34" charset="-120"/>
              </a:rPr>
              <a:t>Arrange</a:t>
            </a:r>
            <a:endParaRPr lang="en-US" sz="1800" dirty="0"/>
          </a:p>
        </p:txBody>
      </p:sp>
      <p:pic>
        <p:nvPicPr>
          <p:cNvPr id="7" name="Image 0" descr="arrow-right">    </p:cNvPr>
          <p:cNvPicPr>
            <a:picLocks noChangeAspect="1"/>
          </p:cNvPicPr>
          <p:nvPr/>
        </p:nvPicPr>
        <p:blipFill>
          <a:blip r:embed="rId1"/>
          <a:srcRect l="0" r="0" t="0" b="0"/>
          <a:stretch/>
        </p:blipFill>
        <p:spPr>
          <a:xfrm>
            <a:off x="1841500" y="2895600"/>
            <a:ext cx="279400" cy="165100"/>
          </a:xfrm>
          <a:prstGeom prst="rect">
            <a:avLst/>
          </a:prstGeom>
        </p:spPr>
      </p:pic>
      <p:sp>
        <p:nvSpPr>
          <p:cNvPr id="8" name="Text 5"/>
          <p:cNvSpPr/>
          <p:nvPr/>
        </p:nvSpPr>
        <p:spPr>
          <a:xfrm>
            <a:off x="2247900" y="2651758"/>
            <a:ext cx="34403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FBF"/>
                </a:solidFill>
                <a:latin typeface="IBM Plex Sans" pitchFamily="34" charset="0"/>
                <a:ea typeface="IBM Plex Sans" pitchFamily="34" charset="-122"/>
                <a:cs typeface="IBM Plex Sans" pitchFamily="34" charset="-120"/>
              </a:rPr>
              <a:t>Given</a:t>
            </a:r>
            <a:endParaRPr lang="en-US" sz="2000" dirty="0"/>
          </a:p>
        </p:txBody>
      </p:sp>
      <p:sp>
        <p:nvSpPr>
          <p:cNvPr id="9" name="Text 6"/>
          <p:cNvSpPr/>
          <p:nvPr/>
        </p:nvSpPr>
        <p:spPr>
          <a:xfrm>
            <a:off x="2247900" y="3020058"/>
            <a:ext cx="34403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дано: исходное состояние</a:t>
            </a:r>
            <a:endParaRPr lang="en-US" sz="1600" dirty="0"/>
          </a:p>
        </p:txBody>
      </p:sp>
      <p:sp>
        <p:nvSpPr>
          <p:cNvPr id="10" name="Shape 7"/>
          <p:cNvSpPr/>
          <p:nvPr/>
        </p:nvSpPr>
        <p:spPr>
          <a:xfrm>
            <a:off x="457200" y="3596642"/>
            <a:ext cx="5308600" cy="932180"/>
          </a:xfrm>
          <a:prstGeom prst="roundRect">
            <a:avLst>
              <a:gd name="adj" fmla="val 10899"/>
            </a:avLst>
          </a:prstGeom>
          <a:solidFill>
            <a:srgbClr val="EDF1F5"/>
          </a:solidFill>
          <a:ln/>
        </p:spPr>
      </p:sp>
      <p:sp>
        <p:nvSpPr>
          <p:cNvPr id="11" name="Text 8"/>
          <p:cNvSpPr/>
          <p:nvPr/>
        </p:nvSpPr>
        <p:spPr>
          <a:xfrm>
            <a:off x="635000" y="3902708"/>
            <a:ext cx="11303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C6C7D"/>
                </a:solidFill>
                <a:latin typeface="IBM Plex Sans" pitchFamily="34" charset="0"/>
                <a:ea typeface="IBM Plex Sans" pitchFamily="34" charset="-122"/>
                <a:cs typeface="IBM Plex Sans" pitchFamily="34" charset="-120"/>
              </a:rPr>
              <a:t>Act</a:t>
            </a:r>
            <a:endParaRPr lang="en-US" sz="1800" dirty="0"/>
          </a:p>
        </p:txBody>
      </p:sp>
      <p:pic>
        <p:nvPicPr>
          <p:cNvPr id="12" name="Image 1" descr="arrow-right">    </p:cNvPr>
          <p:cNvPicPr>
            <a:picLocks noChangeAspect="1"/>
          </p:cNvPicPr>
          <p:nvPr/>
        </p:nvPicPr>
        <p:blipFill>
          <a:blip r:embed="rId2"/>
          <a:srcRect l="0" r="0" t="0" b="0"/>
          <a:stretch/>
        </p:blipFill>
        <p:spPr>
          <a:xfrm>
            <a:off x="1841500" y="3980185"/>
            <a:ext cx="279400" cy="165100"/>
          </a:xfrm>
          <a:prstGeom prst="rect">
            <a:avLst/>
          </a:prstGeom>
        </p:spPr>
      </p:pic>
      <p:sp>
        <p:nvSpPr>
          <p:cNvPr id="13" name="Text 9"/>
          <p:cNvSpPr/>
          <p:nvPr/>
        </p:nvSpPr>
        <p:spPr>
          <a:xfrm>
            <a:off x="2247900" y="3736342"/>
            <a:ext cx="34403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85400"/>
                </a:solidFill>
                <a:latin typeface="IBM Plex Sans" pitchFamily="34" charset="0"/>
                <a:ea typeface="IBM Plex Sans" pitchFamily="34" charset="-122"/>
                <a:cs typeface="IBM Plex Sans" pitchFamily="34" charset="-120"/>
              </a:rPr>
              <a:t>When</a:t>
            </a:r>
            <a:endParaRPr lang="en-US" sz="2000" dirty="0"/>
          </a:p>
        </p:txBody>
      </p:sp>
      <p:sp>
        <p:nvSpPr>
          <p:cNvPr id="14" name="Text 10"/>
          <p:cNvSpPr/>
          <p:nvPr/>
        </p:nvSpPr>
        <p:spPr>
          <a:xfrm>
            <a:off x="2247900" y="4104642"/>
            <a:ext cx="34403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когда: выполняем действие</a:t>
            </a:r>
            <a:endParaRPr lang="en-US" sz="1600" dirty="0"/>
          </a:p>
        </p:txBody>
      </p:sp>
      <p:sp>
        <p:nvSpPr>
          <p:cNvPr id="15" name="Shape 11"/>
          <p:cNvSpPr/>
          <p:nvPr/>
        </p:nvSpPr>
        <p:spPr>
          <a:xfrm>
            <a:off x="457200" y="4681227"/>
            <a:ext cx="5308600" cy="932180"/>
          </a:xfrm>
          <a:prstGeom prst="roundRect">
            <a:avLst>
              <a:gd name="adj" fmla="val 10899"/>
            </a:avLst>
          </a:prstGeom>
          <a:solidFill>
            <a:srgbClr val="EDF1F5"/>
          </a:solidFill>
          <a:ln/>
        </p:spPr>
      </p:sp>
      <p:sp>
        <p:nvSpPr>
          <p:cNvPr id="16" name="Text 12"/>
          <p:cNvSpPr/>
          <p:nvPr/>
        </p:nvSpPr>
        <p:spPr>
          <a:xfrm>
            <a:off x="635000" y="4987292"/>
            <a:ext cx="11303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C6C7D"/>
                </a:solidFill>
                <a:latin typeface="IBM Plex Sans" pitchFamily="34" charset="0"/>
                <a:ea typeface="IBM Plex Sans" pitchFamily="34" charset="-122"/>
                <a:cs typeface="IBM Plex Sans" pitchFamily="34" charset="-120"/>
              </a:rPr>
              <a:t>Assert</a:t>
            </a:r>
            <a:endParaRPr lang="en-US" sz="1800" dirty="0"/>
          </a:p>
        </p:txBody>
      </p:sp>
      <p:pic>
        <p:nvPicPr>
          <p:cNvPr id="17" name="Image 2" descr="arrow-right">    </p:cNvPr>
          <p:cNvPicPr>
            <a:picLocks noChangeAspect="1"/>
          </p:cNvPicPr>
          <p:nvPr/>
        </p:nvPicPr>
        <p:blipFill>
          <a:blip r:embed="rId3"/>
          <a:srcRect l="0" r="0" t="0" b="0"/>
          <a:stretch/>
        </p:blipFill>
        <p:spPr>
          <a:xfrm>
            <a:off x="1841500" y="5064758"/>
            <a:ext cx="279400" cy="165100"/>
          </a:xfrm>
          <a:prstGeom prst="rect">
            <a:avLst/>
          </a:prstGeom>
        </p:spPr>
      </p:pic>
      <p:sp>
        <p:nvSpPr>
          <p:cNvPr id="18" name="Text 13"/>
          <p:cNvSpPr/>
          <p:nvPr/>
        </p:nvSpPr>
        <p:spPr>
          <a:xfrm>
            <a:off x="2247900" y="4820927"/>
            <a:ext cx="344030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7F37"/>
                </a:solidFill>
                <a:latin typeface="IBM Plex Sans" pitchFamily="34" charset="0"/>
                <a:ea typeface="IBM Plex Sans" pitchFamily="34" charset="-122"/>
                <a:cs typeface="IBM Plex Sans" pitchFamily="34" charset="-120"/>
              </a:rPr>
              <a:t>Then</a:t>
            </a:r>
            <a:endParaRPr lang="en-US" sz="2000" dirty="0"/>
          </a:p>
        </p:txBody>
      </p:sp>
      <p:sp>
        <p:nvSpPr>
          <p:cNvPr id="19" name="Text 14"/>
          <p:cNvSpPr/>
          <p:nvPr/>
        </p:nvSpPr>
        <p:spPr>
          <a:xfrm>
            <a:off x="2247900" y="5189227"/>
            <a:ext cx="34403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тогда: ожидаемый результат</a:t>
            </a:r>
            <a:endParaRPr lang="en-US" sz="1600" dirty="0"/>
          </a:p>
        </p:txBody>
      </p:sp>
      <p:sp>
        <p:nvSpPr>
          <p:cNvPr id="20" name="Text 15"/>
          <p:cNvSpPr/>
          <p:nvPr/>
        </p:nvSpPr>
        <p:spPr>
          <a:xfrm>
            <a:off x="460375" y="5768975"/>
            <a:ext cx="5302250" cy="448310"/>
          </a:xfrm>
          <a:prstGeom prst="roundRect">
            <a:avLst>
              <a:gd name="adj" fmla="val 16289"/>
            </a:avLst>
          </a:prstGeom>
          <a:solidFill>
            <a:srgbClr val="F2F5F8"/>
          </a:solidFill>
          <a:ln w="6350">
            <a:solidFill>
              <a:srgbClr val="D3DBE4"/>
            </a:solidFill>
            <a:prstDash val="solid"/>
          </a:ln>
        </p:spPr>
        <p:txBody>
          <a:bodyPr wrap="square" lIns="107517" tIns="69417" rIns="0" bIns="44017" rtlCol="0" anchor="t">
            <a:normAutofit/>
          </a:bodyPr>
          <a:lstStyle/>
          <a:p>
            <a:pPr algn="l" indent="0" marL="0">
              <a:lnSpc>
                <a:spcPts val="2100"/>
              </a:lnSpc>
              <a:buNone/>
            </a:pPr>
            <a:r>
              <a:rPr lang="en-US" sz="1500" dirty="0">
                <a:solidFill>
                  <a:srgbClr val="13233A"/>
                </a:solidFill>
                <a:latin typeface="JetBrains Mono" pitchFamily="49" charset="0"/>
                <a:ea typeface="JetBrains Mono" pitchFamily="49" charset="-122"/>
                <a:cs typeface="JetBrains Mono" pitchFamily="49" charset="-120"/>
              </a:rPr>
              <a:t>Given_EmptyString_When_Add_Then_Zero</a:t>
            </a:r>
            <a:endParaRPr lang="en-US" sz="1500" dirty="0"/>
          </a:p>
        </p:txBody>
      </p:sp>
      <p:sp>
        <p:nvSpPr>
          <p:cNvPr id="21" name="Text 16"/>
          <p:cNvSpPr/>
          <p:nvPr/>
        </p:nvSpPr>
        <p:spPr>
          <a:xfrm>
            <a:off x="6022975" y="2962597"/>
            <a:ext cx="5708650" cy="2807335"/>
          </a:xfrm>
          <a:prstGeom prst="roundRect">
            <a:avLst>
              <a:gd name="adj" fmla="val 3506"/>
            </a:avLst>
          </a:prstGeom>
          <a:solidFill>
            <a:srgbClr val="F2F5F8"/>
          </a:solidFill>
          <a:ln w="6350">
            <a:solidFill>
              <a:srgbClr val="D3DBE4"/>
            </a:solidFill>
            <a:prstDash val="solid"/>
          </a:ln>
        </p:spPr>
        <p:txBody>
          <a:bodyPr wrap="none" lIns="125477" tIns="112777" rIns="0" bIns="87377" rtlCol="0" anchor="t">
            <a:normAutofit/>
          </a:bodyPr>
          <a:lstStyle/>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1A7F37"/>
                </a:solidFill>
                <a:latin typeface="JetBrains Mono" pitchFamily="49" charset="0"/>
                <a:ea typeface="JetBrains Mono" pitchFamily="49" charset="-122"/>
                <a:cs typeface="JetBrains Mono" pitchFamily="49" charset="-120"/>
              </a:rPr>
              <a:t>Fact</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Add_EmptyString_ReturnsZero()</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6A737D"/>
                </a:solidFill>
                <a:latin typeface="JetBrains Mono" pitchFamily="49" charset="0"/>
                <a:ea typeface="JetBrains Mono" pitchFamily="49" charset="-122"/>
                <a:cs typeface="JetBrains Mono" pitchFamily="49" charset="-120"/>
              </a:rPr>
              <a:t>// Given</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stringCalculator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StringCalculator();</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6A737D"/>
                </a:solidFill>
                <a:latin typeface="JetBrains Mono" pitchFamily="49" charset="0"/>
                <a:ea typeface="JetBrains Mono" pitchFamily="49" charset="-122"/>
                <a:cs typeface="JetBrains Mono" pitchFamily="49" charset="-120"/>
              </a:rPr>
              <a:t>// When</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actual = stringCalculator.Add(</a:t>
            </a:r>
            <a:r>
              <a:rPr lang="en-US" sz="1400" dirty="0">
                <a:solidFill>
                  <a:srgbClr val="A31515"/>
                </a:solidFill>
                <a:latin typeface="JetBrains Mono" pitchFamily="49" charset="0"/>
                <a:ea typeface="JetBrains Mono" pitchFamily="49" charset="-122"/>
                <a:cs typeface="JetBrains Mono" pitchFamily="49" charset="-120"/>
              </a:rPr>
              <a:t>""</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6A737D"/>
                </a:solidFill>
                <a:latin typeface="JetBrains Mono" pitchFamily="49" charset="0"/>
                <a:ea typeface="JetBrains Mono" pitchFamily="49" charset="-122"/>
                <a:cs typeface="JetBrains Mono" pitchFamily="49" charset="-120"/>
              </a:rPr>
              <a:t>// Then</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actual.Should().Be(</a:t>
            </a:r>
            <a:r>
              <a:rPr lang="en-US" sz="1400" dirty="0">
                <a:solidFill>
                  <a:srgbClr val="7A3EC8"/>
                </a:solidFill>
                <a:latin typeface="JetBrains Mono" pitchFamily="49" charset="0"/>
                <a:ea typeface="JetBrains Mono" pitchFamily="49" charset="-122"/>
                <a:cs typeface="JetBrains Mono" pitchFamily="49" charset="-120"/>
              </a:rPr>
              <a:t>0</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3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Minimally passing tests</a:t>
            </a:r>
            <a:endParaRPr lang="en-US" sz="3200" dirty="0"/>
          </a:p>
        </p:txBody>
      </p:sp>
      <p:sp>
        <p:nvSpPr>
          <p:cNvPr id="4" name="Text 2"/>
          <p:cNvSpPr/>
          <p:nvPr/>
        </p:nvSpPr>
        <p:spPr>
          <a:xfrm>
            <a:off x="457200" y="1488442"/>
            <a:ext cx="1161592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Входные данные - максимально простые, ровно чтобы проверить поведение. </a:t>
            </a:r>
            <a:r>
              <a:rPr lang="en-US" sz="1800" dirty="0">
                <a:solidFill>
                  <a:srgbClr val="B85400"/>
                </a:solidFill>
                <a:latin typeface="IBM Plex Sans" pitchFamily="34" charset="0"/>
                <a:ea typeface="IBM Plex Sans" pitchFamily="34" charset="-122"/>
                <a:cs typeface="IBM Plex Sans" pitchFamily="34" charset="-120"/>
              </a:rPr>
              <a:t>Чем сложнее данные, тем выше шанс ошибиться в самом тесте.</a:t>
            </a:r>
            <a:endParaRPr lang="en-US" sz="1800" dirty="0"/>
          </a:p>
        </p:txBody>
      </p:sp>
      <p:sp>
        <p:nvSpPr>
          <p:cNvPr id="5" name="Shape 3"/>
          <p:cNvSpPr/>
          <p:nvPr/>
        </p:nvSpPr>
        <p:spPr>
          <a:xfrm>
            <a:off x="460375" y="2334902"/>
            <a:ext cx="5543550" cy="4062730"/>
          </a:xfrm>
          <a:prstGeom prst="roundRect">
            <a:avLst>
              <a:gd name="adj" fmla="val 2423"/>
            </a:avLst>
          </a:prstGeom>
          <a:solidFill>
            <a:srgbClr val="F2F5F8"/>
          </a:solidFill>
          <a:ln w="6350">
            <a:solidFill>
              <a:srgbClr val="D3DBE4"/>
            </a:solidFill>
            <a:prstDash val="solid"/>
          </a:ln>
        </p:spPr>
      </p:sp>
      <p:sp>
        <p:nvSpPr>
          <p:cNvPr id="6" name="Text 4"/>
          <p:cNvSpPr/>
          <p:nvPr/>
        </p:nvSpPr>
        <p:spPr>
          <a:xfrm>
            <a:off x="614680" y="24765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B85400"/>
                </a:solidFill>
                <a:latin typeface="IBM Plex Sans" pitchFamily="34" charset="0"/>
                <a:ea typeface="IBM Plex Sans" pitchFamily="34" charset="-122"/>
                <a:cs typeface="IBM Plex Sans" pitchFamily="34" charset="-120"/>
              </a:rPr>
              <a:t>ПЛОХО</a:t>
            </a:r>
            <a:endParaRPr lang="en-US" sz="1500" dirty="0"/>
          </a:p>
        </p:txBody>
      </p:sp>
      <p:sp>
        <p:nvSpPr>
          <p:cNvPr id="7" name="Text 5"/>
          <p:cNvSpPr/>
          <p:nvPr/>
        </p:nvSpPr>
        <p:spPr>
          <a:xfrm>
            <a:off x="614680" y="2819400"/>
            <a:ext cx="5391988" cy="2134949"/>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Add_SingleNumber_ReturnsSameNumber()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 = stringCalculator.Add(</a:t>
            </a:r>
            <a:r>
              <a:rPr lang="en-US" sz="1300" dirty="0">
                <a:solidFill>
                  <a:srgbClr val="A31515"/>
                </a:solidFill>
                <a:latin typeface="JetBrains Mono" pitchFamily="49" charset="0"/>
                <a:ea typeface="JetBrains Mono" pitchFamily="49" charset="-122"/>
                <a:cs typeface="JetBrains Mono" pitchFamily="49" charset="-120"/>
              </a:rPr>
              <a:t>"42"</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42</a:t>
            </a:r>
            <a:r>
              <a:rPr lang="en-US" sz="1300" dirty="0">
                <a:solidFill>
                  <a:srgbClr val="1F2933"/>
                </a:solidFill>
                <a:latin typeface="JetBrains Mono" pitchFamily="49" charset="0"/>
                <a:ea typeface="JetBrains Mono" pitchFamily="49" charset="-122"/>
                <a:cs typeface="JetBrains Mono" pitchFamily="49" charset="-120"/>
              </a:rPr>
              <a:t>, 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
        <p:nvSpPr>
          <p:cNvPr id="8" name="Shape 6"/>
          <p:cNvSpPr/>
          <p:nvPr/>
        </p:nvSpPr>
        <p:spPr>
          <a:xfrm>
            <a:off x="6188075" y="2334902"/>
            <a:ext cx="5543550" cy="4062730"/>
          </a:xfrm>
          <a:prstGeom prst="roundRect">
            <a:avLst>
              <a:gd name="adj" fmla="val 2423"/>
            </a:avLst>
          </a:prstGeom>
          <a:solidFill>
            <a:srgbClr val="F2F5F8"/>
          </a:solidFill>
          <a:ln w="6350">
            <a:solidFill>
              <a:srgbClr val="D3DBE4"/>
            </a:solidFill>
            <a:prstDash val="solid"/>
          </a:ln>
        </p:spPr>
      </p:sp>
      <p:sp>
        <p:nvSpPr>
          <p:cNvPr id="9" name="Text 7"/>
          <p:cNvSpPr/>
          <p:nvPr/>
        </p:nvSpPr>
        <p:spPr>
          <a:xfrm>
            <a:off x="6342380" y="24765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ЛУЧШЕ</a:t>
            </a:r>
            <a:endParaRPr lang="en-US" sz="1500" dirty="0"/>
          </a:p>
        </p:txBody>
      </p:sp>
      <p:sp>
        <p:nvSpPr>
          <p:cNvPr id="10" name="Text 8"/>
          <p:cNvSpPr/>
          <p:nvPr/>
        </p:nvSpPr>
        <p:spPr>
          <a:xfrm>
            <a:off x="6342380" y="2819400"/>
            <a:ext cx="5391988" cy="2134949"/>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Add_SingleNumber_ReturnsSameNumber()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 = stringCalculator.Add(</a:t>
            </a:r>
            <a:r>
              <a:rPr lang="en-US" sz="1300" dirty="0">
                <a:solidFill>
                  <a:srgbClr val="A31515"/>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 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4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Избегайте «волшебных» строк</a:t>
            </a:r>
            <a:endParaRPr lang="en-US" sz="3200" dirty="0"/>
          </a:p>
        </p:txBody>
      </p:sp>
      <p:sp>
        <p:nvSpPr>
          <p:cNvPr id="4" name="Text 2"/>
          <p:cNvSpPr/>
          <p:nvPr/>
        </p:nvSpPr>
        <p:spPr>
          <a:xfrm>
            <a:off x="457200" y="1488442"/>
            <a:ext cx="1161592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Именование в тестах не менее важно, чем в рабочем коде: значение должно объяснять, </a:t>
            </a:r>
            <a:r>
              <a:rPr lang="en-US" sz="1800" i="1" dirty="0">
                <a:solidFill>
                  <a:srgbClr val="3A4B5E"/>
                </a:solidFill>
                <a:latin typeface="IBM Plex Sans" pitchFamily="34" charset="0"/>
                <a:ea typeface="IBM Plex Sans" pitchFamily="34" charset="-122"/>
                <a:cs typeface="IBM Plex Sans" pitchFamily="34" charset="-120"/>
              </a:rPr>
              <a:t>почему</a:t>
            </a:r>
            <a:r>
              <a:rPr lang="en-US" sz="1800" dirty="0">
                <a:solidFill>
                  <a:srgbClr val="3A4B5E"/>
                </a:solidFill>
                <a:latin typeface="IBM Plex Sans" pitchFamily="34" charset="0"/>
                <a:ea typeface="IBM Plex Sans" pitchFamily="34" charset="-122"/>
                <a:cs typeface="IBM Plex Sans" pitchFamily="34" charset="-120"/>
              </a:rPr>
              <a:t> оно такое.</a:t>
            </a:r>
            <a:endParaRPr lang="en-US" sz="1800" dirty="0"/>
          </a:p>
        </p:txBody>
      </p:sp>
      <p:sp>
        <p:nvSpPr>
          <p:cNvPr id="5" name="Shape 3"/>
          <p:cNvSpPr/>
          <p:nvPr/>
        </p:nvSpPr>
        <p:spPr>
          <a:xfrm>
            <a:off x="460375" y="2334902"/>
            <a:ext cx="5543550" cy="4062730"/>
          </a:xfrm>
          <a:prstGeom prst="roundRect">
            <a:avLst>
              <a:gd name="adj" fmla="val 2423"/>
            </a:avLst>
          </a:prstGeom>
          <a:solidFill>
            <a:srgbClr val="F2F5F8"/>
          </a:solidFill>
          <a:ln w="6350">
            <a:solidFill>
              <a:srgbClr val="D3DBE4"/>
            </a:solidFill>
            <a:prstDash val="solid"/>
          </a:ln>
        </p:spPr>
      </p:sp>
      <p:sp>
        <p:nvSpPr>
          <p:cNvPr id="6" name="Text 4"/>
          <p:cNvSpPr/>
          <p:nvPr/>
        </p:nvSpPr>
        <p:spPr>
          <a:xfrm>
            <a:off x="614680" y="24765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B85400"/>
                </a:solidFill>
                <a:latin typeface="IBM Plex Sans" pitchFamily="34" charset="0"/>
                <a:ea typeface="IBM Plex Sans" pitchFamily="34" charset="-122"/>
                <a:cs typeface="IBM Plex Sans" pitchFamily="34" charset="-120"/>
              </a:rPr>
              <a:t>ПЛОХО</a:t>
            </a:r>
            <a:endParaRPr lang="en-US" sz="1500" dirty="0"/>
          </a:p>
        </p:txBody>
      </p:sp>
      <p:sp>
        <p:nvSpPr>
          <p:cNvPr id="7" name="Text 5"/>
          <p:cNvSpPr/>
          <p:nvPr/>
        </p:nvSpPr>
        <p:spPr>
          <a:xfrm>
            <a:off x="614680" y="2819400"/>
            <a:ext cx="5391988" cy="2369344"/>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Add_BigNumber_ThrowsException()</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Action actual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 =&gt; stringCalculator.Add(</a:t>
            </a:r>
            <a:r>
              <a:rPr lang="en-US" sz="1300" dirty="0">
                <a:solidFill>
                  <a:srgbClr val="A31515"/>
                </a:solidFill>
                <a:latin typeface="JetBrains Mono" pitchFamily="49" charset="0"/>
                <a:ea typeface="JetBrains Mono" pitchFamily="49" charset="-122"/>
                <a:cs typeface="JetBrains Mono" pitchFamily="49" charset="-120"/>
              </a:rPr>
              <a:t>"1001"</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Assert.Throws&lt;OverflowException&gt;(actual);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
        <p:nvSpPr>
          <p:cNvPr id="8" name="Shape 6"/>
          <p:cNvSpPr/>
          <p:nvPr/>
        </p:nvSpPr>
        <p:spPr>
          <a:xfrm>
            <a:off x="6188075" y="2334902"/>
            <a:ext cx="5543550" cy="4062730"/>
          </a:xfrm>
          <a:prstGeom prst="roundRect">
            <a:avLst>
              <a:gd name="adj" fmla="val 2423"/>
            </a:avLst>
          </a:prstGeom>
          <a:solidFill>
            <a:srgbClr val="F2F5F8"/>
          </a:solidFill>
          <a:ln w="6350">
            <a:solidFill>
              <a:srgbClr val="D3DBE4"/>
            </a:solidFill>
            <a:prstDash val="solid"/>
          </a:ln>
        </p:spPr>
      </p:sp>
      <p:sp>
        <p:nvSpPr>
          <p:cNvPr id="9" name="Text 7"/>
          <p:cNvSpPr/>
          <p:nvPr/>
        </p:nvSpPr>
        <p:spPr>
          <a:xfrm>
            <a:off x="6342380" y="24765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ЛУЧШЕ</a:t>
            </a:r>
            <a:endParaRPr lang="en-US" sz="1500" dirty="0"/>
          </a:p>
        </p:txBody>
      </p:sp>
      <p:sp>
        <p:nvSpPr>
          <p:cNvPr id="10" name="Text 8"/>
          <p:cNvSpPr/>
          <p:nvPr/>
        </p:nvSpPr>
        <p:spPr>
          <a:xfrm>
            <a:off x="6342380" y="2819400"/>
            <a:ext cx="5391988" cy="2603738"/>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Add_MaximumSumResult_ThrowsOverflowException()</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const</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string</a:t>
            </a:r>
            <a:r>
              <a:rPr lang="en-US" sz="1300" dirty="0">
                <a:solidFill>
                  <a:srgbClr val="1F2933"/>
                </a:solidFill>
                <a:latin typeface="JetBrains Mono" pitchFamily="49" charset="0"/>
                <a:ea typeface="JetBrains Mono" pitchFamily="49" charset="-122"/>
                <a:cs typeface="JetBrains Mono" pitchFamily="49" charset="-120"/>
              </a:rPr>
              <a:t> MAX = </a:t>
            </a:r>
            <a:r>
              <a:rPr lang="en-US" sz="1300" dirty="0">
                <a:solidFill>
                  <a:srgbClr val="A31515"/>
                </a:solidFill>
                <a:latin typeface="JetBrains Mono" pitchFamily="49" charset="0"/>
                <a:ea typeface="JetBrains Mono" pitchFamily="49" charset="-122"/>
                <a:cs typeface="JetBrains Mono" pitchFamily="49" charset="-120"/>
              </a:rPr>
              <a:t>"1001"</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Action actual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 =&gt; stringCalculator.Add(MAX);</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Assert.Throws&lt;OverflowException&gt;(actual);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5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Избегайте логики в тестах</a:t>
            </a:r>
            <a:endParaRPr lang="en-US" sz="3200" dirty="0"/>
          </a:p>
        </p:txBody>
      </p:sp>
      <p:sp>
        <p:nvSpPr>
          <p:cNvPr id="4" name="Text 2"/>
          <p:cNvSpPr/>
          <p:nvPr/>
        </p:nvSpPr>
        <p:spPr>
          <a:xfrm>
            <a:off x="457200" y="1488442"/>
            <a:ext cx="11615928"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Никаких </a:t>
            </a:r>
            <a:r>
              <a:rPr lang="en-US" sz="1800" b="1" dirty="0">
                <a:solidFill>
                  <a:srgbClr val="13233A"/>
                </a:solidFill>
                <a:latin typeface="IBM Plex Sans" pitchFamily="34" charset="0"/>
                <a:ea typeface="IBM Plex Sans" pitchFamily="34" charset="-122"/>
                <a:cs typeface="IBM Plex Sans" pitchFamily="34" charset="-120"/>
              </a:rPr>
              <a:t>if, while, for, switch</a:t>
            </a:r>
            <a:r>
              <a:rPr lang="en-US" sz="1800" dirty="0">
                <a:solidFill>
                  <a:srgbClr val="3A4B5E"/>
                </a:solidFill>
                <a:latin typeface="IBM Plex Sans" pitchFamily="34" charset="0"/>
                <a:ea typeface="IBM Plex Sans" pitchFamily="34" charset="-122"/>
                <a:cs typeface="IBM Plex Sans" pitchFamily="34" charset="-120"/>
              </a:rPr>
              <a:t>. Вместо цикла по кейсам - параметризованный тест.</a:t>
            </a:r>
            <a:endParaRPr lang="en-US" sz="1800" dirty="0"/>
          </a:p>
        </p:txBody>
      </p:sp>
      <p:sp>
        <p:nvSpPr>
          <p:cNvPr id="5" name="Shape 3"/>
          <p:cNvSpPr/>
          <p:nvPr/>
        </p:nvSpPr>
        <p:spPr>
          <a:xfrm>
            <a:off x="460375" y="2014860"/>
            <a:ext cx="5543550" cy="4382770"/>
          </a:xfrm>
          <a:prstGeom prst="roundRect">
            <a:avLst>
              <a:gd name="adj" fmla="val 2246"/>
            </a:avLst>
          </a:prstGeom>
          <a:solidFill>
            <a:srgbClr val="F2F5F8"/>
          </a:solidFill>
          <a:ln w="6350">
            <a:solidFill>
              <a:srgbClr val="D3DBE4"/>
            </a:solidFill>
            <a:prstDash val="solid"/>
          </a:ln>
        </p:spPr>
      </p:sp>
      <p:sp>
        <p:nvSpPr>
          <p:cNvPr id="6" name="Text 4"/>
          <p:cNvSpPr/>
          <p:nvPr/>
        </p:nvSpPr>
        <p:spPr>
          <a:xfrm>
            <a:off x="614680" y="2156458"/>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B85400"/>
                </a:solidFill>
                <a:latin typeface="IBM Plex Sans" pitchFamily="34" charset="0"/>
                <a:ea typeface="IBM Plex Sans" pitchFamily="34" charset="-122"/>
                <a:cs typeface="IBM Plex Sans" pitchFamily="34" charset="-120"/>
              </a:rPr>
              <a:t>ПЛОХО</a:t>
            </a:r>
            <a:endParaRPr lang="en-US" sz="1500" dirty="0"/>
          </a:p>
        </p:txBody>
      </p:sp>
      <p:sp>
        <p:nvSpPr>
          <p:cNvPr id="7" name="Text 5"/>
          <p:cNvSpPr/>
          <p:nvPr/>
        </p:nvSpPr>
        <p:spPr>
          <a:xfrm>
            <a:off x="614680" y="2499358"/>
            <a:ext cx="5391988" cy="3406775"/>
          </a:xfrm>
          <a:prstGeom prst="rect">
            <a:avLst/>
          </a:prstGeom>
          <a:noFill/>
          <a:ln/>
        </p:spPr>
        <p:txBody>
          <a:bodyPr wrap="none" lIns="0" tIns="0" rIns="0" bIns="0" rtlCol="0" anchor="t">
            <a:normAutofit/>
          </a:bodyPr>
          <a:lstStyle/>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Fact</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void</a:t>
            </a:r>
            <a:r>
              <a:rPr lang="en-US" sz="1250" dirty="0">
                <a:solidFill>
                  <a:srgbClr val="1F2933"/>
                </a:solidFill>
                <a:latin typeface="JetBrains Mono" pitchFamily="49" charset="0"/>
                <a:ea typeface="JetBrains Mono" pitchFamily="49" charset="-122"/>
                <a:cs typeface="JetBrains Mono" pitchFamily="49" charset="-120"/>
              </a:rPr>
              <a:t> Add_MultipleNumbers_ReturnsCorrectResults()</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stringCalculator = </a:t>
            </a:r>
            <a:r>
              <a:rPr lang="en-US" sz="1250" dirty="0">
                <a:solidFill>
                  <a:srgbClr val="0033B3"/>
                </a:solidFill>
                <a:latin typeface="JetBrains Mono" pitchFamily="49" charset="0"/>
                <a:ea typeface="JetBrains Mono" pitchFamily="49" charset="-122"/>
                <a:cs typeface="JetBrains Mono" pitchFamily="49" charset="-120"/>
              </a:rPr>
              <a:t>new</a:t>
            </a:r>
            <a:r>
              <a:rPr lang="en-US" sz="1250" dirty="0">
                <a:solidFill>
                  <a:srgbClr val="1F2933"/>
                </a:solidFill>
                <a:latin typeface="JetBrains Mono" pitchFamily="49" charset="0"/>
                <a:ea typeface="JetBrains Mono" pitchFamily="49" charset="-122"/>
                <a:cs typeface="JetBrains Mono" pitchFamily="49" charset="-120"/>
              </a:rPr>
              <a:t> StringCalculator();</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expected = </a:t>
            </a:r>
            <a:r>
              <a:rPr lang="en-US" sz="1250" dirty="0">
                <a:solidFill>
                  <a:srgbClr val="7A3EC8"/>
                </a:solidFill>
                <a:latin typeface="JetBrains Mono" pitchFamily="49" charset="0"/>
                <a:ea typeface="JetBrains Mono" pitchFamily="49" charset="-122"/>
                <a:cs typeface="JetBrains Mono" pitchFamily="49" charset="-120"/>
              </a:rPr>
              <a:t>0</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testCases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new</a:t>
            </a:r>
            <a:r>
              <a:rPr lang="en-US" sz="1250" dirty="0">
                <a:solidFill>
                  <a:srgbClr val="1F2933"/>
                </a:solidFill>
                <a:latin typeface="JetBrains Mono" pitchFamily="49" charset="0"/>
                <a:ea typeface="JetBrains Mono" pitchFamily="49" charset="-122"/>
                <a:cs typeface="JetBrains Mono" pitchFamily="49" charset="-120"/>
              </a:rPr>
              <a:t>[] { </a:t>
            </a:r>
            <a:r>
              <a:rPr lang="en-US" sz="1250" dirty="0">
                <a:solidFill>
                  <a:srgbClr val="A31515"/>
                </a:solidFill>
                <a:latin typeface="JetBrains Mono" pitchFamily="49" charset="0"/>
                <a:ea typeface="JetBrains Mono" pitchFamily="49" charset="-122"/>
                <a:cs typeface="JetBrains Mono" pitchFamily="49" charset="-120"/>
              </a:rPr>
              <a:t>"0,0,0"</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A31515"/>
                </a:solidFill>
                <a:latin typeface="JetBrains Mono" pitchFamily="49" charset="0"/>
                <a:ea typeface="JetBrains Mono" pitchFamily="49" charset="-122"/>
                <a:cs typeface="JetBrains Mono" pitchFamily="49" charset="-120"/>
              </a:rPr>
              <a:t>"0,1,2"</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A31515"/>
                </a:solidFill>
                <a:latin typeface="JetBrains Mono" pitchFamily="49" charset="0"/>
                <a:ea typeface="JetBrains Mono" pitchFamily="49" charset="-122"/>
                <a:cs typeface="JetBrains Mono" pitchFamily="49" charset="-120"/>
              </a:rPr>
              <a:t>"1,2,3"</a:t>
            </a: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foreach</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test </a:t>
            </a:r>
            <a:r>
              <a:rPr lang="en-US" sz="1250" dirty="0">
                <a:solidFill>
                  <a:srgbClr val="0033B3"/>
                </a:solidFill>
                <a:latin typeface="JetBrains Mono" pitchFamily="49" charset="0"/>
                <a:ea typeface="JetBrains Mono" pitchFamily="49" charset="-122"/>
                <a:cs typeface="JetBrains Mono" pitchFamily="49" charset="-120"/>
              </a:rPr>
              <a:t>in</a:t>
            </a:r>
            <a:r>
              <a:rPr lang="en-US" sz="1250" dirty="0">
                <a:solidFill>
                  <a:srgbClr val="1F2933"/>
                </a:solidFill>
                <a:latin typeface="JetBrains Mono" pitchFamily="49" charset="0"/>
                <a:ea typeface="JetBrains Mono" pitchFamily="49" charset="-122"/>
                <a:cs typeface="JetBrains Mono" pitchFamily="49" charset="-120"/>
              </a:rPr>
              <a:t> testCases)</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Assert.Equal(expected,</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stringCalculator.Add(test));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expected += </a:t>
            </a:r>
            <a:r>
              <a:rPr lang="en-US" sz="1250" dirty="0">
                <a:solidFill>
                  <a:srgbClr val="7A3EC8"/>
                </a:solidFill>
                <a:latin typeface="JetBrains Mono" pitchFamily="49" charset="0"/>
                <a:ea typeface="JetBrains Mono" pitchFamily="49" charset="-122"/>
                <a:cs typeface="JetBrains Mono" pitchFamily="49" charset="-120"/>
              </a:rPr>
              <a:t>3</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p:txBody>
      </p:sp>
      <p:sp>
        <p:nvSpPr>
          <p:cNvPr id="8" name="Shape 6"/>
          <p:cNvSpPr/>
          <p:nvPr/>
        </p:nvSpPr>
        <p:spPr>
          <a:xfrm>
            <a:off x="6188075" y="2014860"/>
            <a:ext cx="5543550" cy="4382770"/>
          </a:xfrm>
          <a:prstGeom prst="roundRect">
            <a:avLst>
              <a:gd name="adj" fmla="val 2246"/>
            </a:avLst>
          </a:prstGeom>
          <a:solidFill>
            <a:srgbClr val="F2F5F8"/>
          </a:solidFill>
          <a:ln w="6350">
            <a:solidFill>
              <a:srgbClr val="D3DBE4"/>
            </a:solidFill>
            <a:prstDash val="solid"/>
          </a:ln>
        </p:spPr>
      </p:sp>
      <p:sp>
        <p:nvSpPr>
          <p:cNvPr id="9" name="Text 7"/>
          <p:cNvSpPr/>
          <p:nvPr/>
        </p:nvSpPr>
        <p:spPr>
          <a:xfrm>
            <a:off x="6342380" y="2156458"/>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ЛУЧШЕ</a:t>
            </a:r>
            <a:endParaRPr lang="en-US" sz="1500" dirty="0"/>
          </a:p>
        </p:txBody>
      </p:sp>
      <p:sp>
        <p:nvSpPr>
          <p:cNvPr id="10" name="Text 8"/>
          <p:cNvSpPr/>
          <p:nvPr/>
        </p:nvSpPr>
        <p:spPr>
          <a:xfrm>
            <a:off x="6342380" y="2499358"/>
            <a:ext cx="5391988" cy="2955925"/>
          </a:xfrm>
          <a:prstGeom prst="rect">
            <a:avLst/>
          </a:prstGeom>
          <a:noFill/>
          <a:ln/>
        </p:spPr>
        <p:txBody>
          <a:bodyPr wrap="none" lIns="0" tIns="0" rIns="0" bIns="0" rtlCol="0" anchor="t">
            <a:normAutofit/>
          </a:bodyPr>
          <a:lstStyle/>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Theory</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InlineData</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"0,0,0"</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7A3EC8"/>
                </a:solidFill>
                <a:latin typeface="JetBrains Mono" pitchFamily="49" charset="0"/>
                <a:ea typeface="JetBrains Mono" pitchFamily="49" charset="-122"/>
                <a:cs typeface="JetBrains Mono" pitchFamily="49" charset="-120"/>
              </a:rPr>
              <a:t>0</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InlineData</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"0,1,2"</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7A3EC8"/>
                </a:solidFill>
                <a:latin typeface="JetBrains Mono" pitchFamily="49" charset="0"/>
                <a:ea typeface="JetBrains Mono" pitchFamily="49" charset="-122"/>
                <a:cs typeface="JetBrains Mono" pitchFamily="49" charset="-120"/>
              </a:rPr>
              <a:t>3</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InlineData</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"1,2,3"</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7A3EC8"/>
                </a:solidFill>
                <a:latin typeface="JetBrains Mono" pitchFamily="49" charset="0"/>
                <a:ea typeface="JetBrains Mono" pitchFamily="49" charset="-122"/>
                <a:cs typeface="JetBrains Mono" pitchFamily="49" charset="-120"/>
              </a:rPr>
              <a:t>6</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void</a:t>
            </a:r>
            <a:r>
              <a:rPr lang="en-US" sz="1250" dirty="0">
                <a:solidFill>
                  <a:srgbClr val="1F2933"/>
                </a:solidFill>
                <a:latin typeface="JetBrains Mono" pitchFamily="49" charset="0"/>
                <a:ea typeface="JetBrains Mono" pitchFamily="49" charset="-122"/>
                <a:cs typeface="JetBrains Mono" pitchFamily="49" charset="-120"/>
              </a:rPr>
              <a:t> Add_MultipleNumbers_ReturnsSumOfNumbers(</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string</a:t>
            </a:r>
            <a:r>
              <a:rPr lang="en-US" sz="1250" dirty="0">
                <a:solidFill>
                  <a:srgbClr val="1F2933"/>
                </a:solidFill>
                <a:latin typeface="JetBrains Mono" pitchFamily="49" charset="0"/>
                <a:ea typeface="JetBrains Mono" pitchFamily="49" charset="-122"/>
                <a:cs typeface="JetBrains Mono" pitchFamily="49" charset="-120"/>
              </a:rPr>
              <a:t> input, </a:t>
            </a:r>
            <a:r>
              <a:rPr lang="en-US" sz="1250" dirty="0">
                <a:solidFill>
                  <a:srgbClr val="0033B3"/>
                </a:solidFill>
                <a:latin typeface="JetBrains Mono" pitchFamily="49" charset="0"/>
                <a:ea typeface="JetBrains Mono" pitchFamily="49" charset="-122"/>
                <a:cs typeface="JetBrains Mono" pitchFamily="49" charset="-120"/>
              </a:rPr>
              <a:t>int</a:t>
            </a:r>
            <a:r>
              <a:rPr lang="en-US" sz="1250" dirty="0">
                <a:solidFill>
                  <a:srgbClr val="1F2933"/>
                </a:solidFill>
                <a:latin typeface="JetBrains Mono" pitchFamily="49" charset="0"/>
                <a:ea typeface="JetBrains Mono" pitchFamily="49" charset="-122"/>
                <a:cs typeface="JetBrains Mono" pitchFamily="49" charset="-120"/>
              </a:rPr>
              <a:t> expected)</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stringCalculator = </a:t>
            </a:r>
            <a:r>
              <a:rPr lang="en-US" sz="1250" dirty="0">
                <a:solidFill>
                  <a:srgbClr val="0033B3"/>
                </a:solidFill>
                <a:latin typeface="JetBrains Mono" pitchFamily="49" charset="0"/>
                <a:ea typeface="JetBrains Mono" pitchFamily="49" charset="-122"/>
                <a:cs typeface="JetBrains Mono" pitchFamily="49" charset="-120"/>
              </a:rPr>
              <a:t>new</a:t>
            </a:r>
            <a:r>
              <a:rPr lang="en-US" sz="1250" dirty="0">
                <a:solidFill>
                  <a:srgbClr val="1F2933"/>
                </a:solidFill>
                <a:latin typeface="JetBrains Mono" pitchFamily="49" charset="0"/>
                <a:ea typeface="JetBrains Mono" pitchFamily="49" charset="-122"/>
                <a:cs typeface="JetBrains Mono" pitchFamily="49" charset="-120"/>
              </a:rPr>
              <a:t> StringCalculator();</a:t>
            </a:r>
            <a:endParaRPr lang="en-US" sz="1250" dirty="0"/>
          </a:p>
          <a:p>
            <a:pPr algn="l" indent="0" marL="0">
              <a:lnSpc>
                <a:spcPts val="1775"/>
              </a:lnSpc>
              <a:buNone/>
            </a:pP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actual = stringCalculator.Add(input);</a:t>
            </a:r>
            <a:endParaRPr lang="en-US" sz="1250" dirty="0"/>
          </a:p>
          <a:p>
            <a:pPr algn="l" indent="0" marL="0">
              <a:lnSpc>
                <a:spcPts val="1775"/>
              </a:lnSpc>
              <a:buNone/>
            </a:pP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Assert.Equal(expected, actual);</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6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Один тест - один кейс</a:t>
            </a:r>
            <a:endParaRPr lang="en-US" sz="3200" dirty="0"/>
          </a:p>
        </p:txBody>
      </p:sp>
      <p:sp>
        <p:nvSpPr>
          <p:cNvPr id="4" name="Text 2"/>
          <p:cNvSpPr/>
          <p:nvPr/>
        </p:nvSpPr>
        <p:spPr>
          <a:xfrm>
            <a:off x="457200" y="1488442"/>
            <a:ext cx="1161592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Лучше два похожих теста, чем всё в одном: отдельный тест на действие или параметризованный </a:t>
            </a:r>
            <a:r>
              <a:rPr lang="en-US" sz="1800" b="1" dirty="0">
                <a:solidFill>
                  <a:srgbClr val="13233A"/>
                </a:solidFill>
                <a:latin typeface="IBM Plex Sans" pitchFamily="34" charset="0"/>
                <a:ea typeface="IBM Plex Sans" pitchFamily="34" charset="-122"/>
                <a:cs typeface="IBM Plex Sans" pitchFamily="34" charset="-120"/>
              </a:rPr>
              <a:t>[Theory]</a:t>
            </a:r>
            <a:r>
              <a:rPr lang="en-US" sz="1800" dirty="0">
                <a:solidFill>
                  <a:srgbClr val="3A4B5E"/>
                </a:solidFill>
                <a:latin typeface="IBM Plex Sans" pitchFamily="34" charset="0"/>
                <a:ea typeface="IBM Plex Sans" pitchFamily="34" charset="-122"/>
                <a:cs typeface="IBM Plex Sans" pitchFamily="34" charset="-120"/>
              </a:rPr>
              <a:t>.</a:t>
            </a:r>
            <a:endParaRPr lang="en-US" sz="1800" dirty="0"/>
          </a:p>
        </p:txBody>
      </p:sp>
      <p:sp>
        <p:nvSpPr>
          <p:cNvPr id="5" name="Shape 3"/>
          <p:cNvSpPr/>
          <p:nvPr/>
        </p:nvSpPr>
        <p:spPr>
          <a:xfrm>
            <a:off x="460375" y="2334902"/>
            <a:ext cx="5543550" cy="4062730"/>
          </a:xfrm>
          <a:prstGeom prst="roundRect">
            <a:avLst>
              <a:gd name="adj" fmla="val 2423"/>
            </a:avLst>
          </a:prstGeom>
          <a:solidFill>
            <a:srgbClr val="F2F5F8"/>
          </a:solidFill>
          <a:ln w="6350">
            <a:solidFill>
              <a:srgbClr val="D3DBE4"/>
            </a:solidFill>
            <a:prstDash val="solid"/>
          </a:ln>
        </p:spPr>
      </p:sp>
      <p:sp>
        <p:nvSpPr>
          <p:cNvPr id="6" name="Text 4"/>
          <p:cNvSpPr/>
          <p:nvPr/>
        </p:nvSpPr>
        <p:spPr>
          <a:xfrm>
            <a:off x="614680" y="24765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B85400"/>
                </a:solidFill>
                <a:latin typeface="IBM Plex Sans" pitchFamily="34" charset="0"/>
                <a:ea typeface="IBM Plex Sans" pitchFamily="34" charset="-122"/>
                <a:cs typeface="IBM Plex Sans" pitchFamily="34" charset="-120"/>
              </a:rPr>
              <a:t>ПЛОХО</a:t>
            </a:r>
            <a:endParaRPr lang="en-US" sz="1500" dirty="0"/>
          </a:p>
        </p:txBody>
      </p:sp>
      <p:sp>
        <p:nvSpPr>
          <p:cNvPr id="7" name="Text 5"/>
          <p:cNvSpPr/>
          <p:nvPr/>
        </p:nvSpPr>
        <p:spPr>
          <a:xfrm>
            <a:off x="614680" y="2819400"/>
            <a:ext cx="5391988" cy="2603738"/>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Add_EmptyEntries_ShouldBeTreatedAsZero()</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Act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actual1 = stringCalculator.Add(</a:t>
            </a:r>
            <a:r>
              <a:rPr lang="en-US" sz="1300" dirty="0">
                <a:solidFill>
                  <a:srgbClr val="A31515"/>
                </a:solidFill>
                <a:latin typeface="JetBrains Mono" pitchFamily="49" charset="0"/>
                <a:ea typeface="JetBrains Mono" pitchFamily="49" charset="-122"/>
                <a:cs typeface="JetBrains Mono" pitchFamily="49" charset="-120"/>
              </a:rPr>
              <a: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actual2 = stringCalculator.Add(</a:t>
            </a:r>
            <a:r>
              <a:rPr lang="en-US" sz="1300" dirty="0">
                <a:solidFill>
                  <a:srgbClr val="A31515"/>
                </a:solidFill>
                <a:latin typeface="JetBrains Mono" pitchFamily="49" charset="0"/>
                <a:ea typeface="JetBrains Mono" pitchFamily="49" charset="-122"/>
                <a:cs typeface="JetBrains Mono" pitchFamily="49" charset="-120"/>
              </a:rPr>
              <a: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Assert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 actual1);</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 actual2);</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
        <p:nvSpPr>
          <p:cNvPr id="8" name="Shape 6"/>
          <p:cNvSpPr/>
          <p:nvPr/>
        </p:nvSpPr>
        <p:spPr>
          <a:xfrm>
            <a:off x="6188075" y="2334902"/>
            <a:ext cx="5543550" cy="4062730"/>
          </a:xfrm>
          <a:prstGeom prst="roundRect">
            <a:avLst>
              <a:gd name="adj" fmla="val 2423"/>
            </a:avLst>
          </a:prstGeom>
          <a:solidFill>
            <a:srgbClr val="F2F5F8"/>
          </a:solidFill>
          <a:ln w="6350">
            <a:solidFill>
              <a:srgbClr val="D3DBE4"/>
            </a:solidFill>
            <a:prstDash val="solid"/>
          </a:ln>
        </p:spPr>
      </p:sp>
      <p:sp>
        <p:nvSpPr>
          <p:cNvPr id="9" name="Text 7"/>
          <p:cNvSpPr/>
          <p:nvPr/>
        </p:nvSpPr>
        <p:spPr>
          <a:xfrm>
            <a:off x="6342380" y="2476500"/>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ЛУЧШЕ</a:t>
            </a:r>
            <a:endParaRPr lang="en-US" sz="1500" dirty="0"/>
          </a:p>
        </p:txBody>
      </p:sp>
      <p:sp>
        <p:nvSpPr>
          <p:cNvPr id="10" name="Text 8"/>
          <p:cNvSpPr/>
          <p:nvPr/>
        </p:nvSpPr>
        <p:spPr>
          <a:xfrm>
            <a:off x="6342380" y="2819400"/>
            <a:ext cx="5391988" cy="3072527"/>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Theory</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InlineData</a:t>
            </a: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A31515"/>
                </a:solidFill>
                <a:latin typeface="JetBrains Mono" pitchFamily="49" charset="0"/>
                <a:ea typeface="JetBrains Mono" pitchFamily="49" charset="-122"/>
                <a:cs typeface="JetBrains Mono" pitchFamily="49" charset="-120"/>
              </a:rPr>
              <a:t>""</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InlineData</a:t>
            </a: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A31515"/>
                </a:solidFill>
                <a:latin typeface="JetBrains Mono" pitchFamily="49" charset="0"/>
                <a:ea typeface="JetBrains Mono" pitchFamily="49" charset="-122"/>
                <a:cs typeface="JetBrains Mono" pitchFamily="49" charset="-120"/>
              </a:rPr>
              <a:t>","</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Add_EmptyEntries_ShouldBeTreatedAsZero(</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string</a:t>
            </a:r>
            <a:r>
              <a:rPr lang="en-US" sz="1300" dirty="0">
                <a:solidFill>
                  <a:srgbClr val="1F2933"/>
                </a:solidFill>
                <a:latin typeface="JetBrains Mono" pitchFamily="49" charset="0"/>
                <a:ea typeface="JetBrains Mono" pitchFamily="49" charset="-122"/>
                <a:cs typeface="JetBrains Mono" pitchFamily="49" charset="-120"/>
              </a:rPr>
              <a:t> input, </a:t>
            </a:r>
            <a:r>
              <a:rPr lang="en-US" sz="1300" dirty="0">
                <a:solidFill>
                  <a:srgbClr val="0033B3"/>
                </a:solidFill>
                <a:latin typeface="JetBrains Mono" pitchFamily="49" charset="0"/>
                <a:ea typeface="JetBrains Mono" pitchFamily="49" charset="-122"/>
                <a:cs typeface="JetBrains Mono" pitchFamily="49" charset="-120"/>
              </a:rPr>
              <a:t>int</a:t>
            </a:r>
            <a:r>
              <a:rPr lang="en-US" sz="1300" dirty="0">
                <a:solidFill>
                  <a:srgbClr val="1F2933"/>
                </a:solidFill>
                <a:latin typeface="JetBrains Mono" pitchFamily="49" charset="0"/>
                <a:ea typeface="JetBrains Mono" pitchFamily="49" charset="-122"/>
                <a:cs typeface="JetBrains Mono" pitchFamily="49" charset="-120"/>
              </a:rPr>
              <a:t> expected)</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Arrange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stringCalculator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StringCalculator();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Act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actual = stringCalculator.Add(input);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Assert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Assert.Equal(expected, actual);</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21234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7FDB8A"/>
                </a:solidFill>
                <a:latin typeface="IBM Plex Sans" pitchFamily="34" charset="0"/>
                <a:ea typeface="IBM Plex Sans" pitchFamily="34" charset="-122"/>
                <a:cs typeface="IBM Plex Sans" pitchFamily="34" charset="-120"/>
              </a:rPr>
              <a:t>BEST PRACTICE 7 / 8 · ПРИВАТНОЕ - ЧЕРЕЗ ПУБЛИЧНОЕ</a:t>
            </a:r>
            <a:endParaRPr lang="en-US" sz="1600" dirty="0"/>
          </a:p>
        </p:txBody>
      </p:sp>
      <p:sp>
        <p:nvSpPr>
          <p:cNvPr id="3" name="Text 1"/>
          <p:cNvSpPr/>
          <p:nvPr/>
        </p:nvSpPr>
        <p:spPr>
          <a:xfrm>
            <a:off x="812800" y="2661927"/>
            <a:ext cx="10883392" cy="1061720"/>
          </a:xfrm>
          <a:prstGeom prst="rect">
            <a:avLst/>
          </a:prstGeom>
          <a:noFill/>
          <a:ln/>
        </p:spPr>
        <p:txBody>
          <a:bodyPr wrap="square" lIns="0" tIns="0" rIns="0" bIns="0" rtlCol="0" anchor="t">
            <a:normAutofit/>
          </a:bodyPr>
          <a:lstStyle/>
          <a:p>
            <a:pPr algn="l" indent="0" marL="0">
              <a:lnSpc>
                <a:spcPts val="4080"/>
              </a:lnSpc>
              <a:buNone/>
            </a:pPr>
            <a:r>
              <a:rPr lang="en-US" sz="3400" b="1" dirty="0">
                <a:solidFill>
                  <a:srgbClr val="F4F6F8"/>
                </a:solidFill>
                <a:latin typeface="IBM Plex Sans" pitchFamily="34" charset="0"/>
                <a:ea typeface="IBM Plex Sans" pitchFamily="34" charset="-122"/>
                <a:cs typeface="IBM Plex Sans" pitchFamily="34" charset="-120"/>
              </a:rPr>
              <a:t>В большинстве случаев приватный метод тестировать не нужно.</a:t>
            </a:r>
            <a:endParaRPr lang="en-US" sz="3400" dirty="0"/>
          </a:p>
        </p:txBody>
      </p:sp>
      <p:sp>
        <p:nvSpPr>
          <p:cNvPr id="4" name="Text 2"/>
          <p:cNvSpPr/>
          <p:nvPr/>
        </p:nvSpPr>
        <p:spPr>
          <a:xfrm>
            <a:off x="812800" y="3952242"/>
            <a:ext cx="10883392" cy="8077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5E0EA"/>
                </a:solidFill>
                <a:latin typeface="IBM Plex Sans" pitchFamily="34" charset="0"/>
                <a:ea typeface="IBM Plex Sans" pitchFamily="34" charset="-122"/>
                <a:cs typeface="IBM Plex Sans" pitchFamily="34" charset="-120"/>
              </a:rPr>
              <a:t>Важен конечный результат публичного метода, который этот приватный метод вызывает.</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8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Заглушки для статических ссылок</a:t>
            </a:r>
            <a:endParaRPr lang="en-US" sz="3200" dirty="0"/>
          </a:p>
        </p:txBody>
      </p:sp>
      <p:sp>
        <p:nvSpPr>
          <p:cNvPr id="4" name="Text 2"/>
          <p:cNvSpPr/>
          <p:nvPr/>
        </p:nvSpPr>
        <p:spPr>
          <a:xfrm>
            <a:off x="457200" y="1488442"/>
            <a:ext cx="1161592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Тест должен полностью контролировать систему. Статические вызовы вроде </a:t>
            </a:r>
            <a:r>
              <a:rPr lang="en-US" sz="1800" b="1" dirty="0">
                <a:solidFill>
                  <a:srgbClr val="13233A"/>
                </a:solidFill>
                <a:latin typeface="IBM Plex Sans" pitchFamily="34" charset="0"/>
                <a:ea typeface="IBM Plex Sans" pitchFamily="34" charset="-122"/>
                <a:cs typeface="IBM Plex Sans" pitchFamily="34" charset="-120"/>
              </a:rPr>
              <a:t>DateTime.Now</a:t>
            </a:r>
            <a:r>
              <a:rPr lang="en-US" sz="1800" dirty="0">
                <a:solidFill>
                  <a:srgbClr val="3A4B5E"/>
                </a:solidFill>
                <a:latin typeface="IBM Plex Sans" pitchFamily="34" charset="0"/>
                <a:ea typeface="IBM Plex Sans" pitchFamily="34" charset="-122"/>
                <a:cs typeface="IBM Plex Sans" pitchFamily="34" charset="-120"/>
              </a:rPr>
              <a:t> это ломают.</a:t>
            </a:r>
            <a:endParaRPr lang="en-US" sz="1800" dirty="0"/>
          </a:p>
        </p:txBody>
      </p:sp>
      <p:sp>
        <p:nvSpPr>
          <p:cNvPr id="5" name="Text 3"/>
          <p:cNvSpPr/>
          <p:nvPr/>
        </p:nvSpPr>
        <p:spPr>
          <a:xfrm>
            <a:off x="460375" y="2334902"/>
            <a:ext cx="5962650" cy="4062730"/>
          </a:xfrm>
          <a:prstGeom prst="roundRect">
            <a:avLst>
              <a:gd name="adj" fmla="val 2423"/>
            </a:avLst>
          </a:prstGeom>
          <a:solidFill>
            <a:srgbClr val="F2F5F8"/>
          </a:solidFill>
          <a:ln w="6350">
            <a:solidFill>
              <a:srgbClr val="D3DBE4"/>
            </a:solidFill>
            <a:prstDash val="solid"/>
          </a:ln>
        </p:spPr>
        <p:txBody>
          <a:bodyPr wrap="none" lIns="125477" tIns="112777" rIns="0" bIns="112777"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int</a:t>
            </a:r>
            <a:r>
              <a:rPr lang="en-US" sz="1400" dirty="0">
                <a:solidFill>
                  <a:srgbClr val="1F2933"/>
                </a:solidFill>
                <a:latin typeface="JetBrains Mono" pitchFamily="49" charset="0"/>
                <a:ea typeface="JetBrains Mono" pitchFamily="49" charset="-122"/>
                <a:cs typeface="JetBrains Mono" pitchFamily="49" charset="-120"/>
              </a:rPr>
              <a:t> GetDiscountedPrice(</a:t>
            </a:r>
            <a:r>
              <a:rPr lang="en-US" sz="1400" dirty="0">
                <a:solidFill>
                  <a:srgbClr val="0033B3"/>
                </a:solidFill>
                <a:latin typeface="JetBrains Mono" pitchFamily="49" charset="0"/>
                <a:ea typeface="JetBrains Mono" pitchFamily="49" charset="-122"/>
                <a:cs typeface="JetBrains Mono" pitchFamily="49" charset="-120"/>
              </a:rPr>
              <a:t>int</a:t>
            </a:r>
            <a:r>
              <a:rPr lang="en-US" sz="1400" dirty="0">
                <a:solidFill>
                  <a:srgbClr val="1F2933"/>
                </a:solidFill>
                <a:latin typeface="JetBrains Mono" pitchFamily="49" charset="0"/>
                <a:ea typeface="JetBrains Mono" pitchFamily="49" charset="-122"/>
                <a:cs typeface="JetBrains Mono" pitchFamily="49" charset="-120"/>
              </a:rPr>
              <a:t> price)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if</a:t>
            </a:r>
            <a:r>
              <a:rPr lang="en-US" sz="1400" dirty="0">
                <a:solidFill>
                  <a:srgbClr val="1F2933"/>
                </a:solidFill>
                <a:latin typeface="JetBrains Mono" pitchFamily="49" charset="0"/>
                <a:ea typeface="JetBrains Mono" pitchFamily="49" charset="-122"/>
                <a:cs typeface="JetBrains Mono" pitchFamily="49" charset="-120"/>
              </a:rPr>
              <a:t> (DateTime.Now.DayOfWeek == DayOfWeek.Tuesday)</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return</a:t>
            </a:r>
            <a:r>
              <a:rPr lang="en-US" sz="1400" dirty="0">
                <a:solidFill>
                  <a:srgbClr val="1F2933"/>
                </a:solidFill>
                <a:latin typeface="JetBrains Mono" pitchFamily="49" charset="0"/>
                <a:ea typeface="JetBrains Mono" pitchFamily="49" charset="-122"/>
                <a:cs typeface="JetBrains Mono" pitchFamily="49" charset="-120"/>
              </a:rPr>
              <a:t> price / </a:t>
            </a:r>
            <a:r>
              <a:rPr lang="en-US" sz="1400" dirty="0">
                <a:solidFill>
                  <a:srgbClr val="7A3EC8"/>
                </a:solidFill>
                <a:latin typeface="JetBrains Mono" pitchFamily="49" charset="0"/>
                <a:ea typeface="JetBrains Mono" pitchFamily="49" charset="-122"/>
                <a:cs typeface="JetBrains Mono" pitchFamily="49" charset="-120"/>
              </a:rPr>
              <a:t>2</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else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return</a:t>
            </a:r>
            <a:r>
              <a:rPr lang="en-US" sz="1400" dirty="0">
                <a:solidFill>
                  <a:srgbClr val="1F2933"/>
                </a:solidFill>
                <a:latin typeface="JetBrains Mono" pitchFamily="49" charset="0"/>
                <a:ea typeface="JetBrains Mono" pitchFamily="49" charset="-122"/>
                <a:cs typeface="JetBrains Mono" pitchFamily="49" charset="-120"/>
              </a:rPr>
              <a:t> price;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
        <p:nvSpPr>
          <p:cNvPr id="6" name="Shape 4"/>
          <p:cNvSpPr/>
          <p:nvPr/>
        </p:nvSpPr>
        <p:spPr>
          <a:xfrm>
            <a:off x="6629400" y="2331727"/>
            <a:ext cx="5105400" cy="1643380"/>
          </a:xfrm>
          <a:prstGeom prst="roundRect">
            <a:avLst>
              <a:gd name="adj" fmla="val 6182"/>
            </a:avLst>
          </a:prstGeom>
          <a:solidFill>
            <a:srgbClr val="EDF1F5"/>
          </a:solidFill>
          <a:ln/>
        </p:spPr>
      </p:sp>
      <p:sp>
        <p:nvSpPr>
          <p:cNvPr id="7" name="Shape 5"/>
          <p:cNvSpPr/>
          <p:nvPr/>
        </p:nvSpPr>
        <p:spPr>
          <a:xfrm>
            <a:off x="6629400" y="2331727"/>
            <a:ext cx="5105400" cy="1643380"/>
          </a:xfrm>
          <a:custGeom>
            <a:avLst/>
            <a:gdLst/>
            <a:ahLst/>
            <a:cxnLst/>
            <a:rect l="l" t="t" r="r" b="b"/>
            <a:pathLst>
              <a:path w="5105400" h="1643380">
                <a:moveTo>
                  <a:pt x="101600" y="1643380"/>
                </a:moveTo>
                <a:lnTo>
                  <a:pt x="101600" y="1643380"/>
                </a:lnTo>
                <a:arcTo hR="101600" wR="101600" stAng="5400000" swAng="5400000"/>
                <a:lnTo>
                  <a:pt x="0" y="101600"/>
                </a:lnTo>
                <a:arcTo hR="101600" wR="101600" stAng="10800000" swAng="5400000"/>
                <a:lnTo>
                  <a:pt x="101600" y="0"/>
                </a:lnTo>
                <a:arcTo hR="101600" wR="63500" stAng="16200000" swAng="-5400000"/>
                <a:lnTo>
                  <a:pt x="38100" y="1541780"/>
                </a:lnTo>
                <a:arcTo hR="101600" wR="63500" stAng="10800000" swAng="-5400000"/>
                <a:close/>
              </a:path>
            </a:pathLst>
          </a:custGeom>
          <a:solidFill>
            <a:srgbClr val="B85400"/>
          </a:solidFill>
          <a:ln/>
        </p:spPr>
      </p:sp>
      <p:sp>
        <p:nvSpPr>
          <p:cNvPr id="8" name="Text 6"/>
          <p:cNvSpPr/>
          <p:nvPr/>
        </p:nvSpPr>
        <p:spPr>
          <a:xfrm>
            <a:off x="6868160" y="2509527"/>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Проблема</a:t>
            </a:r>
            <a:endParaRPr lang="en-US" sz="2000" dirty="0"/>
          </a:p>
        </p:txBody>
      </p:sp>
      <p:sp>
        <p:nvSpPr>
          <p:cNvPr id="9" name="Text 7"/>
          <p:cNvSpPr/>
          <p:nvPr/>
        </p:nvSpPr>
        <p:spPr>
          <a:xfrm>
            <a:off x="6868160" y="2890527"/>
            <a:ext cx="4803343"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Тест на вторник проходит только по вторникам, тест на остальные дни - во все дни, кроме вторника.</a:t>
            </a:r>
            <a:endParaRPr lang="en-US" sz="1700" dirty="0"/>
          </a:p>
        </p:txBody>
      </p:sp>
      <p:sp>
        <p:nvSpPr>
          <p:cNvPr id="10" name="Shape 8"/>
          <p:cNvSpPr/>
          <p:nvPr/>
        </p:nvSpPr>
        <p:spPr>
          <a:xfrm>
            <a:off x="6629400" y="4127500"/>
            <a:ext cx="5105400" cy="1643380"/>
          </a:xfrm>
          <a:prstGeom prst="roundRect">
            <a:avLst>
              <a:gd name="adj" fmla="val 6182"/>
            </a:avLst>
          </a:prstGeom>
          <a:solidFill>
            <a:srgbClr val="EDF1F5"/>
          </a:solidFill>
          <a:ln/>
        </p:spPr>
      </p:sp>
      <p:sp>
        <p:nvSpPr>
          <p:cNvPr id="11" name="Shape 9"/>
          <p:cNvSpPr/>
          <p:nvPr/>
        </p:nvSpPr>
        <p:spPr>
          <a:xfrm>
            <a:off x="6629400" y="4127500"/>
            <a:ext cx="5105400" cy="1643380"/>
          </a:xfrm>
          <a:custGeom>
            <a:avLst/>
            <a:gdLst/>
            <a:ahLst/>
            <a:cxnLst/>
            <a:rect l="l" t="t" r="r" b="b"/>
            <a:pathLst>
              <a:path w="5105400" h="1643380">
                <a:moveTo>
                  <a:pt x="101600" y="1643380"/>
                </a:moveTo>
                <a:lnTo>
                  <a:pt x="101600" y="1643380"/>
                </a:lnTo>
                <a:arcTo hR="101600" wR="101600" stAng="5400000" swAng="5400000"/>
                <a:lnTo>
                  <a:pt x="0" y="101600"/>
                </a:lnTo>
                <a:arcTo hR="101600" wR="101600" stAng="10800000" swAng="5400000"/>
                <a:lnTo>
                  <a:pt x="101600" y="0"/>
                </a:lnTo>
                <a:arcTo hR="101600" wR="63500" stAng="16200000" swAng="-5400000"/>
                <a:lnTo>
                  <a:pt x="38100" y="1541780"/>
                </a:lnTo>
                <a:arcTo hR="101600" wR="63500" stAng="10800000" swAng="-5400000"/>
                <a:close/>
              </a:path>
            </a:pathLst>
          </a:custGeom>
          <a:solidFill>
            <a:srgbClr val="1A7F37"/>
          </a:solidFill>
          <a:ln/>
        </p:spPr>
      </p:sp>
      <p:sp>
        <p:nvSpPr>
          <p:cNvPr id="12" name="Text 10"/>
          <p:cNvSpPr/>
          <p:nvPr/>
        </p:nvSpPr>
        <p:spPr>
          <a:xfrm>
            <a:off x="6868160" y="430530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Решение</a:t>
            </a:r>
            <a:endParaRPr lang="en-US" sz="2000" dirty="0"/>
          </a:p>
        </p:txBody>
      </p:sp>
      <p:sp>
        <p:nvSpPr>
          <p:cNvPr id="13" name="Text 11"/>
          <p:cNvSpPr/>
          <p:nvPr/>
        </p:nvSpPr>
        <p:spPr>
          <a:xfrm>
            <a:off x="6868160" y="4686300"/>
            <a:ext cx="4803343"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Передавать время в метод снаружи: провайдер или DateTimeOffset вместо DateTime.Now.</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8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Решение: абстракция над временем</a:t>
            </a:r>
            <a:endParaRPr lang="en-US" sz="3200" dirty="0"/>
          </a:p>
        </p:txBody>
      </p:sp>
      <p:sp>
        <p:nvSpPr>
          <p:cNvPr id="4" name="Text 2"/>
          <p:cNvSpPr/>
          <p:nvPr/>
        </p:nvSpPr>
        <p:spPr>
          <a:xfrm>
            <a:off x="460375" y="1491617"/>
            <a:ext cx="7867650" cy="4906010"/>
          </a:xfrm>
          <a:prstGeom prst="roundRect">
            <a:avLst>
              <a:gd name="adj" fmla="val 2006"/>
            </a:avLst>
          </a:prstGeom>
          <a:solidFill>
            <a:srgbClr val="F2F5F8"/>
          </a:solidFill>
          <a:ln w="6350">
            <a:solidFill>
              <a:srgbClr val="D3DBE4"/>
            </a:solidFill>
            <a:prstDash val="solid"/>
          </a:ln>
        </p:spPr>
        <p:txBody>
          <a:bodyPr wrap="none" lIns="125477" tIns="112777" rIns="0" bIns="112777" rtlCol="0" anchor="t">
            <a:normAutofit/>
          </a:bodyPr>
          <a:lstStyle/>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interface</a:t>
            </a:r>
            <a:r>
              <a:rPr lang="en-US" sz="1300" dirty="0">
                <a:solidFill>
                  <a:srgbClr val="1F2933"/>
                </a:solidFill>
                <a:latin typeface="JetBrains Mono" pitchFamily="49" charset="0"/>
                <a:ea typeface="JetBrains Mono" pitchFamily="49" charset="-122"/>
                <a:cs typeface="JetBrains Mono" pitchFamily="49" charset="-120"/>
              </a:rPr>
              <a:t> IDateTimeProvider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DayOfWeek DayOfWeek();</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int</a:t>
            </a:r>
            <a:r>
              <a:rPr lang="en-US" sz="1300" dirty="0">
                <a:solidFill>
                  <a:srgbClr val="1F2933"/>
                </a:solidFill>
                <a:latin typeface="JetBrains Mono" pitchFamily="49" charset="0"/>
                <a:ea typeface="JetBrains Mono" pitchFamily="49" charset="-122"/>
                <a:cs typeface="JetBrains Mono" pitchFamily="49" charset="-120"/>
              </a:rPr>
              <a:t> GetDiscountedPrice(</a:t>
            </a:r>
            <a:r>
              <a:rPr lang="en-US" sz="1300" dirty="0">
                <a:solidFill>
                  <a:srgbClr val="0033B3"/>
                </a:solidFill>
                <a:latin typeface="JetBrains Mono" pitchFamily="49" charset="0"/>
                <a:ea typeface="JetBrains Mono" pitchFamily="49" charset="-122"/>
                <a:cs typeface="JetBrains Mono" pitchFamily="49" charset="-120"/>
              </a:rPr>
              <a:t>int</a:t>
            </a:r>
            <a:r>
              <a:rPr lang="en-US" sz="1300" dirty="0">
                <a:solidFill>
                  <a:srgbClr val="1F2933"/>
                </a:solidFill>
                <a:latin typeface="JetBrains Mono" pitchFamily="49" charset="0"/>
                <a:ea typeface="JetBrains Mono" pitchFamily="49" charset="-122"/>
                <a:cs typeface="JetBrains Mono" pitchFamily="49" charset="-120"/>
              </a:rPr>
              <a:t> price, IDateTimeProvider dateTimeProvider)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if</a:t>
            </a:r>
            <a:r>
              <a:rPr lang="en-US" sz="1300" dirty="0">
                <a:solidFill>
                  <a:srgbClr val="1F2933"/>
                </a:solidFill>
                <a:latin typeface="JetBrains Mono" pitchFamily="49" charset="0"/>
                <a:ea typeface="JetBrains Mono" pitchFamily="49" charset="-122"/>
                <a:cs typeface="JetBrains Mono" pitchFamily="49" charset="-120"/>
              </a:rPr>
              <a:t> (dateTimeProvider.DayOfWeek() == DayOfWeek.Tuesday)</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return</a:t>
            </a:r>
            <a:r>
              <a:rPr lang="en-US" sz="1300" dirty="0">
                <a:solidFill>
                  <a:srgbClr val="1F2933"/>
                </a:solidFill>
                <a:latin typeface="JetBrains Mono" pitchFamily="49" charset="0"/>
                <a:ea typeface="JetBrains Mono" pitchFamily="49" charset="-122"/>
                <a:cs typeface="JetBrains Mono" pitchFamily="49" charset="-120"/>
              </a:rPr>
              <a:t> price / </a:t>
            </a:r>
            <a:r>
              <a:rPr lang="en-US" sz="1300" dirty="0">
                <a:solidFill>
                  <a:srgbClr val="7A3EC8"/>
                </a:solidFill>
                <a:latin typeface="JetBrains Mono" pitchFamily="49" charset="0"/>
                <a:ea typeface="JetBrains Mono" pitchFamily="49" charset="-122"/>
                <a:cs typeface="JetBrains Mono" pitchFamily="49" charset="-120"/>
              </a:rPr>
              <a:t>2</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else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return</a:t>
            </a:r>
            <a:r>
              <a:rPr lang="en-US" sz="1300" dirty="0">
                <a:solidFill>
                  <a:srgbClr val="1F2933"/>
                </a:solidFill>
                <a:latin typeface="JetBrains Mono" pitchFamily="49" charset="0"/>
                <a:ea typeface="JetBrains Mono" pitchFamily="49" charset="-122"/>
                <a:cs typeface="JetBrains Mono" pitchFamily="49" charset="-120"/>
              </a:rPr>
              <a:t> price;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
        <p:nvSpPr>
          <p:cNvPr id="5" name="Shape 3"/>
          <p:cNvSpPr/>
          <p:nvPr/>
        </p:nvSpPr>
        <p:spPr>
          <a:xfrm>
            <a:off x="8534400" y="2225042"/>
            <a:ext cx="3200400" cy="1945640"/>
          </a:xfrm>
          <a:prstGeom prst="roundRect">
            <a:avLst>
              <a:gd name="adj" fmla="val 5222"/>
            </a:avLst>
          </a:prstGeom>
          <a:solidFill>
            <a:srgbClr val="EDF1F5"/>
          </a:solidFill>
          <a:ln/>
        </p:spPr>
      </p:sp>
      <p:sp>
        <p:nvSpPr>
          <p:cNvPr id="6" name="Shape 4"/>
          <p:cNvSpPr/>
          <p:nvPr/>
        </p:nvSpPr>
        <p:spPr>
          <a:xfrm>
            <a:off x="8534400" y="2225042"/>
            <a:ext cx="3200400" cy="1945640"/>
          </a:xfrm>
          <a:custGeom>
            <a:avLst/>
            <a:gdLst/>
            <a:ahLst/>
            <a:cxnLst/>
            <a:rect l="l" t="t" r="r" b="b"/>
            <a:pathLst>
              <a:path w="3200400" h="1945640">
                <a:moveTo>
                  <a:pt x="101600" y="1945640"/>
                </a:moveTo>
                <a:lnTo>
                  <a:pt x="101600" y="1945640"/>
                </a:lnTo>
                <a:arcTo hR="101600" wR="101600" stAng="5400000" swAng="5400000"/>
                <a:lnTo>
                  <a:pt x="0" y="101600"/>
                </a:lnTo>
                <a:arcTo hR="101600" wR="101600" stAng="10800000" swAng="5400000"/>
                <a:lnTo>
                  <a:pt x="101600" y="0"/>
                </a:lnTo>
                <a:arcTo hR="101600" wR="63500" stAng="16200000" swAng="-5400000"/>
                <a:lnTo>
                  <a:pt x="38100" y="1844040"/>
                </a:lnTo>
                <a:arcTo hR="101600" wR="63500" stAng="10800000" swAng="-5400000"/>
                <a:close/>
              </a:path>
            </a:pathLst>
          </a:custGeom>
          <a:solidFill>
            <a:srgbClr val="1A7F37"/>
          </a:solidFill>
          <a:ln/>
        </p:spPr>
      </p:sp>
      <p:sp>
        <p:nvSpPr>
          <p:cNvPr id="7" name="Text 5"/>
          <p:cNvSpPr/>
          <p:nvPr/>
        </p:nvSpPr>
        <p:spPr>
          <a:xfrm>
            <a:off x="8773160" y="2402842"/>
            <a:ext cx="29616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Зависимость снаружи</a:t>
            </a:r>
            <a:endParaRPr lang="en-US" sz="2000" dirty="0"/>
          </a:p>
        </p:txBody>
      </p:sp>
      <p:sp>
        <p:nvSpPr>
          <p:cNvPr id="8" name="Text 6"/>
          <p:cNvSpPr/>
          <p:nvPr/>
        </p:nvSpPr>
        <p:spPr>
          <a:xfrm>
            <a:off x="8773160" y="2783842"/>
            <a:ext cx="2841193" cy="123444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Метод больше не обращается к DateTime.Now - время приходит параметром.</a:t>
            </a:r>
            <a:endParaRPr lang="en-US" sz="1700" dirty="0"/>
          </a:p>
        </p:txBody>
      </p:sp>
      <p:sp>
        <p:nvSpPr>
          <p:cNvPr id="9" name="Shape 7"/>
          <p:cNvSpPr/>
          <p:nvPr/>
        </p:nvSpPr>
        <p:spPr>
          <a:xfrm>
            <a:off x="8534400" y="4323085"/>
            <a:ext cx="3200400" cy="1341120"/>
          </a:xfrm>
          <a:prstGeom prst="roundRect">
            <a:avLst>
              <a:gd name="adj" fmla="val 7576"/>
            </a:avLst>
          </a:prstGeom>
          <a:solidFill>
            <a:srgbClr val="EDF1F5"/>
          </a:solidFill>
          <a:ln/>
        </p:spPr>
      </p:sp>
      <p:sp>
        <p:nvSpPr>
          <p:cNvPr id="10" name="Shape 8"/>
          <p:cNvSpPr/>
          <p:nvPr/>
        </p:nvSpPr>
        <p:spPr>
          <a:xfrm>
            <a:off x="8534400" y="4323085"/>
            <a:ext cx="3200400" cy="1341120"/>
          </a:xfrm>
          <a:custGeom>
            <a:avLst/>
            <a:gdLst/>
            <a:ahLst/>
            <a:cxnLst/>
            <a:rect l="l" t="t" r="r" b="b"/>
            <a:pathLst>
              <a:path w="3200400" h="1341120">
                <a:moveTo>
                  <a:pt x="101600" y="1341120"/>
                </a:moveTo>
                <a:lnTo>
                  <a:pt x="101600" y="1341120"/>
                </a:lnTo>
                <a:arcTo hR="101600" wR="101600" stAng="5400000" swAng="5400000"/>
                <a:lnTo>
                  <a:pt x="0" y="101600"/>
                </a:lnTo>
                <a:arcTo hR="101600" wR="101600" stAng="10800000" swAng="5400000"/>
                <a:lnTo>
                  <a:pt x="101600" y="0"/>
                </a:lnTo>
                <a:arcTo hR="101600" wR="63500" stAng="16200000" swAng="-5400000"/>
                <a:lnTo>
                  <a:pt x="38100" y="1239520"/>
                </a:lnTo>
                <a:arcTo hR="101600" wR="63500" stAng="10800000" swAng="-5400000"/>
                <a:close/>
              </a:path>
            </a:pathLst>
          </a:custGeom>
          <a:solidFill>
            <a:srgbClr val="1F5FBF"/>
          </a:solidFill>
          <a:ln/>
        </p:spPr>
      </p:sp>
      <p:sp>
        <p:nvSpPr>
          <p:cNvPr id="11" name="Text 9"/>
          <p:cNvSpPr/>
          <p:nvPr/>
        </p:nvSpPr>
        <p:spPr>
          <a:xfrm>
            <a:off x="8773160" y="4500885"/>
            <a:ext cx="28411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В тесте</a:t>
            </a:r>
            <a:endParaRPr lang="en-US" sz="2000" dirty="0"/>
          </a:p>
        </p:txBody>
      </p:sp>
      <p:sp>
        <p:nvSpPr>
          <p:cNvPr id="12" name="Text 10"/>
          <p:cNvSpPr/>
          <p:nvPr/>
        </p:nvSpPr>
        <p:spPr>
          <a:xfrm>
            <a:off x="8773160" y="4881885"/>
            <a:ext cx="2841193"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Подставляем заглушку с нужным днём недели.</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BEST PRACTICE 8 / 8</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Тесты с заглушкой (Moq)</a:t>
            </a:r>
            <a:endParaRPr lang="en-US" sz="3200" dirty="0"/>
          </a:p>
        </p:txBody>
      </p:sp>
      <p:sp>
        <p:nvSpPr>
          <p:cNvPr id="4" name="Text 2"/>
          <p:cNvSpPr/>
          <p:nvPr/>
        </p:nvSpPr>
        <p:spPr>
          <a:xfrm>
            <a:off x="460375" y="1491617"/>
            <a:ext cx="11271250" cy="4906010"/>
          </a:xfrm>
          <a:prstGeom prst="roundRect">
            <a:avLst>
              <a:gd name="adj" fmla="val 2006"/>
            </a:avLst>
          </a:prstGeom>
          <a:solidFill>
            <a:srgbClr val="F2F5F8"/>
          </a:solidFill>
          <a:ln w="6350">
            <a:solidFill>
              <a:srgbClr val="D3DBE4"/>
            </a:solidFill>
            <a:prstDash val="solid"/>
          </a:ln>
        </p:spPr>
        <p:txBody>
          <a:bodyPr wrap="none" lIns="125477" tIns="112777" rIns="0" bIns="112777"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GetDiscountedPrice_NotTuesday_ReturnsFullPrice()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priceCalculator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PriceCalculator();</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dateTimeProviderStub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Mock&lt;IDateTimeProvider&gt;();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dateTimeProviderStub.Setup(dtp =&gt; dtp.DayOfWeek()).Returns(DayOfWeek.Monday);</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actual = priceCalculator.GetDiscountedPrice(</a:t>
            </a:r>
            <a:r>
              <a:rPr lang="en-US" sz="1400" dirty="0">
                <a:solidFill>
                  <a:srgbClr val="7A3EC8"/>
                </a:solidFill>
                <a:latin typeface="JetBrains Mono" pitchFamily="49" charset="0"/>
                <a:ea typeface="JetBrains Mono" pitchFamily="49" charset="-122"/>
                <a:cs typeface="JetBrains Mono" pitchFamily="49" charset="-120"/>
              </a:rPr>
              <a:t>2</a:t>
            </a:r>
            <a:r>
              <a:rPr lang="en-US" sz="1400" dirty="0">
                <a:solidFill>
                  <a:srgbClr val="1F2933"/>
                </a:solidFill>
                <a:latin typeface="JetBrains Mono" pitchFamily="49" charset="0"/>
                <a:ea typeface="JetBrains Mono" pitchFamily="49" charset="-122"/>
                <a:cs typeface="JetBrains Mono" pitchFamily="49" charset="-120"/>
              </a:rPr>
              <a:t>, dateTimeProviderStub.Object);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Assert.Equal(</a:t>
            </a:r>
            <a:r>
              <a:rPr lang="en-US" sz="1400" dirty="0">
                <a:solidFill>
                  <a:srgbClr val="7A3EC8"/>
                </a:solidFill>
                <a:latin typeface="JetBrains Mono" pitchFamily="49" charset="0"/>
                <a:ea typeface="JetBrains Mono" pitchFamily="49" charset="-122"/>
                <a:cs typeface="JetBrains Mono" pitchFamily="49" charset="-120"/>
              </a:rPr>
              <a:t>2</a:t>
            </a:r>
            <a:r>
              <a:rPr lang="en-US" sz="1400" dirty="0">
                <a:solidFill>
                  <a:srgbClr val="1F2933"/>
                </a:solidFill>
                <a:latin typeface="JetBrains Mono" pitchFamily="49" charset="0"/>
                <a:ea typeface="JetBrains Mono" pitchFamily="49" charset="-122"/>
                <a:cs typeface="JetBrains Mono" pitchFamily="49" charset="-120"/>
              </a:rPr>
              <a:t>, actual);</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GetDiscountedPrice_OnTuesday_ReturnsHalfPrice()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priceCalculator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PriceCalculator();</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dateTimeProviderStub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Mock&lt;IDateTimeProvider&gt;();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dateTimeProviderStub.Setup(dtp =&gt; dtp.DayOfWeek()).Returns(DayOfWeek.Tuesday);</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actual = priceCalculator.GetDiscountedPrice(</a:t>
            </a:r>
            <a:r>
              <a:rPr lang="en-US" sz="1400" dirty="0">
                <a:solidFill>
                  <a:srgbClr val="7A3EC8"/>
                </a:solidFill>
                <a:latin typeface="JetBrains Mono" pitchFamily="49" charset="0"/>
                <a:ea typeface="JetBrains Mono" pitchFamily="49" charset="-122"/>
                <a:cs typeface="JetBrains Mono" pitchFamily="49" charset="-120"/>
              </a:rPr>
              <a:t>2</a:t>
            </a:r>
            <a:r>
              <a:rPr lang="en-US" sz="1400" dirty="0">
                <a:solidFill>
                  <a:srgbClr val="1F2933"/>
                </a:solidFill>
                <a:latin typeface="JetBrains Mono" pitchFamily="49" charset="0"/>
                <a:ea typeface="JetBrains Mono" pitchFamily="49" charset="-122"/>
                <a:cs typeface="JetBrains Mono" pitchFamily="49" charset="-120"/>
              </a:rPr>
              <a:t>, dateTimeProviderStub.Object);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Assert.Equal(</a:t>
            </a:r>
            <a:r>
              <a:rPr lang="en-US" sz="1400" dirty="0">
                <a:solidFill>
                  <a:srgbClr val="7A3EC8"/>
                </a:solidFill>
                <a:latin typeface="JetBrains Mono" pitchFamily="49" charset="0"/>
                <a:ea typeface="JetBrains Mono" pitchFamily="49" charset="-122"/>
                <a:cs typeface="JetBrains Mono" pitchFamily="49" charset="-120"/>
              </a:rPr>
              <a:t>1</a:t>
            </a:r>
            <a:r>
              <a:rPr lang="en-US" sz="1400" dirty="0">
                <a:solidFill>
                  <a:srgbClr val="1F2933"/>
                </a:solidFill>
                <a:latin typeface="JetBrains Mono" pitchFamily="49" charset="0"/>
                <a:ea typeface="JetBrains Mono" pitchFamily="49" charset="-122"/>
                <a:cs typeface="JetBrains Mono" pitchFamily="49" charset="-120"/>
              </a:rPr>
              <a:t>, actual);</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02 · UNIT-ТЕСТЫ</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Практические советы</a:t>
            </a:r>
            <a:endParaRPr lang="en-US" sz="3200" dirty="0"/>
          </a:p>
        </p:txBody>
      </p:sp>
      <p:sp>
        <p:nvSpPr>
          <p:cNvPr id="4" name="Shape 2"/>
          <p:cNvSpPr/>
          <p:nvPr/>
        </p:nvSpPr>
        <p:spPr>
          <a:xfrm>
            <a:off x="457200" y="1488442"/>
            <a:ext cx="3657600" cy="2531110"/>
          </a:xfrm>
          <a:prstGeom prst="roundRect">
            <a:avLst>
              <a:gd name="adj" fmla="val 4014"/>
            </a:avLst>
          </a:prstGeom>
          <a:solidFill>
            <a:srgbClr val="EDF1F5"/>
          </a:solidFill>
          <a:ln/>
        </p:spPr>
      </p:sp>
      <p:sp>
        <p:nvSpPr>
          <p:cNvPr id="5" name="Shape 3"/>
          <p:cNvSpPr/>
          <p:nvPr/>
        </p:nvSpPr>
        <p:spPr>
          <a:xfrm>
            <a:off x="457200" y="1488442"/>
            <a:ext cx="3657600" cy="2531110"/>
          </a:xfrm>
          <a:custGeom>
            <a:avLst/>
            <a:gdLst/>
            <a:ahLst/>
            <a:cxnLst/>
            <a:rect l="l" t="t" r="r" b="b"/>
            <a:pathLst>
              <a:path w="3657600" h="2531110">
                <a:moveTo>
                  <a:pt x="101600" y="2531110"/>
                </a:moveTo>
                <a:lnTo>
                  <a:pt x="101600" y="2531110"/>
                </a:lnTo>
                <a:arcTo hR="101600" wR="101600" stAng="5400000" swAng="5400000"/>
                <a:lnTo>
                  <a:pt x="0" y="101600"/>
                </a:lnTo>
                <a:arcTo hR="101600" wR="101600" stAng="10800000" swAng="5400000"/>
                <a:lnTo>
                  <a:pt x="101600" y="0"/>
                </a:lnTo>
                <a:arcTo hR="101600" wR="63500" stAng="16200000" swAng="-5400000"/>
                <a:lnTo>
                  <a:pt x="38100" y="2429510"/>
                </a:lnTo>
                <a:arcTo hR="101600" wR="63500" stAng="10800000" swAng="-5400000"/>
                <a:close/>
              </a:path>
            </a:pathLst>
          </a:custGeom>
          <a:solidFill>
            <a:srgbClr val="1A7F37"/>
          </a:solidFill>
          <a:ln/>
        </p:spPr>
      </p:sp>
      <p:sp>
        <p:nvSpPr>
          <p:cNvPr id="6" name="Text 4"/>
          <p:cNvSpPr/>
          <p:nvPr/>
        </p:nvSpPr>
        <p:spPr>
          <a:xfrm>
            <a:off x="695960" y="1666242"/>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Детерминированность</a:t>
            </a:r>
            <a:endParaRPr lang="en-US" sz="2000" dirty="0"/>
          </a:p>
        </p:txBody>
      </p:sp>
      <p:sp>
        <p:nvSpPr>
          <p:cNvPr id="7" name="Text 5"/>
          <p:cNvSpPr/>
          <p:nvPr/>
        </p:nvSpPr>
        <p:spPr>
          <a:xfrm>
            <a:off x="695960" y="2047242"/>
            <a:ext cx="3312109"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Одинаковый результат при каждом запуске - без случайных данных.</a:t>
            </a:r>
            <a:endParaRPr lang="en-US" sz="1700" dirty="0"/>
          </a:p>
        </p:txBody>
      </p:sp>
      <p:sp>
        <p:nvSpPr>
          <p:cNvPr id="8" name="Shape 6"/>
          <p:cNvSpPr/>
          <p:nvPr/>
        </p:nvSpPr>
        <p:spPr>
          <a:xfrm>
            <a:off x="4267200" y="1488442"/>
            <a:ext cx="3657600" cy="2531110"/>
          </a:xfrm>
          <a:prstGeom prst="roundRect">
            <a:avLst>
              <a:gd name="adj" fmla="val 4014"/>
            </a:avLst>
          </a:prstGeom>
          <a:solidFill>
            <a:srgbClr val="EDF1F5"/>
          </a:solidFill>
          <a:ln/>
        </p:spPr>
      </p:sp>
      <p:sp>
        <p:nvSpPr>
          <p:cNvPr id="9" name="Shape 7"/>
          <p:cNvSpPr/>
          <p:nvPr/>
        </p:nvSpPr>
        <p:spPr>
          <a:xfrm>
            <a:off x="4267200" y="1488442"/>
            <a:ext cx="3657600" cy="2531110"/>
          </a:xfrm>
          <a:custGeom>
            <a:avLst/>
            <a:gdLst/>
            <a:ahLst/>
            <a:cxnLst/>
            <a:rect l="l" t="t" r="r" b="b"/>
            <a:pathLst>
              <a:path w="3657600" h="2531110">
                <a:moveTo>
                  <a:pt x="101600" y="2531110"/>
                </a:moveTo>
                <a:lnTo>
                  <a:pt x="101600" y="2531110"/>
                </a:lnTo>
                <a:arcTo hR="101600" wR="101600" stAng="5400000" swAng="5400000"/>
                <a:lnTo>
                  <a:pt x="0" y="101600"/>
                </a:lnTo>
                <a:arcTo hR="101600" wR="101600" stAng="10800000" swAng="5400000"/>
                <a:lnTo>
                  <a:pt x="101600" y="0"/>
                </a:lnTo>
                <a:arcTo hR="101600" wR="63500" stAng="16200000" swAng="-5400000"/>
                <a:lnTo>
                  <a:pt x="38100" y="2429510"/>
                </a:lnTo>
                <a:arcTo hR="101600" wR="63500" stAng="10800000" swAng="-5400000"/>
                <a:close/>
              </a:path>
            </a:pathLst>
          </a:custGeom>
          <a:solidFill>
            <a:srgbClr val="B85400"/>
          </a:solidFill>
          <a:ln/>
        </p:spPr>
      </p:sp>
      <p:sp>
        <p:nvSpPr>
          <p:cNvPr id="10" name="Text 8"/>
          <p:cNvSpPr/>
          <p:nvPr/>
        </p:nvSpPr>
        <p:spPr>
          <a:xfrm>
            <a:off x="4505960" y="1666242"/>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Покрытие ≠ качество</a:t>
            </a:r>
            <a:endParaRPr lang="en-US" sz="2000" dirty="0"/>
          </a:p>
        </p:txBody>
      </p:sp>
      <p:sp>
        <p:nvSpPr>
          <p:cNvPr id="11" name="Text 9"/>
          <p:cNvSpPr/>
          <p:nvPr/>
        </p:nvSpPr>
        <p:spPr>
          <a:xfrm>
            <a:off x="4505960" y="2047242"/>
            <a:ext cx="33121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Высокий процент покрытия не говорит о качестве кода.</a:t>
            </a:r>
            <a:endParaRPr lang="en-US" sz="1700" dirty="0"/>
          </a:p>
        </p:txBody>
      </p:sp>
      <p:sp>
        <p:nvSpPr>
          <p:cNvPr id="12" name="Shape 10"/>
          <p:cNvSpPr/>
          <p:nvPr/>
        </p:nvSpPr>
        <p:spPr>
          <a:xfrm>
            <a:off x="8077200" y="1488442"/>
            <a:ext cx="3657600" cy="2531110"/>
          </a:xfrm>
          <a:prstGeom prst="roundRect">
            <a:avLst>
              <a:gd name="adj" fmla="val 4014"/>
            </a:avLst>
          </a:prstGeom>
          <a:solidFill>
            <a:srgbClr val="EDF1F5"/>
          </a:solidFill>
          <a:ln/>
        </p:spPr>
      </p:sp>
      <p:sp>
        <p:nvSpPr>
          <p:cNvPr id="13" name="Shape 11"/>
          <p:cNvSpPr/>
          <p:nvPr/>
        </p:nvSpPr>
        <p:spPr>
          <a:xfrm>
            <a:off x="8077200" y="1488442"/>
            <a:ext cx="3657600" cy="2531110"/>
          </a:xfrm>
          <a:custGeom>
            <a:avLst/>
            <a:gdLst/>
            <a:ahLst/>
            <a:cxnLst/>
            <a:rect l="l" t="t" r="r" b="b"/>
            <a:pathLst>
              <a:path w="3657600" h="2531110">
                <a:moveTo>
                  <a:pt x="101600" y="2531110"/>
                </a:moveTo>
                <a:lnTo>
                  <a:pt x="101600" y="2531110"/>
                </a:lnTo>
                <a:arcTo hR="101600" wR="101600" stAng="5400000" swAng="5400000"/>
                <a:lnTo>
                  <a:pt x="0" y="101600"/>
                </a:lnTo>
                <a:arcTo hR="101600" wR="101600" stAng="10800000" swAng="5400000"/>
                <a:lnTo>
                  <a:pt x="101600" y="0"/>
                </a:lnTo>
                <a:arcTo hR="101600" wR="63500" stAng="16200000" swAng="-5400000"/>
                <a:lnTo>
                  <a:pt x="38100" y="2429510"/>
                </a:lnTo>
                <a:arcTo hR="101600" wR="63500" stAng="10800000" swAng="-5400000"/>
                <a:close/>
              </a:path>
            </a:pathLst>
          </a:custGeom>
          <a:solidFill>
            <a:srgbClr val="1F5FBF"/>
          </a:solidFill>
          <a:ln/>
        </p:spPr>
      </p:sp>
      <p:sp>
        <p:nvSpPr>
          <p:cNvPr id="14" name="Text 12"/>
          <p:cNvSpPr/>
          <p:nvPr/>
        </p:nvSpPr>
        <p:spPr>
          <a:xfrm>
            <a:off x="8315960" y="1666242"/>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Длинные имена - ок</a:t>
            </a:r>
            <a:endParaRPr lang="en-US" sz="2000" dirty="0"/>
          </a:p>
        </p:txBody>
      </p:sp>
      <p:sp>
        <p:nvSpPr>
          <p:cNvPr id="15" name="Text 13"/>
          <p:cNvSpPr/>
          <p:nvPr/>
        </p:nvSpPr>
        <p:spPr>
          <a:xfrm>
            <a:off x="8315960" y="2047242"/>
            <a:ext cx="33121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Главное, чтобы имя отражало проверяемый сценарий.</a:t>
            </a:r>
            <a:endParaRPr lang="en-US" sz="1700" dirty="0"/>
          </a:p>
        </p:txBody>
      </p:sp>
      <p:sp>
        <p:nvSpPr>
          <p:cNvPr id="16" name="Shape 14"/>
          <p:cNvSpPr/>
          <p:nvPr/>
        </p:nvSpPr>
        <p:spPr>
          <a:xfrm>
            <a:off x="457200" y="4171950"/>
            <a:ext cx="3657600" cy="2228850"/>
          </a:xfrm>
          <a:prstGeom prst="roundRect">
            <a:avLst>
              <a:gd name="adj" fmla="val 4558"/>
            </a:avLst>
          </a:prstGeom>
          <a:solidFill>
            <a:srgbClr val="EDF1F5"/>
          </a:solidFill>
          <a:ln/>
        </p:spPr>
      </p:sp>
      <p:sp>
        <p:nvSpPr>
          <p:cNvPr id="17" name="Shape 15"/>
          <p:cNvSpPr/>
          <p:nvPr/>
        </p:nvSpPr>
        <p:spPr>
          <a:xfrm>
            <a:off x="457200" y="4171950"/>
            <a:ext cx="3657600" cy="2228850"/>
          </a:xfrm>
          <a:custGeom>
            <a:avLst/>
            <a:gdLst/>
            <a:ahLst/>
            <a:cxnLst/>
            <a:rect l="l" t="t" r="r" b="b"/>
            <a:pathLst>
              <a:path w="3657600" h="2228850">
                <a:moveTo>
                  <a:pt x="101600" y="2228850"/>
                </a:moveTo>
                <a:lnTo>
                  <a:pt x="101600" y="2228850"/>
                </a:lnTo>
                <a:arcTo hR="101600" wR="101600" stAng="5400000" swAng="5400000"/>
                <a:lnTo>
                  <a:pt x="0" y="101600"/>
                </a:lnTo>
                <a:arcTo hR="101600" wR="101600" stAng="10800000" swAng="5400000"/>
                <a:lnTo>
                  <a:pt x="101600" y="0"/>
                </a:lnTo>
                <a:arcTo hR="101600" wR="63500" stAng="16200000" swAng="-5400000"/>
                <a:lnTo>
                  <a:pt x="38100" y="2127250"/>
                </a:lnTo>
                <a:arcTo hR="101600" wR="63500" stAng="10800000" swAng="-5400000"/>
                <a:close/>
              </a:path>
            </a:pathLst>
          </a:custGeom>
          <a:solidFill>
            <a:srgbClr val="1A7F37"/>
          </a:solidFill>
          <a:ln/>
        </p:spPr>
      </p:sp>
      <p:sp>
        <p:nvSpPr>
          <p:cNvPr id="18" name="Text 16"/>
          <p:cNvSpPr/>
          <p:nvPr/>
        </p:nvSpPr>
        <p:spPr>
          <a:xfrm>
            <a:off x="695960" y="4349750"/>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Что тестировать</a:t>
            </a:r>
            <a:endParaRPr lang="en-US" sz="2000" dirty="0"/>
          </a:p>
        </p:txBody>
      </p:sp>
      <p:sp>
        <p:nvSpPr>
          <p:cNvPr id="19" name="Text 17"/>
          <p:cNvSpPr/>
          <p:nvPr/>
        </p:nvSpPr>
        <p:spPr>
          <a:xfrm>
            <a:off x="695960" y="4730750"/>
            <a:ext cx="33121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Прежде всего бизнес-логику. БД unit-тестами не проверяют.</a:t>
            </a:r>
            <a:endParaRPr lang="en-US" sz="1700" dirty="0"/>
          </a:p>
        </p:txBody>
      </p:sp>
      <p:sp>
        <p:nvSpPr>
          <p:cNvPr id="20" name="Shape 18"/>
          <p:cNvSpPr/>
          <p:nvPr/>
        </p:nvSpPr>
        <p:spPr>
          <a:xfrm>
            <a:off x="4267200" y="4171950"/>
            <a:ext cx="3657600" cy="2228850"/>
          </a:xfrm>
          <a:prstGeom prst="roundRect">
            <a:avLst>
              <a:gd name="adj" fmla="val 4558"/>
            </a:avLst>
          </a:prstGeom>
          <a:solidFill>
            <a:srgbClr val="EDF1F5"/>
          </a:solidFill>
          <a:ln/>
        </p:spPr>
      </p:sp>
      <p:sp>
        <p:nvSpPr>
          <p:cNvPr id="21" name="Shape 19"/>
          <p:cNvSpPr/>
          <p:nvPr/>
        </p:nvSpPr>
        <p:spPr>
          <a:xfrm>
            <a:off x="4267200" y="4171950"/>
            <a:ext cx="3657600" cy="2228850"/>
          </a:xfrm>
          <a:custGeom>
            <a:avLst/>
            <a:gdLst/>
            <a:ahLst/>
            <a:cxnLst/>
            <a:rect l="l" t="t" r="r" b="b"/>
            <a:pathLst>
              <a:path w="3657600" h="2228850">
                <a:moveTo>
                  <a:pt x="101600" y="2228850"/>
                </a:moveTo>
                <a:lnTo>
                  <a:pt x="101600" y="2228850"/>
                </a:lnTo>
                <a:arcTo hR="101600" wR="101600" stAng="5400000" swAng="5400000"/>
                <a:lnTo>
                  <a:pt x="0" y="101600"/>
                </a:lnTo>
                <a:arcTo hR="101600" wR="101600" stAng="10800000" swAng="5400000"/>
                <a:lnTo>
                  <a:pt x="101600" y="0"/>
                </a:lnTo>
                <a:arcTo hR="101600" wR="63500" stAng="16200000" swAng="-5400000"/>
                <a:lnTo>
                  <a:pt x="38100" y="2127250"/>
                </a:lnTo>
                <a:arcTo hR="101600" wR="63500" stAng="10800000" swAng="-5400000"/>
                <a:close/>
              </a:path>
            </a:pathLst>
          </a:custGeom>
          <a:solidFill>
            <a:srgbClr val="1F5FBF"/>
          </a:solidFill>
          <a:ln/>
        </p:spPr>
      </p:sp>
      <p:sp>
        <p:nvSpPr>
          <p:cNvPr id="22" name="Text 20"/>
          <p:cNvSpPr/>
          <p:nvPr/>
        </p:nvSpPr>
        <p:spPr>
          <a:xfrm>
            <a:off x="4505960" y="4349750"/>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Асинхронный код</a:t>
            </a:r>
            <a:endParaRPr lang="en-US" sz="2000" dirty="0"/>
          </a:p>
        </p:txBody>
      </p:sp>
      <p:sp>
        <p:nvSpPr>
          <p:cNvPr id="23" name="Text 21"/>
          <p:cNvSpPr/>
          <p:nvPr/>
        </p:nvSpPr>
        <p:spPr>
          <a:xfrm>
            <a:off x="4505960" y="4730750"/>
            <a:ext cx="33121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Почти как синхронный: ReturnsAsync вместо Returns.</a:t>
            </a:r>
            <a:endParaRPr lang="en-US" sz="1700" dirty="0"/>
          </a:p>
        </p:txBody>
      </p:sp>
      <p:sp>
        <p:nvSpPr>
          <p:cNvPr id="24" name="Shape 22"/>
          <p:cNvSpPr/>
          <p:nvPr/>
        </p:nvSpPr>
        <p:spPr>
          <a:xfrm>
            <a:off x="8077200" y="4171950"/>
            <a:ext cx="3657600" cy="2228850"/>
          </a:xfrm>
          <a:prstGeom prst="roundRect">
            <a:avLst>
              <a:gd name="adj" fmla="val 4558"/>
            </a:avLst>
          </a:prstGeom>
          <a:solidFill>
            <a:srgbClr val="EDF1F5"/>
          </a:solidFill>
          <a:ln/>
        </p:spPr>
      </p:sp>
      <p:sp>
        <p:nvSpPr>
          <p:cNvPr id="25" name="Shape 23"/>
          <p:cNvSpPr/>
          <p:nvPr/>
        </p:nvSpPr>
        <p:spPr>
          <a:xfrm>
            <a:off x="8077200" y="4171950"/>
            <a:ext cx="3657600" cy="2228850"/>
          </a:xfrm>
          <a:custGeom>
            <a:avLst/>
            <a:gdLst/>
            <a:ahLst/>
            <a:cxnLst/>
            <a:rect l="l" t="t" r="r" b="b"/>
            <a:pathLst>
              <a:path w="3657600" h="2228850">
                <a:moveTo>
                  <a:pt x="101600" y="2228850"/>
                </a:moveTo>
                <a:lnTo>
                  <a:pt x="101600" y="2228850"/>
                </a:lnTo>
                <a:arcTo hR="101600" wR="101600" stAng="5400000" swAng="5400000"/>
                <a:lnTo>
                  <a:pt x="0" y="101600"/>
                </a:lnTo>
                <a:arcTo hR="101600" wR="101600" stAng="10800000" swAng="5400000"/>
                <a:lnTo>
                  <a:pt x="101600" y="0"/>
                </a:lnTo>
                <a:arcTo hR="101600" wR="63500" stAng="16200000" swAng="-5400000"/>
                <a:lnTo>
                  <a:pt x="38100" y="2127250"/>
                </a:lnTo>
                <a:arcTo hR="101600" wR="63500" stAng="10800000" swAng="-5400000"/>
                <a:close/>
              </a:path>
            </a:pathLst>
          </a:custGeom>
          <a:solidFill>
            <a:srgbClr val="B85400"/>
          </a:solidFill>
          <a:ln/>
        </p:spPr>
      </p:sp>
      <p:sp>
        <p:nvSpPr>
          <p:cNvPr id="26" name="Text 24"/>
          <p:cNvSpPr/>
          <p:nvPr/>
        </p:nvSpPr>
        <p:spPr>
          <a:xfrm>
            <a:off x="8315960" y="4349750"/>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Тесты улучшают дизайн</a:t>
            </a:r>
            <a:endParaRPr lang="en-US" sz="2000" dirty="0"/>
          </a:p>
        </p:txBody>
      </p:sp>
      <p:sp>
        <p:nvSpPr>
          <p:cNvPr id="27" name="Text 25"/>
          <p:cNvSpPr/>
          <p:nvPr/>
        </p:nvSpPr>
        <p:spPr>
          <a:xfrm>
            <a:off x="8315960" y="4730750"/>
            <a:ext cx="33121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Неудобно тестировать - повод пересмотреть абстракции.</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nvSpPr>
        <p:spPr>
          <a:xfrm>
            <a:off x="812800" y="2476500"/>
            <a:ext cx="2621375" cy="1930400"/>
          </a:xfrm>
          <a:prstGeom prst="rect">
            <a:avLst/>
          </a:prstGeom>
          <a:noFill/>
          <a:ln/>
        </p:spPr>
        <p:txBody>
          <a:bodyPr wrap="square" lIns="0" tIns="0" rIns="0" bIns="0" rtlCol="0" anchor="t">
            <a:normAutofit/>
          </a:bodyPr>
          <a:lstStyle/>
          <a:p>
            <a:pPr algn="l" indent="0" marL="0">
              <a:lnSpc>
                <a:spcPts val="15000"/>
              </a:lnSpc>
              <a:buNone/>
            </a:pPr>
            <a:r>
              <a:rPr lang="en-US" sz="15000" spc="-400" kern="0" dirty="0">
                <a:solidFill>
                  <a:srgbClr val="1A7F37"/>
                </a:solidFill>
                <a:latin typeface="IBM Plex Sans" pitchFamily="34" charset="0"/>
                <a:ea typeface="IBM Plex Sans" pitchFamily="34" charset="-122"/>
                <a:cs typeface="IBM Plex Sans" pitchFamily="34" charset="-120"/>
              </a:rPr>
              <a:t>03</a:t>
            </a:r>
            <a:endParaRPr lang="en-US" sz="15000" dirty="0"/>
          </a:p>
        </p:txBody>
      </p:sp>
      <p:sp>
        <p:nvSpPr>
          <p:cNvPr id="4" name="Text 2"/>
          <p:cNvSpPr/>
          <p:nvPr>
            <p:ph type="title"/>
          </p:nvPr>
        </p:nvSpPr>
        <p:spPr>
          <a:xfrm>
            <a:off x="3454479" y="2867658"/>
            <a:ext cx="8011131"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3233A"/>
                </a:solidFill>
                <a:latin typeface="IBM Plex Sans" pitchFamily="34" charset="0"/>
                <a:ea typeface="IBM Plex Sans" pitchFamily="34" charset="-122"/>
                <a:cs typeface="IBM Plex Sans" pitchFamily="34" charset="-120"/>
              </a:rPr>
              <a:t>Test-Driven Development</a:t>
            </a:r>
            <a:endParaRPr lang="en-US" sz="4800" dirty="0"/>
          </a:p>
        </p:txBody>
      </p:sp>
      <p:sp>
        <p:nvSpPr>
          <p:cNvPr id="5" name="Text 3"/>
          <p:cNvSpPr/>
          <p:nvPr/>
        </p:nvSpPr>
        <p:spPr>
          <a:xfrm>
            <a:off x="3454479" y="3634742"/>
            <a:ext cx="8737521"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C6C7D"/>
                </a:solidFill>
                <a:latin typeface="IBM Plex Sans" pitchFamily="34" charset="0"/>
                <a:ea typeface="IBM Plex Sans" pitchFamily="34" charset="-122"/>
                <a:cs typeface="IBM Plex Sans" pitchFamily="34" charset="-120"/>
              </a:rPr>
              <a:t>Разработка через тестирование: цикл, процесс, плюсы и минусы</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03 · TDD</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TDD</a:t>
            </a:r>
            <a:endParaRPr lang="en-US" sz="3200" dirty="0"/>
          </a:p>
        </p:txBody>
      </p:sp>
      <p:sp>
        <p:nvSpPr>
          <p:cNvPr id="4" name="Text 2"/>
          <p:cNvSpPr/>
          <p:nvPr/>
        </p:nvSpPr>
        <p:spPr>
          <a:xfrm>
            <a:off x="457200" y="2934655"/>
            <a:ext cx="6775958" cy="745490"/>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13233A"/>
                </a:solidFill>
                <a:latin typeface="IBM Plex Sans" pitchFamily="34" charset="0"/>
                <a:ea typeface="IBM Plex Sans" pitchFamily="34" charset="-122"/>
                <a:cs typeface="IBM Plex Sans" pitchFamily="34" charset="-120"/>
              </a:rPr>
              <a:t>Техника разработки на основе повторения очень коротких циклов:</a:t>
            </a:r>
            <a:endParaRPr lang="en-US" sz="2100" dirty="0"/>
          </a:p>
        </p:txBody>
      </p:sp>
      <p:sp>
        <p:nvSpPr>
          <p:cNvPr id="5" name="Text 3"/>
          <p:cNvSpPr/>
          <p:nvPr/>
        </p:nvSpPr>
        <p:spPr>
          <a:xfrm>
            <a:off x="443786" y="3832547"/>
            <a:ext cx="6781752" cy="1147445"/>
          </a:xfrm>
          <a:prstGeom prst="rect">
            <a:avLst/>
          </a:prstGeom>
          <a:noFill/>
          <a:ln/>
        </p:spPr>
        <p:txBody>
          <a:bodyPr wrap="square" lIns="0" tIns="0" rIns="0" bIns="0" rtlCol="0" anchor="t">
            <a:normAutofit/>
          </a:bodyPr>
          <a:lstStyle/>
          <a:p>
            <a:pPr algn="l" marL="267414" indent="-267414">
              <a:lnSpc>
                <a:spcPts val="2945"/>
              </a:lnSpc>
              <a:buSzPct val="100000"/>
              <a:buFontTx/>
              <a:buAutoNum type="arabicPeriod" startAt="1"/>
            </a:pPr>
            <a:r>
              <a:rPr lang="en-US" sz="1900" dirty="0">
                <a:solidFill>
                  <a:srgbClr val="3A4B5E"/>
                </a:solidFill>
                <a:latin typeface="IBM Plex Sans" pitchFamily="34" charset="0"/>
                <a:ea typeface="IBM Plex Sans" pitchFamily="34" charset="-122"/>
                <a:cs typeface="IBM Plex Sans" pitchFamily="34" charset="-120"/>
              </a:rPr>
              <a:t>Пишем тест на желаемое изменение</a:t>
            </a:r>
            <a:endParaRPr lang="en-US" sz="1900" dirty="0"/>
          </a:p>
          <a:p>
            <a:pPr algn="l" marL="267414" indent="-267414">
              <a:lnSpc>
                <a:spcPts val="2945"/>
              </a:lnSpc>
              <a:buSzPct val="100000"/>
              <a:buFontTx/>
              <a:buAutoNum type="arabicPeriod" startAt="1"/>
            </a:pPr>
            <a:r>
              <a:rPr lang="en-US" sz="1900" dirty="0">
                <a:solidFill>
                  <a:srgbClr val="3A4B5E"/>
                </a:solidFill>
                <a:latin typeface="IBM Plex Sans" pitchFamily="34" charset="0"/>
                <a:ea typeface="IBM Plex Sans" pitchFamily="34" charset="-122"/>
                <a:cs typeface="IBM Plex Sans" pitchFamily="34" charset="-120"/>
              </a:rPr>
              <a:t>Пишем код, чтобы тест прошёл</a:t>
            </a:r>
            <a:endParaRPr lang="en-US" sz="1900" dirty="0"/>
          </a:p>
          <a:p>
            <a:pPr algn="l" marL="267414" indent="-267414">
              <a:lnSpc>
                <a:spcPts val="2945"/>
              </a:lnSpc>
              <a:buSzPct val="100000"/>
              <a:buFontTx/>
              <a:buAutoNum type="arabicPeriod" startAt="1"/>
            </a:pPr>
            <a:r>
              <a:rPr lang="en-US" sz="1900" dirty="0">
                <a:solidFill>
                  <a:srgbClr val="3A4B5E"/>
                </a:solidFill>
                <a:latin typeface="IBM Plex Sans" pitchFamily="34" charset="0"/>
                <a:ea typeface="IBM Plex Sans" pitchFamily="34" charset="-122"/>
                <a:cs typeface="IBM Plex Sans" pitchFamily="34" charset="-120"/>
              </a:rPr>
              <a:t>Рефакторим новый код под стандарты</a:t>
            </a:r>
            <a:endParaRPr lang="en-US" sz="1900" dirty="0"/>
          </a:p>
        </p:txBody>
      </p:sp>
      <p:sp>
        <p:nvSpPr>
          <p:cNvPr id="6" name="Shape 4"/>
          <p:cNvSpPr/>
          <p:nvPr/>
        </p:nvSpPr>
        <p:spPr>
          <a:xfrm>
            <a:off x="7299325" y="2239652"/>
            <a:ext cx="1758950" cy="869950"/>
          </a:xfrm>
          <a:prstGeom prst="roundRect">
            <a:avLst>
              <a:gd name="adj" fmla="val 13504"/>
            </a:avLst>
          </a:prstGeom>
          <a:solidFill>
            <a:srgbClr val="EDF1F5"/>
          </a:solidFill>
          <a:ln w="19050">
            <a:solidFill>
              <a:srgbClr val="B85400"/>
            </a:solidFill>
            <a:prstDash val="solid"/>
          </a:ln>
        </p:spPr>
      </p:sp>
      <p:sp>
        <p:nvSpPr>
          <p:cNvPr id="7" name="Text 5"/>
          <p:cNvSpPr/>
          <p:nvPr/>
        </p:nvSpPr>
        <p:spPr>
          <a:xfrm>
            <a:off x="7900011" y="2350777"/>
            <a:ext cx="557498"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B85400"/>
                </a:solidFill>
                <a:latin typeface="IBM Plex Sans" pitchFamily="34" charset="0"/>
                <a:ea typeface="IBM Plex Sans" pitchFamily="34" charset="-122"/>
                <a:cs typeface="IBM Plex Sans" pitchFamily="34" charset="-120"/>
              </a:rPr>
              <a:t>Red</a:t>
            </a:r>
            <a:endParaRPr lang="en-US" sz="2000" dirty="0"/>
          </a:p>
        </p:txBody>
      </p:sp>
      <p:sp>
        <p:nvSpPr>
          <p:cNvPr id="8" name="Text 6"/>
          <p:cNvSpPr/>
          <p:nvPr/>
        </p:nvSpPr>
        <p:spPr>
          <a:xfrm>
            <a:off x="7348228" y="2731777"/>
            <a:ext cx="1661065"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3A4B5E"/>
                </a:solidFill>
                <a:latin typeface="IBM Plex Sans" pitchFamily="34" charset="0"/>
                <a:ea typeface="IBM Plex Sans" pitchFamily="34" charset="-122"/>
                <a:cs typeface="IBM Plex Sans" pitchFamily="34" charset="-120"/>
              </a:rPr>
              <a:t>падающий тест</a:t>
            </a:r>
            <a:endParaRPr lang="en-US" sz="1500" dirty="0"/>
          </a:p>
        </p:txBody>
      </p:sp>
      <p:sp>
        <p:nvSpPr>
          <p:cNvPr id="9" name="Shape 7"/>
          <p:cNvSpPr/>
          <p:nvPr/>
        </p:nvSpPr>
        <p:spPr>
          <a:xfrm>
            <a:off x="9966325" y="2239652"/>
            <a:ext cx="1758950" cy="869950"/>
          </a:xfrm>
          <a:prstGeom prst="roundRect">
            <a:avLst>
              <a:gd name="adj" fmla="val 13504"/>
            </a:avLst>
          </a:prstGeom>
          <a:solidFill>
            <a:srgbClr val="EDF1F5"/>
          </a:solidFill>
          <a:ln w="19050">
            <a:solidFill>
              <a:srgbClr val="1A7F37"/>
            </a:solidFill>
            <a:prstDash val="solid"/>
          </a:ln>
        </p:spPr>
      </p:sp>
      <p:sp>
        <p:nvSpPr>
          <p:cNvPr id="10" name="Text 8"/>
          <p:cNvSpPr/>
          <p:nvPr/>
        </p:nvSpPr>
        <p:spPr>
          <a:xfrm>
            <a:off x="10413270" y="2350777"/>
            <a:ext cx="865061"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A7F37"/>
                </a:solidFill>
                <a:latin typeface="IBM Plex Sans" pitchFamily="34" charset="0"/>
                <a:ea typeface="IBM Plex Sans" pitchFamily="34" charset="-122"/>
                <a:cs typeface="IBM Plex Sans" pitchFamily="34" charset="-120"/>
              </a:rPr>
              <a:t>Green</a:t>
            </a:r>
            <a:endParaRPr lang="en-US" sz="2000" dirty="0"/>
          </a:p>
        </p:txBody>
      </p:sp>
      <p:sp>
        <p:nvSpPr>
          <p:cNvPr id="11" name="Text 9"/>
          <p:cNvSpPr/>
          <p:nvPr/>
        </p:nvSpPr>
        <p:spPr>
          <a:xfrm>
            <a:off x="10087515" y="2731777"/>
            <a:ext cx="1516571"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3A4B5E"/>
                </a:solidFill>
                <a:latin typeface="IBM Plex Sans" pitchFamily="34" charset="0"/>
                <a:ea typeface="IBM Plex Sans" pitchFamily="34" charset="-122"/>
                <a:cs typeface="IBM Plex Sans" pitchFamily="34" charset="-120"/>
              </a:rPr>
              <a:t>тест проходит</a:t>
            </a:r>
            <a:endParaRPr lang="en-US" sz="1500" dirty="0"/>
          </a:p>
        </p:txBody>
      </p:sp>
      <p:sp>
        <p:nvSpPr>
          <p:cNvPr id="12" name="Shape 10"/>
          <p:cNvSpPr/>
          <p:nvPr/>
        </p:nvSpPr>
        <p:spPr>
          <a:xfrm>
            <a:off x="8632825" y="4843152"/>
            <a:ext cx="1758950" cy="869950"/>
          </a:xfrm>
          <a:prstGeom prst="roundRect">
            <a:avLst>
              <a:gd name="adj" fmla="val 13504"/>
            </a:avLst>
          </a:prstGeom>
          <a:solidFill>
            <a:srgbClr val="EDF1F5"/>
          </a:solidFill>
          <a:ln w="19050">
            <a:solidFill>
              <a:srgbClr val="1F5FBF"/>
            </a:solidFill>
            <a:prstDash val="solid"/>
          </a:ln>
        </p:spPr>
      </p:sp>
      <p:sp>
        <p:nvSpPr>
          <p:cNvPr id="13" name="Text 11"/>
          <p:cNvSpPr/>
          <p:nvPr/>
        </p:nvSpPr>
        <p:spPr>
          <a:xfrm>
            <a:off x="8900414" y="4954277"/>
            <a:ext cx="1223772"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5FBF"/>
                </a:solidFill>
                <a:latin typeface="IBM Plex Sans" pitchFamily="34" charset="0"/>
                <a:ea typeface="IBM Plex Sans" pitchFamily="34" charset="-122"/>
                <a:cs typeface="IBM Plex Sans" pitchFamily="34" charset="-120"/>
              </a:rPr>
              <a:t>Refactor</a:t>
            </a:r>
            <a:endParaRPr lang="en-US" sz="2000" dirty="0"/>
          </a:p>
        </p:txBody>
      </p:sp>
      <p:sp>
        <p:nvSpPr>
          <p:cNvPr id="14" name="Text 12"/>
          <p:cNvSpPr/>
          <p:nvPr/>
        </p:nvSpPr>
        <p:spPr>
          <a:xfrm>
            <a:off x="8759357" y="5335277"/>
            <a:ext cx="1505807"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3A4B5E"/>
                </a:solidFill>
                <a:latin typeface="IBM Plex Sans" pitchFamily="34" charset="0"/>
                <a:ea typeface="IBM Plex Sans" pitchFamily="34" charset="-122"/>
                <a:cs typeface="IBM Plex Sans" pitchFamily="34" charset="-120"/>
              </a:rPr>
              <a:t>улучшаем код</a:t>
            </a:r>
            <a:endParaRPr lang="en-US" sz="1500" dirty="0"/>
          </a:p>
        </p:txBody>
      </p:sp>
      <p:sp>
        <p:nvSpPr>
          <p:cNvPr id="15" name="Text 13"/>
          <p:cNvSpPr/>
          <p:nvPr/>
        </p:nvSpPr>
        <p:spPr>
          <a:xfrm>
            <a:off x="8851900" y="3690627"/>
            <a:ext cx="1320800" cy="558800"/>
          </a:xfrm>
          <a:prstGeom prst="rect">
            <a:avLst/>
          </a:prstGeom>
          <a:noFill/>
          <a:ln/>
        </p:spPr>
        <p:txBody>
          <a:bodyPr wrap="square" lIns="0" tIns="0" rIns="0" bIns="0" rtlCol="0" anchor="t">
            <a:normAutofit/>
          </a:bodyPr>
          <a:lstStyle/>
          <a:p>
            <a:pPr algn="ctr" indent="0" marL="0">
              <a:lnSpc>
                <a:spcPts val="4200"/>
              </a:lnSpc>
              <a:buNone/>
            </a:pPr>
            <a:r>
              <a:rPr lang="en-US" sz="3000" b="1" dirty="0">
                <a:solidFill>
                  <a:srgbClr val="13233A"/>
                </a:solidFill>
                <a:latin typeface="JetBrains Mono" pitchFamily="49" charset="0"/>
                <a:ea typeface="JetBrains Mono" pitchFamily="49" charset="-122"/>
                <a:cs typeface="JetBrains Mono" pitchFamily="49" charset="-120"/>
              </a:rPr>
              <a:t>TDD</a:t>
            </a:r>
            <a:endParaRPr lang="en-US" sz="3000" dirty="0"/>
          </a:p>
        </p:txBody>
      </p:sp>
      <p:pic>
        <p:nvPicPr>
          <p:cNvPr id="16" name="Image 0" descr="connector">    </p:cNvPr>
          <p:cNvPicPr>
            <a:picLocks noChangeAspect="1"/>
          </p:cNvPicPr>
          <p:nvPr/>
        </p:nvPicPr>
        <p:blipFill>
          <a:blip r:embed="rId1"/>
          <a:srcRect l="0" r="0" t="0" b="0"/>
          <a:stretch/>
        </p:blipFill>
        <p:spPr>
          <a:xfrm>
            <a:off x="9067800" y="2611127"/>
            <a:ext cx="889000" cy="127000"/>
          </a:xfrm>
          <a:prstGeom prst="rect">
            <a:avLst/>
          </a:prstGeom>
        </p:spPr>
      </p:pic>
      <p:pic>
        <p:nvPicPr>
          <p:cNvPr id="17" name="Image 1" descr="connector">    </p:cNvPr>
          <p:cNvPicPr>
            <a:picLocks noChangeAspect="1"/>
          </p:cNvPicPr>
          <p:nvPr/>
        </p:nvPicPr>
        <p:blipFill>
          <a:blip r:embed="rId2"/>
          <a:srcRect l="0" r="0" t="0" b="0"/>
          <a:stretch/>
        </p:blipFill>
        <p:spPr>
          <a:xfrm>
            <a:off x="9956800" y="3119127"/>
            <a:ext cx="952500" cy="1714500"/>
          </a:xfrm>
          <a:prstGeom prst="rect">
            <a:avLst/>
          </a:prstGeom>
        </p:spPr>
      </p:pic>
      <p:pic>
        <p:nvPicPr>
          <p:cNvPr id="18" name="Image 2" descr="connector">    </p:cNvPr>
          <p:cNvPicPr>
            <a:picLocks noChangeAspect="1"/>
          </p:cNvPicPr>
          <p:nvPr/>
        </p:nvPicPr>
        <p:blipFill>
          <a:blip r:embed="rId3"/>
          <a:srcRect l="0" r="0" t="0" b="0"/>
          <a:stretch/>
        </p:blipFill>
        <p:spPr>
          <a:xfrm>
            <a:off x="8115300" y="3119127"/>
            <a:ext cx="952500" cy="1714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03 · TDD</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Процесс TDD</a:t>
            </a:r>
            <a:endParaRPr lang="en-US" sz="3200" dirty="0"/>
          </a:p>
        </p:txBody>
      </p:sp>
      <p:sp>
        <p:nvSpPr>
          <p:cNvPr id="4" name="Shape 2"/>
          <p:cNvSpPr/>
          <p:nvPr/>
        </p:nvSpPr>
        <p:spPr>
          <a:xfrm>
            <a:off x="457200" y="2884177"/>
            <a:ext cx="1950720" cy="2120900"/>
          </a:xfrm>
          <a:prstGeom prst="roundRect">
            <a:avLst>
              <a:gd name="adj" fmla="val 5859"/>
            </a:avLst>
          </a:prstGeom>
          <a:solidFill>
            <a:srgbClr val="EDF1F5"/>
          </a:solidFill>
          <a:ln/>
        </p:spPr>
      </p:sp>
      <p:sp>
        <p:nvSpPr>
          <p:cNvPr id="5" name="Shape 3"/>
          <p:cNvSpPr/>
          <p:nvPr/>
        </p:nvSpPr>
        <p:spPr>
          <a:xfrm>
            <a:off x="457200" y="2884177"/>
            <a:ext cx="1950720" cy="2120900"/>
          </a:xfrm>
          <a:custGeom>
            <a:avLst/>
            <a:gdLst/>
            <a:ahLst/>
            <a:cxnLst/>
            <a:rect l="l" t="t" r="r" b="b"/>
            <a:pathLst>
              <a:path w="1950720" h="2120900">
                <a:moveTo>
                  <a:pt x="0" y="114300"/>
                </a:moveTo>
                <a:lnTo>
                  <a:pt x="0" y="114300"/>
                </a:lnTo>
                <a:arcTo hR="114300" wR="114300" stAng="10800000" swAng="5400000"/>
                <a:lnTo>
                  <a:pt x="1836420" y="0"/>
                </a:lnTo>
                <a:arcTo hR="114300" wR="114300" stAng="16200000" swAng="5400000"/>
                <a:lnTo>
                  <a:pt x="1950720" y="114300"/>
                </a:lnTo>
                <a:arcTo hR="76200" wR="114300" stAng="0" swAng="-5400000"/>
                <a:lnTo>
                  <a:pt x="114300" y="38100"/>
                </a:lnTo>
                <a:arcTo hR="76200" wR="114300" stAng="16200000" swAng="-5400000"/>
                <a:close/>
              </a:path>
            </a:pathLst>
          </a:custGeom>
          <a:solidFill>
            <a:srgbClr val="1A7F37"/>
          </a:solidFill>
          <a:ln/>
        </p:spPr>
      </p:sp>
      <p:sp>
        <p:nvSpPr>
          <p:cNvPr id="6" name="Text 4"/>
          <p:cNvSpPr/>
          <p:nvPr/>
        </p:nvSpPr>
        <p:spPr>
          <a:xfrm>
            <a:off x="596900" y="3097535"/>
            <a:ext cx="1722120"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A7F37"/>
                </a:solidFill>
                <a:latin typeface="JetBrains Mono" pitchFamily="49" charset="0"/>
                <a:ea typeface="JetBrains Mono" pitchFamily="49" charset="-122"/>
                <a:cs typeface="JetBrains Mono" pitchFamily="49" charset="-120"/>
              </a:rPr>
              <a:t>1</a:t>
            </a:r>
            <a:endParaRPr lang="en-US" sz="2600" dirty="0"/>
          </a:p>
        </p:txBody>
      </p:sp>
      <p:sp>
        <p:nvSpPr>
          <p:cNvPr id="7" name="Text 5"/>
          <p:cNvSpPr/>
          <p:nvPr/>
        </p:nvSpPr>
        <p:spPr>
          <a:xfrm>
            <a:off x="596900" y="3661408"/>
            <a:ext cx="1722120" cy="119126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Пишет тест для новой функции по спецификации</a:t>
            </a:r>
            <a:endParaRPr lang="en-US" sz="1700" dirty="0"/>
          </a:p>
        </p:txBody>
      </p:sp>
      <p:pic>
        <p:nvPicPr>
          <p:cNvPr id="8" name="Image 0" descr="arrow-right">    </p:cNvPr>
          <p:cNvPicPr>
            <a:picLocks noChangeAspect="1"/>
          </p:cNvPicPr>
          <p:nvPr/>
        </p:nvPicPr>
        <p:blipFill>
          <a:blip r:embed="rId1"/>
          <a:srcRect l="0" r="0" t="0" b="0"/>
          <a:stretch/>
        </p:blipFill>
        <p:spPr>
          <a:xfrm>
            <a:off x="2484120" y="3868427"/>
            <a:ext cx="228600" cy="152400"/>
          </a:xfrm>
          <a:prstGeom prst="rect">
            <a:avLst/>
          </a:prstGeom>
        </p:spPr>
      </p:pic>
      <p:sp>
        <p:nvSpPr>
          <p:cNvPr id="9" name="Shape 6"/>
          <p:cNvSpPr/>
          <p:nvPr/>
        </p:nvSpPr>
        <p:spPr>
          <a:xfrm>
            <a:off x="2788920" y="3029905"/>
            <a:ext cx="1950720" cy="1829435"/>
          </a:xfrm>
          <a:prstGeom prst="roundRect">
            <a:avLst>
              <a:gd name="adj" fmla="val 6248"/>
            </a:avLst>
          </a:prstGeom>
          <a:solidFill>
            <a:srgbClr val="EDF1F5"/>
          </a:solidFill>
          <a:ln/>
        </p:spPr>
      </p:sp>
      <p:sp>
        <p:nvSpPr>
          <p:cNvPr id="10" name="Shape 7"/>
          <p:cNvSpPr/>
          <p:nvPr/>
        </p:nvSpPr>
        <p:spPr>
          <a:xfrm>
            <a:off x="2788920" y="3029905"/>
            <a:ext cx="1950720" cy="1829435"/>
          </a:xfrm>
          <a:custGeom>
            <a:avLst/>
            <a:gdLst/>
            <a:ahLst/>
            <a:cxnLst/>
            <a:rect l="l" t="t" r="r" b="b"/>
            <a:pathLst>
              <a:path w="1950720" h="1829435">
                <a:moveTo>
                  <a:pt x="0" y="114300"/>
                </a:moveTo>
                <a:lnTo>
                  <a:pt x="0" y="114300"/>
                </a:lnTo>
                <a:arcTo hR="114300" wR="114300" stAng="10800000" swAng="5400000"/>
                <a:lnTo>
                  <a:pt x="1836420" y="0"/>
                </a:lnTo>
                <a:arcTo hR="114300" wR="114300" stAng="16200000" swAng="5400000"/>
                <a:lnTo>
                  <a:pt x="1950720" y="114300"/>
                </a:lnTo>
                <a:arcTo hR="76200" wR="114300" stAng="0" swAng="-5400000"/>
                <a:lnTo>
                  <a:pt x="114300" y="38100"/>
                </a:lnTo>
                <a:arcTo hR="76200" wR="114300" stAng="16200000" swAng="-5400000"/>
                <a:close/>
              </a:path>
            </a:pathLst>
          </a:custGeom>
          <a:solidFill>
            <a:srgbClr val="1A7F37"/>
          </a:solidFill>
          <a:ln/>
        </p:spPr>
      </p:sp>
      <p:sp>
        <p:nvSpPr>
          <p:cNvPr id="11" name="Text 8"/>
          <p:cNvSpPr/>
          <p:nvPr/>
        </p:nvSpPr>
        <p:spPr>
          <a:xfrm>
            <a:off x="2928620" y="3243263"/>
            <a:ext cx="1722120"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A7F37"/>
                </a:solidFill>
                <a:latin typeface="JetBrains Mono" pitchFamily="49" charset="0"/>
                <a:ea typeface="JetBrains Mono" pitchFamily="49" charset="-122"/>
                <a:cs typeface="JetBrains Mono" pitchFamily="49" charset="-120"/>
              </a:rPr>
              <a:t>2</a:t>
            </a:r>
            <a:endParaRPr lang="en-US" sz="2600" dirty="0"/>
          </a:p>
        </p:txBody>
      </p:sp>
      <p:sp>
        <p:nvSpPr>
          <p:cNvPr id="12" name="Text 9"/>
          <p:cNvSpPr/>
          <p:nvPr/>
        </p:nvSpPr>
        <p:spPr>
          <a:xfrm>
            <a:off x="2928620" y="3807147"/>
            <a:ext cx="1722120"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Запускает все существующие тесты</a:t>
            </a:r>
            <a:endParaRPr lang="en-US" sz="1700" dirty="0"/>
          </a:p>
        </p:txBody>
      </p:sp>
      <p:pic>
        <p:nvPicPr>
          <p:cNvPr id="13" name="Image 1" descr="arrow-right">    </p:cNvPr>
          <p:cNvPicPr>
            <a:picLocks noChangeAspect="1"/>
          </p:cNvPicPr>
          <p:nvPr/>
        </p:nvPicPr>
        <p:blipFill>
          <a:blip r:embed="rId2"/>
          <a:srcRect l="0" r="0" t="0" b="0"/>
          <a:stretch/>
        </p:blipFill>
        <p:spPr>
          <a:xfrm>
            <a:off x="4815840" y="3868427"/>
            <a:ext cx="228600" cy="152400"/>
          </a:xfrm>
          <a:prstGeom prst="rect">
            <a:avLst/>
          </a:prstGeom>
        </p:spPr>
      </p:pic>
      <p:sp>
        <p:nvSpPr>
          <p:cNvPr id="14" name="Shape 10"/>
          <p:cNvSpPr/>
          <p:nvPr/>
        </p:nvSpPr>
        <p:spPr>
          <a:xfrm>
            <a:off x="5120640" y="2884177"/>
            <a:ext cx="1950720" cy="2120900"/>
          </a:xfrm>
          <a:prstGeom prst="roundRect">
            <a:avLst>
              <a:gd name="adj" fmla="val 5859"/>
            </a:avLst>
          </a:prstGeom>
          <a:solidFill>
            <a:srgbClr val="EDF1F5"/>
          </a:solidFill>
          <a:ln/>
        </p:spPr>
      </p:sp>
      <p:sp>
        <p:nvSpPr>
          <p:cNvPr id="15" name="Shape 11"/>
          <p:cNvSpPr/>
          <p:nvPr/>
        </p:nvSpPr>
        <p:spPr>
          <a:xfrm>
            <a:off x="5120640" y="2884177"/>
            <a:ext cx="1950720" cy="2120900"/>
          </a:xfrm>
          <a:custGeom>
            <a:avLst/>
            <a:gdLst/>
            <a:ahLst/>
            <a:cxnLst/>
            <a:rect l="l" t="t" r="r" b="b"/>
            <a:pathLst>
              <a:path w="1950720" h="2120900">
                <a:moveTo>
                  <a:pt x="0" y="114300"/>
                </a:moveTo>
                <a:lnTo>
                  <a:pt x="0" y="114300"/>
                </a:lnTo>
                <a:arcTo hR="114300" wR="114300" stAng="10800000" swAng="5400000"/>
                <a:lnTo>
                  <a:pt x="1836420" y="0"/>
                </a:lnTo>
                <a:arcTo hR="114300" wR="114300" stAng="16200000" swAng="5400000"/>
                <a:lnTo>
                  <a:pt x="1950720" y="114300"/>
                </a:lnTo>
                <a:arcTo hR="76200" wR="114300" stAng="0" swAng="-5400000"/>
                <a:lnTo>
                  <a:pt x="114300" y="38100"/>
                </a:lnTo>
                <a:arcTo hR="76200" wR="114300" stAng="16200000" swAng="-5400000"/>
                <a:close/>
              </a:path>
            </a:pathLst>
          </a:custGeom>
          <a:solidFill>
            <a:srgbClr val="1A7F37"/>
          </a:solidFill>
          <a:ln/>
        </p:spPr>
      </p:sp>
      <p:sp>
        <p:nvSpPr>
          <p:cNvPr id="16" name="Text 12"/>
          <p:cNvSpPr/>
          <p:nvPr/>
        </p:nvSpPr>
        <p:spPr>
          <a:xfrm>
            <a:off x="5260340" y="3097535"/>
            <a:ext cx="1722120"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A7F37"/>
                </a:solidFill>
                <a:latin typeface="JetBrains Mono" pitchFamily="49" charset="0"/>
                <a:ea typeface="JetBrains Mono" pitchFamily="49" charset="-122"/>
                <a:cs typeface="JetBrains Mono" pitchFamily="49" charset="-120"/>
              </a:rPr>
              <a:t>3</a:t>
            </a:r>
            <a:endParaRPr lang="en-US" sz="2600" dirty="0"/>
          </a:p>
        </p:txBody>
      </p:sp>
      <p:sp>
        <p:nvSpPr>
          <p:cNvPr id="17" name="Text 13"/>
          <p:cNvSpPr/>
          <p:nvPr/>
        </p:nvSpPr>
        <p:spPr>
          <a:xfrm>
            <a:off x="5260340" y="3661408"/>
            <a:ext cx="1722120" cy="119126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Пишет простейший код, чтобы тест прошёл</a:t>
            </a:r>
            <a:endParaRPr lang="en-US" sz="1700" dirty="0"/>
          </a:p>
        </p:txBody>
      </p:sp>
      <p:pic>
        <p:nvPicPr>
          <p:cNvPr id="18" name="Image 2" descr="arrow-right">    </p:cNvPr>
          <p:cNvPicPr>
            <a:picLocks noChangeAspect="1"/>
          </p:cNvPicPr>
          <p:nvPr/>
        </p:nvPicPr>
        <p:blipFill>
          <a:blip r:embed="rId3"/>
          <a:srcRect l="0" r="0" t="0" b="0"/>
          <a:stretch/>
        </p:blipFill>
        <p:spPr>
          <a:xfrm>
            <a:off x="7147560" y="3868427"/>
            <a:ext cx="228600" cy="152400"/>
          </a:xfrm>
          <a:prstGeom prst="rect">
            <a:avLst/>
          </a:prstGeom>
        </p:spPr>
      </p:pic>
      <p:sp>
        <p:nvSpPr>
          <p:cNvPr id="19" name="Shape 14"/>
          <p:cNvSpPr/>
          <p:nvPr/>
        </p:nvSpPr>
        <p:spPr>
          <a:xfrm>
            <a:off x="7452360" y="2884177"/>
            <a:ext cx="1950720" cy="2120900"/>
          </a:xfrm>
          <a:prstGeom prst="roundRect">
            <a:avLst>
              <a:gd name="adj" fmla="val 5859"/>
            </a:avLst>
          </a:prstGeom>
          <a:solidFill>
            <a:srgbClr val="EDF1F5"/>
          </a:solidFill>
          <a:ln/>
        </p:spPr>
      </p:sp>
      <p:sp>
        <p:nvSpPr>
          <p:cNvPr id="20" name="Shape 15"/>
          <p:cNvSpPr/>
          <p:nvPr/>
        </p:nvSpPr>
        <p:spPr>
          <a:xfrm>
            <a:off x="7452360" y="2884177"/>
            <a:ext cx="1950720" cy="2120900"/>
          </a:xfrm>
          <a:custGeom>
            <a:avLst/>
            <a:gdLst/>
            <a:ahLst/>
            <a:cxnLst/>
            <a:rect l="l" t="t" r="r" b="b"/>
            <a:pathLst>
              <a:path w="1950720" h="2120900">
                <a:moveTo>
                  <a:pt x="0" y="114300"/>
                </a:moveTo>
                <a:lnTo>
                  <a:pt x="0" y="114300"/>
                </a:lnTo>
                <a:arcTo hR="114300" wR="114300" stAng="10800000" swAng="5400000"/>
                <a:lnTo>
                  <a:pt x="1836420" y="0"/>
                </a:lnTo>
                <a:arcTo hR="114300" wR="114300" stAng="16200000" swAng="5400000"/>
                <a:lnTo>
                  <a:pt x="1950720" y="114300"/>
                </a:lnTo>
                <a:arcTo hR="76200" wR="114300" stAng="0" swAng="-5400000"/>
                <a:lnTo>
                  <a:pt x="114300" y="38100"/>
                </a:lnTo>
                <a:arcTo hR="76200" wR="114300" stAng="16200000" swAng="-5400000"/>
                <a:close/>
              </a:path>
            </a:pathLst>
          </a:custGeom>
          <a:solidFill>
            <a:srgbClr val="1A7F37"/>
          </a:solidFill>
          <a:ln/>
        </p:spPr>
      </p:sp>
      <p:sp>
        <p:nvSpPr>
          <p:cNvPr id="21" name="Text 16"/>
          <p:cNvSpPr/>
          <p:nvPr/>
        </p:nvSpPr>
        <p:spPr>
          <a:xfrm>
            <a:off x="7592060" y="3097535"/>
            <a:ext cx="1722120"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A7F37"/>
                </a:solidFill>
                <a:latin typeface="JetBrains Mono" pitchFamily="49" charset="0"/>
                <a:ea typeface="JetBrains Mono" pitchFamily="49" charset="-122"/>
                <a:cs typeface="JetBrains Mono" pitchFamily="49" charset="-120"/>
              </a:rPr>
              <a:t>4</a:t>
            </a:r>
            <a:endParaRPr lang="en-US" sz="2600" dirty="0"/>
          </a:p>
        </p:txBody>
      </p:sp>
      <p:sp>
        <p:nvSpPr>
          <p:cNvPr id="22" name="Text 17"/>
          <p:cNvSpPr/>
          <p:nvPr/>
        </p:nvSpPr>
        <p:spPr>
          <a:xfrm>
            <a:off x="7592060" y="3661408"/>
            <a:ext cx="1722120" cy="119126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Рефакторит код: читаемость и сопровождение</a:t>
            </a:r>
            <a:endParaRPr lang="en-US" sz="1700" dirty="0"/>
          </a:p>
        </p:txBody>
      </p:sp>
      <p:pic>
        <p:nvPicPr>
          <p:cNvPr id="23" name="Image 3" descr="arrow-right">    </p:cNvPr>
          <p:cNvPicPr>
            <a:picLocks noChangeAspect="1"/>
          </p:cNvPicPr>
          <p:nvPr/>
        </p:nvPicPr>
        <p:blipFill>
          <a:blip r:embed="rId4"/>
          <a:srcRect l="0" r="0" t="0" b="0"/>
          <a:stretch/>
        </p:blipFill>
        <p:spPr>
          <a:xfrm>
            <a:off x="9479280" y="3868427"/>
            <a:ext cx="228600" cy="152400"/>
          </a:xfrm>
          <a:prstGeom prst="rect">
            <a:avLst/>
          </a:prstGeom>
        </p:spPr>
      </p:pic>
      <p:sp>
        <p:nvSpPr>
          <p:cNvPr id="24" name="Shape 18"/>
          <p:cNvSpPr/>
          <p:nvPr/>
        </p:nvSpPr>
        <p:spPr>
          <a:xfrm>
            <a:off x="9784080" y="2884177"/>
            <a:ext cx="1950720" cy="2120900"/>
          </a:xfrm>
          <a:prstGeom prst="roundRect">
            <a:avLst>
              <a:gd name="adj" fmla="val 5859"/>
            </a:avLst>
          </a:prstGeom>
          <a:solidFill>
            <a:srgbClr val="EDF1F5"/>
          </a:solidFill>
          <a:ln/>
        </p:spPr>
      </p:sp>
      <p:sp>
        <p:nvSpPr>
          <p:cNvPr id="25" name="Shape 19"/>
          <p:cNvSpPr/>
          <p:nvPr/>
        </p:nvSpPr>
        <p:spPr>
          <a:xfrm>
            <a:off x="9784080" y="2884177"/>
            <a:ext cx="1950720" cy="2120900"/>
          </a:xfrm>
          <a:custGeom>
            <a:avLst/>
            <a:gdLst/>
            <a:ahLst/>
            <a:cxnLst/>
            <a:rect l="l" t="t" r="r" b="b"/>
            <a:pathLst>
              <a:path w="1950720" h="2120900">
                <a:moveTo>
                  <a:pt x="0" y="114300"/>
                </a:moveTo>
                <a:lnTo>
                  <a:pt x="0" y="114300"/>
                </a:lnTo>
                <a:arcTo hR="114300" wR="114300" stAng="10800000" swAng="5400000"/>
                <a:lnTo>
                  <a:pt x="1836420" y="0"/>
                </a:lnTo>
                <a:arcTo hR="114300" wR="114300" stAng="16200000" swAng="5400000"/>
                <a:lnTo>
                  <a:pt x="1950720" y="114300"/>
                </a:lnTo>
                <a:arcTo hR="76200" wR="114300" stAng="0" swAng="-5400000"/>
                <a:lnTo>
                  <a:pt x="114300" y="38100"/>
                </a:lnTo>
                <a:arcTo hR="76200" wR="114300" stAng="16200000" swAng="-5400000"/>
                <a:close/>
              </a:path>
            </a:pathLst>
          </a:custGeom>
          <a:solidFill>
            <a:srgbClr val="1A7F37"/>
          </a:solidFill>
          <a:ln/>
        </p:spPr>
      </p:sp>
      <p:sp>
        <p:nvSpPr>
          <p:cNvPr id="26" name="Text 20"/>
          <p:cNvSpPr/>
          <p:nvPr/>
        </p:nvSpPr>
        <p:spPr>
          <a:xfrm>
            <a:off x="9923780" y="3097535"/>
            <a:ext cx="1722120"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A7F37"/>
                </a:solidFill>
                <a:latin typeface="JetBrains Mono" pitchFamily="49" charset="0"/>
                <a:ea typeface="JetBrains Mono" pitchFamily="49" charset="-122"/>
                <a:cs typeface="JetBrains Mono" pitchFamily="49" charset="-120"/>
              </a:rPr>
              <a:t>5</a:t>
            </a:r>
            <a:endParaRPr lang="en-US" sz="2600" dirty="0"/>
          </a:p>
        </p:txBody>
      </p:sp>
      <p:sp>
        <p:nvSpPr>
          <p:cNvPr id="27" name="Text 21"/>
          <p:cNvSpPr/>
          <p:nvPr/>
        </p:nvSpPr>
        <p:spPr>
          <a:xfrm>
            <a:off x="9923780" y="3661408"/>
            <a:ext cx="1722120" cy="119126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Повторяет процесс для каждой функции</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03 · TDD</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Плюсы и минусы TDD</a:t>
            </a:r>
            <a:endParaRPr lang="en-US" sz="3200" dirty="0"/>
          </a:p>
        </p:txBody>
      </p:sp>
      <p:sp>
        <p:nvSpPr>
          <p:cNvPr id="4" name="Shape 2"/>
          <p:cNvSpPr/>
          <p:nvPr/>
        </p:nvSpPr>
        <p:spPr>
          <a:xfrm>
            <a:off x="457200" y="1488442"/>
            <a:ext cx="6286262" cy="4912360"/>
          </a:xfrm>
          <a:prstGeom prst="roundRect">
            <a:avLst>
              <a:gd name="adj" fmla="val 2585"/>
            </a:avLst>
          </a:prstGeom>
          <a:solidFill>
            <a:srgbClr val="EDF1F5"/>
          </a:solidFill>
          <a:ln/>
        </p:spPr>
      </p:sp>
      <p:sp>
        <p:nvSpPr>
          <p:cNvPr id="5" name="Shape 3"/>
          <p:cNvSpPr/>
          <p:nvPr/>
        </p:nvSpPr>
        <p:spPr>
          <a:xfrm>
            <a:off x="457200" y="1488442"/>
            <a:ext cx="6286262" cy="4912360"/>
          </a:xfrm>
          <a:custGeom>
            <a:avLst/>
            <a:gdLst/>
            <a:ahLst/>
            <a:cxnLst/>
            <a:rect l="l" t="t" r="r" b="b"/>
            <a:pathLst>
              <a:path w="6286262" h="4912360">
                <a:moveTo>
                  <a:pt x="0" y="127000"/>
                </a:moveTo>
                <a:lnTo>
                  <a:pt x="0" y="127000"/>
                </a:lnTo>
                <a:arcTo hR="127000" wR="127000" stAng="10800000" swAng="5400000"/>
                <a:lnTo>
                  <a:pt x="6159262" y="0"/>
                </a:lnTo>
                <a:arcTo hR="127000" wR="127000" stAng="16200000" swAng="5400000"/>
                <a:lnTo>
                  <a:pt x="6286262" y="127000"/>
                </a:lnTo>
                <a:arcTo hR="88900" wR="127000" stAng="0" swAng="-5400000"/>
                <a:lnTo>
                  <a:pt x="127000" y="38100"/>
                </a:lnTo>
                <a:arcTo hR="88900" wR="127000" stAng="16200000" swAng="-5400000"/>
                <a:close/>
              </a:path>
            </a:pathLst>
          </a:custGeom>
          <a:solidFill>
            <a:srgbClr val="1A7F37"/>
          </a:solidFill>
          <a:ln/>
        </p:spPr>
      </p:sp>
      <p:sp>
        <p:nvSpPr>
          <p:cNvPr id="6" name="Text 4"/>
          <p:cNvSpPr/>
          <p:nvPr/>
        </p:nvSpPr>
        <p:spPr>
          <a:xfrm>
            <a:off x="711200" y="1778000"/>
            <a:ext cx="59516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7F37"/>
                </a:solidFill>
                <a:latin typeface="IBM Plex Sans" pitchFamily="34" charset="0"/>
                <a:ea typeface="IBM Plex Sans" pitchFamily="34" charset="-122"/>
                <a:cs typeface="IBM Plex Sans" pitchFamily="34" charset="-120"/>
              </a:rPr>
              <a:t>Плюсы</a:t>
            </a:r>
            <a:endParaRPr lang="en-US" sz="2000" dirty="0"/>
          </a:p>
        </p:txBody>
      </p:sp>
      <p:sp>
        <p:nvSpPr>
          <p:cNvPr id="7" name="Text 5"/>
          <p:cNvSpPr/>
          <p:nvPr/>
        </p:nvSpPr>
        <p:spPr>
          <a:xfrm>
            <a:off x="761746" y="2184400"/>
            <a:ext cx="5893444" cy="1903730"/>
          </a:xfrm>
          <a:prstGeom prst="rect">
            <a:avLst/>
          </a:prstGeom>
          <a:noFill/>
          <a:ln/>
        </p:spPr>
        <p:txBody>
          <a:bodyPr wrap="square" lIns="0" tIns="0" rIns="0" bIns="0" rtlCol="0" anchor="t">
            <a:normAutofit/>
          </a:bodyPr>
          <a:lstStyle/>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Надёжный код - быстрее поставка</a:t>
            </a:r>
            <a:endParaRPr lang="en-US" sz="1700" dirty="0"/>
          </a:p>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Код гибкий: рефакторинг с минимальным риском</a:t>
            </a:r>
            <a:endParaRPr lang="en-US" sz="1700" dirty="0"/>
          </a:p>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Тесты сами проверены: каждый сначала падает - минимум ложных срабатываний</a:t>
            </a:r>
            <a:endParaRPr lang="en-US" sz="1700" dirty="0"/>
          </a:p>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Код легко тестировать</a:t>
            </a:r>
            <a:endParaRPr lang="en-US" sz="1700" dirty="0"/>
          </a:p>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Нет лишнего кода - только под требования</a:t>
            </a:r>
            <a:endParaRPr lang="en-US" sz="1700" dirty="0"/>
          </a:p>
        </p:txBody>
      </p:sp>
      <p:sp>
        <p:nvSpPr>
          <p:cNvPr id="8" name="Shape 6"/>
          <p:cNvSpPr/>
          <p:nvPr/>
        </p:nvSpPr>
        <p:spPr>
          <a:xfrm>
            <a:off x="6946662" y="1488442"/>
            <a:ext cx="4788138" cy="4912360"/>
          </a:xfrm>
          <a:prstGeom prst="roundRect">
            <a:avLst>
              <a:gd name="adj" fmla="val 2652"/>
            </a:avLst>
          </a:prstGeom>
          <a:solidFill>
            <a:srgbClr val="EDF1F5"/>
          </a:solidFill>
          <a:ln/>
        </p:spPr>
      </p:sp>
      <p:sp>
        <p:nvSpPr>
          <p:cNvPr id="9" name="Shape 7"/>
          <p:cNvSpPr/>
          <p:nvPr/>
        </p:nvSpPr>
        <p:spPr>
          <a:xfrm>
            <a:off x="6946662" y="1488442"/>
            <a:ext cx="4788138" cy="4912360"/>
          </a:xfrm>
          <a:custGeom>
            <a:avLst/>
            <a:gdLst/>
            <a:ahLst/>
            <a:cxnLst/>
            <a:rect l="l" t="t" r="r" b="b"/>
            <a:pathLst>
              <a:path w="4788138" h="4912360">
                <a:moveTo>
                  <a:pt x="0" y="127000"/>
                </a:moveTo>
                <a:lnTo>
                  <a:pt x="0" y="127000"/>
                </a:lnTo>
                <a:arcTo hR="127000" wR="127000" stAng="10800000" swAng="5400000"/>
                <a:lnTo>
                  <a:pt x="4661138" y="0"/>
                </a:lnTo>
                <a:arcTo hR="127000" wR="127000" stAng="16200000" swAng="5400000"/>
                <a:lnTo>
                  <a:pt x="4788138" y="127000"/>
                </a:lnTo>
                <a:arcTo hR="88900" wR="127000" stAng="0" swAng="-5400000"/>
                <a:lnTo>
                  <a:pt x="127000" y="38100"/>
                </a:lnTo>
                <a:arcTo hR="88900" wR="127000" stAng="16200000" swAng="-5400000"/>
                <a:close/>
              </a:path>
            </a:pathLst>
          </a:custGeom>
          <a:solidFill>
            <a:srgbClr val="B85400"/>
          </a:solidFill>
          <a:ln/>
        </p:spPr>
      </p:sp>
      <p:sp>
        <p:nvSpPr>
          <p:cNvPr id="10" name="Text 8"/>
          <p:cNvSpPr/>
          <p:nvPr/>
        </p:nvSpPr>
        <p:spPr>
          <a:xfrm>
            <a:off x="7200662" y="1778000"/>
            <a:ext cx="44085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5400"/>
                </a:solidFill>
                <a:latin typeface="IBM Plex Sans" pitchFamily="34" charset="0"/>
                <a:ea typeface="IBM Plex Sans" pitchFamily="34" charset="-122"/>
                <a:cs typeface="IBM Plex Sans" pitchFamily="34" charset="-120"/>
              </a:rPr>
              <a:t>Минусы</a:t>
            </a:r>
            <a:endParaRPr lang="en-US" sz="2000" dirty="0"/>
          </a:p>
        </p:txBody>
      </p:sp>
      <p:sp>
        <p:nvSpPr>
          <p:cNvPr id="11" name="Text 9"/>
          <p:cNvSpPr/>
          <p:nvPr/>
        </p:nvSpPr>
        <p:spPr>
          <a:xfrm>
            <a:off x="7251208" y="2184400"/>
            <a:ext cx="4350377" cy="1590675"/>
          </a:xfrm>
          <a:prstGeom prst="rect">
            <a:avLst/>
          </a:prstGeom>
          <a:noFill/>
          <a:ln/>
        </p:spPr>
        <p:txBody>
          <a:bodyPr wrap="square" lIns="0" tIns="0" rIns="0" bIns="0" rtlCol="0" anchor="t">
            <a:normAutofit/>
          </a:bodyPr>
          <a:lstStyle/>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Больше времени на код и тесты</a:t>
            </a:r>
            <a:endParaRPr lang="en-US" sz="1700" dirty="0"/>
          </a:p>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Нужен большой опыт: плохие тесты обесценивают подход</a:t>
            </a:r>
            <a:endParaRPr lang="en-US" sz="1700" dirty="0"/>
          </a:p>
          <a:p>
            <a:pPr algn="l" marL="203454" indent="-203454">
              <a:lnSpc>
                <a:spcPts val="2465"/>
              </a:lnSpc>
              <a:buSzPct val="100000"/>
              <a:buChar char="•"/>
            </a:pPr>
            <a:r>
              <a:rPr lang="en-US" sz="1700" dirty="0">
                <a:solidFill>
                  <a:srgbClr val="13233A"/>
                </a:solidFill>
                <a:latin typeface="IBM Plex Sans" pitchFamily="34" charset="0"/>
                <a:ea typeface="IBM Plex Sans" pitchFamily="34" charset="-122"/>
                <a:cs typeface="IBM Plex Sans" pitchFamily="34" charset="-120"/>
              </a:rPr>
              <a:t>Некоторые тесты сложно написать - например, для GUI</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03 · TDD</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TDD и тесты на практике</a:t>
            </a:r>
            <a:endParaRPr lang="en-US" sz="3200" dirty="0"/>
          </a:p>
        </p:txBody>
      </p:sp>
      <p:sp>
        <p:nvSpPr>
          <p:cNvPr id="4" name="Shape 2"/>
          <p:cNvSpPr/>
          <p:nvPr/>
        </p:nvSpPr>
        <p:spPr>
          <a:xfrm>
            <a:off x="457200" y="2100585"/>
            <a:ext cx="4699000" cy="3688080"/>
          </a:xfrm>
          <a:prstGeom prst="roundRect">
            <a:avLst>
              <a:gd name="adj" fmla="val 3444"/>
            </a:avLst>
          </a:prstGeom>
          <a:solidFill>
            <a:srgbClr val="E3F1E6"/>
          </a:solidFill>
          <a:ln/>
        </p:spPr>
      </p:sp>
      <p:sp>
        <p:nvSpPr>
          <p:cNvPr id="5" name="Text 3"/>
          <p:cNvSpPr/>
          <p:nvPr/>
        </p:nvSpPr>
        <p:spPr>
          <a:xfrm>
            <a:off x="685800" y="2329185"/>
            <a:ext cx="4369054"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ТИПИЧНЫЙ НАБОР ТЕСТОВ</a:t>
            </a:r>
            <a:endParaRPr lang="en-US" sz="1500" dirty="0"/>
          </a:p>
        </p:txBody>
      </p:sp>
      <p:sp>
        <p:nvSpPr>
          <p:cNvPr id="6" name="Shape 4"/>
          <p:cNvSpPr/>
          <p:nvPr/>
        </p:nvSpPr>
        <p:spPr>
          <a:xfrm>
            <a:off x="685800" y="2697485"/>
            <a:ext cx="4241800" cy="886460"/>
          </a:xfrm>
          <a:prstGeom prst="roundRect">
            <a:avLst>
              <a:gd name="adj" fmla="val 10029"/>
            </a:avLst>
          </a:prstGeom>
          <a:solidFill>
            <a:srgbClr val="F8FAFB"/>
          </a:solidFill>
          <a:ln/>
        </p:spPr>
      </p:sp>
      <p:sp>
        <p:nvSpPr>
          <p:cNvPr id="7" name="Text 5"/>
          <p:cNvSpPr/>
          <p:nvPr/>
        </p:nvSpPr>
        <p:spPr>
          <a:xfrm>
            <a:off x="850900" y="2824485"/>
            <a:ext cx="40289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1 интеграционный тест</a:t>
            </a:r>
            <a:endParaRPr lang="en-US" sz="2000" dirty="0"/>
          </a:p>
        </p:txBody>
      </p:sp>
      <p:sp>
        <p:nvSpPr>
          <p:cNvPr id="8" name="Text 6"/>
          <p:cNvSpPr/>
          <p:nvPr/>
        </p:nvSpPr>
        <p:spPr>
          <a:xfrm>
            <a:off x="850900" y="3154685"/>
            <a:ext cx="4028948"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на каждую ручку (эндпоинт)</a:t>
            </a:r>
            <a:endParaRPr lang="en-US" sz="1700" dirty="0"/>
          </a:p>
        </p:txBody>
      </p:sp>
      <p:sp>
        <p:nvSpPr>
          <p:cNvPr id="9" name="Shape 7"/>
          <p:cNvSpPr/>
          <p:nvPr/>
        </p:nvSpPr>
        <p:spPr>
          <a:xfrm>
            <a:off x="685800" y="3685542"/>
            <a:ext cx="4241800" cy="886460"/>
          </a:xfrm>
          <a:prstGeom prst="roundRect">
            <a:avLst>
              <a:gd name="adj" fmla="val 10029"/>
            </a:avLst>
          </a:prstGeom>
          <a:solidFill>
            <a:srgbClr val="F8FAFB"/>
          </a:solidFill>
          <a:ln/>
        </p:spPr>
      </p:sp>
      <p:sp>
        <p:nvSpPr>
          <p:cNvPr id="10" name="Text 8"/>
          <p:cNvSpPr/>
          <p:nvPr/>
        </p:nvSpPr>
        <p:spPr>
          <a:xfrm>
            <a:off x="850900" y="3812542"/>
            <a:ext cx="40289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Тесты бизнес-логики</a:t>
            </a:r>
            <a:endParaRPr lang="en-US" sz="2000" dirty="0"/>
          </a:p>
        </p:txBody>
      </p:sp>
      <p:sp>
        <p:nvSpPr>
          <p:cNvPr id="11" name="Text 9"/>
          <p:cNvSpPr/>
          <p:nvPr/>
        </p:nvSpPr>
        <p:spPr>
          <a:xfrm>
            <a:off x="850900" y="4142742"/>
            <a:ext cx="40767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1 успешный и все неуспешные кейсы</a:t>
            </a:r>
            <a:endParaRPr lang="en-US" sz="1700" dirty="0"/>
          </a:p>
        </p:txBody>
      </p:sp>
      <p:sp>
        <p:nvSpPr>
          <p:cNvPr id="12" name="Shape 10"/>
          <p:cNvSpPr/>
          <p:nvPr/>
        </p:nvSpPr>
        <p:spPr>
          <a:xfrm>
            <a:off x="685800" y="4673600"/>
            <a:ext cx="4241800" cy="886460"/>
          </a:xfrm>
          <a:prstGeom prst="roundRect">
            <a:avLst>
              <a:gd name="adj" fmla="val 10029"/>
            </a:avLst>
          </a:prstGeom>
          <a:solidFill>
            <a:srgbClr val="F8FAFB"/>
          </a:solidFill>
          <a:ln/>
        </p:spPr>
      </p:sp>
      <p:sp>
        <p:nvSpPr>
          <p:cNvPr id="13" name="Text 11"/>
          <p:cNvSpPr/>
          <p:nvPr/>
        </p:nvSpPr>
        <p:spPr>
          <a:xfrm>
            <a:off x="850900" y="4800600"/>
            <a:ext cx="40289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E2E-тесты</a:t>
            </a:r>
            <a:endParaRPr lang="en-US" sz="2000" dirty="0"/>
          </a:p>
        </p:txBody>
      </p:sp>
      <p:sp>
        <p:nvSpPr>
          <p:cNvPr id="14" name="Text 12"/>
          <p:cNvSpPr/>
          <p:nvPr/>
        </p:nvSpPr>
        <p:spPr>
          <a:xfrm>
            <a:off x="850900" y="5130800"/>
            <a:ext cx="4028948"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на пользовательские сценарии</a:t>
            </a:r>
            <a:endParaRPr lang="en-US" sz="1700" dirty="0"/>
          </a:p>
        </p:txBody>
      </p:sp>
      <p:sp>
        <p:nvSpPr>
          <p:cNvPr id="15" name="Text 13"/>
          <p:cNvSpPr/>
          <p:nvPr/>
        </p:nvSpPr>
        <p:spPr>
          <a:xfrm>
            <a:off x="5479034" y="2784475"/>
            <a:ext cx="6437122" cy="2345690"/>
          </a:xfrm>
          <a:prstGeom prst="rect">
            <a:avLst/>
          </a:prstGeom>
          <a:noFill/>
          <a:ln/>
        </p:spPr>
        <p:txBody>
          <a:bodyPr wrap="square" lIns="0" tIns="0" rIns="0" bIns="0" rtlCol="0" anchor="t">
            <a:normAutofit/>
          </a:bodyPr>
          <a:lstStyle/>
          <a:p>
            <a:pPr algn="l" marL="210566" indent="-210566">
              <a:lnSpc>
                <a:spcPts val="2610"/>
              </a:lnSpc>
              <a:buSzPct val="100000"/>
              <a:buChar char="•"/>
            </a:pPr>
            <a:r>
              <a:rPr lang="en-US" sz="1800" dirty="0">
                <a:solidFill>
                  <a:srgbClr val="13233A"/>
                </a:solidFill>
                <a:latin typeface="IBM Plex Sans" pitchFamily="34" charset="0"/>
                <a:ea typeface="IBM Plex Sans" pitchFamily="34" charset="-122"/>
                <a:cs typeface="IBM Plex Sans" pitchFamily="34" charset="-120"/>
              </a:rPr>
              <a:t>TDD не обязателен: многие команды работают по другим методологиям.</a:t>
            </a:r>
            <a:endParaRPr lang="en-US" sz="1800" dirty="0"/>
          </a:p>
          <a:p>
            <a:pPr algn="l" marL="210566" indent="-210566">
              <a:lnSpc>
                <a:spcPts val="2610"/>
              </a:lnSpc>
              <a:buSzPct val="100000"/>
              <a:buChar char="•"/>
            </a:pPr>
            <a:r>
              <a:rPr lang="en-US" sz="1800" dirty="0">
                <a:solidFill>
                  <a:srgbClr val="13233A"/>
                </a:solidFill>
                <a:latin typeface="IBM Plex Sans" pitchFamily="34" charset="0"/>
                <a:ea typeface="IBM Plex Sans" pitchFamily="34" charset="-122"/>
                <a:cs typeface="IBM Plex Sans" pitchFamily="34" charset="-120"/>
              </a:rPr>
              <a:t>Старт по TDD: интерфейсы с пустой реализацией, затем тесты.</a:t>
            </a:r>
            <a:endParaRPr lang="en-US" sz="1800" dirty="0"/>
          </a:p>
          <a:p>
            <a:pPr algn="l" marL="210566" indent="-210566">
              <a:lnSpc>
                <a:spcPts val="2610"/>
              </a:lnSpc>
              <a:buSzPct val="100000"/>
              <a:buChar char="•"/>
            </a:pPr>
            <a:r>
              <a:rPr lang="en-US" sz="1800" dirty="0">
                <a:solidFill>
                  <a:srgbClr val="13233A"/>
                </a:solidFill>
                <a:latin typeface="IBM Plex Sans" pitchFamily="34" charset="0"/>
                <a:ea typeface="IBM Plex Sans" pitchFamily="34" charset="-122"/>
                <a:cs typeface="IBM Plex Sans" pitchFamily="34" charset="-120"/>
              </a:rPr>
              <a:t>Высокий % покрытия не обязателен; много багов - покрытие растят.</a:t>
            </a:r>
            <a:endParaRPr lang="en-US" sz="1800" dirty="0"/>
          </a:p>
          <a:p>
            <a:pPr algn="l" marL="210566" indent="-210566">
              <a:lnSpc>
                <a:spcPts val="2610"/>
              </a:lnSpc>
              <a:buSzPct val="100000"/>
              <a:buChar char="•"/>
            </a:pPr>
            <a:r>
              <a:rPr lang="en-US" sz="1800" dirty="0">
                <a:solidFill>
                  <a:srgbClr val="13233A"/>
                </a:solidFill>
                <a:latin typeface="IBM Plex Sans" pitchFamily="34" charset="0"/>
                <a:ea typeface="IBM Plex Sans" pitchFamily="34" charset="-122"/>
                <a:cs typeface="IBM Plex Sans" pitchFamily="34" charset="-120"/>
              </a:rPr>
              <a:t>Хрупкие тесты всплывают при рефакторинге.</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nvSpPr>
        <p:spPr>
          <a:xfrm>
            <a:off x="812800" y="2476500"/>
            <a:ext cx="2621375" cy="1930400"/>
          </a:xfrm>
          <a:prstGeom prst="rect">
            <a:avLst/>
          </a:prstGeom>
          <a:noFill/>
          <a:ln/>
        </p:spPr>
        <p:txBody>
          <a:bodyPr wrap="square" lIns="0" tIns="0" rIns="0" bIns="0" rtlCol="0" anchor="t">
            <a:normAutofit/>
          </a:bodyPr>
          <a:lstStyle/>
          <a:p>
            <a:pPr algn="l" indent="0" marL="0">
              <a:lnSpc>
                <a:spcPts val="15000"/>
              </a:lnSpc>
              <a:buNone/>
            </a:pPr>
            <a:r>
              <a:rPr lang="en-US" sz="15000" spc="-400" kern="0" dirty="0">
                <a:solidFill>
                  <a:srgbClr val="1A7F37"/>
                </a:solidFill>
                <a:latin typeface="IBM Plex Sans" pitchFamily="34" charset="0"/>
                <a:ea typeface="IBM Plex Sans" pitchFamily="34" charset="-122"/>
                <a:cs typeface="IBM Plex Sans" pitchFamily="34" charset="-120"/>
              </a:rPr>
              <a:t>04</a:t>
            </a:r>
            <a:endParaRPr lang="en-US" sz="15000" dirty="0"/>
          </a:p>
        </p:txBody>
      </p:sp>
      <p:sp>
        <p:nvSpPr>
          <p:cNvPr id="4" name="Text 2"/>
          <p:cNvSpPr/>
          <p:nvPr>
            <p:ph type="title"/>
          </p:nvPr>
        </p:nvSpPr>
        <p:spPr>
          <a:xfrm>
            <a:off x="3454479" y="2867670"/>
            <a:ext cx="5817448"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3233A"/>
                </a:solidFill>
                <a:latin typeface="IBM Plex Sans" pitchFamily="34" charset="0"/>
                <a:ea typeface="IBM Plex Sans" pitchFamily="34" charset="-122"/>
                <a:cs typeface="IBM Plex Sans" pitchFamily="34" charset="-120"/>
              </a:rPr>
              <a:t>Unit-тесты в C#</a:t>
            </a:r>
            <a:endParaRPr lang="en-US" sz="4800" dirty="0"/>
          </a:p>
        </p:txBody>
      </p:sp>
      <p:sp>
        <p:nvSpPr>
          <p:cNvPr id="5" name="Text 3"/>
          <p:cNvSpPr/>
          <p:nvPr/>
        </p:nvSpPr>
        <p:spPr>
          <a:xfrm>
            <a:off x="3454479" y="3634755"/>
            <a:ext cx="6777609"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C6C7D"/>
                </a:solidFill>
                <a:latin typeface="IBM Plex Sans" pitchFamily="34" charset="0"/>
                <a:ea typeface="IBM Plex Sans" pitchFamily="34" charset="-122"/>
                <a:cs typeface="IBM Plex Sans" pitchFamily="34" charset="-120"/>
              </a:rPr>
              <a:t>Фреймворки, атрибуты xUnit и общий контекст</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UNIT-ТЕСТЫ В C#</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Фреймворки тестирования</a:t>
            </a:r>
            <a:endParaRPr lang="en-US" sz="3200" dirty="0"/>
          </a:p>
        </p:txBody>
      </p:sp>
      <p:sp>
        <p:nvSpPr>
          <p:cNvPr id="4" name="Shape 2"/>
          <p:cNvSpPr/>
          <p:nvPr/>
        </p:nvSpPr>
        <p:spPr>
          <a:xfrm>
            <a:off x="457200" y="1488455"/>
            <a:ext cx="3640614" cy="4371340"/>
          </a:xfrm>
          <a:prstGeom prst="roundRect">
            <a:avLst>
              <a:gd name="adj" fmla="val 3488"/>
            </a:avLst>
          </a:prstGeom>
          <a:solidFill>
            <a:srgbClr val="EDF1F5"/>
          </a:solidFill>
          <a:ln/>
        </p:spPr>
      </p:sp>
      <p:sp>
        <p:nvSpPr>
          <p:cNvPr id="5" name="Shape 3"/>
          <p:cNvSpPr/>
          <p:nvPr/>
        </p:nvSpPr>
        <p:spPr>
          <a:xfrm>
            <a:off x="457200" y="1488455"/>
            <a:ext cx="3640614" cy="4371340"/>
          </a:xfrm>
          <a:custGeom>
            <a:avLst/>
            <a:gdLst/>
            <a:ahLst/>
            <a:cxnLst/>
            <a:rect l="l" t="t" r="r" b="b"/>
            <a:pathLst>
              <a:path w="3640614" h="4371340">
                <a:moveTo>
                  <a:pt x="0" y="127000"/>
                </a:moveTo>
                <a:lnTo>
                  <a:pt x="0" y="127000"/>
                </a:lnTo>
                <a:arcTo hR="127000" wR="127000" stAng="10800000" swAng="5400000"/>
                <a:lnTo>
                  <a:pt x="3513614" y="0"/>
                </a:lnTo>
                <a:arcTo hR="127000" wR="127000" stAng="16200000" swAng="5400000"/>
                <a:lnTo>
                  <a:pt x="3640614" y="127000"/>
                </a:lnTo>
                <a:arcTo hR="88900" wR="127000" stAng="0" swAng="-5400000"/>
                <a:lnTo>
                  <a:pt x="127000" y="38100"/>
                </a:lnTo>
                <a:arcTo hR="88900" wR="127000" stAng="16200000" swAng="-5400000"/>
                <a:close/>
              </a:path>
            </a:pathLst>
          </a:custGeom>
          <a:solidFill>
            <a:srgbClr val="1A7F37"/>
          </a:solidFill>
          <a:ln/>
        </p:spPr>
      </p:sp>
      <p:sp>
        <p:nvSpPr>
          <p:cNvPr id="6" name="Text 4"/>
          <p:cNvSpPr/>
          <p:nvPr/>
        </p:nvSpPr>
        <p:spPr>
          <a:xfrm>
            <a:off x="711200" y="1778000"/>
            <a:ext cx="3226592"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A7F37"/>
                </a:solidFill>
                <a:latin typeface="JetBrains Mono" pitchFamily="49" charset="0"/>
                <a:ea typeface="JetBrains Mono" pitchFamily="49" charset="-122"/>
                <a:cs typeface="JetBrains Mono" pitchFamily="49" charset="-120"/>
              </a:rPr>
              <a:t>xUnit.net</a:t>
            </a:r>
            <a:endParaRPr lang="en-US" sz="2400" dirty="0"/>
          </a:p>
        </p:txBody>
      </p:sp>
      <p:sp>
        <p:nvSpPr>
          <p:cNvPr id="7" name="Text 5"/>
          <p:cNvSpPr/>
          <p:nvPr/>
        </p:nvSpPr>
        <p:spPr>
          <a:xfrm>
            <a:off x="711200" y="2270770"/>
            <a:ext cx="3226592" cy="1603375"/>
          </a:xfrm>
          <a:prstGeom prst="rect">
            <a:avLst/>
          </a:prstGeom>
          <a:noFill/>
          <a:ln/>
        </p:spPr>
        <p:txBody>
          <a:bodyPr wrap="square" lIns="0" tIns="0" rIns="0" bIns="0" rtlCol="0" anchor="t">
            <a:normAutofit/>
          </a:bodyPr>
          <a:lstStyle/>
          <a:p>
            <a:pPr algn="l" indent="0" marL="0">
              <a:lnSpc>
                <a:spcPts val="2485"/>
              </a:lnSpc>
              <a:buNone/>
            </a:pPr>
            <a:r>
              <a:rPr lang="en-US" sz="1750" dirty="0">
                <a:solidFill>
                  <a:srgbClr val="3A4B5E"/>
                </a:solidFill>
                <a:latin typeface="IBM Plex Sans" pitchFamily="34" charset="0"/>
                <a:ea typeface="IBM Plex Sans" pitchFamily="34" charset="-122"/>
                <a:cs typeface="IBM Plex Sans" pitchFamily="34" charset="-120"/>
              </a:rPr>
              <a:t>Создан одним из авторов NUnit, исправляет его недостатки. Раньше вышел на .NET Core. Каждый тест - в своём экземпляре класса.</a:t>
            </a:r>
            <a:endParaRPr lang="en-US" sz="1750" dirty="0"/>
          </a:p>
        </p:txBody>
      </p:sp>
      <p:sp>
        <p:nvSpPr>
          <p:cNvPr id="8" name="Shape 6"/>
          <p:cNvSpPr/>
          <p:nvPr/>
        </p:nvSpPr>
        <p:spPr>
          <a:xfrm>
            <a:off x="4275614" y="1488455"/>
            <a:ext cx="3640693" cy="4371340"/>
          </a:xfrm>
          <a:prstGeom prst="roundRect">
            <a:avLst>
              <a:gd name="adj" fmla="val 3488"/>
            </a:avLst>
          </a:prstGeom>
          <a:solidFill>
            <a:srgbClr val="EDF1F5"/>
          </a:solidFill>
          <a:ln/>
        </p:spPr>
      </p:sp>
      <p:sp>
        <p:nvSpPr>
          <p:cNvPr id="9" name="Shape 7"/>
          <p:cNvSpPr/>
          <p:nvPr/>
        </p:nvSpPr>
        <p:spPr>
          <a:xfrm>
            <a:off x="4275614" y="1488455"/>
            <a:ext cx="3640693" cy="4371340"/>
          </a:xfrm>
          <a:custGeom>
            <a:avLst/>
            <a:gdLst/>
            <a:ahLst/>
            <a:cxnLst/>
            <a:rect l="l" t="t" r="r" b="b"/>
            <a:pathLst>
              <a:path w="3640693" h="4371340">
                <a:moveTo>
                  <a:pt x="0" y="127000"/>
                </a:moveTo>
                <a:lnTo>
                  <a:pt x="0" y="127000"/>
                </a:lnTo>
                <a:arcTo hR="127000" wR="127000" stAng="10800000" swAng="5400000"/>
                <a:lnTo>
                  <a:pt x="3513693" y="0"/>
                </a:lnTo>
                <a:arcTo hR="127000" wR="127000" stAng="16200000" swAng="5400000"/>
                <a:lnTo>
                  <a:pt x="3640693" y="127000"/>
                </a:lnTo>
                <a:arcTo hR="88900" wR="127000" stAng="0" swAng="-5400000"/>
                <a:lnTo>
                  <a:pt x="127000" y="38100"/>
                </a:lnTo>
                <a:arcTo hR="88900" wR="127000" stAng="16200000" swAng="-5400000"/>
                <a:close/>
              </a:path>
            </a:pathLst>
          </a:custGeom>
          <a:solidFill>
            <a:srgbClr val="1F5FBF"/>
          </a:solidFill>
          <a:ln/>
        </p:spPr>
      </p:sp>
      <p:sp>
        <p:nvSpPr>
          <p:cNvPr id="10" name="Text 8"/>
          <p:cNvSpPr/>
          <p:nvPr/>
        </p:nvSpPr>
        <p:spPr>
          <a:xfrm>
            <a:off x="4529614" y="1778000"/>
            <a:ext cx="3226674"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F5FBF"/>
                </a:solidFill>
                <a:latin typeface="JetBrains Mono" pitchFamily="49" charset="0"/>
                <a:ea typeface="JetBrains Mono" pitchFamily="49" charset="-122"/>
                <a:cs typeface="JetBrains Mono" pitchFamily="49" charset="-120"/>
              </a:rPr>
              <a:t>NUnit</a:t>
            </a:r>
            <a:endParaRPr lang="en-US" sz="2400" dirty="0"/>
          </a:p>
        </p:txBody>
      </p:sp>
      <p:sp>
        <p:nvSpPr>
          <p:cNvPr id="11" name="Text 9"/>
          <p:cNvSpPr/>
          <p:nvPr/>
        </p:nvSpPr>
        <p:spPr>
          <a:xfrm>
            <a:off x="4529614" y="2270770"/>
            <a:ext cx="3226674" cy="1287780"/>
          </a:xfrm>
          <a:prstGeom prst="rect">
            <a:avLst/>
          </a:prstGeom>
          <a:noFill/>
          <a:ln/>
        </p:spPr>
        <p:txBody>
          <a:bodyPr wrap="square" lIns="0" tIns="0" rIns="0" bIns="0" rtlCol="0" anchor="t">
            <a:normAutofit/>
          </a:bodyPr>
          <a:lstStyle/>
          <a:p>
            <a:pPr algn="l" indent="0" marL="0">
              <a:lnSpc>
                <a:spcPts val="2485"/>
              </a:lnSpc>
              <a:buNone/>
            </a:pPr>
            <a:r>
              <a:rPr lang="en-US" sz="1750" dirty="0">
                <a:solidFill>
                  <a:srgbClr val="3A4B5E"/>
                </a:solidFill>
                <a:latin typeface="IBM Plex Sans" pitchFamily="34" charset="0"/>
                <a:ea typeface="IBM Plex Sans" pitchFamily="34" charset="-122"/>
                <a:cs typeface="IBM Plex Sans" pitchFamily="34" charset="-120"/>
              </a:rPr>
              <a:t>Исторически один экземпляр тестового класса на все тесты. Сейчас тоже умеет изолировать контекст.</a:t>
            </a:r>
            <a:endParaRPr lang="en-US" sz="1750" dirty="0"/>
          </a:p>
        </p:txBody>
      </p:sp>
      <p:sp>
        <p:nvSpPr>
          <p:cNvPr id="12" name="Shape 10"/>
          <p:cNvSpPr/>
          <p:nvPr/>
        </p:nvSpPr>
        <p:spPr>
          <a:xfrm>
            <a:off x="8094107" y="1488455"/>
            <a:ext cx="3640693" cy="4371340"/>
          </a:xfrm>
          <a:prstGeom prst="roundRect">
            <a:avLst>
              <a:gd name="adj" fmla="val 3488"/>
            </a:avLst>
          </a:prstGeom>
          <a:solidFill>
            <a:srgbClr val="EDF1F5"/>
          </a:solidFill>
          <a:ln/>
        </p:spPr>
      </p:sp>
      <p:sp>
        <p:nvSpPr>
          <p:cNvPr id="13" name="Shape 11"/>
          <p:cNvSpPr/>
          <p:nvPr/>
        </p:nvSpPr>
        <p:spPr>
          <a:xfrm>
            <a:off x="8094107" y="1488455"/>
            <a:ext cx="3640693" cy="4371340"/>
          </a:xfrm>
          <a:custGeom>
            <a:avLst/>
            <a:gdLst/>
            <a:ahLst/>
            <a:cxnLst/>
            <a:rect l="l" t="t" r="r" b="b"/>
            <a:pathLst>
              <a:path w="3640693" h="4371340">
                <a:moveTo>
                  <a:pt x="0" y="127000"/>
                </a:moveTo>
                <a:lnTo>
                  <a:pt x="0" y="127000"/>
                </a:lnTo>
                <a:arcTo hR="127000" wR="127000" stAng="10800000" swAng="5400000"/>
                <a:lnTo>
                  <a:pt x="3513693" y="0"/>
                </a:lnTo>
                <a:arcTo hR="127000" wR="127000" stAng="16200000" swAng="5400000"/>
                <a:lnTo>
                  <a:pt x="3640693" y="127000"/>
                </a:lnTo>
                <a:arcTo hR="88900" wR="127000" stAng="0" swAng="-5400000"/>
                <a:lnTo>
                  <a:pt x="127000" y="38100"/>
                </a:lnTo>
                <a:arcTo hR="88900" wR="127000" stAng="16200000" swAng="-5400000"/>
                <a:close/>
              </a:path>
            </a:pathLst>
          </a:custGeom>
          <a:solidFill>
            <a:srgbClr val="B85400"/>
          </a:solidFill>
          <a:ln/>
        </p:spPr>
      </p:sp>
      <p:sp>
        <p:nvSpPr>
          <p:cNvPr id="14" name="Text 12"/>
          <p:cNvSpPr/>
          <p:nvPr/>
        </p:nvSpPr>
        <p:spPr>
          <a:xfrm>
            <a:off x="8348107" y="1778000"/>
            <a:ext cx="3226674"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B85400"/>
                </a:solidFill>
                <a:latin typeface="JetBrains Mono" pitchFamily="49" charset="0"/>
                <a:ea typeface="JetBrains Mono" pitchFamily="49" charset="-122"/>
                <a:cs typeface="JetBrains Mono" pitchFamily="49" charset="-120"/>
              </a:rPr>
              <a:t>MSTest</a:t>
            </a:r>
            <a:endParaRPr lang="en-US" sz="2400" dirty="0"/>
          </a:p>
        </p:txBody>
      </p:sp>
      <p:sp>
        <p:nvSpPr>
          <p:cNvPr id="15" name="Text 13"/>
          <p:cNvSpPr/>
          <p:nvPr/>
        </p:nvSpPr>
        <p:spPr>
          <a:xfrm>
            <a:off x="8348107" y="2270770"/>
            <a:ext cx="3226674" cy="972185"/>
          </a:xfrm>
          <a:prstGeom prst="rect">
            <a:avLst/>
          </a:prstGeom>
          <a:noFill/>
          <a:ln/>
        </p:spPr>
        <p:txBody>
          <a:bodyPr wrap="square" lIns="0" tIns="0" rIns="0" bIns="0" rtlCol="0" anchor="t">
            <a:normAutofit/>
          </a:bodyPr>
          <a:lstStyle/>
          <a:p>
            <a:pPr algn="l" indent="0" marL="0">
              <a:lnSpc>
                <a:spcPts val="2485"/>
              </a:lnSpc>
              <a:buNone/>
            </a:pPr>
            <a:r>
              <a:rPr lang="en-US" sz="1750" dirty="0">
                <a:solidFill>
                  <a:srgbClr val="3A4B5E"/>
                </a:solidFill>
                <a:latin typeface="IBM Plex Sans" pitchFamily="34" charset="0"/>
                <a:ea typeface="IBM Plex Sans" pitchFamily="34" charset="-122"/>
                <a:cs typeface="IBM Plex Sans" pitchFamily="34" charset="-120"/>
              </a:rPr>
              <a:t>Раньше был проприетарным, сейчас open source и активно развивается.</a:t>
            </a:r>
            <a:endParaRPr lang="en-US" sz="1750" dirty="0"/>
          </a:p>
        </p:txBody>
      </p:sp>
      <p:sp>
        <p:nvSpPr>
          <p:cNvPr id="16" name="Text 14"/>
          <p:cNvSpPr/>
          <p:nvPr/>
        </p:nvSpPr>
        <p:spPr>
          <a:xfrm>
            <a:off x="457200" y="6062985"/>
            <a:ext cx="11615928" cy="36322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3A4B5E"/>
                </a:solidFill>
                <a:latin typeface="IBM Plex Sans" pitchFamily="34" charset="0"/>
                <a:ea typeface="IBM Plex Sans" pitchFamily="34" charset="-122"/>
                <a:cs typeface="IBM Plex Sans" pitchFamily="34" charset="-120"/>
              </a:rPr>
              <a:t>На практике используют все три, но популярнее всего </a:t>
            </a:r>
            <a:r>
              <a:rPr lang="en-US" sz="1900" b="1" dirty="0">
                <a:solidFill>
                  <a:srgbClr val="13233A"/>
                </a:solidFill>
                <a:latin typeface="IBM Plex Sans" pitchFamily="34" charset="0"/>
                <a:ea typeface="IBM Plex Sans" pitchFamily="34" charset="-122"/>
                <a:cs typeface="IBM Plex Sans" pitchFamily="34" charset="-120"/>
              </a:rPr>
              <a:t>xUnit</a:t>
            </a:r>
            <a:r>
              <a:rPr lang="en-US" sz="1900" dirty="0">
                <a:solidFill>
                  <a:srgbClr val="3A4B5E"/>
                </a:solidFill>
                <a:latin typeface="IBM Plex Sans" pitchFamily="34" charset="0"/>
                <a:ea typeface="IBM Plex Sans" pitchFamily="34" charset="-122"/>
                <a:cs typeface="IBM Plex Sans" pitchFamily="34" charset="-120"/>
              </a:rPr>
              <a:t>.</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UNIT-ТЕСТЫ В C#</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Основные понятия xUnit</a:t>
            </a:r>
            <a:endParaRPr lang="en-US" sz="3200" dirty="0"/>
          </a:p>
        </p:txBody>
      </p:sp>
      <p:sp>
        <p:nvSpPr>
          <p:cNvPr id="4" name="Shape 2"/>
          <p:cNvSpPr/>
          <p:nvPr/>
        </p:nvSpPr>
        <p:spPr>
          <a:xfrm>
            <a:off x="457200" y="2284735"/>
            <a:ext cx="11277600" cy="797560"/>
          </a:xfrm>
          <a:prstGeom prst="roundRect">
            <a:avLst>
              <a:gd name="adj" fmla="val 14331"/>
            </a:avLst>
          </a:prstGeom>
          <a:solidFill>
            <a:srgbClr val="EDF1F5"/>
          </a:solidFill>
          <a:ln/>
        </p:spPr>
      </p:sp>
      <p:sp>
        <p:nvSpPr>
          <p:cNvPr id="5" name="Text 3"/>
          <p:cNvSpPr/>
          <p:nvPr/>
        </p:nvSpPr>
        <p:spPr>
          <a:xfrm>
            <a:off x="711200" y="2487935"/>
            <a:ext cx="196215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F37"/>
                </a:solidFill>
                <a:latin typeface="JetBrains Mono" pitchFamily="49" charset="0"/>
                <a:ea typeface="JetBrains Mono" pitchFamily="49" charset="-122"/>
                <a:cs typeface="JetBrains Mono" pitchFamily="49" charset="-120"/>
              </a:rPr>
              <a:t>[Fact]</a:t>
            </a:r>
            <a:endParaRPr lang="en-US" sz="2200" dirty="0"/>
          </a:p>
        </p:txBody>
      </p:sp>
      <p:sp>
        <p:nvSpPr>
          <p:cNvPr id="6" name="Text 4"/>
          <p:cNvSpPr/>
          <p:nvPr/>
        </p:nvSpPr>
        <p:spPr>
          <a:xfrm>
            <a:off x="2870200" y="2487935"/>
            <a:ext cx="8868918" cy="36322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3233A"/>
                </a:solidFill>
                <a:latin typeface="IBM Plex Sans" pitchFamily="34" charset="0"/>
                <a:ea typeface="IBM Plex Sans" pitchFamily="34" charset="-122"/>
                <a:cs typeface="IBM Plex Sans" pitchFamily="34" charset="-120"/>
              </a:rPr>
              <a:t>Отдельный юнит-тест без параметров.</a:t>
            </a:r>
            <a:endParaRPr lang="en-US" sz="1900" dirty="0"/>
          </a:p>
        </p:txBody>
      </p:sp>
      <p:sp>
        <p:nvSpPr>
          <p:cNvPr id="7" name="Shape 5"/>
          <p:cNvSpPr/>
          <p:nvPr/>
        </p:nvSpPr>
        <p:spPr>
          <a:xfrm>
            <a:off x="457200" y="3234705"/>
            <a:ext cx="11277600" cy="797560"/>
          </a:xfrm>
          <a:prstGeom prst="roundRect">
            <a:avLst>
              <a:gd name="adj" fmla="val 14331"/>
            </a:avLst>
          </a:prstGeom>
          <a:solidFill>
            <a:srgbClr val="EDF1F5"/>
          </a:solidFill>
          <a:ln/>
        </p:spPr>
      </p:sp>
      <p:sp>
        <p:nvSpPr>
          <p:cNvPr id="8" name="Text 6"/>
          <p:cNvSpPr/>
          <p:nvPr/>
        </p:nvSpPr>
        <p:spPr>
          <a:xfrm>
            <a:off x="711200" y="3437905"/>
            <a:ext cx="196215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F37"/>
                </a:solidFill>
                <a:latin typeface="JetBrains Mono" pitchFamily="49" charset="0"/>
                <a:ea typeface="JetBrains Mono" pitchFamily="49" charset="-122"/>
                <a:cs typeface="JetBrains Mono" pitchFamily="49" charset="-120"/>
              </a:rPr>
              <a:t>[Theory]</a:t>
            </a:r>
            <a:endParaRPr lang="en-US" sz="2200" dirty="0"/>
          </a:p>
        </p:txBody>
      </p:sp>
      <p:sp>
        <p:nvSpPr>
          <p:cNvPr id="9" name="Text 7"/>
          <p:cNvSpPr/>
          <p:nvPr/>
        </p:nvSpPr>
        <p:spPr>
          <a:xfrm>
            <a:off x="2870200" y="3437905"/>
            <a:ext cx="8868918" cy="36322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3233A"/>
                </a:solidFill>
                <a:latin typeface="IBM Plex Sans" pitchFamily="34" charset="0"/>
                <a:ea typeface="IBM Plex Sans" pitchFamily="34" charset="-122"/>
                <a:cs typeface="IBM Plex Sans" pitchFamily="34" charset="-120"/>
              </a:rPr>
              <a:t>Тест с параметрами: один код - несколько сценариев.</a:t>
            </a:r>
            <a:endParaRPr lang="en-US" sz="1900" dirty="0"/>
          </a:p>
        </p:txBody>
      </p:sp>
      <p:sp>
        <p:nvSpPr>
          <p:cNvPr id="10" name="Shape 8"/>
          <p:cNvSpPr/>
          <p:nvPr/>
        </p:nvSpPr>
        <p:spPr>
          <a:xfrm>
            <a:off x="457200" y="4184650"/>
            <a:ext cx="11277600" cy="1419860"/>
          </a:xfrm>
          <a:prstGeom prst="roundRect">
            <a:avLst>
              <a:gd name="adj" fmla="val 8050"/>
            </a:avLst>
          </a:prstGeom>
          <a:solidFill>
            <a:srgbClr val="EDF1F5"/>
          </a:solidFill>
          <a:ln/>
        </p:spPr>
      </p:sp>
      <p:sp>
        <p:nvSpPr>
          <p:cNvPr id="11" name="Text 9"/>
          <p:cNvSpPr/>
          <p:nvPr/>
        </p:nvSpPr>
        <p:spPr>
          <a:xfrm>
            <a:off x="711200" y="4387850"/>
            <a:ext cx="196215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F37"/>
                </a:solidFill>
                <a:latin typeface="JetBrains Mono" pitchFamily="49" charset="0"/>
                <a:ea typeface="JetBrains Mono" pitchFamily="49" charset="-122"/>
                <a:cs typeface="JetBrains Mono" pitchFamily="49" charset="-120"/>
              </a:rPr>
              <a:t>Fixture</a:t>
            </a:r>
            <a:endParaRPr lang="en-US" sz="2200" dirty="0"/>
          </a:p>
        </p:txBody>
      </p:sp>
      <p:sp>
        <p:nvSpPr>
          <p:cNvPr id="12" name="Text 10"/>
          <p:cNvSpPr/>
          <p:nvPr/>
        </p:nvSpPr>
        <p:spPr>
          <a:xfrm>
            <a:off x="2870200" y="4387850"/>
            <a:ext cx="8868918" cy="103886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3233A"/>
                </a:solidFill>
                <a:latin typeface="IBM Plex Sans" pitchFamily="34" charset="0"/>
                <a:ea typeface="IBM Plex Sans" pitchFamily="34" charset="-122"/>
                <a:cs typeface="IBM Plex Sans" pitchFamily="34" charset="-120"/>
              </a:rPr>
              <a:t>Класс для настройки и очистки контекста. Подключается через IClassFixture или через коллекцию и ICollectionFixture - тогда контекст общий для нескольких классов.</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XUNIT</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[Fact]</a:t>
            </a:r>
            <a:endParaRPr lang="en-US" sz="3200" dirty="0"/>
          </a:p>
        </p:txBody>
      </p:sp>
      <p:sp>
        <p:nvSpPr>
          <p:cNvPr id="4" name="Text 2"/>
          <p:cNvSpPr/>
          <p:nvPr/>
        </p:nvSpPr>
        <p:spPr>
          <a:xfrm>
            <a:off x="457200" y="3058170"/>
            <a:ext cx="5816600" cy="970280"/>
          </a:xfrm>
          <a:prstGeom prst="roundRect">
            <a:avLst>
              <a:gd name="adj" fmla="val 10471"/>
            </a:avLst>
          </a:prstGeom>
          <a:solidFill>
            <a:srgbClr val="EDF1F5"/>
          </a:solidFill>
          <a:ln/>
        </p:spPr>
        <p:txBody>
          <a:bodyPr wrap="square" lIns="196302" tIns="135342" rIns="0"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Атрибут </a:t>
            </a:r>
            <a:r>
              <a:rPr lang="en-US" sz="1800" b="1" dirty="0">
                <a:solidFill>
                  <a:srgbClr val="13233A"/>
                </a:solidFill>
                <a:latin typeface="IBM Plex Sans" pitchFamily="34" charset="0"/>
                <a:ea typeface="IBM Plex Sans" pitchFamily="34" charset="-122"/>
                <a:cs typeface="IBM Plex Sans" pitchFamily="34" charset="-120"/>
              </a:rPr>
              <a:t>[Fact]</a:t>
            </a:r>
            <a:r>
              <a:rPr lang="en-US" sz="1800" dirty="0">
                <a:solidFill>
                  <a:srgbClr val="13233A"/>
                </a:solidFill>
                <a:latin typeface="IBM Plex Sans" pitchFamily="34" charset="0"/>
                <a:ea typeface="IBM Plex Sans" pitchFamily="34" charset="-122"/>
                <a:cs typeface="IBM Plex Sans" pitchFamily="34" charset="-120"/>
              </a:rPr>
              <a:t> объявляет метод теста, который выполняется средством запуска тестов.</a:t>
            </a:r>
            <a:endParaRPr lang="en-US" sz="1800" dirty="0"/>
          </a:p>
        </p:txBody>
      </p:sp>
      <p:sp>
        <p:nvSpPr>
          <p:cNvPr id="5" name="Shape 3"/>
          <p:cNvSpPr/>
          <p:nvPr/>
        </p:nvSpPr>
        <p:spPr>
          <a:xfrm>
            <a:off x="457200" y="3058170"/>
            <a:ext cx="5816600" cy="970280"/>
          </a:xfrm>
          <a:custGeom>
            <a:avLst/>
            <a:gdLst/>
            <a:ahLst/>
            <a:cxnLst/>
            <a:rect l="l" t="t" r="r" b="b"/>
            <a:pathLst>
              <a:path w="5816600" h="970280">
                <a:moveTo>
                  <a:pt x="101600" y="970280"/>
                </a:moveTo>
                <a:lnTo>
                  <a:pt x="101600" y="970280"/>
                </a:lnTo>
                <a:arcTo hR="101600" wR="101600" stAng="5400000" swAng="5400000"/>
                <a:lnTo>
                  <a:pt x="0" y="101600"/>
                </a:lnTo>
                <a:arcTo hR="101600" wR="101600" stAng="10800000" swAng="5400000"/>
                <a:lnTo>
                  <a:pt x="101600" y="0"/>
                </a:lnTo>
                <a:arcTo hR="101600" wR="63500" stAng="16200000" swAng="-5400000"/>
                <a:lnTo>
                  <a:pt x="38100" y="868680"/>
                </a:lnTo>
                <a:arcTo hR="101600" wR="63500" stAng="10800000" swAng="-5400000"/>
                <a:close/>
              </a:path>
            </a:pathLst>
          </a:custGeom>
          <a:solidFill>
            <a:srgbClr val="1A7F37"/>
          </a:solidFill>
          <a:ln/>
        </p:spPr>
      </p:sp>
      <p:sp>
        <p:nvSpPr>
          <p:cNvPr id="6" name="Text 4"/>
          <p:cNvSpPr/>
          <p:nvPr/>
        </p:nvSpPr>
        <p:spPr>
          <a:xfrm>
            <a:off x="457200" y="4180855"/>
            <a:ext cx="5816600" cy="650240"/>
          </a:xfrm>
          <a:prstGeom prst="roundRect">
            <a:avLst>
              <a:gd name="adj" fmla="val 15625"/>
            </a:avLst>
          </a:prstGeom>
          <a:solidFill>
            <a:srgbClr val="EDF1F5"/>
          </a:solidFill>
          <a:ln/>
        </p:spPr>
        <p:txBody>
          <a:bodyPr wrap="square" lIns="196302" tIns="135342" rIns="0"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Запуск - из IDE или в консоли: </a:t>
            </a:r>
            <a:r>
              <a:rPr lang="en-US" sz="1800" dirty="0">
                <a:solidFill>
                  <a:srgbClr val="1A7F37"/>
                </a:solidFill>
                <a:latin typeface="IBM Plex Sans" pitchFamily="34" charset="0"/>
                <a:ea typeface="IBM Plex Sans" pitchFamily="34" charset="-122"/>
                <a:cs typeface="IBM Plex Sans" pitchFamily="34" charset="-120"/>
              </a:rPr>
              <a:t>dotnet test</a:t>
            </a:r>
            <a:endParaRPr lang="en-US" sz="1800" dirty="0"/>
          </a:p>
        </p:txBody>
      </p:sp>
      <p:sp>
        <p:nvSpPr>
          <p:cNvPr id="7" name="Shape 5"/>
          <p:cNvSpPr/>
          <p:nvPr/>
        </p:nvSpPr>
        <p:spPr>
          <a:xfrm>
            <a:off x="457200" y="4180855"/>
            <a:ext cx="5816600" cy="650240"/>
          </a:xfrm>
          <a:custGeom>
            <a:avLst/>
            <a:gdLst/>
            <a:ahLst/>
            <a:cxnLst/>
            <a:rect l="l" t="t" r="r" b="b"/>
            <a:pathLst>
              <a:path w="5816600" h="650240">
                <a:moveTo>
                  <a:pt x="101600" y="650240"/>
                </a:moveTo>
                <a:lnTo>
                  <a:pt x="101600" y="650240"/>
                </a:lnTo>
                <a:arcTo hR="101600" wR="101600" stAng="5400000" swAng="5400000"/>
                <a:lnTo>
                  <a:pt x="0" y="101600"/>
                </a:lnTo>
                <a:arcTo hR="101600" wR="101600" stAng="10800000" swAng="5400000"/>
                <a:lnTo>
                  <a:pt x="101600" y="0"/>
                </a:lnTo>
                <a:arcTo hR="101600" wR="63500" stAng="16200000" swAng="-5400000"/>
                <a:lnTo>
                  <a:pt x="38100" y="548640"/>
                </a:lnTo>
                <a:arcTo hR="101600" wR="63500" stAng="10800000" swAng="-5400000"/>
                <a:close/>
              </a:path>
            </a:pathLst>
          </a:custGeom>
          <a:solidFill>
            <a:srgbClr val="1A7F37"/>
          </a:solidFill>
          <a:ln/>
        </p:spPr>
      </p:sp>
      <p:sp>
        <p:nvSpPr>
          <p:cNvPr id="8" name="Text 6"/>
          <p:cNvSpPr/>
          <p:nvPr/>
        </p:nvSpPr>
        <p:spPr>
          <a:xfrm>
            <a:off x="6530975" y="2162349"/>
            <a:ext cx="5200650" cy="3564573"/>
          </a:xfrm>
          <a:prstGeom prst="roundRect">
            <a:avLst>
              <a:gd name="adj" fmla="val 2761"/>
            </a:avLst>
          </a:prstGeom>
          <a:solidFill>
            <a:srgbClr val="F2F5F8"/>
          </a:solidFill>
          <a:ln w="6350">
            <a:solidFill>
              <a:srgbClr val="D3DBE4"/>
            </a:solidFill>
            <a:prstDash val="solid"/>
          </a:ln>
        </p:spPr>
        <p:txBody>
          <a:bodyPr wrap="none" lIns="125478" tIns="112777" rIns="0" bIns="87378"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using</a:t>
            </a:r>
            <a:r>
              <a:rPr lang="en-US" sz="1400" dirty="0">
                <a:solidFill>
                  <a:srgbClr val="1F2933"/>
                </a:solidFill>
                <a:latin typeface="JetBrains Mono" pitchFamily="49" charset="0"/>
                <a:ea typeface="JetBrains Mono" pitchFamily="49" charset="-122"/>
                <a:cs typeface="JetBrains Mono" pitchFamily="49" charset="-120"/>
              </a:rPr>
              <a:t> Xunit;</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using</a:t>
            </a:r>
            <a:r>
              <a:rPr lang="en-US" sz="1400" dirty="0">
                <a:solidFill>
                  <a:srgbClr val="1F2933"/>
                </a:solidFill>
                <a:latin typeface="JetBrains Mono" pitchFamily="49" charset="0"/>
                <a:ea typeface="JetBrains Mono" pitchFamily="49" charset="-122"/>
                <a:cs typeface="JetBrains Mono" pitchFamily="49" charset="-120"/>
              </a:rPr>
              <a:t> Prime.Services;</a:t>
            </a:r>
            <a:endParaRPr lang="en-US" sz="1400" dirty="0"/>
          </a:p>
          <a:p>
            <a:pPr algn="l" indent="0" marL="0">
              <a:lnSpc>
                <a:spcPts val="1988"/>
              </a:lnSpc>
              <a:buNone/>
            </a:pP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namespace</a:t>
            </a:r>
            <a:r>
              <a:rPr lang="en-US" sz="1400" dirty="0">
                <a:solidFill>
                  <a:srgbClr val="1F2933"/>
                </a:solidFill>
                <a:latin typeface="JetBrains Mono" pitchFamily="49" charset="0"/>
                <a:ea typeface="JetBrains Mono" pitchFamily="49" charset="-122"/>
                <a:cs typeface="JetBrains Mono" pitchFamily="49" charset="-120"/>
              </a:rPr>
              <a:t> Prime.UnitTests.Services</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class</a:t>
            </a:r>
            <a:r>
              <a:rPr lang="en-US" sz="1400" dirty="0">
                <a:solidFill>
                  <a:srgbClr val="1F2933"/>
                </a:solidFill>
                <a:latin typeface="JetBrains Mono" pitchFamily="49" charset="0"/>
                <a:ea typeface="JetBrains Mono" pitchFamily="49" charset="-122"/>
                <a:cs typeface="JetBrains Mono" pitchFamily="49" charset="-120"/>
              </a:rPr>
              <a:t> PrimeService_IsPrimeShould</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1A7F37"/>
                </a:solidFill>
                <a:latin typeface="JetBrains Mono" pitchFamily="49" charset="0"/>
                <a:ea typeface="JetBrains Mono" pitchFamily="49" charset="-122"/>
                <a:cs typeface="JetBrains Mono" pitchFamily="49" charset="-120"/>
              </a:rPr>
              <a:t>Fact</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IsPrime_ReturnFalse()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XUNIT</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[Theory] + [InlineData]</a:t>
            </a:r>
            <a:endParaRPr lang="en-US" sz="3200" dirty="0"/>
          </a:p>
        </p:txBody>
      </p:sp>
      <p:sp>
        <p:nvSpPr>
          <p:cNvPr id="4" name="Text 2"/>
          <p:cNvSpPr/>
          <p:nvPr/>
        </p:nvSpPr>
        <p:spPr>
          <a:xfrm>
            <a:off x="457200" y="2738115"/>
            <a:ext cx="4419600" cy="970280"/>
          </a:xfrm>
          <a:prstGeom prst="roundRect">
            <a:avLst>
              <a:gd name="adj" fmla="val 10471"/>
            </a:avLst>
          </a:prstGeom>
          <a:solidFill>
            <a:srgbClr val="EDF1F5"/>
          </a:solidFill>
          <a:ln/>
        </p:spPr>
        <p:txBody>
          <a:bodyPr wrap="square" lIns="196302" tIns="135342" rIns="40651" bIns="109942" rtlCol="0" anchor="t">
            <a:normAutofit/>
          </a:bodyPr>
          <a:lstStyle/>
          <a:p>
            <a:pPr algn="l" indent="0" marL="0">
              <a:lnSpc>
                <a:spcPts val="2520"/>
              </a:lnSpc>
              <a:buNone/>
            </a:pPr>
            <a:r>
              <a:rPr lang="en-US" sz="1800" b="1" dirty="0">
                <a:solidFill>
                  <a:srgbClr val="13233A"/>
                </a:solidFill>
                <a:latin typeface="IBM Plex Sans" pitchFamily="34" charset="0"/>
                <a:ea typeface="IBM Plex Sans" pitchFamily="34" charset="-122"/>
                <a:cs typeface="IBM Plex Sans" pitchFamily="34" charset="-120"/>
              </a:rPr>
              <a:t>[Theory]</a:t>
            </a:r>
            <a:r>
              <a:rPr lang="en-US" sz="1800" dirty="0">
                <a:solidFill>
                  <a:srgbClr val="13233A"/>
                </a:solidFill>
                <a:latin typeface="IBM Plex Sans" pitchFamily="34" charset="0"/>
                <a:ea typeface="IBM Plex Sans" pitchFamily="34" charset="-122"/>
                <a:cs typeface="IBM Plex Sans" pitchFamily="34" charset="-120"/>
              </a:rPr>
              <a:t> - набор тестов: один код, разные входные аргументы.</a:t>
            </a:r>
            <a:endParaRPr lang="en-US" sz="1800" dirty="0"/>
          </a:p>
        </p:txBody>
      </p:sp>
      <p:sp>
        <p:nvSpPr>
          <p:cNvPr id="5" name="Shape 3"/>
          <p:cNvSpPr/>
          <p:nvPr/>
        </p:nvSpPr>
        <p:spPr>
          <a:xfrm>
            <a:off x="457200" y="2738115"/>
            <a:ext cx="4419600" cy="970280"/>
          </a:xfrm>
          <a:custGeom>
            <a:avLst/>
            <a:gdLst/>
            <a:ahLst/>
            <a:cxnLst/>
            <a:rect l="l" t="t" r="r" b="b"/>
            <a:pathLst>
              <a:path w="4419600" h="970280">
                <a:moveTo>
                  <a:pt x="101600" y="970280"/>
                </a:moveTo>
                <a:lnTo>
                  <a:pt x="101600" y="970280"/>
                </a:lnTo>
                <a:arcTo hR="101600" wR="101600" stAng="5400000" swAng="5400000"/>
                <a:lnTo>
                  <a:pt x="0" y="101600"/>
                </a:lnTo>
                <a:arcTo hR="101600" wR="101600" stAng="10800000" swAng="5400000"/>
                <a:lnTo>
                  <a:pt x="101600" y="0"/>
                </a:lnTo>
                <a:arcTo hR="101600" wR="63500" stAng="16200000" swAng="-5400000"/>
                <a:lnTo>
                  <a:pt x="38100" y="868680"/>
                </a:lnTo>
                <a:arcTo hR="101600" wR="63500" stAng="10800000" swAng="-5400000"/>
                <a:close/>
              </a:path>
            </a:pathLst>
          </a:custGeom>
          <a:solidFill>
            <a:srgbClr val="1A7F37"/>
          </a:solidFill>
          <a:ln/>
        </p:spPr>
      </p:sp>
      <p:sp>
        <p:nvSpPr>
          <p:cNvPr id="6" name="Text 4"/>
          <p:cNvSpPr/>
          <p:nvPr/>
        </p:nvSpPr>
        <p:spPr>
          <a:xfrm>
            <a:off x="457200" y="3860800"/>
            <a:ext cx="4419600" cy="1290320"/>
          </a:xfrm>
          <a:prstGeom prst="roundRect">
            <a:avLst>
              <a:gd name="adj" fmla="val 7874"/>
            </a:avLst>
          </a:prstGeom>
          <a:solidFill>
            <a:srgbClr val="EDF1F5"/>
          </a:solidFill>
          <a:ln/>
        </p:spPr>
        <p:txBody>
          <a:bodyPr wrap="square" lIns="196302" tIns="135342" rIns="40651" bIns="109942" rtlCol="0" anchor="t">
            <a:normAutofit/>
          </a:bodyPr>
          <a:lstStyle/>
          <a:p>
            <a:pPr algn="l" indent="0" marL="0">
              <a:lnSpc>
                <a:spcPts val="2520"/>
              </a:lnSpc>
              <a:buNone/>
            </a:pPr>
            <a:r>
              <a:rPr lang="en-US" sz="1800" b="1" dirty="0">
                <a:solidFill>
                  <a:srgbClr val="13233A"/>
                </a:solidFill>
                <a:latin typeface="IBM Plex Sans" pitchFamily="34" charset="0"/>
                <a:ea typeface="IBM Plex Sans" pitchFamily="34" charset="-122"/>
                <a:cs typeface="IBM Plex Sans" pitchFamily="34" charset="-120"/>
              </a:rPr>
              <a:t>[InlineData]</a:t>
            </a:r>
            <a:r>
              <a:rPr lang="en-US" sz="1800" dirty="0">
                <a:solidFill>
                  <a:srgbClr val="13233A"/>
                </a:solidFill>
                <a:latin typeface="IBM Plex Sans" pitchFamily="34" charset="0"/>
                <a:ea typeface="IBM Plex Sans" pitchFamily="34" charset="-122"/>
                <a:cs typeface="IBM Plex Sans" pitchFamily="34" charset="-120"/>
              </a:rPr>
              <a:t> задаёт значения аргументов - каждый набор становится отдельным тестом.</a:t>
            </a:r>
            <a:endParaRPr lang="en-US" sz="1800" dirty="0"/>
          </a:p>
        </p:txBody>
      </p:sp>
      <p:sp>
        <p:nvSpPr>
          <p:cNvPr id="7" name="Shape 5"/>
          <p:cNvSpPr/>
          <p:nvPr/>
        </p:nvSpPr>
        <p:spPr>
          <a:xfrm>
            <a:off x="457200" y="3860800"/>
            <a:ext cx="4419600" cy="1290320"/>
          </a:xfrm>
          <a:custGeom>
            <a:avLst/>
            <a:gdLst/>
            <a:ahLst/>
            <a:cxnLst/>
            <a:rect l="l" t="t" r="r" b="b"/>
            <a:pathLst>
              <a:path w="4419600" h="1290320">
                <a:moveTo>
                  <a:pt x="101600" y="1290320"/>
                </a:moveTo>
                <a:lnTo>
                  <a:pt x="101600" y="1290320"/>
                </a:lnTo>
                <a:arcTo hR="101600" wR="101600" stAng="5400000" swAng="5400000"/>
                <a:lnTo>
                  <a:pt x="0" y="101600"/>
                </a:lnTo>
                <a:arcTo hR="101600" wR="101600" stAng="10800000" swAng="5400000"/>
                <a:lnTo>
                  <a:pt x="101600" y="0"/>
                </a:lnTo>
                <a:arcTo hR="101600" wR="63500" stAng="16200000" swAng="-5400000"/>
                <a:lnTo>
                  <a:pt x="38100" y="1188720"/>
                </a:lnTo>
                <a:arcTo hR="101600" wR="63500" stAng="10800000" swAng="-5400000"/>
                <a:close/>
              </a:path>
            </a:pathLst>
          </a:custGeom>
          <a:solidFill>
            <a:srgbClr val="1A7F37"/>
          </a:solidFill>
          <a:ln/>
        </p:spPr>
      </p:sp>
      <p:sp>
        <p:nvSpPr>
          <p:cNvPr id="8" name="Text 6"/>
          <p:cNvSpPr/>
          <p:nvPr/>
        </p:nvSpPr>
        <p:spPr>
          <a:xfrm>
            <a:off x="5133975" y="2540967"/>
            <a:ext cx="6597650" cy="2807335"/>
          </a:xfrm>
          <a:prstGeom prst="roundRect">
            <a:avLst>
              <a:gd name="adj" fmla="val 3506"/>
            </a:avLst>
          </a:prstGeom>
          <a:solidFill>
            <a:srgbClr val="F2F5F8"/>
          </a:solidFill>
          <a:ln w="6350">
            <a:solidFill>
              <a:srgbClr val="D3DBE4"/>
            </a:solidFill>
            <a:prstDash val="solid"/>
          </a:ln>
        </p:spPr>
        <p:txBody>
          <a:bodyPr wrap="none" lIns="125477" tIns="112777" rIns="0" bIns="87377" rtlCol="0" anchor="t">
            <a:normAutofit/>
          </a:bodyPr>
          <a:lstStyle/>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1A7F37"/>
                </a:solidFill>
                <a:latin typeface="JetBrains Mono" pitchFamily="49" charset="0"/>
                <a:ea typeface="JetBrains Mono" pitchFamily="49" charset="-122"/>
                <a:cs typeface="JetBrains Mono" pitchFamily="49" charset="-120"/>
              </a:rPr>
              <a:t>Theory</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1A7F37"/>
                </a:solidFill>
                <a:latin typeface="JetBrains Mono" pitchFamily="49" charset="0"/>
                <a:ea typeface="JetBrains Mono" pitchFamily="49" charset="-122"/>
                <a:cs typeface="JetBrains Mono" pitchFamily="49" charset="-120"/>
              </a:rPr>
              <a:t>InlineData</a:t>
            </a: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7A3EC8"/>
                </a:solidFill>
                <a:latin typeface="JetBrains Mono" pitchFamily="49" charset="0"/>
                <a:ea typeface="JetBrains Mono" pitchFamily="49" charset="-122"/>
                <a:cs typeface="JetBrains Mono" pitchFamily="49" charset="-120"/>
              </a:rPr>
              <a:t>1</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1A7F37"/>
                </a:solidFill>
                <a:latin typeface="JetBrains Mono" pitchFamily="49" charset="0"/>
                <a:ea typeface="JetBrains Mono" pitchFamily="49" charset="-122"/>
                <a:cs typeface="JetBrains Mono" pitchFamily="49" charset="-120"/>
              </a:rPr>
              <a:t>InlineData</a:t>
            </a: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7A3EC8"/>
                </a:solidFill>
                <a:latin typeface="JetBrains Mono" pitchFamily="49" charset="0"/>
                <a:ea typeface="JetBrains Mono" pitchFamily="49" charset="-122"/>
                <a:cs typeface="JetBrains Mono" pitchFamily="49" charset="-120"/>
              </a:rPr>
              <a:t>0</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1A7F37"/>
                </a:solidFill>
                <a:latin typeface="JetBrains Mono" pitchFamily="49" charset="0"/>
                <a:ea typeface="JetBrains Mono" pitchFamily="49" charset="-122"/>
                <a:cs typeface="JetBrains Mono" pitchFamily="49" charset="-120"/>
              </a:rPr>
              <a:t>InlineData</a:t>
            </a: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7A3EC8"/>
                </a:solidFill>
                <a:latin typeface="JetBrains Mono" pitchFamily="49" charset="0"/>
                <a:ea typeface="JetBrains Mono" pitchFamily="49" charset="-122"/>
                <a:cs typeface="JetBrains Mono" pitchFamily="49" charset="-120"/>
              </a:rPr>
              <a:t>1</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IsPrime_ValuesLessThan2_ReturnFalse(</a:t>
            </a:r>
            <a:r>
              <a:rPr lang="en-US" sz="1400" dirty="0">
                <a:solidFill>
                  <a:srgbClr val="0033B3"/>
                </a:solidFill>
                <a:latin typeface="JetBrains Mono" pitchFamily="49" charset="0"/>
                <a:ea typeface="JetBrains Mono" pitchFamily="49" charset="-122"/>
                <a:cs typeface="JetBrains Mono" pitchFamily="49" charset="-120"/>
              </a:rPr>
              <a:t>int</a:t>
            </a:r>
            <a:r>
              <a:rPr lang="en-US" sz="1400" dirty="0">
                <a:solidFill>
                  <a:srgbClr val="1F2933"/>
                </a:solidFill>
                <a:latin typeface="JetBrains Mono" pitchFamily="49" charset="0"/>
                <a:ea typeface="JetBrains Mono" pitchFamily="49" charset="-122"/>
                <a:cs typeface="JetBrains Mono" pitchFamily="49" charset="-120"/>
              </a:rPr>
              <a:t> value)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result = _primeService.IsPrime(value);</a:t>
            </a:r>
            <a:endParaRPr lang="en-US" sz="1400" dirty="0"/>
          </a:p>
          <a:p>
            <a:pPr algn="l" indent="0" marL="0">
              <a:lnSpc>
                <a:spcPts val="1988"/>
              </a:lnSpc>
              <a:buNone/>
            </a:pP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Assert.False(result, </a:t>
            </a:r>
            <a:r>
              <a:rPr lang="en-US" sz="1400" dirty="0">
                <a:solidFill>
                  <a:srgbClr val="A31515"/>
                </a:solidFill>
                <a:latin typeface="JetBrains Mono" pitchFamily="49" charset="0"/>
                <a:ea typeface="JetBrains Mono" pitchFamily="49" charset="-122"/>
                <a:cs typeface="JetBrains Mono" pitchFamily="49" charset="-120"/>
              </a:rPr>
              <a:t>$"{value} should not be prime"</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XUNIT</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[Theory] + [MemberData]</a:t>
            </a:r>
            <a:endParaRPr lang="en-US" sz="3200" dirty="0"/>
          </a:p>
        </p:txBody>
      </p:sp>
      <p:sp>
        <p:nvSpPr>
          <p:cNvPr id="4" name="Text 2"/>
          <p:cNvSpPr/>
          <p:nvPr/>
        </p:nvSpPr>
        <p:spPr>
          <a:xfrm>
            <a:off x="457200" y="2738115"/>
            <a:ext cx="4165600" cy="1290320"/>
          </a:xfrm>
          <a:prstGeom prst="roundRect">
            <a:avLst>
              <a:gd name="adj" fmla="val 7874"/>
            </a:avLst>
          </a:prstGeom>
          <a:solidFill>
            <a:srgbClr val="EDF1F5"/>
          </a:solidFill>
          <a:ln/>
        </p:spPr>
        <p:txBody>
          <a:bodyPr wrap="square" lIns="196302" tIns="135342" rIns="48271" bIns="109942" rtlCol="0" anchor="t">
            <a:normAutofit/>
          </a:bodyPr>
          <a:lstStyle/>
          <a:p>
            <a:pPr algn="l" indent="0" marL="0">
              <a:lnSpc>
                <a:spcPts val="2520"/>
              </a:lnSpc>
              <a:buNone/>
            </a:pPr>
            <a:r>
              <a:rPr lang="en-US" sz="1800" b="1" dirty="0">
                <a:solidFill>
                  <a:srgbClr val="13233A"/>
                </a:solidFill>
                <a:latin typeface="IBM Plex Sans" pitchFamily="34" charset="0"/>
                <a:ea typeface="IBM Plex Sans" pitchFamily="34" charset="-122"/>
                <a:cs typeface="IBM Plex Sans" pitchFamily="34" charset="-120"/>
              </a:rPr>
              <a:t>[MemberData]</a:t>
            </a:r>
            <a:r>
              <a:rPr lang="en-US" sz="1800" dirty="0">
                <a:solidFill>
                  <a:srgbClr val="13233A"/>
                </a:solidFill>
                <a:latin typeface="IBM Plex Sans" pitchFamily="34" charset="0"/>
                <a:ea typeface="IBM Plex Sans" pitchFamily="34" charset="-122"/>
                <a:cs typeface="IBM Plex Sans" pitchFamily="34" charset="-120"/>
              </a:rPr>
              <a:t> берёт наборы аргументов из статического члена класса.</a:t>
            </a:r>
            <a:endParaRPr lang="en-US" sz="1800" dirty="0"/>
          </a:p>
        </p:txBody>
      </p:sp>
      <p:sp>
        <p:nvSpPr>
          <p:cNvPr id="5" name="Shape 3"/>
          <p:cNvSpPr/>
          <p:nvPr/>
        </p:nvSpPr>
        <p:spPr>
          <a:xfrm>
            <a:off x="457200" y="2738115"/>
            <a:ext cx="4165600" cy="1290320"/>
          </a:xfrm>
          <a:custGeom>
            <a:avLst/>
            <a:gdLst/>
            <a:ahLst/>
            <a:cxnLst/>
            <a:rect l="l" t="t" r="r" b="b"/>
            <a:pathLst>
              <a:path w="4165600" h="1290320">
                <a:moveTo>
                  <a:pt x="101600" y="1290320"/>
                </a:moveTo>
                <a:lnTo>
                  <a:pt x="101600" y="1290320"/>
                </a:lnTo>
                <a:arcTo hR="101600" wR="101600" stAng="5400000" swAng="5400000"/>
                <a:lnTo>
                  <a:pt x="0" y="101600"/>
                </a:lnTo>
                <a:arcTo hR="101600" wR="101600" stAng="10800000" swAng="5400000"/>
                <a:lnTo>
                  <a:pt x="101600" y="0"/>
                </a:lnTo>
                <a:arcTo hR="101600" wR="63500" stAng="16200000" swAng="-5400000"/>
                <a:lnTo>
                  <a:pt x="38100" y="1188720"/>
                </a:lnTo>
                <a:arcTo hR="101600" wR="63500" stAng="10800000" swAng="-5400000"/>
                <a:close/>
              </a:path>
            </a:pathLst>
          </a:custGeom>
          <a:solidFill>
            <a:srgbClr val="1A7F37"/>
          </a:solidFill>
          <a:ln/>
        </p:spPr>
      </p:sp>
      <p:sp>
        <p:nvSpPr>
          <p:cNvPr id="6" name="Text 4"/>
          <p:cNvSpPr/>
          <p:nvPr/>
        </p:nvSpPr>
        <p:spPr>
          <a:xfrm>
            <a:off x="457200" y="4180855"/>
            <a:ext cx="4165600" cy="970280"/>
          </a:xfrm>
          <a:prstGeom prst="roundRect">
            <a:avLst>
              <a:gd name="adj" fmla="val 10471"/>
            </a:avLst>
          </a:prstGeom>
          <a:solidFill>
            <a:srgbClr val="EDF1F5"/>
          </a:solidFill>
          <a:ln/>
        </p:spPr>
        <p:txBody>
          <a:bodyPr wrap="square" lIns="196302" tIns="135342" rIns="48271"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Удобно для значений enum и сложных наборов данных.</a:t>
            </a:r>
            <a:endParaRPr lang="en-US" sz="1800" dirty="0"/>
          </a:p>
        </p:txBody>
      </p:sp>
      <p:sp>
        <p:nvSpPr>
          <p:cNvPr id="7" name="Shape 5"/>
          <p:cNvSpPr/>
          <p:nvPr/>
        </p:nvSpPr>
        <p:spPr>
          <a:xfrm>
            <a:off x="457200" y="4180855"/>
            <a:ext cx="4165600" cy="970280"/>
          </a:xfrm>
          <a:custGeom>
            <a:avLst/>
            <a:gdLst/>
            <a:ahLst/>
            <a:cxnLst/>
            <a:rect l="l" t="t" r="r" b="b"/>
            <a:pathLst>
              <a:path w="4165600" h="970280">
                <a:moveTo>
                  <a:pt x="101600" y="970280"/>
                </a:moveTo>
                <a:lnTo>
                  <a:pt x="101600" y="970280"/>
                </a:lnTo>
                <a:arcTo hR="101600" wR="101600" stAng="5400000" swAng="5400000"/>
                <a:lnTo>
                  <a:pt x="0" y="101600"/>
                </a:lnTo>
                <a:arcTo hR="101600" wR="101600" stAng="10800000" swAng="5400000"/>
                <a:lnTo>
                  <a:pt x="101600" y="0"/>
                </a:lnTo>
                <a:arcTo hR="101600" wR="63500" stAng="16200000" swAng="-5400000"/>
                <a:lnTo>
                  <a:pt x="38100" y="868680"/>
                </a:lnTo>
                <a:arcTo hR="101600" wR="63500" stAng="10800000" swAng="-5400000"/>
                <a:close/>
              </a:path>
            </a:pathLst>
          </a:custGeom>
          <a:solidFill>
            <a:srgbClr val="1A7F37"/>
          </a:solidFill>
          <a:ln/>
        </p:spPr>
      </p:sp>
      <p:sp>
        <p:nvSpPr>
          <p:cNvPr id="8" name="Text 6"/>
          <p:cNvSpPr/>
          <p:nvPr/>
        </p:nvSpPr>
        <p:spPr>
          <a:xfrm>
            <a:off x="4879975" y="2162349"/>
            <a:ext cx="6851650" cy="3564573"/>
          </a:xfrm>
          <a:prstGeom prst="roundRect">
            <a:avLst>
              <a:gd name="adj" fmla="val 2761"/>
            </a:avLst>
          </a:prstGeom>
          <a:solidFill>
            <a:srgbClr val="F2F5F8"/>
          </a:solidFill>
          <a:ln w="6350">
            <a:solidFill>
              <a:srgbClr val="D3DBE4"/>
            </a:solidFill>
            <a:prstDash val="solid"/>
          </a:ln>
        </p:spPr>
        <p:txBody>
          <a:bodyPr wrap="none" lIns="125477" tIns="112777" rIns="0" bIns="87378"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class</a:t>
            </a:r>
            <a:r>
              <a:rPr lang="en-US" sz="1400" dirty="0">
                <a:solidFill>
                  <a:srgbClr val="1F2933"/>
                </a:solidFill>
                <a:latin typeface="JetBrains Mono" pitchFamily="49" charset="0"/>
                <a:ea typeface="JetBrains Mono" pitchFamily="49" charset="-122"/>
                <a:cs typeface="JetBrains Mono" pitchFamily="49" charset="-120"/>
              </a:rPr>
              <a:t> TestSuite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1A7F37"/>
                </a:solidFill>
                <a:latin typeface="JetBrains Mono" pitchFamily="49" charset="0"/>
                <a:ea typeface="JetBrains Mono" pitchFamily="49" charset="-122"/>
                <a:cs typeface="JetBrains Mono" pitchFamily="49" charset="-120"/>
              </a:rPr>
              <a:t>Theory</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1A7F37"/>
                </a:solidFill>
                <a:latin typeface="JetBrains Mono" pitchFamily="49" charset="0"/>
                <a:ea typeface="JetBrains Mono" pitchFamily="49" charset="-122"/>
                <a:cs typeface="JetBrains Mono" pitchFamily="49" charset="-120"/>
              </a:rPr>
              <a:t>MemberData</a:t>
            </a:r>
            <a:r>
              <a:rPr lang="en-US" sz="1400" dirty="0">
                <a:solidFill>
                  <a:srgbClr val="1F2933"/>
                </a:solidFill>
                <a:latin typeface="JetBrains Mono" pitchFamily="49" charset="0"/>
                <a:ea typeface="JetBrains Mono" pitchFamily="49" charset="-122"/>
                <a:cs typeface="JetBrains Mono" pitchFamily="49" charset="-120"/>
              </a:rPr>
              <a:t>(nameof(AgeHeightWeightData))]</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Should_measure_weight(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int</a:t>
            </a:r>
            <a:r>
              <a:rPr lang="en-US" sz="1400" dirty="0">
                <a:solidFill>
                  <a:srgbClr val="1F2933"/>
                </a:solidFill>
                <a:latin typeface="JetBrains Mono" pitchFamily="49" charset="0"/>
                <a:ea typeface="JetBrains Mono" pitchFamily="49" charset="-122"/>
                <a:cs typeface="JetBrains Mono" pitchFamily="49" charset="-120"/>
              </a:rPr>
              <a:t> age, </a:t>
            </a:r>
            <a:r>
              <a:rPr lang="en-US" sz="1400" dirty="0">
                <a:solidFill>
                  <a:srgbClr val="0033B3"/>
                </a:solidFill>
                <a:latin typeface="JetBrains Mono" pitchFamily="49" charset="0"/>
                <a:ea typeface="JetBrains Mono" pitchFamily="49" charset="-122"/>
                <a:cs typeface="JetBrains Mono" pitchFamily="49" charset="-120"/>
              </a:rPr>
              <a:t>int</a:t>
            </a:r>
            <a:r>
              <a:rPr lang="en-US" sz="1400" dirty="0">
                <a:solidFill>
                  <a:srgbClr val="1F2933"/>
                </a:solidFill>
                <a:latin typeface="JetBrains Mono" pitchFamily="49" charset="0"/>
                <a:ea typeface="JetBrains Mono" pitchFamily="49" charset="-122"/>
                <a:cs typeface="JetBrains Mono" pitchFamily="49" charset="-120"/>
              </a:rPr>
              <a:t> height, </a:t>
            </a:r>
            <a:r>
              <a:rPr lang="en-US" sz="1400" dirty="0">
                <a:solidFill>
                  <a:srgbClr val="0033B3"/>
                </a:solidFill>
                <a:latin typeface="JetBrains Mono" pitchFamily="49" charset="0"/>
                <a:ea typeface="JetBrains Mono" pitchFamily="49" charset="-122"/>
                <a:cs typeface="JetBrains Mono" pitchFamily="49" charset="-120"/>
              </a:rPr>
              <a:t>decimal</a:t>
            </a:r>
            <a:r>
              <a:rPr lang="en-US" sz="1400" dirty="0">
                <a:solidFill>
                  <a:srgbClr val="1F2933"/>
                </a:solidFill>
                <a:latin typeface="JetBrains Mono" pitchFamily="49" charset="0"/>
                <a:ea typeface="JetBrains Mono" pitchFamily="49" charset="-122"/>
                <a:cs typeface="JetBrains Mono" pitchFamily="49" charset="-120"/>
              </a:rPr>
              <a:t> weight) { ... }</a:t>
            </a:r>
            <a:endParaRPr lang="en-US" sz="1400" dirty="0"/>
          </a:p>
          <a:p>
            <a:pPr algn="l" indent="0" marL="0">
              <a:lnSpc>
                <a:spcPts val="1988"/>
              </a:lnSpc>
              <a:buNone/>
            </a:pP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static</a:t>
            </a:r>
            <a:r>
              <a:rPr lang="en-US" sz="1400" dirty="0">
                <a:solidFill>
                  <a:srgbClr val="1F2933"/>
                </a:solidFill>
                <a:latin typeface="JetBrains Mono" pitchFamily="49" charset="0"/>
                <a:ea typeface="JetBrains Mono" pitchFamily="49" charset="-122"/>
                <a:cs typeface="JetBrains Mono" pitchFamily="49" charset="-120"/>
              </a:rPr>
              <a:t> IEnumerable&lt;</a:t>
            </a:r>
            <a:r>
              <a:rPr lang="en-US" sz="1400" dirty="0">
                <a:solidFill>
                  <a:srgbClr val="0033B3"/>
                </a:solidFill>
                <a:latin typeface="JetBrains Mono" pitchFamily="49" charset="0"/>
                <a:ea typeface="JetBrains Mono" pitchFamily="49" charset="-122"/>
                <a:cs typeface="JetBrains Mono" pitchFamily="49" charset="-120"/>
              </a:rPr>
              <a:t>object</a:t>
            </a:r>
            <a:r>
              <a:rPr lang="en-US" sz="1400" dirty="0">
                <a:solidFill>
                  <a:srgbClr val="1F2933"/>
                </a:solidFill>
                <a:latin typeface="JetBrains Mono" pitchFamily="49" charset="0"/>
                <a:ea typeface="JetBrains Mono" pitchFamily="49" charset="-122"/>
                <a:cs typeface="JetBrains Mono" pitchFamily="49" charset="-120"/>
              </a:rPr>
              <a:t>[]&gt; AgeHeightWeightData()</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yield</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return</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object</a:t>
            </a:r>
            <a:r>
              <a:rPr lang="en-US" sz="1400" dirty="0">
                <a:solidFill>
                  <a:srgbClr val="1F2933"/>
                </a:solidFill>
                <a:latin typeface="JetBrains Mono" pitchFamily="49" charset="0"/>
                <a:ea typeface="JetBrains Mono" pitchFamily="49" charset="-122"/>
                <a:cs typeface="JetBrains Mono" pitchFamily="49" charset="-120"/>
              </a:rPr>
              <a:t>[] { </a:t>
            </a:r>
            <a:r>
              <a:rPr lang="en-US" sz="1400" dirty="0">
                <a:solidFill>
                  <a:srgbClr val="7A3EC8"/>
                </a:solidFill>
                <a:latin typeface="JetBrains Mono" pitchFamily="49" charset="0"/>
                <a:ea typeface="JetBrains Mono" pitchFamily="49" charset="-122"/>
                <a:cs typeface="JetBrains Mono" pitchFamily="49" charset="-120"/>
              </a:rPr>
              <a:t>20</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7A3EC8"/>
                </a:solidFill>
                <a:latin typeface="JetBrains Mono" pitchFamily="49" charset="0"/>
                <a:ea typeface="JetBrains Mono" pitchFamily="49" charset="-122"/>
                <a:cs typeface="JetBrains Mono" pitchFamily="49" charset="-120"/>
              </a:rPr>
              <a:t>180</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7A3EC8"/>
                </a:solidFill>
                <a:latin typeface="JetBrains Mono" pitchFamily="49" charset="0"/>
                <a:ea typeface="JetBrains Mono" pitchFamily="49" charset="-122"/>
                <a:cs typeface="JetBrains Mono" pitchFamily="49" charset="-120"/>
              </a:rPr>
              <a:t>80</a:t>
            </a: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yield</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return</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object</a:t>
            </a:r>
            <a:r>
              <a:rPr lang="en-US" sz="1400" dirty="0">
                <a:solidFill>
                  <a:srgbClr val="1F2933"/>
                </a:solidFill>
                <a:latin typeface="JetBrains Mono" pitchFamily="49" charset="0"/>
                <a:ea typeface="JetBrains Mono" pitchFamily="49" charset="-122"/>
                <a:cs typeface="JetBrains Mono" pitchFamily="49" charset="-120"/>
              </a:rPr>
              <a:t>[] { </a:t>
            </a:r>
            <a:r>
              <a:rPr lang="en-US" sz="1400" dirty="0">
                <a:solidFill>
                  <a:srgbClr val="7A3EC8"/>
                </a:solidFill>
                <a:latin typeface="JetBrains Mono" pitchFamily="49" charset="0"/>
                <a:ea typeface="JetBrains Mono" pitchFamily="49" charset="-122"/>
                <a:cs typeface="JetBrains Mono" pitchFamily="49" charset="-120"/>
              </a:rPr>
              <a:t>20</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7A3EC8"/>
                </a:solidFill>
                <a:latin typeface="JetBrains Mono" pitchFamily="49" charset="0"/>
                <a:ea typeface="JetBrains Mono" pitchFamily="49" charset="-122"/>
                <a:cs typeface="JetBrains Mono" pitchFamily="49" charset="-120"/>
              </a:rPr>
              <a:t>180</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7A3EC8"/>
                </a:solidFill>
                <a:latin typeface="JetBrains Mono" pitchFamily="49" charset="0"/>
                <a:ea typeface="JetBrains Mono" pitchFamily="49" charset="-122"/>
                <a:cs typeface="JetBrains Mono" pitchFamily="49" charset="-120"/>
              </a:rPr>
              <a:t>50</a:t>
            </a: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XUNIT</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Setup и teardown: конструктор и Dispose</a:t>
            </a:r>
            <a:endParaRPr lang="en-US" sz="3200" dirty="0"/>
          </a:p>
        </p:txBody>
      </p:sp>
      <p:sp>
        <p:nvSpPr>
          <p:cNvPr id="4" name="Text 2"/>
          <p:cNvSpPr/>
          <p:nvPr/>
        </p:nvSpPr>
        <p:spPr>
          <a:xfrm>
            <a:off x="457200" y="2738115"/>
            <a:ext cx="4800600" cy="1290320"/>
          </a:xfrm>
          <a:prstGeom prst="roundRect">
            <a:avLst>
              <a:gd name="adj" fmla="val 7874"/>
            </a:avLst>
          </a:prstGeom>
          <a:solidFill>
            <a:srgbClr val="EDF1F5"/>
          </a:solidFill>
          <a:ln/>
        </p:spPr>
        <p:txBody>
          <a:bodyPr wrap="square" lIns="196302" tIns="135342" rIns="29221"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xUnit создаёт </a:t>
            </a:r>
            <a:r>
              <a:rPr lang="en-US" sz="1800" b="1" dirty="0">
                <a:solidFill>
                  <a:srgbClr val="13233A"/>
                </a:solidFill>
                <a:latin typeface="IBM Plex Sans" pitchFamily="34" charset="0"/>
                <a:ea typeface="IBM Plex Sans" pitchFamily="34" charset="-122"/>
                <a:cs typeface="IBM Plex Sans" pitchFamily="34" charset="-120"/>
              </a:rPr>
              <a:t>новый экземпляр класса на каждый тест</a:t>
            </a:r>
            <a:r>
              <a:rPr lang="en-US" sz="1800" dirty="0">
                <a:solidFill>
                  <a:srgbClr val="13233A"/>
                </a:solidFill>
                <a:latin typeface="IBM Plex Sans" pitchFamily="34" charset="0"/>
                <a:ea typeface="IBM Plex Sans" pitchFamily="34" charset="-122"/>
                <a:cs typeface="IBM Plex Sans" pitchFamily="34" charset="-120"/>
              </a:rPr>
              <a:t> - у каждого теста свой Stack.</a:t>
            </a:r>
            <a:endParaRPr lang="en-US" sz="1800" dirty="0"/>
          </a:p>
        </p:txBody>
      </p:sp>
      <p:sp>
        <p:nvSpPr>
          <p:cNvPr id="5" name="Shape 3"/>
          <p:cNvSpPr/>
          <p:nvPr/>
        </p:nvSpPr>
        <p:spPr>
          <a:xfrm>
            <a:off x="457200" y="2738115"/>
            <a:ext cx="4800600" cy="1290320"/>
          </a:xfrm>
          <a:custGeom>
            <a:avLst/>
            <a:gdLst/>
            <a:ahLst/>
            <a:cxnLst/>
            <a:rect l="l" t="t" r="r" b="b"/>
            <a:pathLst>
              <a:path w="4800600" h="1290320">
                <a:moveTo>
                  <a:pt x="101600" y="1290320"/>
                </a:moveTo>
                <a:lnTo>
                  <a:pt x="101600" y="1290320"/>
                </a:lnTo>
                <a:arcTo hR="101600" wR="101600" stAng="5400000" swAng="5400000"/>
                <a:lnTo>
                  <a:pt x="0" y="101600"/>
                </a:lnTo>
                <a:arcTo hR="101600" wR="101600" stAng="10800000" swAng="5400000"/>
                <a:lnTo>
                  <a:pt x="101600" y="0"/>
                </a:lnTo>
                <a:arcTo hR="101600" wR="63500" stAng="16200000" swAng="-5400000"/>
                <a:lnTo>
                  <a:pt x="38100" y="1188720"/>
                </a:lnTo>
                <a:arcTo hR="101600" wR="63500" stAng="10800000" swAng="-5400000"/>
                <a:close/>
              </a:path>
            </a:pathLst>
          </a:custGeom>
          <a:solidFill>
            <a:srgbClr val="1A7F37"/>
          </a:solidFill>
          <a:ln/>
        </p:spPr>
      </p:sp>
      <p:sp>
        <p:nvSpPr>
          <p:cNvPr id="6" name="Text 4"/>
          <p:cNvSpPr/>
          <p:nvPr/>
        </p:nvSpPr>
        <p:spPr>
          <a:xfrm>
            <a:off x="457200" y="4180855"/>
            <a:ext cx="4800600" cy="970280"/>
          </a:xfrm>
          <a:prstGeom prst="roundRect">
            <a:avLst>
              <a:gd name="adj" fmla="val 10471"/>
            </a:avLst>
          </a:prstGeom>
          <a:solidFill>
            <a:srgbClr val="EDF1F5"/>
          </a:solidFill>
          <a:ln/>
        </p:spPr>
        <p:txBody>
          <a:bodyPr wrap="square" lIns="196302" tIns="135342" rIns="29221"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Конструктор - повторяющаяся настройка. Dispose - очистка.</a:t>
            </a:r>
            <a:endParaRPr lang="en-US" sz="1800" dirty="0"/>
          </a:p>
        </p:txBody>
      </p:sp>
      <p:sp>
        <p:nvSpPr>
          <p:cNvPr id="7" name="Shape 5"/>
          <p:cNvSpPr/>
          <p:nvPr/>
        </p:nvSpPr>
        <p:spPr>
          <a:xfrm>
            <a:off x="457200" y="4180855"/>
            <a:ext cx="4800600" cy="970280"/>
          </a:xfrm>
          <a:custGeom>
            <a:avLst/>
            <a:gdLst/>
            <a:ahLst/>
            <a:cxnLst/>
            <a:rect l="l" t="t" r="r" b="b"/>
            <a:pathLst>
              <a:path w="4800600" h="970280">
                <a:moveTo>
                  <a:pt x="101600" y="970280"/>
                </a:moveTo>
                <a:lnTo>
                  <a:pt x="101600" y="970280"/>
                </a:lnTo>
                <a:arcTo hR="101600" wR="101600" stAng="5400000" swAng="5400000"/>
                <a:lnTo>
                  <a:pt x="0" y="101600"/>
                </a:lnTo>
                <a:arcTo hR="101600" wR="101600" stAng="10800000" swAng="5400000"/>
                <a:lnTo>
                  <a:pt x="101600" y="0"/>
                </a:lnTo>
                <a:arcTo hR="101600" wR="63500" stAng="16200000" swAng="-5400000"/>
                <a:lnTo>
                  <a:pt x="38100" y="868680"/>
                </a:lnTo>
                <a:arcTo hR="101600" wR="63500" stAng="10800000" swAng="-5400000"/>
                <a:close/>
              </a:path>
            </a:pathLst>
          </a:custGeom>
          <a:solidFill>
            <a:srgbClr val="1A7F37"/>
          </a:solidFill>
          <a:ln/>
        </p:spPr>
      </p:sp>
      <p:sp>
        <p:nvSpPr>
          <p:cNvPr id="8" name="Text 6"/>
          <p:cNvSpPr/>
          <p:nvPr/>
        </p:nvSpPr>
        <p:spPr>
          <a:xfrm>
            <a:off x="5514975" y="1405111"/>
            <a:ext cx="6216650" cy="5079048"/>
          </a:xfrm>
          <a:prstGeom prst="roundRect">
            <a:avLst>
              <a:gd name="adj" fmla="val 1938"/>
            </a:avLst>
          </a:prstGeom>
          <a:solidFill>
            <a:srgbClr val="F2F5F8"/>
          </a:solidFill>
          <a:ln w="6350">
            <a:solidFill>
              <a:srgbClr val="D3DBE4"/>
            </a:solidFill>
            <a:prstDash val="solid"/>
          </a:ln>
        </p:spPr>
        <p:txBody>
          <a:bodyPr wrap="none" lIns="125477" tIns="112777" rIns="0" bIns="87378"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class</a:t>
            </a:r>
            <a:r>
              <a:rPr lang="en-US" sz="1400" dirty="0">
                <a:solidFill>
                  <a:srgbClr val="1F2933"/>
                </a:solidFill>
                <a:latin typeface="JetBrains Mono" pitchFamily="49" charset="0"/>
                <a:ea typeface="JetBrains Mono" pitchFamily="49" charset="-122"/>
                <a:cs typeface="JetBrains Mono" pitchFamily="49" charset="-120"/>
              </a:rPr>
              <a:t> StackTests : IDisposable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Stack&lt;</a:t>
            </a:r>
            <a:r>
              <a:rPr lang="en-US" sz="1400" dirty="0">
                <a:solidFill>
                  <a:srgbClr val="0033B3"/>
                </a:solidFill>
                <a:latin typeface="JetBrains Mono" pitchFamily="49" charset="0"/>
                <a:ea typeface="JetBrains Mono" pitchFamily="49" charset="-122"/>
                <a:cs typeface="JetBrains Mono" pitchFamily="49" charset="-120"/>
              </a:rPr>
              <a:t>int</a:t>
            </a:r>
            <a:r>
              <a:rPr lang="en-US" sz="1400" dirty="0">
                <a:solidFill>
                  <a:srgbClr val="1F2933"/>
                </a:solidFill>
                <a:latin typeface="JetBrains Mono" pitchFamily="49" charset="0"/>
                <a:ea typeface="JetBrains Mono" pitchFamily="49" charset="-122"/>
                <a:cs typeface="JetBrains Mono" pitchFamily="49" charset="-120"/>
              </a:rPr>
              <a:t>&gt; stack;</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StackTests()</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stack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Stack&lt;</a:t>
            </a:r>
            <a:r>
              <a:rPr lang="en-US" sz="1400" dirty="0">
                <a:solidFill>
                  <a:srgbClr val="0033B3"/>
                </a:solidFill>
                <a:latin typeface="JetBrains Mono" pitchFamily="49" charset="0"/>
                <a:ea typeface="JetBrains Mono" pitchFamily="49" charset="-122"/>
                <a:cs typeface="JetBrains Mono" pitchFamily="49" charset="-120"/>
              </a:rPr>
              <a:t>int</a:t>
            </a:r>
            <a:r>
              <a:rPr lang="en-US" sz="1400" dirty="0">
                <a:solidFill>
                  <a:srgbClr val="1F2933"/>
                </a:solidFill>
                <a:latin typeface="JetBrains Mono" pitchFamily="49" charset="0"/>
                <a:ea typeface="JetBrains Mono" pitchFamily="49" charset="-122"/>
                <a:cs typeface="JetBrains Mono" pitchFamily="49" charset="-120"/>
              </a:rPr>
              <a:t>&gt;();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Dispose()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stack.Clear();</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1A7F37"/>
                </a:solidFill>
                <a:latin typeface="JetBrains Mono" pitchFamily="49" charset="0"/>
                <a:ea typeface="JetBrains Mono" pitchFamily="49" charset="-122"/>
                <a:cs typeface="JetBrains Mono" pitchFamily="49" charset="-120"/>
              </a:rPr>
              <a:t>Fact</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AfterPushingItem_CountShouldReturnOne()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stack.Push(</a:t>
            </a:r>
            <a:r>
              <a:rPr lang="en-US" sz="1400" dirty="0">
                <a:solidFill>
                  <a:srgbClr val="7A3EC8"/>
                </a:solidFill>
                <a:latin typeface="JetBrains Mono" pitchFamily="49" charset="0"/>
                <a:ea typeface="JetBrains Mono" pitchFamily="49" charset="-122"/>
                <a:cs typeface="JetBrains Mono" pitchFamily="49" charset="-120"/>
              </a:rPr>
              <a:t>42</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count = stack.Count;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Assert.Equal(</a:t>
            </a:r>
            <a:r>
              <a:rPr lang="en-US" sz="1400" dirty="0">
                <a:solidFill>
                  <a:srgbClr val="7A3EC8"/>
                </a:solidFill>
                <a:latin typeface="JetBrains Mono" pitchFamily="49" charset="0"/>
                <a:ea typeface="JetBrains Mono" pitchFamily="49" charset="-122"/>
                <a:cs typeface="JetBrains Mono" pitchFamily="49" charset="-120"/>
              </a:rPr>
              <a:t>1</a:t>
            </a:r>
            <a:r>
              <a:rPr lang="en-US" sz="1400" dirty="0">
                <a:solidFill>
                  <a:srgbClr val="1F2933"/>
                </a:solidFill>
                <a:latin typeface="JetBrains Mono" pitchFamily="49" charset="0"/>
                <a:ea typeface="JetBrains Mono" pitchFamily="49" charset="-122"/>
                <a:cs typeface="JetBrains Mono" pitchFamily="49" charset="-120"/>
              </a:rPr>
              <a:t>, count);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XUNIT</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IClassFixture - общий контекст класса</a:t>
            </a:r>
            <a:endParaRPr lang="en-US" sz="3200" dirty="0"/>
          </a:p>
        </p:txBody>
      </p:sp>
      <p:sp>
        <p:nvSpPr>
          <p:cNvPr id="4" name="Text 2"/>
          <p:cNvSpPr/>
          <p:nvPr/>
        </p:nvSpPr>
        <p:spPr>
          <a:xfrm>
            <a:off x="457200" y="1856755"/>
            <a:ext cx="3975100" cy="1290320"/>
          </a:xfrm>
          <a:prstGeom prst="roundRect">
            <a:avLst>
              <a:gd name="adj" fmla="val 7874"/>
            </a:avLst>
          </a:prstGeom>
          <a:solidFill>
            <a:srgbClr val="EDF1F5"/>
          </a:solidFill>
          <a:ln/>
        </p:spPr>
        <p:txBody>
          <a:bodyPr wrap="square" lIns="196302" tIns="135342" rIns="53986"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Фикстура создаётся </a:t>
            </a:r>
            <a:r>
              <a:rPr lang="en-US" sz="1800" b="1" dirty="0">
                <a:solidFill>
                  <a:srgbClr val="13233A"/>
                </a:solidFill>
                <a:latin typeface="IBM Plex Sans" pitchFamily="34" charset="0"/>
                <a:ea typeface="IBM Plex Sans" pitchFamily="34" charset="-122"/>
                <a:cs typeface="IBM Plex Sans" pitchFamily="34" charset="-120"/>
              </a:rPr>
              <a:t>один раз</a:t>
            </a:r>
            <a:r>
              <a:rPr lang="en-US" sz="1800" dirty="0">
                <a:solidFill>
                  <a:srgbClr val="13233A"/>
                </a:solidFill>
                <a:latin typeface="IBM Plex Sans" pitchFamily="34" charset="0"/>
                <a:ea typeface="IBM Plex Sans" pitchFamily="34" charset="-122"/>
                <a:cs typeface="IBM Plex Sans" pitchFamily="34" charset="-120"/>
              </a:rPr>
              <a:t> на все тесты класса - они видят изменения друг друга.</a:t>
            </a:r>
            <a:endParaRPr lang="en-US" sz="1800" dirty="0"/>
          </a:p>
        </p:txBody>
      </p:sp>
      <p:sp>
        <p:nvSpPr>
          <p:cNvPr id="5" name="Shape 3"/>
          <p:cNvSpPr/>
          <p:nvPr/>
        </p:nvSpPr>
        <p:spPr>
          <a:xfrm>
            <a:off x="457200" y="1856755"/>
            <a:ext cx="3975100" cy="1290320"/>
          </a:xfrm>
          <a:custGeom>
            <a:avLst/>
            <a:gdLst/>
            <a:ahLst/>
            <a:cxnLst/>
            <a:rect l="l" t="t" r="r" b="b"/>
            <a:pathLst>
              <a:path w="3975100" h="1290320">
                <a:moveTo>
                  <a:pt x="101600" y="1290320"/>
                </a:moveTo>
                <a:lnTo>
                  <a:pt x="101600" y="1290320"/>
                </a:lnTo>
                <a:arcTo hR="101600" wR="101600" stAng="5400000" swAng="5400000"/>
                <a:lnTo>
                  <a:pt x="0" y="101600"/>
                </a:lnTo>
                <a:arcTo hR="101600" wR="101600" stAng="10800000" swAng="5400000"/>
                <a:lnTo>
                  <a:pt x="101600" y="0"/>
                </a:lnTo>
                <a:arcTo hR="101600" wR="63500" stAng="16200000" swAng="-5400000"/>
                <a:lnTo>
                  <a:pt x="38100" y="1188720"/>
                </a:lnTo>
                <a:arcTo hR="101600" wR="63500" stAng="10800000" swAng="-5400000"/>
                <a:close/>
              </a:path>
            </a:pathLst>
          </a:custGeom>
          <a:solidFill>
            <a:srgbClr val="1A7F37"/>
          </a:solidFill>
          <a:ln/>
        </p:spPr>
      </p:sp>
      <p:sp>
        <p:nvSpPr>
          <p:cNvPr id="6" name="Text 4"/>
          <p:cNvSpPr/>
          <p:nvPr/>
        </p:nvSpPr>
        <p:spPr>
          <a:xfrm>
            <a:off x="457200" y="3299470"/>
            <a:ext cx="3975100" cy="1290320"/>
          </a:xfrm>
          <a:prstGeom prst="roundRect">
            <a:avLst>
              <a:gd name="adj" fmla="val 7874"/>
            </a:avLst>
          </a:prstGeom>
          <a:solidFill>
            <a:srgbClr val="EDF1F5"/>
          </a:solidFill>
          <a:ln/>
        </p:spPr>
        <p:txBody>
          <a:bodyPr wrap="square" lIns="196302" tIns="135342" rIns="53986"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xUnit сам создаст фикстуру и передаст в конструктор. Фикстур может быть несколько.</a:t>
            </a:r>
            <a:endParaRPr lang="en-US" sz="1800" dirty="0"/>
          </a:p>
        </p:txBody>
      </p:sp>
      <p:sp>
        <p:nvSpPr>
          <p:cNvPr id="7" name="Shape 5"/>
          <p:cNvSpPr/>
          <p:nvPr/>
        </p:nvSpPr>
        <p:spPr>
          <a:xfrm>
            <a:off x="457200" y="3299470"/>
            <a:ext cx="3975100" cy="1290320"/>
          </a:xfrm>
          <a:custGeom>
            <a:avLst/>
            <a:gdLst/>
            <a:ahLst/>
            <a:cxnLst/>
            <a:rect l="l" t="t" r="r" b="b"/>
            <a:pathLst>
              <a:path w="3975100" h="1290320">
                <a:moveTo>
                  <a:pt x="101600" y="1290320"/>
                </a:moveTo>
                <a:lnTo>
                  <a:pt x="101600" y="1290320"/>
                </a:lnTo>
                <a:arcTo hR="101600" wR="101600" stAng="5400000" swAng="5400000"/>
                <a:lnTo>
                  <a:pt x="0" y="101600"/>
                </a:lnTo>
                <a:arcTo hR="101600" wR="101600" stAng="10800000" swAng="5400000"/>
                <a:lnTo>
                  <a:pt x="101600" y="0"/>
                </a:lnTo>
                <a:arcTo hR="101600" wR="63500" stAng="16200000" swAng="-5400000"/>
                <a:lnTo>
                  <a:pt x="38100" y="1188720"/>
                </a:lnTo>
                <a:arcTo hR="101600" wR="63500" stAng="10800000" swAng="-5400000"/>
                <a:close/>
              </a:path>
            </a:pathLst>
          </a:custGeom>
          <a:solidFill>
            <a:srgbClr val="1A7F37"/>
          </a:solidFill>
          <a:ln/>
        </p:spPr>
      </p:sp>
      <p:sp>
        <p:nvSpPr>
          <p:cNvPr id="8" name="Text 6"/>
          <p:cNvSpPr/>
          <p:nvPr/>
        </p:nvSpPr>
        <p:spPr>
          <a:xfrm>
            <a:off x="457200" y="4742185"/>
            <a:ext cx="3975100" cy="1290320"/>
          </a:xfrm>
          <a:prstGeom prst="roundRect">
            <a:avLst>
              <a:gd name="adj" fmla="val 7874"/>
            </a:avLst>
          </a:prstGeom>
          <a:solidFill>
            <a:srgbClr val="EDF1F5"/>
          </a:solidFill>
          <a:ln/>
        </p:spPr>
        <p:txBody>
          <a:bodyPr wrap="square" lIns="196302" tIns="135342" rIns="53986"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Примеры: БД для интеграционных тестов, WebApplicationFactory.</a:t>
            </a:r>
            <a:endParaRPr lang="en-US" sz="1800" dirty="0"/>
          </a:p>
        </p:txBody>
      </p:sp>
      <p:sp>
        <p:nvSpPr>
          <p:cNvPr id="9" name="Shape 7"/>
          <p:cNvSpPr/>
          <p:nvPr/>
        </p:nvSpPr>
        <p:spPr>
          <a:xfrm>
            <a:off x="457200" y="4742185"/>
            <a:ext cx="3975100" cy="1290320"/>
          </a:xfrm>
          <a:custGeom>
            <a:avLst/>
            <a:gdLst/>
            <a:ahLst/>
            <a:cxnLst/>
            <a:rect l="l" t="t" r="r" b="b"/>
            <a:pathLst>
              <a:path w="3975100" h="1290320">
                <a:moveTo>
                  <a:pt x="101600" y="1290320"/>
                </a:moveTo>
                <a:lnTo>
                  <a:pt x="101600" y="1290320"/>
                </a:lnTo>
                <a:arcTo hR="101600" wR="101600" stAng="5400000" swAng="5400000"/>
                <a:lnTo>
                  <a:pt x="0" y="101600"/>
                </a:lnTo>
                <a:arcTo hR="101600" wR="101600" stAng="10800000" swAng="5400000"/>
                <a:lnTo>
                  <a:pt x="101600" y="0"/>
                </a:lnTo>
                <a:arcTo hR="101600" wR="63500" stAng="16200000" swAng="-5400000"/>
                <a:lnTo>
                  <a:pt x="38100" y="1188720"/>
                </a:lnTo>
                <a:arcTo hR="101600" wR="63500" stAng="10800000" swAng="-5400000"/>
                <a:close/>
              </a:path>
            </a:pathLst>
          </a:custGeom>
          <a:solidFill>
            <a:srgbClr val="1A7F37"/>
          </a:solidFill>
          <a:ln/>
        </p:spPr>
      </p:sp>
      <p:sp>
        <p:nvSpPr>
          <p:cNvPr id="10" name="Text 8"/>
          <p:cNvSpPr/>
          <p:nvPr/>
        </p:nvSpPr>
        <p:spPr>
          <a:xfrm>
            <a:off x="4689475" y="1422871"/>
            <a:ext cx="7042150" cy="5043488"/>
          </a:xfrm>
          <a:prstGeom prst="roundRect">
            <a:avLst>
              <a:gd name="adj" fmla="val 1952"/>
            </a:avLst>
          </a:prstGeom>
          <a:solidFill>
            <a:srgbClr val="F2F5F8"/>
          </a:solidFill>
          <a:ln w="6350">
            <a:solidFill>
              <a:srgbClr val="D3DBE4"/>
            </a:solidFill>
            <a:prstDash val="solid"/>
          </a:ln>
        </p:spPr>
        <p:txBody>
          <a:bodyPr wrap="none" lIns="125477" tIns="112777" rIns="0" bIns="87377" rtlCol="0" anchor="t">
            <a:normAutofit/>
          </a:bodyPr>
          <a:lstStyle/>
          <a:p>
            <a:pPr algn="l" indent="0" marL="0">
              <a:lnSpc>
                <a:spcPts val="1704"/>
              </a:lnSpc>
              <a:buNone/>
            </a:pPr>
            <a:r>
              <a:rPr lang="en-US" sz="1200" dirty="0">
                <a:solidFill>
                  <a:srgbClr val="0033B3"/>
                </a:solidFill>
                <a:latin typeface="JetBrains Mono" pitchFamily="49" charset="0"/>
                <a:ea typeface="JetBrains Mono" pitchFamily="49" charset="-122"/>
                <a:cs typeface="JetBrains Mono" pitchFamily="49" charset="-120"/>
              </a:rPr>
              <a:t>public</a:t>
            </a: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class</a:t>
            </a:r>
            <a:r>
              <a:rPr lang="en-US" sz="1200" dirty="0">
                <a:solidFill>
                  <a:srgbClr val="1F2933"/>
                </a:solidFill>
                <a:latin typeface="JetBrains Mono" pitchFamily="49" charset="0"/>
                <a:ea typeface="JetBrains Mono" pitchFamily="49" charset="-122"/>
                <a:cs typeface="JetBrains Mono" pitchFamily="49" charset="-120"/>
              </a:rPr>
              <a:t> SharedInMemoryDbContextTests</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 IClassFixture&lt;InMemoryDbContextFixture&gt;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InMemoryDbContextFixture fixture;</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public</a:t>
            </a:r>
            <a:r>
              <a:rPr lang="en-US" sz="1200" dirty="0">
                <a:solidFill>
                  <a:srgbClr val="1F2933"/>
                </a:solidFill>
                <a:latin typeface="JetBrains Mono" pitchFamily="49" charset="0"/>
                <a:ea typeface="JetBrains Mono" pitchFamily="49" charset="-122"/>
                <a:cs typeface="JetBrains Mono" pitchFamily="49" charset="-120"/>
              </a:rPr>
              <a:t> SharedInMemoryDbContextTests(InMemoryDbContextFixture fixture)</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this</a:t>
            </a:r>
            <a:r>
              <a:rPr lang="en-US" sz="1200" dirty="0">
                <a:solidFill>
                  <a:srgbClr val="1F2933"/>
                </a:solidFill>
                <a:latin typeface="JetBrains Mono" pitchFamily="49" charset="0"/>
                <a:ea typeface="JetBrains Mono" pitchFamily="49" charset="-122"/>
                <a:cs typeface="JetBrains Mono" pitchFamily="49" charset="-120"/>
              </a:rPr>
              <a:t>.fixture = fixture;</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1A7F37"/>
                </a:solidFill>
                <a:latin typeface="JetBrains Mono" pitchFamily="49" charset="0"/>
                <a:ea typeface="JetBrains Mono" pitchFamily="49" charset="-122"/>
                <a:cs typeface="JetBrains Mono" pitchFamily="49" charset="-120"/>
              </a:rPr>
              <a:t>Fact</a:t>
            </a:r>
            <a:r>
              <a:rPr lang="en-US" sz="1200" dirty="0">
                <a:solidFill>
                  <a:srgbClr val="1F2933"/>
                </a:solidFill>
                <a:latin typeface="JetBrains Mono" pitchFamily="49" charset="0"/>
                <a:ea typeface="JetBrains Mono" pitchFamily="49" charset="-122"/>
                <a:cs typeface="JetBrains Mono" pitchFamily="49" charset="-120"/>
              </a:rPr>
              <a: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public</a:t>
            </a: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void</a:t>
            </a:r>
            <a:r>
              <a:rPr lang="en-US" sz="1200" dirty="0">
                <a:solidFill>
                  <a:srgbClr val="1F2933"/>
                </a:solidFill>
                <a:latin typeface="JetBrains Mono" pitchFamily="49" charset="0"/>
                <a:ea typeface="JetBrains Mono" pitchFamily="49" charset="-122"/>
                <a:cs typeface="JetBrains Mono" pitchFamily="49" charset="-120"/>
              </a:rPr>
              <a:t> WithNoItems_CountShouldReturnZero()</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var</a:t>
            </a:r>
            <a:r>
              <a:rPr lang="en-US" sz="1200" dirty="0">
                <a:solidFill>
                  <a:srgbClr val="1F2933"/>
                </a:solidFill>
                <a:latin typeface="JetBrains Mono" pitchFamily="49" charset="0"/>
                <a:ea typeface="JetBrains Mono" pitchFamily="49" charset="-122"/>
                <a:cs typeface="JetBrains Mono" pitchFamily="49" charset="-120"/>
              </a:rPr>
              <a:t> count = fixture.Context.Users.Count();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Assert.Equal(</a:t>
            </a:r>
            <a:r>
              <a:rPr lang="en-US" sz="1200" dirty="0">
                <a:solidFill>
                  <a:srgbClr val="7A3EC8"/>
                </a:solidFill>
                <a:latin typeface="JetBrains Mono" pitchFamily="49" charset="0"/>
                <a:ea typeface="JetBrains Mono" pitchFamily="49" charset="-122"/>
                <a:cs typeface="JetBrains Mono" pitchFamily="49" charset="-120"/>
              </a:rPr>
              <a:t>0</a:t>
            </a:r>
            <a:r>
              <a:rPr lang="en-US" sz="1200" dirty="0">
                <a:solidFill>
                  <a:srgbClr val="1F2933"/>
                </a:solidFill>
                <a:latin typeface="JetBrains Mono" pitchFamily="49" charset="0"/>
                <a:ea typeface="JetBrains Mono" pitchFamily="49" charset="-122"/>
                <a:cs typeface="JetBrains Mono" pitchFamily="49" charset="-120"/>
              </a:rPr>
              <a:t>, count);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1A7F37"/>
                </a:solidFill>
                <a:latin typeface="JetBrains Mono" pitchFamily="49" charset="0"/>
                <a:ea typeface="JetBrains Mono" pitchFamily="49" charset="-122"/>
                <a:cs typeface="JetBrains Mono" pitchFamily="49" charset="-120"/>
              </a:rPr>
              <a:t>Fact</a:t>
            </a:r>
            <a:r>
              <a:rPr lang="en-US" sz="1200" dirty="0">
                <a:solidFill>
                  <a:srgbClr val="1F2933"/>
                </a:solidFill>
                <a:latin typeface="JetBrains Mono" pitchFamily="49" charset="0"/>
                <a:ea typeface="JetBrains Mono" pitchFamily="49" charset="-122"/>
                <a:cs typeface="JetBrains Mono" pitchFamily="49" charset="-120"/>
              </a:rPr>
              <a: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public</a:t>
            </a: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void</a:t>
            </a:r>
            <a:r>
              <a:rPr lang="en-US" sz="1200" dirty="0">
                <a:solidFill>
                  <a:srgbClr val="1F2933"/>
                </a:solidFill>
                <a:latin typeface="JetBrains Mono" pitchFamily="49" charset="0"/>
                <a:ea typeface="JetBrains Mono" pitchFamily="49" charset="-122"/>
                <a:cs typeface="JetBrains Mono" pitchFamily="49" charset="-120"/>
              </a:rPr>
              <a:t> AfterAddingItem_CountShouldReturnOne()</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fixture.Context.Users.Add(</a:t>
            </a:r>
            <a:r>
              <a:rPr lang="en-US" sz="1200" dirty="0">
                <a:solidFill>
                  <a:srgbClr val="0033B3"/>
                </a:solidFill>
                <a:latin typeface="JetBrains Mono" pitchFamily="49" charset="0"/>
                <a:ea typeface="JetBrains Mono" pitchFamily="49" charset="-122"/>
                <a:cs typeface="JetBrains Mono" pitchFamily="49" charset="-120"/>
              </a:rPr>
              <a:t>new</a:t>
            </a:r>
            <a:r>
              <a:rPr lang="en-US" sz="1200" dirty="0">
                <a:solidFill>
                  <a:srgbClr val="1F2933"/>
                </a:solidFill>
                <a:latin typeface="JetBrains Mono" pitchFamily="49" charset="0"/>
                <a:ea typeface="JetBrains Mono" pitchFamily="49" charset="-122"/>
                <a:cs typeface="JetBrains Mono" pitchFamily="49" charset="-120"/>
              </a:rPr>
              <a:t> User());</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r>
              <a:rPr lang="en-US" sz="1200" dirty="0">
                <a:solidFill>
                  <a:srgbClr val="0033B3"/>
                </a:solidFill>
                <a:latin typeface="JetBrains Mono" pitchFamily="49" charset="0"/>
                <a:ea typeface="JetBrains Mono" pitchFamily="49" charset="-122"/>
                <a:cs typeface="JetBrains Mono" pitchFamily="49" charset="-120"/>
              </a:rPr>
              <a:t>var</a:t>
            </a:r>
            <a:r>
              <a:rPr lang="en-US" sz="1200" dirty="0">
                <a:solidFill>
                  <a:srgbClr val="1F2933"/>
                </a:solidFill>
                <a:latin typeface="JetBrains Mono" pitchFamily="49" charset="0"/>
                <a:ea typeface="JetBrains Mono" pitchFamily="49" charset="-122"/>
                <a:cs typeface="JetBrains Mono" pitchFamily="49" charset="-120"/>
              </a:rPr>
              <a:t> count = fixture.Context.Users.Count();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Assert.Equal(</a:t>
            </a:r>
            <a:r>
              <a:rPr lang="en-US" sz="1200" dirty="0">
                <a:solidFill>
                  <a:srgbClr val="7A3EC8"/>
                </a:solidFill>
                <a:latin typeface="JetBrains Mono" pitchFamily="49" charset="0"/>
                <a:ea typeface="JetBrains Mono" pitchFamily="49" charset="-122"/>
                <a:cs typeface="JetBrains Mono" pitchFamily="49" charset="-120"/>
              </a:rPr>
              <a:t>1</a:t>
            </a:r>
            <a:r>
              <a:rPr lang="en-US" sz="1200" dirty="0">
                <a:solidFill>
                  <a:srgbClr val="1F2933"/>
                </a:solidFill>
                <a:latin typeface="JetBrains Mono" pitchFamily="49" charset="0"/>
                <a:ea typeface="JetBrains Mono" pitchFamily="49" charset="-122"/>
                <a:cs typeface="JetBrains Mono" pitchFamily="49" charset="-120"/>
              </a:rPr>
              <a:t>, count);</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    }</a:t>
            </a:r>
            <a:endParaRPr lang="en-US" sz="1200" dirty="0"/>
          </a:p>
          <a:p>
            <a:pPr algn="l" indent="0" marL="0">
              <a:lnSpc>
                <a:spcPts val="1704"/>
              </a:lnSpc>
              <a:buNone/>
            </a:pPr>
            <a:r>
              <a:rPr lang="en-US" sz="1200" dirty="0">
                <a:solidFill>
                  <a:srgbClr val="1F2933"/>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XUNIT</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ICollectionFixture - контекст на несколько классов</a:t>
            </a:r>
            <a:endParaRPr lang="en-US" sz="3200" dirty="0"/>
          </a:p>
        </p:txBody>
      </p:sp>
      <p:sp>
        <p:nvSpPr>
          <p:cNvPr id="4" name="Text 2"/>
          <p:cNvSpPr/>
          <p:nvPr/>
        </p:nvSpPr>
        <p:spPr>
          <a:xfrm>
            <a:off x="457200" y="1437655"/>
            <a:ext cx="1161592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3233A"/>
                </a:solidFill>
                <a:latin typeface="IBM Plex Sans" pitchFamily="34" charset="0"/>
                <a:ea typeface="IBM Plex Sans" pitchFamily="34" charset="-122"/>
                <a:cs typeface="IBM Plex Sans" pitchFamily="34" charset="-120"/>
              </a:rPr>
              <a:t>[CollectionDefinition]</a:t>
            </a:r>
            <a:r>
              <a:rPr lang="en-US" sz="1700" dirty="0">
                <a:solidFill>
                  <a:srgbClr val="3A4B5E"/>
                </a:solidFill>
                <a:latin typeface="IBM Plex Sans" pitchFamily="34" charset="0"/>
                <a:ea typeface="IBM Plex Sans" pitchFamily="34" charset="-122"/>
                <a:cs typeface="IBM Plex Sans" pitchFamily="34" charset="-120"/>
              </a:rPr>
              <a:t> + ICollectionFixture&lt;T&gt;, а тестовые классы помечаем </a:t>
            </a:r>
            <a:r>
              <a:rPr lang="en-US" sz="1700" b="1" dirty="0">
                <a:solidFill>
                  <a:srgbClr val="13233A"/>
                </a:solidFill>
                <a:latin typeface="IBM Plex Sans" pitchFamily="34" charset="0"/>
                <a:ea typeface="IBM Plex Sans" pitchFamily="34" charset="-122"/>
                <a:cs typeface="IBM Plex Sans" pitchFamily="34" charset="-120"/>
              </a:rPr>
              <a:t>[Collection]</a:t>
            </a:r>
            <a:r>
              <a:rPr lang="en-US" sz="1700" dirty="0">
                <a:solidFill>
                  <a:srgbClr val="3A4B5E"/>
                </a:solidFill>
                <a:latin typeface="IBM Plex Sans" pitchFamily="34" charset="0"/>
                <a:ea typeface="IBM Plex Sans" pitchFamily="34" charset="-122"/>
                <a:cs typeface="IBM Plex Sans" pitchFamily="34" charset="-120"/>
              </a:rPr>
              <a:t> с тем же именем.</a:t>
            </a:r>
            <a:endParaRPr lang="en-US" sz="1700" dirty="0"/>
          </a:p>
        </p:txBody>
      </p:sp>
      <p:sp>
        <p:nvSpPr>
          <p:cNvPr id="5" name="Shape 3"/>
          <p:cNvSpPr/>
          <p:nvPr/>
        </p:nvSpPr>
        <p:spPr>
          <a:xfrm>
            <a:off x="460375" y="1895475"/>
            <a:ext cx="5543550" cy="4502150"/>
          </a:xfrm>
          <a:prstGeom prst="roundRect">
            <a:avLst>
              <a:gd name="adj" fmla="val 2186"/>
            </a:avLst>
          </a:prstGeom>
          <a:solidFill>
            <a:srgbClr val="F2F5F8"/>
          </a:solidFill>
          <a:ln w="6350">
            <a:solidFill>
              <a:srgbClr val="D3DBE4"/>
            </a:solidFill>
            <a:prstDash val="solid"/>
          </a:ln>
        </p:spPr>
      </p:sp>
      <p:sp>
        <p:nvSpPr>
          <p:cNvPr id="6" name="Text 4"/>
          <p:cNvSpPr/>
          <p:nvPr/>
        </p:nvSpPr>
        <p:spPr>
          <a:xfrm>
            <a:off x="614680" y="2037085"/>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F5FBF"/>
                </a:solidFill>
                <a:latin typeface="IBM Plex Sans" pitchFamily="34" charset="0"/>
                <a:ea typeface="IBM Plex Sans" pitchFamily="34" charset="-122"/>
                <a:cs typeface="IBM Plex Sans" pitchFamily="34" charset="-120"/>
              </a:rPr>
              <a:t>ФИКСТУРА И КОЛЛЕКЦИЯ</a:t>
            </a:r>
            <a:endParaRPr lang="en-US" sz="1500" dirty="0"/>
          </a:p>
        </p:txBody>
      </p:sp>
      <p:sp>
        <p:nvSpPr>
          <p:cNvPr id="7" name="Text 5"/>
          <p:cNvSpPr/>
          <p:nvPr/>
        </p:nvSpPr>
        <p:spPr>
          <a:xfrm>
            <a:off x="614680" y="2379985"/>
            <a:ext cx="5391988" cy="3632200"/>
          </a:xfrm>
          <a:prstGeom prst="rect">
            <a:avLst/>
          </a:prstGeom>
          <a:noFill/>
          <a:ln/>
        </p:spPr>
        <p:txBody>
          <a:bodyPr wrap="none" lIns="0" tIns="0" rIns="0" bIns="0" rtlCol="0" anchor="t">
            <a:normAutofit/>
          </a:bodyPr>
          <a:lstStyle/>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class</a:t>
            </a:r>
            <a:r>
              <a:rPr lang="en-US" sz="1250" dirty="0">
                <a:solidFill>
                  <a:srgbClr val="1F2933"/>
                </a:solidFill>
                <a:latin typeface="JetBrains Mono" pitchFamily="49" charset="0"/>
                <a:ea typeface="JetBrains Mono" pitchFamily="49" charset="-122"/>
                <a:cs typeface="JetBrains Mono" pitchFamily="49" charset="-120"/>
              </a:rPr>
              <a:t> DatabaseFixture : IDisposable</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DatabaseFixture()</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Db = </a:t>
            </a:r>
            <a:r>
              <a:rPr lang="en-US" sz="1250" dirty="0">
                <a:solidFill>
                  <a:srgbClr val="0033B3"/>
                </a:solidFill>
                <a:latin typeface="JetBrains Mono" pitchFamily="49" charset="0"/>
                <a:ea typeface="JetBrains Mono" pitchFamily="49" charset="-122"/>
                <a:cs typeface="JetBrains Mono" pitchFamily="49" charset="-120"/>
              </a:rPr>
              <a:t>new</a:t>
            </a:r>
            <a:r>
              <a:rPr lang="en-US" sz="1250" dirty="0">
                <a:solidFill>
                  <a:srgbClr val="1F2933"/>
                </a:solidFill>
                <a:latin typeface="JetBrains Mono" pitchFamily="49" charset="0"/>
                <a:ea typeface="JetBrains Mono" pitchFamily="49" charset="-122"/>
                <a:cs typeface="JetBrains Mono" pitchFamily="49" charset="-120"/>
              </a:rPr>
              <a:t> SqlConnection(</a:t>
            </a:r>
            <a:r>
              <a:rPr lang="en-US" sz="1250" dirty="0">
                <a:solidFill>
                  <a:srgbClr val="A31515"/>
                </a:solidFill>
                <a:latin typeface="JetBrains Mono" pitchFamily="49" charset="0"/>
                <a:ea typeface="JetBrains Mono" pitchFamily="49" charset="-122"/>
                <a:cs typeface="JetBrains Mono" pitchFamily="49" charset="-120"/>
              </a:rPr>
              <a:t>"MyConnectionString"</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void</a:t>
            </a:r>
            <a:r>
              <a:rPr lang="en-US" sz="1250" dirty="0">
                <a:solidFill>
                  <a:srgbClr val="1F2933"/>
                </a:solidFill>
                <a:latin typeface="JetBrains Mono" pitchFamily="49" charset="0"/>
                <a:ea typeface="JetBrains Mono" pitchFamily="49" charset="-122"/>
                <a:cs typeface="JetBrains Mono" pitchFamily="49" charset="-120"/>
              </a:rPr>
              <a:t> Dispose()</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6A737D"/>
                </a:solidFill>
                <a:latin typeface="JetBrains Mono" pitchFamily="49" charset="0"/>
                <a:ea typeface="JetBrains Mono" pitchFamily="49" charset="-122"/>
                <a:cs typeface="JetBrains Mono" pitchFamily="49" charset="-120"/>
              </a:rPr>
              <a:t>// ... очистка тестовых данных в БД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SqlConnection Db { </a:t>
            </a:r>
            <a:r>
              <a:rPr lang="en-US" sz="1250" dirty="0">
                <a:solidFill>
                  <a:srgbClr val="0033B3"/>
                </a:solidFill>
                <a:latin typeface="JetBrains Mono" pitchFamily="49" charset="0"/>
                <a:ea typeface="JetBrains Mono" pitchFamily="49" charset="-122"/>
                <a:cs typeface="JetBrains Mono" pitchFamily="49" charset="-120"/>
              </a:rPr>
              <a:t>get</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private</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set</a:t>
            </a: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CollectionDefinition</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"Database collection"</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class</a:t>
            </a:r>
            <a:r>
              <a:rPr lang="en-US" sz="1250" dirty="0">
                <a:solidFill>
                  <a:srgbClr val="1F2933"/>
                </a:solidFill>
                <a:latin typeface="JetBrains Mono" pitchFamily="49" charset="0"/>
                <a:ea typeface="JetBrains Mono" pitchFamily="49" charset="-122"/>
                <a:cs typeface="JetBrains Mono" pitchFamily="49" charset="-120"/>
              </a:rPr>
              <a:t> DatabaseCollection</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 ICollectionFixture&lt;DatabaseFixture&gt; { }</a:t>
            </a:r>
            <a:endParaRPr lang="en-US" sz="1250" dirty="0"/>
          </a:p>
        </p:txBody>
      </p:sp>
      <p:sp>
        <p:nvSpPr>
          <p:cNvPr id="8" name="Shape 6"/>
          <p:cNvSpPr/>
          <p:nvPr/>
        </p:nvSpPr>
        <p:spPr>
          <a:xfrm>
            <a:off x="6188075" y="1895475"/>
            <a:ext cx="5543550" cy="4502150"/>
          </a:xfrm>
          <a:prstGeom prst="roundRect">
            <a:avLst>
              <a:gd name="adj" fmla="val 2186"/>
            </a:avLst>
          </a:prstGeom>
          <a:solidFill>
            <a:srgbClr val="F2F5F8"/>
          </a:solidFill>
          <a:ln w="6350">
            <a:solidFill>
              <a:srgbClr val="D3DBE4"/>
            </a:solidFill>
            <a:prstDash val="solid"/>
          </a:ln>
        </p:spPr>
      </p:sp>
      <p:sp>
        <p:nvSpPr>
          <p:cNvPr id="9" name="Text 7"/>
          <p:cNvSpPr/>
          <p:nvPr/>
        </p:nvSpPr>
        <p:spPr>
          <a:xfrm>
            <a:off x="6342380" y="2037085"/>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ТЕСТОВЫЕ КЛАССЫ</a:t>
            </a:r>
            <a:endParaRPr lang="en-US" sz="1500" dirty="0"/>
          </a:p>
        </p:txBody>
      </p:sp>
      <p:sp>
        <p:nvSpPr>
          <p:cNvPr id="10" name="Text 8"/>
          <p:cNvSpPr/>
          <p:nvPr/>
        </p:nvSpPr>
        <p:spPr>
          <a:xfrm>
            <a:off x="6342380" y="2379985"/>
            <a:ext cx="5391988" cy="3406775"/>
          </a:xfrm>
          <a:prstGeom prst="rect">
            <a:avLst/>
          </a:prstGeom>
          <a:noFill/>
          <a:ln/>
        </p:spPr>
        <p:txBody>
          <a:bodyPr wrap="none" lIns="0" tIns="0" rIns="0" bIns="0" rtlCol="0" anchor="t">
            <a:normAutofit/>
          </a:bodyPr>
          <a:lstStyle/>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Collection</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"Database collection"</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class</a:t>
            </a:r>
            <a:r>
              <a:rPr lang="en-US" sz="1250" dirty="0">
                <a:solidFill>
                  <a:srgbClr val="1F2933"/>
                </a:solidFill>
                <a:latin typeface="JetBrains Mono" pitchFamily="49" charset="0"/>
                <a:ea typeface="JetBrains Mono" pitchFamily="49" charset="-122"/>
                <a:cs typeface="JetBrains Mono" pitchFamily="49" charset="-120"/>
              </a:rPr>
              <a:t> DatabaseTestClass1</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DatabaseFixture fixture;</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DatabaseTestClass1(DatabaseFixture fixture)</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this</a:t>
            </a:r>
            <a:r>
              <a:rPr lang="en-US" sz="1250" dirty="0">
                <a:solidFill>
                  <a:srgbClr val="1F2933"/>
                </a:solidFill>
                <a:latin typeface="JetBrains Mono" pitchFamily="49" charset="0"/>
                <a:ea typeface="JetBrains Mono" pitchFamily="49" charset="-122"/>
                <a:cs typeface="JetBrains Mono" pitchFamily="49" charset="-120"/>
              </a:rPr>
              <a:t>.fixture = fixture;</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1A7F37"/>
                </a:solidFill>
                <a:latin typeface="JetBrains Mono" pitchFamily="49" charset="0"/>
                <a:ea typeface="JetBrains Mono" pitchFamily="49" charset="-122"/>
                <a:cs typeface="JetBrains Mono" pitchFamily="49" charset="-120"/>
              </a:rPr>
              <a:t>Collection</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"Database collection"</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class</a:t>
            </a:r>
            <a:r>
              <a:rPr lang="en-US" sz="1250" dirty="0">
                <a:solidFill>
                  <a:srgbClr val="1F2933"/>
                </a:solidFill>
                <a:latin typeface="JetBrains Mono" pitchFamily="49" charset="0"/>
                <a:ea typeface="JetBrains Mono" pitchFamily="49" charset="-122"/>
                <a:cs typeface="JetBrains Mono" pitchFamily="49" charset="-120"/>
              </a:rPr>
              <a:t> DatabaseTestClass2</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6A737D"/>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UNIT-ТЕСТЫ В C#</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NUnit</a:t>
            </a:r>
            <a:endParaRPr lang="en-US" sz="3200" dirty="0"/>
          </a:p>
        </p:txBody>
      </p:sp>
      <p:sp>
        <p:nvSpPr>
          <p:cNvPr id="4" name="Text 2"/>
          <p:cNvSpPr/>
          <p:nvPr/>
        </p:nvSpPr>
        <p:spPr>
          <a:xfrm>
            <a:off x="457200" y="1437655"/>
            <a:ext cx="11615928"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Структура та же - меняются атрибуты и стиль Assert.</a:t>
            </a:r>
            <a:endParaRPr lang="en-US" sz="1700" dirty="0"/>
          </a:p>
        </p:txBody>
      </p:sp>
      <p:sp>
        <p:nvSpPr>
          <p:cNvPr id="5" name="Shape 3"/>
          <p:cNvSpPr/>
          <p:nvPr/>
        </p:nvSpPr>
        <p:spPr>
          <a:xfrm>
            <a:off x="460375" y="1895475"/>
            <a:ext cx="5543550" cy="4502150"/>
          </a:xfrm>
          <a:prstGeom prst="roundRect">
            <a:avLst>
              <a:gd name="adj" fmla="val 2186"/>
            </a:avLst>
          </a:prstGeom>
          <a:solidFill>
            <a:srgbClr val="F2F5F8"/>
          </a:solidFill>
          <a:ln w="6350">
            <a:solidFill>
              <a:srgbClr val="D3DBE4"/>
            </a:solidFill>
            <a:prstDash val="solid"/>
          </a:ln>
        </p:spPr>
      </p:sp>
      <p:sp>
        <p:nvSpPr>
          <p:cNvPr id="6" name="Text 4"/>
          <p:cNvSpPr/>
          <p:nvPr/>
        </p:nvSpPr>
        <p:spPr>
          <a:xfrm>
            <a:off x="614680" y="2037085"/>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XUNIT</a:t>
            </a:r>
            <a:endParaRPr lang="en-US" sz="1500" dirty="0"/>
          </a:p>
        </p:txBody>
      </p:sp>
      <p:sp>
        <p:nvSpPr>
          <p:cNvPr id="7" name="Text 5"/>
          <p:cNvSpPr/>
          <p:nvPr/>
        </p:nvSpPr>
        <p:spPr>
          <a:xfrm>
            <a:off x="614680" y="2379985"/>
            <a:ext cx="5391988" cy="3857625"/>
          </a:xfrm>
          <a:prstGeom prst="rect">
            <a:avLst/>
          </a:prstGeom>
          <a:noFill/>
          <a:ln/>
        </p:spPr>
        <p:txBody>
          <a:bodyPr wrap="none" lIns="0" tIns="0" rIns="0" bIns="0" rtlCol="0" anchor="t">
            <a:normAutofit/>
          </a:bodyPr>
          <a:lstStyle/>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class</a:t>
            </a:r>
            <a:r>
              <a:rPr lang="en-US" sz="1250" dirty="0">
                <a:solidFill>
                  <a:srgbClr val="1F2933"/>
                </a:solidFill>
                <a:latin typeface="JetBrains Mono" pitchFamily="49" charset="0"/>
                <a:ea typeface="JetBrains Mono" pitchFamily="49" charset="-122"/>
                <a:cs typeface="JetBrains Mono" pitchFamily="49" charset="-120"/>
              </a:rPr>
              <a:t> StringCalculatorTests</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private</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readonly</a:t>
            </a:r>
            <a:r>
              <a:rPr lang="en-US" sz="1250" dirty="0">
                <a:solidFill>
                  <a:srgbClr val="1F2933"/>
                </a:solidFill>
                <a:latin typeface="JetBrains Mono" pitchFamily="49" charset="0"/>
                <a:ea typeface="JetBrains Mono" pitchFamily="49" charset="-122"/>
                <a:cs typeface="JetBrains Mono" pitchFamily="49" charset="-120"/>
              </a:rPr>
              <a:t> StringCalculator _calculator;</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StringCalculatorTests()</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_calculator = </a:t>
            </a:r>
            <a:r>
              <a:rPr lang="en-US" sz="1250" dirty="0">
                <a:solidFill>
                  <a:srgbClr val="0033B3"/>
                </a:solidFill>
                <a:latin typeface="JetBrains Mono" pitchFamily="49" charset="0"/>
                <a:ea typeface="JetBrains Mono" pitchFamily="49" charset="-122"/>
                <a:cs typeface="JetBrains Mono" pitchFamily="49" charset="-120"/>
              </a:rPr>
              <a:t>new</a:t>
            </a:r>
            <a:r>
              <a:rPr lang="en-US" sz="1250" dirty="0">
                <a:solidFill>
                  <a:srgbClr val="1F2933"/>
                </a:solidFill>
                <a:latin typeface="JetBrains Mono" pitchFamily="49" charset="0"/>
                <a:ea typeface="JetBrains Mono" pitchFamily="49" charset="-122"/>
                <a:cs typeface="JetBrains Mono" pitchFamily="49" charset="-120"/>
              </a:rPr>
              <a:t> StringCalculator();</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1A7F37"/>
                </a:solidFill>
                <a:latin typeface="JetBrains Mono" pitchFamily="49" charset="0"/>
                <a:ea typeface="JetBrains Mono" pitchFamily="49" charset="-122"/>
                <a:cs typeface="JetBrains Mono" pitchFamily="49" charset="-120"/>
              </a:rPr>
              <a:t>Theory</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1A7F37"/>
                </a:solidFill>
                <a:latin typeface="JetBrains Mono" pitchFamily="49" charset="0"/>
                <a:ea typeface="JetBrains Mono" pitchFamily="49" charset="-122"/>
                <a:cs typeface="JetBrains Mono" pitchFamily="49" charset="-120"/>
              </a:rPr>
              <a:t>InlineData</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"0,0,0"</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7A3EC8"/>
                </a:solidFill>
                <a:latin typeface="JetBrains Mono" pitchFamily="49" charset="0"/>
                <a:ea typeface="JetBrains Mono" pitchFamily="49" charset="-122"/>
                <a:cs typeface="JetBrains Mono" pitchFamily="49" charset="-120"/>
              </a:rPr>
              <a:t>0</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1A7F37"/>
                </a:solidFill>
                <a:latin typeface="JetBrains Mono" pitchFamily="49" charset="0"/>
                <a:ea typeface="JetBrains Mono" pitchFamily="49" charset="-122"/>
                <a:cs typeface="JetBrains Mono" pitchFamily="49" charset="-120"/>
              </a:rPr>
              <a:t>InlineData</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"1,2,3"</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7A3EC8"/>
                </a:solidFill>
                <a:latin typeface="JetBrains Mono" pitchFamily="49" charset="0"/>
                <a:ea typeface="JetBrains Mono" pitchFamily="49" charset="-122"/>
                <a:cs typeface="JetBrains Mono" pitchFamily="49" charset="-120"/>
              </a:rPr>
              <a:t>6</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void</a:t>
            </a:r>
            <a:r>
              <a:rPr lang="en-US" sz="1250" dirty="0">
                <a:solidFill>
                  <a:srgbClr val="1F2933"/>
                </a:solidFill>
                <a:latin typeface="JetBrains Mono" pitchFamily="49" charset="0"/>
                <a:ea typeface="JetBrains Mono" pitchFamily="49" charset="-122"/>
                <a:cs typeface="JetBrains Mono" pitchFamily="49" charset="-120"/>
              </a:rPr>
              <a:t> Add_MultipleNumbers_ReturnsSum(</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string</a:t>
            </a:r>
            <a:r>
              <a:rPr lang="en-US" sz="1250" dirty="0">
                <a:solidFill>
                  <a:srgbClr val="1F2933"/>
                </a:solidFill>
                <a:latin typeface="JetBrains Mono" pitchFamily="49" charset="0"/>
                <a:ea typeface="JetBrains Mono" pitchFamily="49" charset="-122"/>
                <a:cs typeface="JetBrains Mono" pitchFamily="49" charset="-120"/>
              </a:rPr>
              <a:t> input, </a:t>
            </a:r>
            <a:r>
              <a:rPr lang="en-US" sz="1250" dirty="0">
                <a:solidFill>
                  <a:srgbClr val="0033B3"/>
                </a:solidFill>
                <a:latin typeface="JetBrains Mono" pitchFamily="49" charset="0"/>
                <a:ea typeface="JetBrains Mono" pitchFamily="49" charset="-122"/>
                <a:cs typeface="JetBrains Mono" pitchFamily="49" charset="-120"/>
              </a:rPr>
              <a:t>int</a:t>
            </a:r>
            <a:r>
              <a:rPr lang="en-US" sz="1250" dirty="0">
                <a:solidFill>
                  <a:srgbClr val="1F2933"/>
                </a:solidFill>
                <a:latin typeface="JetBrains Mono" pitchFamily="49" charset="0"/>
                <a:ea typeface="JetBrains Mono" pitchFamily="49" charset="-122"/>
                <a:cs typeface="JetBrains Mono" pitchFamily="49" charset="-120"/>
              </a:rPr>
              <a:t> expected)</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actual = _calculator.Add(input);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Assert.Equal(expected, actual);</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p:txBody>
      </p:sp>
      <p:sp>
        <p:nvSpPr>
          <p:cNvPr id="8" name="Shape 6"/>
          <p:cNvSpPr/>
          <p:nvPr/>
        </p:nvSpPr>
        <p:spPr>
          <a:xfrm>
            <a:off x="6188075" y="1895475"/>
            <a:ext cx="5543550" cy="4502150"/>
          </a:xfrm>
          <a:prstGeom prst="roundRect">
            <a:avLst>
              <a:gd name="adj" fmla="val 2186"/>
            </a:avLst>
          </a:prstGeom>
          <a:solidFill>
            <a:srgbClr val="F2F5F8"/>
          </a:solidFill>
          <a:ln w="6350">
            <a:solidFill>
              <a:srgbClr val="D3DBE4"/>
            </a:solidFill>
            <a:prstDash val="solid"/>
          </a:ln>
        </p:spPr>
      </p:sp>
      <p:sp>
        <p:nvSpPr>
          <p:cNvPr id="9" name="Text 7"/>
          <p:cNvSpPr/>
          <p:nvPr/>
        </p:nvSpPr>
        <p:spPr>
          <a:xfrm>
            <a:off x="6342380" y="2037085"/>
            <a:ext cx="539198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F5FBF"/>
                </a:solidFill>
                <a:latin typeface="IBM Plex Sans" pitchFamily="34" charset="0"/>
                <a:ea typeface="IBM Plex Sans" pitchFamily="34" charset="-122"/>
                <a:cs typeface="IBM Plex Sans" pitchFamily="34" charset="-120"/>
              </a:rPr>
              <a:t>NUNIT</a:t>
            </a:r>
            <a:endParaRPr lang="en-US" sz="1500" dirty="0"/>
          </a:p>
        </p:txBody>
      </p:sp>
      <p:sp>
        <p:nvSpPr>
          <p:cNvPr id="10" name="Text 8"/>
          <p:cNvSpPr/>
          <p:nvPr/>
        </p:nvSpPr>
        <p:spPr>
          <a:xfrm>
            <a:off x="6342380" y="2379985"/>
            <a:ext cx="5391988" cy="3857625"/>
          </a:xfrm>
          <a:prstGeom prst="rect">
            <a:avLst/>
          </a:prstGeom>
          <a:noFill/>
          <a:ln/>
        </p:spPr>
        <p:txBody>
          <a:bodyPr wrap="none" lIns="0" tIns="0" rIns="0" bIns="0" rtlCol="0" anchor="t">
            <a:normAutofit/>
          </a:bodyPr>
          <a:lstStyle/>
          <a:p>
            <a:pPr algn="l" indent="0" marL="0">
              <a:lnSpc>
                <a:spcPts val="1775"/>
              </a:lnSpc>
              <a:buNone/>
            </a:pP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class</a:t>
            </a:r>
            <a:r>
              <a:rPr lang="en-US" sz="1250" dirty="0">
                <a:solidFill>
                  <a:srgbClr val="1F2933"/>
                </a:solidFill>
                <a:latin typeface="JetBrains Mono" pitchFamily="49" charset="0"/>
                <a:ea typeface="JetBrains Mono" pitchFamily="49" charset="-122"/>
                <a:cs typeface="JetBrains Mono" pitchFamily="49" charset="-120"/>
              </a:rPr>
              <a:t> StringCalculatorTests</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private</a:t>
            </a:r>
            <a:r>
              <a:rPr lang="en-US" sz="1250" dirty="0">
                <a:solidFill>
                  <a:srgbClr val="1F2933"/>
                </a:solidFill>
                <a:latin typeface="JetBrains Mono" pitchFamily="49" charset="0"/>
                <a:ea typeface="JetBrains Mono" pitchFamily="49" charset="-122"/>
                <a:cs typeface="JetBrains Mono" pitchFamily="49" charset="-120"/>
              </a:rPr>
              <a:t> StringCalculator _calculator;</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1A7F37"/>
                </a:solidFill>
                <a:latin typeface="JetBrains Mono" pitchFamily="49" charset="0"/>
                <a:ea typeface="JetBrains Mono" pitchFamily="49" charset="-122"/>
                <a:cs typeface="JetBrains Mono" pitchFamily="49" charset="-120"/>
              </a:rPr>
              <a:t>SetUp</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void</a:t>
            </a:r>
            <a:r>
              <a:rPr lang="en-US" sz="1250" dirty="0">
                <a:solidFill>
                  <a:srgbClr val="1F2933"/>
                </a:solidFill>
                <a:latin typeface="JetBrains Mono" pitchFamily="49" charset="0"/>
                <a:ea typeface="JetBrains Mono" pitchFamily="49" charset="-122"/>
                <a:cs typeface="JetBrains Mono" pitchFamily="49" charset="-120"/>
              </a:rPr>
              <a:t> SetUp()</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_calculator = </a:t>
            </a:r>
            <a:r>
              <a:rPr lang="en-US" sz="1250" dirty="0">
                <a:solidFill>
                  <a:srgbClr val="0033B3"/>
                </a:solidFill>
                <a:latin typeface="JetBrains Mono" pitchFamily="49" charset="0"/>
                <a:ea typeface="JetBrains Mono" pitchFamily="49" charset="-122"/>
                <a:cs typeface="JetBrains Mono" pitchFamily="49" charset="-120"/>
              </a:rPr>
              <a:t>new</a:t>
            </a:r>
            <a:r>
              <a:rPr lang="en-US" sz="1250" dirty="0">
                <a:solidFill>
                  <a:srgbClr val="1F2933"/>
                </a:solidFill>
                <a:latin typeface="JetBrains Mono" pitchFamily="49" charset="0"/>
                <a:ea typeface="JetBrains Mono" pitchFamily="49" charset="-122"/>
                <a:cs typeface="JetBrains Mono" pitchFamily="49" charset="-120"/>
              </a:rPr>
              <a:t> StringCalculator();</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1A7F37"/>
                </a:solidFill>
                <a:latin typeface="JetBrains Mono" pitchFamily="49" charset="0"/>
                <a:ea typeface="JetBrains Mono" pitchFamily="49" charset="-122"/>
                <a:cs typeface="JetBrains Mono" pitchFamily="49" charset="-120"/>
              </a:rPr>
              <a:t>TestCase</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"0,0,0"</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7A3EC8"/>
                </a:solidFill>
                <a:latin typeface="JetBrains Mono" pitchFamily="49" charset="0"/>
                <a:ea typeface="JetBrains Mono" pitchFamily="49" charset="-122"/>
                <a:cs typeface="JetBrains Mono" pitchFamily="49" charset="-120"/>
              </a:rPr>
              <a:t>0</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1A7F37"/>
                </a:solidFill>
                <a:latin typeface="JetBrains Mono" pitchFamily="49" charset="0"/>
                <a:ea typeface="JetBrains Mono" pitchFamily="49" charset="-122"/>
                <a:cs typeface="JetBrains Mono" pitchFamily="49" charset="-120"/>
              </a:rPr>
              <a:t>TestCase</a:t>
            </a:r>
            <a:r>
              <a:rPr lang="en-US" sz="1250" dirty="0">
                <a:solidFill>
                  <a:srgbClr val="1F2933"/>
                </a:solidFill>
                <a:latin typeface="JetBrains Mono" pitchFamily="49" charset="0"/>
                <a:ea typeface="JetBrains Mono" pitchFamily="49" charset="-122"/>
                <a:cs typeface="JetBrains Mono" pitchFamily="49" charset="-120"/>
              </a:rPr>
              <a:t>(</a:t>
            </a:r>
            <a:r>
              <a:rPr lang="en-US" sz="1250" dirty="0">
                <a:solidFill>
                  <a:srgbClr val="A31515"/>
                </a:solidFill>
                <a:latin typeface="JetBrains Mono" pitchFamily="49" charset="0"/>
                <a:ea typeface="JetBrains Mono" pitchFamily="49" charset="-122"/>
                <a:cs typeface="JetBrains Mono" pitchFamily="49" charset="-120"/>
              </a:rPr>
              <a:t>"1,2,3"</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7A3EC8"/>
                </a:solidFill>
                <a:latin typeface="JetBrains Mono" pitchFamily="49" charset="0"/>
                <a:ea typeface="JetBrains Mono" pitchFamily="49" charset="-122"/>
                <a:cs typeface="JetBrains Mono" pitchFamily="49" charset="-120"/>
              </a:rPr>
              <a:t>6</a:t>
            </a: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public</a:t>
            </a: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void</a:t>
            </a:r>
            <a:r>
              <a:rPr lang="en-US" sz="1250" dirty="0">
                <a:solidFill>
                  <a:srgbClr val="1F2933"/>
                </a:solidFill>
                <a:latin typeface="JetBrains Mono" pitchFamily="49" charset="0"/>
                <a:ea typeface="JetBrains Mono" pitchFamily="49" charset="-122"/>
                <a:cs typeface="JetBrains Mono" pitchFamily="49" charset="-120"/>
              </a:rPr>
              <a:t> Add_MultipleNumbers_ReturnsSum(</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string</a:t>
            </a:r>
            <a:r>
              <a:rPr lang="en-US" sz="1250" dirty="0">
                <a:solidFill>
                  <a:srgbClr val="1F2933"/>
                </a:solidFill>
                <a:latin typeface="JetBrains Mono" pitchFamily="49" charset="0"/>
                <a:ea typeface="JetBrains Mono" pitchFamily="49" charset="-122"/>
                <a:cs typeface="JetBrains Mono" pitchFamily="49" charset="-120"/>
              </a:rPr>
              <a:t> input, </a:t>
            </a:r>
            <a:r>
              <a:rPr lang="en-US" sz="1250" dirty="0">
                <a:solidFill>
                  <a:srgbClr val="0033B3"/>
                </a:solidFill>
                <a:latin typeface="JetBrains Mono" pitchFamily="49" charset="0"/>
                <a:ea typeface="JetBrains Mono" pitchFamily="49" charset="-122"/>
                <a:cs typeface="JetBrains Mono" pitchFamily="49" charset="-120"/>
              </a:rPr>
              <a:t>int</a:t>
            </a:r>
            <a:r>
              <a:rPr lang="en-US" sz="1250" dirty="0">
                <a:solidFill>
                  <a:srgbClr val="1F2933"/>
                </a:solidFill>
                <a:latin typeface="JetBrains Mono" pitchFamily="49" charset="0"/>
                <a:ea typeface="JetBrains Mono" pitchFamily="49" charset="-122"/>
                <a:cs typeface="JetBrains Mono" pitchFamily="49" charset="-120"/>
              </a:rPr>
              <a:t> expected)</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r>
              <a:rPr lang="en-US" sz="1250" dirty="0">
                <a:solidFill>
                  <a:srgbClr val="0033B3"/>
                </a:solidFill>
                <a:latin typeface="JetBrains Mono" pitchFamily="49" charset="0"/>
                <a:ea typeface="JetBrains Mono" pitchFamily="49" charset="-122"/>
                <a:cs typeface="JetBrains Mono" pitchFamily="49" charset="-120"/>
              </a:rPr>
              <a:t>var</a:t>
            </a:r>
            <a:r>
              <a:rPr lang="en-US" sz="1250" dirty="0">
                <a:solidFill>
                  <a:srgbClr val="1F2933"/>
                </a:solidFill>
                <a:latin typeface="JetBrains Mono" pitchFamily="49" charset="0"/>
                <a:ea typeface="JetBrains Mono" pitchFamily="49" charset="-122"/>
                <a:cs typeface="JetBrains Mono" pitchFamily="49" charset="-120"/>
              </a:rPr>
              <a:t> actual = _calculator.Add(input);</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Assert.That(actual, Is.EqualTo(expected));</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    }</a:t>
            </a:r>
            <a:endParaRPr lang="en-US" sz="1250" dirty="0"/>
          </a:p>
          <a:p>
            <a:pPr algn="l" indent="0" marL="0">
              <a:lnSpc>
                <a:spcPts val="1775"/>
              </a:lnSpc>
              <a:buNone/>
            </a:pPr>
            <a:r>
              <a:rPr lang="en-US" sz="1250" dirty="0">
                <a:solidFill>
                  <a:srgbClr val="1F2933"/>
                </a:solidFill>
                <a:latin typeface="JetBrains Mono" pitchFamily="49" charset="0"/>
                <a:ea typeface="JetBrains Mono" pitchFamily="49" charset="-122"/>
                <a:cs typeface="JetBrains Mono" pitchFamily="49" charset="-120"/>
              </a:rPr>
              <a:t>}</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04 · UNIT-ТЕСТЫ В C#</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xUnit ↔ NUnit</a:t>
            </a:r>
            <a:endParaRPr lang="en-US" sz="3200" dirty="0"/>
          </a:p>
        </p:txBody>
      </p:sp>
      <p:sp>
        <p:nvSpPr>
          <p:cNvPr id="4" name="Shape 2"/>
          <p:cNvSpPr/>
          <p:nvPr/>
        </p:nvSpPr>
        <p:spPr>
          <a:xfrm>
            <a:off x="457200" y="1493535"/>
            <a:ext cx="11277600" cy="0"/>
          </a:xfrm>
          <a:prstGeom prst="line">
            <a:avLst/>
          </a:prstGeom>
          <a:noFill/>
          <a:ln w="10160">
            <a:solidFill>
              <a:srgbClr val="141413">
                <a:alpha val="22000"/>
              </a:srgbClr>
            </a:solidFill>
            <a:prstDash val="solid"/>
          </a:ln>
        </p:spPr>
      </p:sp>
      <p:sp>
        <p:nvSpPr>
          <p:cNvPr id="5" name="Shape 3"/>
          <p:cNvSpPr/>
          <p:nvPr/>
        </p:nvSpPr>
        <p:spPr>
          <a:xfrm>
            <a:off x="462280" y="1488455"/>
            <a:ext cx="0" cy="411988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587515"/>
          <a:ext cx="11013440" cy="3931920"/>
        </p:xfrm>
        <a:graphic>
          <a:graphicData uri="http://schemas.openxmlformats.org/drawingml/2006/table">
            <a:tbl>
              <a:tblPr/>
              <a:tblGrid>
                <a:gridCol w="2863494"/>
                <a:gridCol w="4074973"/>
                <a:gridCol w="4074973"/>
              </a:tblGrid>
              <a:tr h="436880">
                <a:tc>
                  <a:txBody>
                    <a:bodyPr/>
                    <a:lstStyle/>
                    <a:p>
                      <a:pPr indent="0" marL="0">
                        <a:lnSpc>
                          <a:spcPts val="2240"/>
                        </a:lnSpc>
                        <a:buNone/>
                      </a:pPr>
                      <a:r>
                        <a:rPr lang="en-US" sz="1600" b="1" dirty="0">
                          <a:solidFill>
                            <a:srgbClr val="3A4B5E"/>
                          </a:solidFill>
                          <a:latin typeface="IBM Plex Sans" pitchFamily="34" charset="0"/>
                          <a:ea typeface="IBM Plex Sans" pitchFamily="34" charset="-122"/>
                          <a:cs typeface="IBM Plex Sans" pitchFamily="34" charset="-120"/>
                        </a:rPr>
                        <a:t>Что</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c>
                  <a:txBody>
                    <a:bodyPr/>
                    <a:lstStyle/>
                    <a:p>
                      <a:pPr indent="0" marL="0">
                        <a:lnSpc>
                          <a:spcPts val="2240"/>
                        </a:lnSpc>
                        <a:buNone/>
                      </a:pPr>
                      <a:r>
                        <a:rPr lang="en-US" sz="1600" b="1" dirty="0">
                          <a:solidFill>
                            <a:srgbClr val="3A4B5E"/>
                          </a:solidFill>
                          <a:latin typeface="IBM Plex Sans" pitchFamily="34" charset="0"/>
                          <a:ea typeface="IBM Plex Sans" pitchFamily="34" charset="-122"/>
                          <a:cs typeface="IBM Plex Sans" pitchFamily="34" charset="-120"/>
                        </a:rPr>
                        <a:t>xUnit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9B9"/>
                      </a:solidFill>
                      <a:prstDash val="solid"/>
                      <a:round/>
                      <a:headEnd type="none" w="med" len="med"/>
                      <a:tailEnd type="none" w="med" len="med"/>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c>
                  <a:txBody>
                    <a:bodyPr/>
                    <a:lstStyle/>
                    <a:p>
                      <a:pPr indent="0" marL="0">
                        <a:lnSpc>
                          <a:spcPts val="2240"/>
                        </a:lnSpc>
                        <a:buNone/>
                      </a:pPr>
                      <a:r>
                        <a:rPr lang="en-US" sz="1600" b="1" dirty="0">
                          <a:solidFill>
                            <a:srgbClr val="3A4B5E"/>
                          </a:solidFill>
                          <a:latin typeface="IBM Plex Sans" pitchFamily="34" charset="0"/>
                          <a:ea typeface="IBM Plex Sans" pitchFamily="34" charset="-122"/>
                          <a:cs typeface="IBM Plex Sans" pitchFamily="34" charset="-120"/>
                        </a:rPr>
                        <a:t>NUnit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9B9"/>
                      </a:solidFill>
                      <a:prstDash val="solid"/>
                      <a:round/>
                      <a:headEnd type="none" w="med" len="med"/>
                      <a:tailEnd type="none" w="med" len="med"/>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Тестовый класс</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обычный класс</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обычный класс</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Тест без параметров</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[Fact]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[Test]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Тест с параметрами</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[Theory] + [InlineData]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[TestCase(…)]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Данные из метода</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[MemberData]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[TestCaseSource]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Перед каждым тестом</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конструктор</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[SetUp]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После каждого теста</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Dispose()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[TearDown]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Один раз на класс</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IClassFixture&lt;T&gt;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[OneTimeSetUp]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3688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Проверка</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Assert.Equal(exp, act)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1F2933"/>
                          </a:solidFill>
                          <a:latin typeface="IBM Plex Sans" pitchFamily="34" charset="0"/>
                          <a:ea typeface="IBM Plex Sans" pitchFamily="34" charset="-122"/>
                          <a:cs typeface="IBM Plex Sans" pitchFamily="34" charset="-120"/>
                        </a:rPr>
                        <a:t>Assert.That(act, Is.EqualTo(exp))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nvSpPr>
        <p:spPr>
          <a:xfrm>
            <a:off x="812800" y="2476500"/>
            <a:ext cx="2621375" cy="1930400"/>
          </a:xfrm>
          <a:prstGeom prst="rect">
            <a:avLst/>
          </a:prstGeom>
          <a:noFill/>
          <a:ln/>
        </p:spPr>
        <p:txBody>
          <a:bodyPr wrap="square" lIns="0" tIns="0" rIns="0" bIns="0" rtlCol="0" anchor="t">
            <a:normAutofit/>
          </a:bodyPr>
          <a:lstStyle/>
          <a:p>
            <a:pPr algn="l" indent="0" marL="0">
              <a:lnSpc>
                <a:spcPts val="15000"/>
              </a:lnSpc>
              <a:buNone/>
            </a:pPr>
            <a:r>
              <a:rPr lang="en-US" sz="15000" spc="-400" kern="0" dirty="0">
                <a:solidFill>
                  <a:srgbClr val="1A7F37"/>
                </a:solidFill>
                <a:latin typeface="IBM Plex Sans" pitchFamily="34" charset="0"/>
                <a:ea typeface="IBM Plex Sans" pitchFamily="34" charset="-122"/>
                <a:cs typeface="IBM Plex Sans" pitchFamily="34" charset="-120"/>
              </a:rPr>
              <a:t>05</a:t>
            </a:r>
            <a:endParaRPr lang="en-US" sz="15000" dirty="0"/>
          </a:p>
        </p:txBody>
      </p:sp>
      <p:sp>
        <p:nvSpPr>
          <p:cNvPr id="4" name="Text 2"/>
          <p:cNvSpPr/>
          <p:nvPr>
            <p:ph type="title"/>
          </p:nvPr>
        </p:nvSpPr>
        <p:spPr>
          <a:xfrm>
            <a:off x="3454479" y="2867670"/>
            <a:ext cx="610441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3233A"/>
                </a:solidFill>
                <a:latin typeface="IBM Plex Sans" pitchFamily="34" charset="0"/>
                <a:ea typeface="IBM Plex Sans" pitchFamily="34" charset="-122"/>
                <a:cs typeface="IBM Plex Sans" pitchFamily="34" charset="-120"/>
              </a:rPr>
              <a:t>Assertions</a:t>
            </a:r>
            <a:endParaRPr lang="en-US" sz="4800" dirty="0"/>
          </a:p>
        </p:txBody>
      </p:sp>
      <p:sp>
        <p:nvSpPr>
          <p:cNvPr id="5" name="Text 3"/>
          <p:cNvSpPr/>
          <p:nvPr/>
        </p:nvSpPr>
        <p:spPr>
          <a:xfrm>
            <a:off x="3454479" y="3634755"/>
            <a:ext cx="7111937"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C6C7D"/>
                </a:solidFill>
                <a:latin typeface="IBM Plex Sans" pitchFamily="34" charset="0"/>
                <a:ea typeface="IBM Plex Sans" pitchFamily="34" charset="-122"/>
                <a:cs typeface="IBM Plex Sans" pitchFamily="34" charset="-120"/>
              </a:rPr>
              <a:t>Встроенный Assert и библиотека FluentAssertions</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05 · ASSERTIONS</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Assert в xUnit</a:t>
            </a:r>
            <a:endParaRPr lang="en-US" sz="3200" dirty="0"/>
          </a:p>
        </p:txBody>
      </p:sp>
      <p:sp>
        <p:nvSpPr>
          <p:cNvPr id="4" name="Text 2"/>
          <p:cNvSpPr/>
          <p:nvPr/>
        </p:nvSpPr>
        <p:spPr>
          <a:xfrm>
            <a:off x="457200" y="2086620"/>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Equal</a:t>
            </a:r>
            <a:endParaRPr lang="en-US" sz="1600" dirty="0"/>
          </a:p>
        </p:txBody>
      </p:sp>
      <p:sp>
        <p:nvSpPr>
          <p:cNvPr id="5" name="Text 3"/>
          <p:cNvSpPr/>
          <p:nvPr/>
        </p:nvSpPr>
        <p:spPr>
          <a:xfrm>
            <a:off x="2806700" y="2086620"/>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Same</a:t>
            </a:r>
            <a:endParaRPr lang="en-US" sz="1600" dirty="0"/>
          </a:p>
        </p:txBody>
      </p:sp>
      <p:sp>
        <p:nvSpPr>
          <p:cNvPr id="6" name="Text 4"/>
          <p:cNvSpPr/>
          <p:nvPr/>
        </p:nvSpPr>
        <p:spPr>
          <a:xfrm>
            <a:off x="457200" y="2561605"/>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Contains</a:t>
            </a:r>
            <a:endParaRPr lang="en-US" sz="1600" dirty="0"/>
          </a:p>
        </p:txBody>
      </p:sp>
      <p:sp>
        <p:nvSpPr>
          <p:cNvPr id="7" name="Text 5"/>
          <p:cNvSpPr/>
          <p:nvPr/>
        </p:nvSpPr>
        <p:spPr>
          <a:xfrm>
            <a:off x="2806700" y="2561605"/>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InRange</a:t>
            </a:r>
            <a:endParaRPr lang="en-US" sz="1600" dirty="0"/>
          </a:p>
        </p:txBody>
      </p:sp>
      <p:sp>
        <p:nvSpPr>
          <p:cNvPr id="8" name="Text 6"/>
          <p:cNvSpPr/>
          <p:nvPr/>
        </p:nvSpPr>
        <p:spPr>
          <a:xfrm>
            <a:off x="457200" y="3036565"/>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Empty</a:t>
            </a:r>
            <a:endParaRPr lang="en-US" sz="1600" dirty="0"/>
          </a:p>
        </p:txBody>
      </p:sp>
      <p:sp>
        <p:nvSpPr>
          <p:cNvPr id="9" name="Text 7"/>
          <p:cNvSpPr/>
          <p:nvPr/>
        </p:nvSpPr>
        <p:spPr>
          <a:xfrm>
            <a:off x="2806700" y="3036565"/>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True / False</a:t>
            </a:r>
            <a:endParaRPr lang="en-US" sz="1600" dirty="0"/>
          </a:p>
        </p:txBody>
      </p:sp>
      <p:sp>
        <p:nvSpPr>
          <p:cNvPr id="10" name="Text 8"/>
          <p:cNvSpPr/>
          <p:nvPr/>
        </p:nvSpPr>
        <p:spPr>
          <a:xfrm>
            <a:off x="457200" y="3511550"/>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IsType&lt;T&gt;</a:t>
            </a:r>
            <a:endParaRPr lang="en-US" sz="1600" dirty="0"/>
          </a:p>
        </p:txBody>
      </p:sp>
      <p:sp>
        <p:nvSpPr>
          <p:cNvPr id="11" name="Text 9"/>
          <p:cNvSpPr/>
          <p:nvPr/>
        </p:nvSpPr>
        <p:spPr>
          <a:xfrm>
            <a:off x="2806700" y="3511550"/>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Null</a:t>
            </a:r>
            <a:endParaRPr lang="en-US" sz="1600" dirty="0"/>
          </a:p>
        </p:txBody>
      </p:sp>
      <p:sp>
        <p:nvSpPr>
          <p:cNvPr id="12" name="Text 10"/>
          <p:cNvSpPr/>
          <p:nvPr/>
        </p:nvSpPr>
        <p:spPr>
          <a:xfrm>
            <a:off x="457200" y="3986535"/>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Throws&lt;T&gt;</a:t>
            </a:r>
            <a:endParaRPr lang="en-US" sz="1600" dirty="0"/>
          </a:p>
        </p:txBody>
      </p:sp>
      <p:sp>
        <p:nvSpPr>
          <p:cNvPr id="13" name="Text 11"/>
          <p:cNvSpPr/>
          <p:nvPr/>
        </p:nvSpPr>
        <p:spPr>
          <a:xfrm>
            <a:off x="2806700" y="3986535"/>
            <a:ext cx="2260600" cy="411480"/>
          </a:xfrm>
          <a:prstGeom prst="roundRect">
            <a:avLst>
              <a:gd name="adj" fmla="val 15432"/>
            </a:avLst>
          </a:prstGeom>
          <a:solidFill>
            <a:srgbClr val="EDF1F5"/>
          </a:solidFill>
          <a:ln/>
        </p:spPr>
        <p:txBody>
          <a:bodyPr wrap="square" lIns="83001" tIns="44901" rIns="21279" bIns="19501" rtlCol="0" anchor="t">
            <a:normAutofit/>
          </a:bodyPr>
          <a:lstStyle/>
          <a:p>
            <a:pPr algn="l" indent="0" marL="0">
              <a:lnSpc>
                <a:spcPts val="2240"/>
              </a:lnSpc>
              <a:buNone/>
            </a:pPr>
            <a:r>
              <a:rPr lang="en-US" sz="1600" dirty="0">
                <a:solidFill>
                  <a:srgbClr val="13233A"/>
                </a:solidFill>
                <a:latin typeface="JetBrains Mono" pitchFamily="49" charset="0"/>
                <a:ea typeface="JetBrains Mono" pitchFamily="49" charset="-122"/>
                <a:cs typeface="JetBrains Mono" pitchFamily="49" charset="-120"/>
              </a:rPr>
              <a:t>Equivalent</a:t>
            </a:r>
            <a:endParaRPr lang="en-US" sz="1600" dirty="0"/>
          </a:p>
        </p:txBody>
      </p:sp>
      <p:sp>
        <p:nvSpPr>
          <p:cNvPr id="14" name="Text 12"/>
          <p:cNvSpPr/>
          <p:nvPr/>
        </p:nvSpPr>
        <p:spPr>
          <a:xfrm>
            <a:off x="507746" y="4550420"/>
            <a:ext cx="4690237" cy="1277620"/>
          </a:xfrm>
          <a:prstGeom prst="rect">
            <a:avLst/>
          </a:prstGeom>
          <a:noFill/>
          <a:ln/>
        </p:spPr>
        <p:txBody>
          <a:bodyPr wrap="square" lIns="0" tIns="0" rIns="0" bIns="0" rtlCol="0" anchor="t">
            <a:normAutofit/>
          </a:bodyPr>
          <a:lstStyle/>
          <a:p>
            <a:pPr algn="l" marL="203454" indent="-203454">
              <a:lnSpc>
                <a:spcPts val="2465"/>
              </a:lnSpc>
              <a:buSzPct val="100000"/>
              <a:buChar char="•"/>
            </a:pPr>
            <a:r>
              <a:rPr lang="en-US" sz="1700" b="1" dirty="0">
                <a:solidFill>
                  <a:srgbClr val="13233A"/>
                </a:solidFill>
                <a:latin typeface="IBM Plex Sans" pitchFamily="34" charset="0"/>
                <a:ea typeface="IBM Plex Sans" pitchFamily="34" charset="-122"/>
                <a:cs typeface="IBM Plex Sans" pitchFamily="34" charset="-120"/>
              </a:rPr>
              <a:t>Same</a:t>
            </a:r>
            <a:r>
              <a:rPr lang="en-US" sz="1700" dirty="0">
                <a:solidFill>
                  <a:srgbClr val="3A4B5E"/>
                </a:solidFill>
                <a:latin typeface="IBM Plex Sans" pitchFamily="34" charset="0"/>
                <a:ea typeface="IBM Plex Sans" pitchFamily="34" charset="-122"/>
                <a:cs typeface="IBM Plex Sans" pitchFamily="34" charset="-120"/>
              </a:rPr>
              <a:t> - по ссылке</a:t>
            </a:r>
            <a:endParaRPr lang="en-US" sz="1700" dirty="0"/>
          </a:p>
          <a:p>
            <a:pPr algn="l" marL="203454" indent="-203454">
              <a:lnSpc>
                <a:spcPts val="2465"/>
              </a:lnSpc>
              <a:buSzPct val="100000"/>
              <a:buChar char="•"/>
            </a:pPr>
            <a:r>
              <a:rPr lang="en-US" sz="1700" b="1" dirty="0">
                <a:solidFill>
                  <a:srgbClr val="13233A"/>
                </a:solidFill>
                <a:latin typeface="IBM Plex Sans" pitchFamily="34" charset="0"/>
                <a:ea typeface="IBM Plex Sans" pitchFamily="34" charset="-122"/>
                <a:cs typeface="IBM Plex Sans" pitchFamily="34" charset="-120"/>
              </a:rPr>
              <a:t>Equivalent</a:t>
            </a:r>
            <a:r>
              <a:rPr lang="en-US" sz="1700" dirty="0">
                <a:solidFill>
                  <a:srgbClr val="3A4B5E"/>
                </a:solidFill>
                <a:latin typeface="IBM Plex Sans" pitchFamily="34" charset="0"/>
                <a:ea typeface="IBM Plex Sans" pitchFamily="34" charset="-122"/>
                <a:cs typeface="IBM Plex Sans" pitchFamily="34" charset="-120"/>
              </a:rPr>
              <a:t> - по значениям полей</a:t>
            </a:r>
            <a:endParaRPr lang="en-US" sz="1700" dirty="0"/>
          </a:p>
          <a:p>
            <a:pPr algn="l" marL="203454" indent="-203454">
              <a:lnSpc>
                <a:spcPts val="2465"/>
              </a:lnSpc>
              <a:buSzPct val="100000"/>
              <a:buChar char="•"/>
            </a:pPr>
            <a:r>
              <a:rPr lang="en-US" sz="1700" b="1" dirty="0">
                <a:solidFill>
                  <a:srgbClr val="13233A"/>
                </a:solidFill>
                <a:latin typeface="IBM Plex Sans" pitchFamily="34" charset="0"/>
                <a:ea typeface="IBM Plex Sans" pitchFamily="34" charset="-122"/>
                <a:cs typeface="IBM Plex Sans" pitchFamily="34" charset="-120"/>
              </a:rPr>
              <a:t>IsAssignableFrom</a:t>
            </a:r>
            <a:r>
              <a:rPr lang="en-US" sz="1700" dirty="0">
                <a:solidFill>
                  <a:srgbClr val="3A4B5E"/>
                </a:solidFill>
                <a:latin typeface="IBM Plex Sans" pitchFamily="34" charset="0"/>
                <a:ea typeface="IBM Plex Sans" pitchFamily="34" charset="-122"/>
                <a:cs typeface="IBM Plex Sans" pitchFamily="34" charset="-120"/>
              </a:rPr>
              <a:t> - реализует ли тип/интерфейс</a:t>
            </a:r>
            <a:endParaRPr lang="en-US" sz="1700" dirty="0"/>
          </a:p>
        </p:txBody>
      </p:sp>
      <p:sp>
        <p:nvSpPr>
          <p:cNvPr id="15" name="Text 13"/>
          <p:cNvSpPr/>
          <p:nvPr/>
        </p:nvSpPr>
        <p:spPr>
          <a:xfrm>
            <a:off x="5324475" y="2045022"/>
            <a:ext cx="6407150" cy="3799126"/>
          </a:xfrm>
          <a:prstGeom prst="roundRect">
            <a:avLst>
              <a:gd name="adj" fmla="val 2591"/>
            </a:avLst>
          </a:prstGeom>
          <a:solidFill>
            <a:srgbClr val="F2F5F8"/>
          </a:solidFill>
          <a:ln w="6350">
            <a:solidFill>
              <a:srgbClr val="D3DBE4"/>
            </a:solidFill>
            <a:prstDash val="solid"/>
          </a:ln>
        </p:spPr>
        <p:txBody>
          <a:bodyPr wrap="none" lIns="125477" tIns="112777" rIns="0" bIns="87378" rtlCol="0" anchor="t">
            <a:normAutofit/>
          </a:bodyPr>
          <a:lstStyle/>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void</a:t>
            </a:r>
            <a:r>
              <a:rPr lang="en-US" sz="1300" dirty="0">
                <a:solidFill>
                  <a:srgbClr val="1F2933"/>
                </a:solidFill>
                <a:latin typeface="JetBrains Mono" pitchFamily="49" charset="0"/>
                <a:ea typeface="JetBrains Mono" pitchFamily="49" charset="-122"/>
                <a:cs typeface="JetBrains Mono" pitchFamily="49" charset="-120"/>
              </a:rPr>
              <a:t> TestMethod_ShouldHandleException()</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Arrange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exceptionType = </a:t>
            </a:r>
            <a:r>
              <a:rPr lang="en-US" sz="1300" dirty="0">
                <a:solidFill>
                  <a:srgbClr val="0033B3"/>
                </a:solidFill>
                <a:latin typeface="JetBrains Mono" pitchFamily="49" charset="0"/>
                <a:ea typeface="JetBrains Mono" pitchFamily="49" charset="-122"/>
                <a:cs typeface="JetBrains Mono" pitchFamily="49" charset="-120"/>
              </a:rPr>
              <a:t>typeof</a:t>
            </a:r>
            <a:r>
              <a:rPr lang="en-US" sz="1300" dirty="0">
                <a:solidFill>
                  <a:srgbClr val="1F2933"/>
                </a:solidFill>
                <a:latin typeface="JetBrains Mono" pitchFamily="49" charset="0"/>
                <a:ea typeface="JetBrains Mono" pitchFamily="49" charset="-122"/>
                <a:cs typeface="JetBrains Mono" pitchFamily="49" charset="-120"/>
              </a:rPr>
              <a:t>(InvalidOperationException);</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expectedMessage = </a:t>
            </a:r>
            <a:r>
              <a:rPr lang="en-US" sz="1300" dirty="0">
                <a:solidFill>
                  <a:srgbClr val="A31515"/>
                </a:solidFill>
                <a:latin typeface="JetBrains Mono" pitchFamily="49" charset="0"/>
                <a:ea typeface="JetBrains Mono" pitchFamily="49" charset="-122"/>
                <a:cs typeface="JetBrains Mono" pitchFamily="49" charset="-120"/>
              </a:rPr>
              <a:t>"The operation is invalid."</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Act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ex = Record.Exception(() =&gt;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throw</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InvalidOperationException(expectedMessage);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6A737D"/>
                </a:solidFill>
                <a:latin typeface="JetBrains Mono" pitchFamily="49" charset="0"/>
                <a:ea typeface="JetBrains Mono" pitchFamily="49" charset="-122"/>
                <a:cs typeface="JetBrains Mono" pitchFamily="49" charset="-120"/>
              </a:rPr>
              <a:t>// Assert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Assert.NotNull(ex);</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Assert.IsType(exceptionType, ex);</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Assert.Equal(expectedMessage, ex.Message);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05 · ASSERTIONS</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FluentAssertions</a:t>
            </a:r>
            <a:endParaRPr lang="en-US" sz="3200" dirty="0"/>
          </a:p>
        </p:txBody>
      </p:sp>
      <p:sp>
        <p:nvSpPr>
          <p:cNvPr id="4" name="Text 2"/>
          <p:cNvSpPr/>
          <p:nvPr/>
        </p:nvSpPr>
        <p:spPr>
          <a:xfrm>
            <a:off x="460375" y="1466230"/>
            <a:ext cx="11271250" cy="3412490"/>
          </a:xfrm>
          <a:prstGeom prst="roundRect">
            <a:avLst>
              <a:gd name="adj" fmla="val 2884"/>
            </a:avLst>
          </a:prstGeom>
          <a:solidFill>
            <a:srgbClr val="F2F5F8"/>
          </a:solidFill>
          <a:ln w="6350">
            <a:solidFill>
              <a:srgbClr val="D3DBE4"/>
            </a:solidFill>
            <a:prstDash val="solid"/>
          </a:ln>
        </p:spPr>
        <p:txBody>
          <a:bodyPr wrap="none" lIns="125477" tIns="112777" rIns="0" bIns="112777" rtlCol="0" anchor="t">
            <a:normAutofit/>
          </a:bodyPr>
          <a:lstStyle/>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string</a:t>
            </a:r>
            <a:r>
              <a:rPr lang="en-US" sz="1300" dirty="0">
                <a:solidFill>
                  <a:srgbClr val="1F2933"/>
                </a:solidFill>
                <a:latin typeface="JetBrains Mono" pitchFamily="49" charset="0"/>
                <a:ea typeface="JetBrains Mono" pitchFamily="49" charset="-122"/>
                <a:cs typeface="JetBrains Mono" pitchFamily="49" charset="-120"/>
              </a:rPr>
              <a:t> actual = </a:t>
            </a:r>
            <a:r>
              <a:rPr lang="en-US" sz="1300" dirty="0">
                <a:solidFill>
                  <a:srgbClr val="A31515"/>
                </a:solidFill>
                <a:latin typeface="JetBrains Mono" pitchFamily="49" charset="0"/>
                <a:ea typeface="JetBrains Mono" pitchFamily="49" charset="-122"/>
                <a:cs typeface="JetBrains Mono" pitchFamily="49" charset="-120"/>
              </a:rPr>
              <a:t>"ABCDEFGHI"</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actual.Should().StartWith(</a:t>
            </a:r>
            <a:r>
              <a:rPr lang="en-US" sz="1300" dirty="0">
                <a:solidFill>
                  <a:srgbClr val="A31515"/>
                </a:solidFill>
                <a:latin typeface="JetBrains Mono" pitchFamily="49" charset="0"/>
                <a:ea typeface="JetBrains Mono" pitchFamily="49" charset="-122"/>
                <a:cs typeface="JetBrains Mono" pitchFamily="49" charset="-120"/>
              </a:rPr>
              <a:t>"AB"</a:t>
            </a:r>
            <a:r>
              <a:rPr lang="en-US" sz="1300" dirty="0">
                <a:solidFill>
                  <a:srgbClr val="1F2933"/>
                </a:solidFill>
                <a:latin typeface="JetBrains Mono" pitchFamily="49" charset="0"/>
                <a:ea typeface="JetBrains Mono" pitchFamily="49" charset="-122"/>
                <a:cs typeface="JetBrains Mono" pitchFamily="49" charset="-120"/>
              </a:rPr>
              <a:t>).And.EndWith(</a:t>
            </a:r>
            <a:r>
              <a:rPr lang="en-US" sz="1300" dirty="0">
                <a:solidFill>
                  <a:srgbClr val="A31515"/>
                </a:solidFill>
                <a:latin typeface="JetBrains Mono" pitchFamily="49" charset="0"/>
                <a:ea typeface="JetBrains Mono" pitchFamily="49" charset="-122"/>
                <a:cs typeface="JetBrains Mono" pitchFamily="49" charset="-120"/>
              </a:rPr>
              <a:t>"HI"</a:t>
            </a:r>
            <a:r>
              <a:rPr lang="en-US" sz="1300" dirty="0">
                <a:solidFill>
                  <a:srgbClr val="1F2933"/>
                </a:solidFill>
                <a:latin typeface="JetBrains Mono" pitchFamily="49" charset="0"/>
                <a:ea typeface="JetBrains Mono" pitchFamily="49" charset="-122"/>
                <a:cs typeface="JetBrains Mono" pitchFamily="49" charset="-120"/>
              </a:rPr>
              <a:t>).And.Contain(</a:t>
            </a:r>
            <a:r>
              <a:rPr lang="en-US" sz="1300" dirty="0">
                <a:solidFill>
                  <a:srgbClr val="A31515"/>
                </a:solidFill>
                <a:latin typeface="JetBrains Mono" pitchFamily="49" charset="0"/>
                <a:ea typeface="JetBrains Mono" pitchFamily="49" charset="-122"/>
                <a:cs typeface="JetBrains Mono" pitchFamily="49" charset="-120"/>
              </a:rPr>
              <a:t>"EF"</a:t>
            </a:r>
            <a:r>
              <a:rPr lang="en-US" sz="1300" dirty="0">
                <a:solidFill>
                  <a:srgbClr val="1F2933"/>
                </a:solidFill>
                <a:latin typeface="JetBrains Mono" pitchFamily="49" charset="0"/>
                <a:ea typeface="JetBrains Mono" pitchFamily="49" charset="-122"/>
                <a:cs typeface="JetBrains Mono" pitchFamily="49" charset="-120"/>
              </a:rPr>
              <a:t>).And.HaveLength(</a:t>
            </a:r>
            <a:r>
              <a:rPr lang="en-US" sz="1300" dirty="0">
                <a:solidFill>
                  <a:srgbClr val="7A3EC8"/>
                </a:solidFill>
                <a:latin typeface="JetBrains Mono" pitchFamily="49" charset="0"/>
                <a:ea typeface="JetBrains Mono" pitchFamily="49" charset="-122"/>
                <a:cs typeface="JetBrains Mono" pitchFamily="49" charset="-120"/>
              </a:rPr>
              <a:t>9</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IEnumerable&lt;</a:t>
            </a:r>
            <a:r>
              <a:rPr lang="en-US" sz="1300" dirty="0">
                <a:solidFill>
                  <a:srgbClr val="0033B3"/>
                </a:solidFill>
                <a:latin typeface="JetBrains Mono" pitchFamily="49" charset="0"/>
                <a:ea typeface="JetBrains Mono" pitchFamily="49" charset="-122"/>
                <a:cs typeface="JetBrains Mono" pitchFamily="49" charset="-120"/>
              </a:rPr>
              <a:t>int</a:t>
            </a:r>
            <a:r>
              <a:rPr lang="en-US" sz="1300" dirty="0">
                <a:solidFill>
                  <a:srgbClr val="1F2933"/>
                </a:solidFill>
                <a:latin typeface="JetBrains Mono" pitchFamily="49" charset="0"/>
                <a:ea typeface="JetBrains Mono" pitchFamily="49" charset="-122"/>
                <a:cs typeface="JetBrains Mono" pitchFamily="49" charset="-120"/>
              </a:rPr>
              <a:t>&gt; numbers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 </a:t>
            </a:r>
            <a:r>
              <a:rPr lang="en-US" sz="1300" dirty="0">
                <a:solidFill>
                  <a:srgbClr val="7A3EC8"/>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7A3EC8"/>
                </a:solidFill>
                <a:latin typeface="JetBrains Mono" pitchFamily="49" charset="0"/>
                <a:ea typeface="JetBrains Mono" pitchFamily="49" charset="-122"/>
                <a:cs typeface="JetBrains Mono" pitchFamily="49" charset="-120"/>
              </a:rPr>
              <a:t>2</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7A3EC8"/>
                </a:solidFill>
                <a:latin typeface="JetBrains Mono" pitchFamily="49" charset="0"/>
                <a:ea typeface="JetBrains Mono" pitchFamily="49" charset="-122"/>
                <a:cs typeface="JetBrains Mono" pitchFamily="49" charset="-120"/>
              </a:rPr>
              <a:t>3</a:t>
            </a: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numbers.Should().OnlyContain(n =&gt; n &gt; </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numbers.Should().HaveCount(</a:t>
            </a:r>
            <a:r>
              <a:rPr lang="en-US" sz="1300" dirty="0">
                <a:solidFill>
                  <a:srgbClr val="7A3EC8"/>
                </a:solidFill>
                <a:latin typeface="JetBrains Mono" pitchFamily="49" charset="0"/>
                <a:ea typeface="JetBrains Mono" pitchFamily="49" charset="-122"/>
                <a:cs typeface="JetBrains Mono" pitchFamily="49" charset="-120"/>
              </a:rPr>
              <a:t>4</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A31515"/>
                </a:solidFill>
                <a:latin typeface="JetBrains Mono" pitchFamily="49" charset="0"/>
                <a:ea typeface="JetBrains Mono" pitchFamily="49" charset="-122"/>
                <a:cs typeface="JetBrains Mono" pitchFamily="49" charset="-120"/>
              </a:rPr>
              <a:t>"because we thought we put four items in the collection"</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dictionary.Should().ContainValue(myClass).Which.SomeProperty.Should().BeGreaterThan(</a:t>
            </a:r>
            <a:r>
              <a:rPr lang="en-US" sz="1300" dirty="0">
                <a:solidFill>
                  <a:srgbClr val="7A3EC8"/>
                </a:solidFill>
                <a:latin typeface="JetBrains Mono" pitchFamily="49" charset="0"/>
                <a:ea typeface="JetBrains Mono" pitchFamily="49" charset="-122"/>
                <a:cs typeface="JetBrains Mono" pitchFamily="49" charset="-120"/>
              </a:rPr>
              <a:t>0</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someObject.Should().BeOfType&lt;Exception&gt;().Which.Message.Should().Be(</a:t>
            </a:r>
            <a:r>
              <a:rPr lang="en-US" sz="1300" dirty="0">
                <a:solidFill>
                  <a:srgbClr val="A31515"/>
                </a:solidFill>
                <a:latin typeface="JetBrains Mono" pitchFamily="49" charset="0"/>
                <a:ea typeface="JetBrains Mono" pitchFamily="49" charset="-122"/>
                <a:cs typeface="JetBrains Mono" pitchFamily="49" charset="-120"/>
              </a:rPr>
              <a:t>"Other Message"</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xDocument.Should().HaveElement(</a:t>
            </a:r>
            <a:r>
              <a:rPr lang="en-US" sz="1300" dirty="0">
                <a:solidFill>
                  <a:srgbClr val="A31515"/>
                </a:solidFill>
                <a:latin typeface="JetBrains Mono" pitchFamily="49" charset="0"/>
                <a:ea typeface="JetBrains Mono" pitchFamily="49" charset="-122"/>
                <a:cs typeface="JetBrains Mono" pitchFamily="49" charset="-120"/>
              </a:rPr>
              <a:t>"child"</a:t>
            </a:r>
            <a:r>
              <a:rPr lang="en-US" sz="1300" dirty="0">
                <a:solidFill>
                  <a:srgbClr val="1F2933"/>
                </a:solidFill>
                <a:latin typeface="JetBrains Mono" pitchFamily="49" charset="0"/>
                <a:ea typeface="JetBrains Mono" pitchFamily="49" charset="-122"/>
                <a:cs typeface="JetBrains Mono" pitchFamily="49" charset="-120"/>
              </a:rPr>
              <a:t>).Which.Should().BeOfType&lt;XElement&gt;().And.HaveAttribute(</a:t>
            </a:r>
            <a:r>
              <a:rPr lang="en-US" sz="1300" dirty="0">
                <a:solidFill>
                  <a:srgbClr val="A31515"/>
                </a:solidFill>
                <a:latin typeface="JetBrains Mono" pitchFamily="49" charset="0"/>
                <a:ea typeface="JetBrains Mono" pitchFamily="49" charset="-122"/>
                <a:cs typeface="JetBrains Mono" pitchFamily="49" charset="-120"/>
              </a:rPr>
              <a:t>"attr"</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A31515"/>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
        <p:nvSpPr>
          <p:cNvPr id="5" name="Shape 3"/>
          <p:cNvSpPr/>
          <p:nvPr/>
        </p:nvSpPr>
        <p:spPr>
          <a:xfrm>
            <a:off x="457200" y="5059685"/>
            <a:ext cx="3657600" cy="1341120"/>
          </a:xfrm>
          <a:prstGeom prst="roundRect">
            <a:avLst>
              <a:gd name="adj" fmla="val 7576"/>
            </a:avLst>
          </a:prstGeom>
          <a:solidFill>
            <a:srgbClr val="EDF1F5"/>
          </a:solidFill>
          <a:ln/>
        </p:spPr>
      </p:sp>
      <p:sp>
        <p:nvSpPr>
          <p:cNvPr id="6" name="Shape 4"/>
          <p:cNvSpPr/>
          <p:nvPr/>
        </p:nvSpPr>
        <p:spPr>
          <a:xfrm>
            <a:off x="457200" y="5059685"/>
            <a:ext cx="3657600" cy="1341120"/>
          </a:xfrm>
          <a:custGeom>
            <a:avLst/>
            <a:gdLst/>
            <a:ahLst/>
            <a:cxnLst/>
            <a:rect l="l" t="t" r="r" b="b"/>
            <a:pathLst>
              <a:path w="3657600" h="1341120">
                <a:moveTo>
                  <a:pt x="101600" y="1341120"/>
                </a:moveTo>
                <a:lnTo>
                  <a:pt x="101600" y="1341120"/>
                </a:lnTo>
                <a:arcTo hR="101600" wR="101600" stAng="5400000" swAng="5400000"/>
                <a:lnTo>
                  <a:pt x="0" y="101600"/>
                </a:lnTo>
                <a:arcTo hR="101600" wR="101600" stAng="10800000" swAng="5400000"/>
                <a:lnTo>
                  <a:pt x="101600" y="0"/>
                </a:lnTo>
                <a:arcTo hR="101600" wR="63500" stAng="16200000" swAng="-5400000"/>
                <a:lnTo>
                  <a:pt x="38100" y="1239520"/>
                </a:lnTo>
                <a:arcTo hR="101600" wR="63500" stAng="10800000" swAng="-5400000"/>
                <a:close/>
              </a:path>
            </a:pathLst>
          </a:custGeom>
          <a:solidFill>
            <a:srgbClr val="1A7F37"/>
          </a:solidFill>
          <a:ln/>
        </p:spPr>
      </p:sp>
      <p:sp>
        <p:nvSpPr>
          <p:cNvPr id="7" name="Text 5"/>
          <p:cNvSpPr/>
          <p:nvPr/>
        </p:nvSpPr>
        <p:spPr>
          <a:xfrm>
            <a:off x="695960" y="5237485"/>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Should()</a:t>
            </a:r>
            <a:endParaRPr lang="en-US" sz="2000" dirty="0"/>
          </a:p>
        </p:txBody>
      </p:sp>
      <p:sp>
        <p:nvSpPr>
          <p:cNvPr id="8" name="Text 6"/>
          <p:cNvSpPr/>
          <p:nvPr/>
        </p:nvSpPr>
        <p:spPr>
          <a:xfrm>
            <a:off x="695960" y="5618485"/>
            <a:ext cx="331210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начинает проверку</a:t>
            </a:r>
            <a:endParaRPr lang="en-US" sz="1700" dirty="0"/>
          </a:p>
        </p:txBody>
      </p:sp>
      <p:sp>
        <p:nvSpPr>
          <p:cNvPr id="9" name="Shape 7"/>
          <p:cNvSpPr/>
          <p:nvPr/>
        </p:nvSpPr>
        <p:spPr>
          <a:xfrm>
            <a:off x="4267200" y="5059685"/>
            <a:ext cx="3657600" cy="1341120"/>
          </a:xfrm>
          <a:prstGeom prst="roundRect">
            <a:avLst>
              <a:gd name="adj" fmla="val 7576"/>
            </a:avLst>
          </a:prstGeom>
          <a:solidFill>
            <a:srgbClr val="EDF1F5"/>
          </a:solidFill>
          <a:ln/>
        </p:spPr>
      </p:sp>
      <p:sp>
        <p:nvSpPr>
          <p:cNvPr id="10" name="Shape 8"/>
          <p:cNvSpPr/>
          <p:nvPr/>
        </p:nvSpPr>
        <p:spPr>
          <a:xfrm>
            <a:off x="4267200" y="5059685"/>
            <a:ext cx="3657600" cy="1341120"/>
          </a:xfrm>
          <a:custGeom>
            <a:avLst/>
            <a:gdLst/>
            <a:ahLst/>
            <a:cxnLst/>
            <a:rect l="l" t="t" r="r" b="b"/>
            <a:pathLst>
              <a:path w="3657600" h="1341120">
                <a:moveTo>
                  <a:pt x="101600" y="1341120"/>
                </a:moveTo>
                <a:lnTo>
                  <a:pt x="101600" y="1341120"/>
                </a:lnTo>
                <a:arcTo hR="101600" wR="101600" stAng="5400000" swAng="5400000"/>
                <a:lnTo>
                  <a:pt x="0" y="101600"/>
                </a:lnTo>
                <a:arcTo hR="101600" wR="101600" stAng="10800000" swAng="5400000"/>
                <a:lnTo>
                  <a:pt x="101600" y="0"/>
                </a:lnTo>
                <a:arcTo hR="101600" wR="63500" stAng="16200000" swAng="-5400000"/>
                <a:lnTo>
                  <a:pt x="38100" y="1239520"/>
                </a:lnTo>
                <a:arcTo hR="101600" wR="63500" stAng="10800000" swAng="-5400000"/>
                <a:close/>
              </a:path>
            </a:pathLst>
          </a:custGeom>
          <a:solidFill>
            <a:srgbClr val="1F5FBF"/>
          </a:solidFill>
          <a:ln/>
        </p:spPr>
      </p:sp>
      <p:sp>
        <p:nvSpPr>
          <p:cNvPr id="11" name="Text 9"/>
          <p:cNvSpPr/>
          <p:nvPr/>
        </p:nvSpPr>
        <p:spPr>
          <a:xfrm>
            <a:off x="4505960" y="5237485"/>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And / Which</a:t>
            </a:r>
            <a:endParaRPr lang="en-US" sz="2000" dirty="0"/>
          </a:p>
        </p:txBody>
      </p:sp>
      <p:sp>
        <p:nvSpPr>
          <p:cNvPr id="12" name="Text 10"/>
          <p:cNvSpPr/>
          <p:nvPr/>
        </p:nvSpPr>
        <p:spPr>
          <a:xfrm>
            <a:off x="4505960" y="5618485"/>
            <a:ext cx="331210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цепочки проверок</a:t>
            </a:r>
            <a:endParaRPr lang="en-US" sz="1700" dirty="0"/>
          </a:p>
        </p:txBody>
      </p:sp>
      <p:sp>
        <p:nvSpPr>
          <p:cNvPr id="13" name="Shape 11"/>
          <p:cNvSpPr/>
          <p:nvPr/>
        </p:nvSpPr>
        <p:spPr>
          <a:xfrm>
            <a:off x="8077200" y="5059685"/>
            <a:ext cx="3657600" cy="1341120"/>
          </a:xfrm>
          <a:prstGeom prst="roundRect">
            <a:avLst>
              <a:gd name="adj" fmla="val 7576"/>
            </a:avLst>
          </a:prstGeom>
          <a:solidFill>
            <a:srgbClr val="EDF1F5"/>
          </a:solidFill>
          <a:ln/>
        </p:spPr>
      </p:sp>
      <p:sp>
        <p:nvSpPr>
          <p:cNvPr id="14" name="Shape 12"/>
          <p:cNvSpPr/>
          <p:nvPr/>
        </p:nvSpPr>
        <p:spPr>
          <a:xfrm>
            <a:off x="8077200" y="5059685"/>
            <a:ext cx="3657600" cy="1341120"/>
          </a:xfrm>
          <a:custGeom>
            <a:avLst/>
            <a:gdLst/>
            <a:ahLst/>
            <a:cxnLst/>
            <a:rect l="l" t="t" r="r" b="b"/>
            <a:pathLst>
              <a:path w="3657600" h="1341120">
                <a:moveTo>
                  <a:pt x="101600" y="1341120"/>
                </a:moveTo>
                <a:lnTo>
                  <a:pt x="101600" y="1341120"/>
                </a:lnTo>
                <a:arcTo hR="101600" wR="101600" stAng="5400000" swAng="5400000"/>
                <a:lnTo>
                  <a:pt x="0" y="101600"/>
                </a:lnTo>
                <a:arcTo hR="101600" wR="101600" stAng="10800000" swAng="5400000"/>
                <a:lnTo>
                  <a:pt x="101600" y="0"/>
                </a:lnTo>
                <a:arcTo hR="101600" wR="63500" stAng="16200000" swAng="-5400000"/>
                <a:lnTo>
                  <a:pt x="38100" y="1239520"/>
                </a:lnTo>
                <a:arcTo hR="101600" wR="63500" stAng="10800000" swAng="-5400000"/>
                <a:close/>
              </a:path>
            </a:pathLst>
          </a:custGeom>
          <a:solidFill>
            <a:srgbClr val="B85400"/>
          </a:solidFill>
          <a:ln/>
        </p:spPr>
      </p:sp>
      <p:sp>
        <p:nvSpPr>
          <p:cNvPr id="15" name="Text 13"/>
          <p:cNvSpPr/>
          <p:nvPr/>
        </p:nvSpPr>
        <p:spPr>
          <a:xfrm>
            <a:off x="8315960" y="5237485"/>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because</a:t>
            </a:r>
            <a:endParaRPr lang="en-US" sz="2000" dirty="0"/>
          </a:p>
        </p:txBody>
      </p:sp>
      <p:sp>
        <p:nvSpPr>
          <p:cNvPr id="16" name="Text 14"/>
          <p:cNvSpPr/>
          <p:nvPr/>
        </p:nvSpPr>
        <p:spPr>
          <a:xfrm>
            <a:off x="8315960" y="5618485"/>
            <a:ext cx="33121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пояснение в сообщении об ошибке</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nvSpPr>
        <p:spPr>
          <a:xfrm>
            <a:off x="812800" y="1524000"/>
            <a:ext cx="2208073" cy="3835400"/>
          </a:xfrm>
          <a:prstGeom prst="rect">
            <a:avLst/>
          </a:prstGeom>
          <a:noFill/>
          <a:ln/>
        </p:spPr>
        <p:txBody>
          <a:bodyPr wrap="square" lIns="0" tIns="0" rIns="0" bIns="0" rtlCol="0" anchor="t">
            <a:normAutofit/>
          </a:bodyPr>
          <a:lstStyle/>
          <a:p>
            <a:pPr algn="l" indent="0" marL="0">
              <a:lnSpc>
                <a:spcPts val="15000"/>
              </a:lnSpc>
              <a:buNone/>
            </a:pPr>
            <a:r>
              <a:rPr lang="en-US" sz="15000" spc="-400" kern="0" dirty="0">
                <a:solidFill>
                  <a:srgbClr val="1A7F37"/>
                </a:solidFill>
                <a:latin typeface="IBM Plex Sans" pitchFamily="34" charset="0"/>
                <a:ea typeface="IBM Plex Sans" pitchFamily="34" charset="-122"/>
                <a:cs typeface="IBM Plex Sans" pitchFamily="34" charset="-120"/>
              </a:rPr>
              <a:t>06</a:t>
            </a:r>
            <a:endParaRPr lang="en-US" sz="15000" dirty="0"/>
          </a:p>
        </p:txBody>
      </p:sp>
      <p:sp>
        <p:nvSpPr>
          <p:cNvPr id="4" name="Text 2"/>
          <p:cNvSpPr/>
          <p:nvPr>
            <p:ph type="title"/>
          </p:nvPr>
        </p:nvSpPr>
        <p:spPr>
          <a:xfrm>
            <a:off x="3413760" y="2689870"/>
            <a:ext cx="8204403"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3233A"/>
                </a:solidFill>
                <a:latin typeface="IBM Plex Sans" pitchFamily="34" charset="0"/>
                <a:ea typeface="IBM Plex Sans" pitchFamily="34" charset="-122"/>
                <a:cs typeface="IBM Plex Sans" pitchFamily="34" charset="-120"/>
              </a:rPr>
              <a:t>Моки</a:t>
            </a:r>
            <a:endParaRPr lang="en-US" sz="4800" dirty="0"/>
          </a:p>
        </p:txBody>
      </p:sp>
      <p:sp>
        <p:nvSpPr>
          <p:cNvPr id="5" name="Text 3"/>
          <p:cNvSpPr/>
          <p:nvPr/>
        </p:nvSpPr>
        <p:spPr>
          <a:xfrm>
            <a:off x="3413760" y="3456955"/>
            <a:ext cx="8204403"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C6C7D"/>
                </a:solidFill>
                <a:latin typeface="IBM Plex Sans" pitchFamily="34" charset="0"/>
                <a:ea typeface="IBM Plex Sans" pitchFamily="34" charset="-122"/>
                <a:cs typeface="IBM Plex Sans" pitchFamily="34" charset="-120"/>
              </a:rPr>
              <a:t>Moq и NSubstitute: настройка, возврат значений, проверка вызовов</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06 · МОКИ</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Mock-объекты и Moq</a:t>
            </a:r>
            <a:endParaRPr lang="en-US" sz="3200" dirty="0"/>
          </a:p>
        </p:txBody>
      </p:sp>
      <p:sp>
        <p:nvSpPr>
          <p:cNvPr id="4" name="Text 2"/>
          <p:cNvSpPr/>
          <p:nvPr/>
        </p:nvSpPr>
        <p:spPr>
          <a:xfrm>
            <a:off x="457200" y="1488455"/>
            <a:ext cx="11615928" cy="779780"/>
          </a:xfrm>
          <a:prstGeom prst="rect">
            <a:avLst/>
          </a:prstGeom>
          <a:noFill/>
          <a:ln/>
        </p:spPr>
        <p:txBody>
          <a:bodyPr wrap="square" lIns="0" tIns="0" rIns="0" bIns="0" rtlCol="0" anchor="t">
            <a:normAutofit/>
          </a:bodyPr>
          <a:lstStyle/>
          <a:p>
            <a:pPr algn="l" indent="0" marL="0">
              <a:lnSpc>
                <a:spcPts val="2970"/>
              </a:lnSpc>
              <a:buNone/>
            </a:pPr>
            <a:r>
              <a:rPr lang="en-US" sz="2200" b="1" dirty="0">
                <a:solidFill>
                  <a:srgbClr val="13233A"/>
                </a:solidFill>
                <a:latin typeface="IBM Plex Sans" pitchFamily="34" charset="0"/>
                <a:ea typeface="IBM Plex Sans" pitchFamily="34" charset="-122"/>
                <a:cs typeface="IBM Plex Sans" pitchFamily="34" charset="-120"/>
              </a:rPr>
              <a:t>Mock-объект</a:t>
            </a:r>
            <a:r>
              <a:rPr lang="en-US" sz="2200" dirty="0">
                <a:solidFill>
                  <a:srgbClr val="13233A"/>
                </a:solidFill>
                <a:latin typeface="IBM Plex Sans" pitchFamily="34" charset="0"/>
                <a:ea typeface="IBM Plex Sans" pitchFamily="34" charset="-122"/>
                <a:cs typeface="IBM Plex Sans" pitchFamily="34" charset="-120"/>
              </a:rPr>
              <a:t> - фиктивная реализация интерфейса для тестирования взаимодействия; относительно него высказывается утверждение.</a:t>
            </a:r>
            <a:endParaRPr lang="en-US" sz="2200" dirty="0"/>
          </a:p>
        </p:txBody>
      </p:sp>
      <p:sp>
        <p:nvSpPr>
          <p:cNvPr id="5" name="Shape 3"/>
          <p:cNvSpPr/>
          <p:nvPr/>
        </p:nvSpPr>
        <p:spPr>
          <a:xfrm>
            <a:off x="457200" y="4455170"/>
            <a:ext cx="3657600" cy="1945640"/>
          </a:xfrm>
          <a:prstGeom prst="roundRect">
            <a:avLst>
              <a:gd name="adj" fmla="val 5222"/>
            </a:avLst>
          </a:prstGeom>
          <a:solidFill>
            <a:srgbClr val="EDF1F5"/>
          </a:solidFill>
          <a:ln/>
        </p:spPr>
      </p:sp>
      <p:sp>
        <p:nvSpPr>
          <p:cNvPr id="6" name="Shape 4"/>
          <p:cNvSpPr/>
          <p:nvPr/>
        </p:nvSpPr>
        <p:spPr>
          <a:xfrm>
            <a:off x="457200" y="4455170"/>
            <a:ext cx="3657600" cy="1945640"/>
          </a:xfrm>
          <a:custGeom>
            <a:avLst/>
            <a:gdLst/>
            <a:ahLst/>
            <a:cxnLst/>
            <a:rect l="l" t="t" r="r" b="b"/>
            <a:pathLst>
              <a:path w="3657600" h="1945640">
                <a:moveTo>
                  <a:pt x="101600" y="1945640"/>
                </a:moveTo>
                <a:lnTo>
                  <a:pt x="101600" y="1945640"/>
                </a:lnTo>
                <a:arcTo hR="101600" wR="101600" stAng="5400000" swAng="5400000"/>
                <a:lnTo>
                  <a:pt x="0" y="101600"/>
                </a:lnTo>
                <a:arcTo hR="101600" wR="101600" stAng="10800000" swAng="5400000"/>
                <a:lnTo>
                  <a:pt x="101600" y="0"/>
                </a:lnTo>
                <a:arcTo hR="101600" wR="63500" stAng="16200000" swAng="-5400000"/>
                <a:lnTo>
                  <a:pt x="38100" y="1844040"/>
                </a:lnTo>
                <a:arcTo hR="101600" wR="63500" stAng="10800000" swAng="-5400000"/>
                <a:close/>
              </a:path>
            </a:pathLst>
          </a:custGeom>
          <a:solidFill>
            <a:srgbClr val="B85400"/>
          </a:solidFill>
          <a:ln/>
        </p:spPr>
      </p:sp>
      <p:sp>
        <p:nvSpPr>
          <p:cNvPr id="7" name="Text 5"/>
          <p:cNvSpPr/>
          <p:nvPr/>
        </p:nvSpPr>
        <p:spPr>
          <a:xfrm>
            <a:off x="695960" y="4632970"/>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Ограничение</a:t>
            </a:r>
            <a:endParaRPr lang="en-US" sz="2000" dirty="0"/>
          </a:p>
        </p:txBody>
      </p:sp>
      <p:sp>
        <p:nvSpPr>
          <p:cNvPr id="8" name="Text 6"/>
          <p:cNvSpPr/>
          <p:nvPr/>
        </p:nvSpPr>
        <p:spPr>
          <a:xfrm>
            <a:off x="695960" y="5013970"/>
            <a:ext cx="3312109" cy="123444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Moq мокает интерфейсы и виртуальные методы. Невиртуальные и статические - нельзя.</a:t>
            </a:r>
            <a:endParaRPr lang="en-US" sz="1700" dirty="0"/>
          </a:p>
        </p:txBody>
      </p:sp>
      <p:sp>
        <p:nvSpPr>
          <p:cNvPr id="9" name="Shape 7"/>
          <p:cNvSpPr/>
          <p:nvPr/>
        </p:nvSpPr>
        <p:spPr>
          <a:xfrm>
            <a:off x="4267200" y="4757415"/>
            <a:ext cx="3657600" cy="1643380"/>
          </a:xfrm>
          <a:prstGeom prst="roundRect">
            <a:avLst>
              <a:gd name="adj" fmla="val 6182"/>
            </a:avLst>
          </a:prstGeom>
          <a:solidFill>
            <a:srgbClr val="EDF1F5"/>
          </a:solidFill>
          <a:ln/>
        </p:spPr>
      </p:sp>
      <p:sp>
        <p:nvSpPr>
          <p:cNvPr id="10" name="Shape 8"/>
          <p:cNvSpPr/>
          <p:nvPr/>
        </p:nvSpPr>
        <p:spPr>
          <a:xfrm>
            <a:off x="4267200" y="4757415"/>
            <a:ext cx="3657600" cy="1643380"/>
          </a:xfrm>
          <a:custGeom>
            <a:avLst/>
            <a:gdLst/>
            <a:ahLst/>
            <a:cxnLst/>
            <a:rect l="l" t="t" r="r" b="b"/>
            <a:pathLst>
              <a:path w="3657600" h="1643380">
                <a:moveTo>
                  <a:pt x="101600" y="1643380"/>
                </a:moveTo>
                <a:lnTo>
                  <a:pt x="101600" y="1643380"/>
                </a:lnTo>
                <a:arcTo hR="101600" wR="101600" stAng="5400000" swAng="5400000"/>
                <a:lnTo>
                  <a:pt x="0" y="101600"/>
                </a:lnTo>
                <a:arcTo hR="101600" wR="101600" stAng="10800000" swAng="5400000"/>
                <a:lnTo>
                  <a:pt x="101600" y="0"/>
                </a:lnTo>
                <a:arcTo hR="101600" wR="63500" stAng="16200000" swAng="-5400000"/>
                <a:lnTo>
                  <a:pt x="38100" y="1541780"/>
                </a:lnTo>
                <a:arcTo hR="101600" wR="63500" stAng="10800000" swAng="-5400000"/>
                <a:close/>
              </a:path>
            </a:pathLst>
          </a:custGeom>
          <a:solidFill>
            <a:srgbClr val="1F5FBF"/>
          </a:solidFill>
          <a:ln/>
        </p:spPr>
      </p:sp>
      <p:sp>
        <p:nvSpPr>
          <p:cNvPr id="11" name="Text 9"/>
          <p:cNvSpPr/>
          <p:nvPr/>
        </p:nvSpPr>
        <p:spPr>
          <a:xfrm>
            <a:off x="4505960" y="4935215"/>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Loose (дефолт)</a:t>
            </a:r>
            <a:endParaRPr lang="en-US" sz="2000" dirty="0"/>
          </a:p>
        </p:txBody>
      </p:sp>
      <p:sp>
        <p:nvSpPr>
          <p:cNvPr id="12" name="Text 10"/>
          <p:cNvSpPr/>
          <p:nvPr/>
        </p:nvSpPr>
        <p:spPr>
          <a:xfrm>
            <a:off x="4505960" y="5316215"/>
            <a:ext cx="3312109"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Вызов без Setup вернёт значение по умолчанию: 0, null…</a:t>
            </a:r>
            <a:endParaRPr lang="en-US" sz="1700" dirty="0"/>
          </a:p>
        </p:txBody>
      </p:sp>
      <p:sp>
        <p:nvSpPr>
          <p:cNvPr id="13" name="Shape 11"/>
          <p:cNvSpPr/>
          <p:nvPr/>
        </p:nvSpPr>
        <p:spPr>
          <a:xfrm>
            <a:off x="8077200" y="4757415"/>
            <a:ext cx="3657600" cy="1643380"/>
          </a:xfrm>
          <a:prstGeom prst="roundRect">
            <a:avLst>
              <a:gd name="adj" fmla="val 6182"/>
            </a:avLst>
          </a:prstGeom>
          <a:solidFill>
            <a:srgbClr val="EDF1F5"/>
          </a:solidFill>
          <a:ln/>
        </p:spPr>
      </p:sp>
      <p:sp>
        <p:nvSpPr>
          <p:cNvPr id="14" name="Shape 12"/>
          <p:cNvSpPr/>
          <p:nvPr/>
        </p:nvSpPr>
        <p:spPr>
          <a:xfrm>
            <a:off x="8077200" y="4757415"/>
            <a:ext cx="3657600" cy="1643380"/>
          </a:xfrm>
          <a:custGeom>
            <a:avLst/>
            <a:gdLst/>
            <a:ahLst/>
            <a:cxnLst/>
            <a:rect l="l" t="t" r="r" b="b"/>
            <a:pathLst>
              <a:path w="3657600" h="1643380">
                <a:moveTo>
                  <a:pt x="101600" y="1643380"/>
                </a:moveTo>
                <a:lnTo>
                  <a:pt x="101600" y="1643380"/>
                </a:lnTo>
                <a:arcTo hR="101600" wR="101600" stAng="5400000" swAng="5400000"/>
                <a:lnTo>
                  <a:pt x="0" y="101600"/>
                </a:lnTo>
                <a:arcTo hR="101600" wR="101600" stAng="10800000" swAng="5400000"/>
                <a:lnTo>
                  <a:pt x="101600" y="0"/>
                </a:lnTo>
                <a:arcTo hR="101600" wR="63500" stAng="16200000" swAng="-5400000"/>
                <a:lnTo>
                  <a:pt x="38100" y="1541780"/>
                </a:lnTo>
                <a:arcTo hR="101600" wR="63500" stAng="10800000" swAng="-5400000"/>
                <a:close/>
              </a:path>
            </a:pathLst>
          </a:custGeom>
          <a:solidFill>
            <a:srgbClr val="1A7F37"/>
          </a:solidFill>
          <a:ln/>
        </p:spPr>
      </p:sp>
      <p:sp>
        <p:nvSpPr>
          <p:cNvPr id="15" name="Text 13"/>
          <p:cNvSpPr/>
          <p:nvPr/>
        </p:nvSpPr>
        <p:spPr>
          <a:xfrm>
            <a:off x="8315960" y="4935215"/>
            <a:ext cx="331210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Strict</a:t>
            </a:r>
            <a:endParaRPr lang="en-US" sz="2000" dirty="0"/>
          </a:p>
        </p:txBody>
      </p:sp>
      <p:sp>
        <p:nvSpPr>
          <p:cNvPr id="16" name="Text 14"/>
          <p:cNvSpPr/>
          <p:nvPr/>
        </p:nvSpPr>
        <p:spPr>
          <a:xfrm>
            <a:off x="8315960" y="5316215"/>
            <a:ext cx="3312109" cy="93218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Вызов без Setup - исключение. При небольших зависимостях берите Strict.</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06 · МОКИ</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Moq: основной API</a:t>
            </a:r>
            <a:endParaRPr lang="en-US" sz="3200" dirty="0"/>
          </a:p>
        </p:txBody>
      </p:sp>
      <p:sp>
        <p:nvSpPr>
          <p:cNvPr id="4" name="Text 2"/>
          <p:cNvSpPr/>
          <p:nvPr/>
        </p:nvSpPr>
        <p:spPr>
          <a:xfrm>
            <a:off x="460375" y="2162349"/>
            <a:ext cx="6407150" cy="3564573"/>
          </a:xfrm>
          <a:prstGeom prst="roundRect">
            <a:avLst>
              <a:gd name="adj" fmla="val 2761"/>
            </a:avLst>
          </a:prstGeom>
          <a:solidFill>
            <a:srgbClr val="F2F5F8"/>
          </a:solidFill>
          <a:ln w="6350">
            <a:solidFill>
              <a:srgbClr val="D3DBE4"/>
            </a:solidFill>
            <a:prstDash val="solid"/>
          </a:ln>
        </p:spPr>
        <p:txBody>
          <a:bodyPr wrap="none" lIns="125477" tIns="112777" rIns="0" bIns="87378"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mock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Mock&lt;ILoveThisLibrary&gt;();</a:t>
            </a:r>
            <a:endParaRPr lang="en-US" sz="1400" dirty="0"/>
          </a:p>
          <a:p>
            <a:pPr algn="l" indent="0" marL="0">
              <a:lnSpc>
                <a:spcPts val="1988"/>
              </a:lnSpc>
              <a:buNone/>
            </a:pPr>
            <a:endParaRPr lang="en-US" sz="1400" dirty="0"/>
          </a:p>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Настраиваем поведение</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mock.Setup(library =&gt; library.DownloadExists(</a:t>
            </a:r>
            <a:r>
              <a:rPr lang="en-US" sz="1400" dirty="0">
                <a:solidFill>
                  <a:srgbClr val="A31515"/>
                </a:solidFill>
                <a:latin typeface="JetBrains Mono" pitchFamily="49" charset="0"/>
                <a:ea typeface="JetBrains Mono" pitchFamily="49" charset="-122"/>
                <a:cs typeface="JetBrains Mono" pitchFamily="49" charset="-120"/>
              </a:rPr>
              <a:t>"2.0.0.0"</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.Returns(</a:t>
            </a:r>
            <a:r>
              <a:rPr lang="en-US" sz="1400" dirty="0">
                <a:solidFill>
                  <a:srgbClr val="0033B3"/>
                </a:solidFill>
                <a:latin typeface="JetBrains Mono" pitchFamily="49" charset="0"/>
                <a:ea typeface="JetBrains Mono" pitchFamily="49" charset="-122"/>
                <a:cs typeface="JetBrains Mono" pitchFamily="49" charset="-120"/>
              </a:rPr>
              <a:t>true</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endParaRPr lang="en-US" sz="1400" dirty="0"/>
          </a:p>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.Object - реализация ILoveThisLibrary</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ILoveThisLibrary lovable = mock.Object;</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bool</a:t>
            </a:r>
            <a:r>
              <a:rPr lang="en-US" sz="1400" dirty="0">
                <a:solidFill>
                  <a:srgbClr val="1F2933"/>
                </a:solidFill>
                <a:latin typeface="JetBrains Mono" pitchFamily="49" charset="0"/>
                <a:ea typeface="JetBrains Mono" pitchFamily="49" charset="-122"/>
                <a:cs typeface="JetBrains Mono" pitchFamily="49" charset="-120"/>
              </a:rPr>
              <a:t> download = lovable.DownloadExists(</a:t>
            </a:r>
            <a:r>
              <a:rPr lang="en-US" sz="1400" dirty="0">
                <a:solidFill>
                  <a:srgbClr val="A31515"/>
                </a:solidFill>
                <a:latin typeface="JetBrains Mono" pitchFamily="49" charset="0"/>
                <a:ea typeface="JetBrains Mono" pitchFamily="49" charset="-122"/>
                <a:cs typeface="JetBrains Mono" pitchFamily="49" charset="-120"/>
              </a:rPr>
              <a:t>"2.0.0.0"</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endParaRPr lang="en-US" sz="1400" dirty="0"/>
          </a:p>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Метод вызван не более одного раза</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mock.Verify(library =&gt; library.DownloadExists(</a:t>
            </a:r>
            <a:r>
              <a:rPr lang="en-US" sz="1400" dirty="0">
                <a:solidFill>
                  <a:srgbClr val="A31515"/>
                </a:solidFill>
                <a:latin typeface="JetBrains Mono" pitchFamily="49" charset="0"/>
                <a:ea typeface="JetBrains Mono" pitchFamily="49" charset="-122"/>
                <a:cs typeface="JetBrains Mono" pitchFamily="49" charset="-120"/>
              </a:rPr>
              <a:t>"2.0.0.0"</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Times.AtMostOnce());</a:t>
            </a:r>
            <a:endParaRPr lang="en-US" sz="1400" dirty="0"/>
          </a:p>
        </p:txBody>
      </p:sp>
      <p:sp>
        <p:nvSpPr>
          <p:cNvPr id="5" name="Shape 3"/>
          <p:cNvSpPr/>
          <p:nvPr/>
        </p:nvSpPr>
        <p:spPr>
          <a:xfrm>
            <a:off x="7073900" y="2114550"/>
            <a:ext cx="4660900" cy="848360"/>
          </a:xfrm>
          <a:prstGeom prst="roundRect">
            <a:avLst>
              <a:gd name="adj" fmla="val 10479"/>
            </a:avLst>
          </a:prstGeom>
          <a:solidFill>
            <a:srgbClr val="EDF1F5"/>
          </a:solidFill>
          <a:ln/>
        </p:spPr>
      </p:sp>
      <p:sp>
        <p:nvSpPr>
          <p:cNvPr id="6" name="Text 4"/>
          <p:cNvSpPr/>
          <p:nvPr/>
        </p:nvSpPr>
        <p:spPr>
          <a:xfrm>
            <a:off x="7226300" y="2228850"/>
            <a:ext cx="448678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7F37"/>
                </a:solidFill>
                <a:latin typeface="JetBrains Mono" pitchFamily="49" charset="0"/>
                <a:ea typeface="JetBrains Mono" pitchFamily="49" charset="-122"/>
                <a:cs typeface="JetBrains Mono" pitchFamily="49" charset="-120"/>
              </a:rPr>
              <a:t>Setup</a:t>
            </a:r>
            <a:endParaRPr lang="en-US" sz="1800" dirty="0"/>
          </a:p>
        </p:txBody>
      </p:sp>
      <p:sp>
        <p:nvSpPr>
          <p:cNvPr id="7" name="Text 5"/>
          <p:cNvSpPr/>
          <p:nvPr/>
        </p:nvSpPr>
        <p:spPr>
          <a:xfrm>
            <a:off x="7226300" y="2574305"/>
            <a:ext cx="448678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4B5E"/>
                </a:solidFill>
                <a:latin typeface="IBM Plex Sans" pitchFamily="34" charset="0"/>
                <a:ea typeface="IBM Plex Sans" pitchFamily="34" charset="-122"/>
                <a:cs typeface="IBM Plex Sans" pitchFamily="34" charset="-120"/>
              </a:rPr>
              <a:t>какой метод и с какими аргументами</a:t>
            </a:r>
            <a:endParaRPr lang="en-US" sz="1600" dirty="0"/>
          </a:p>
        </p:txBody>
      </p:sp>
      <p:sp>
        <p:nvSpPr>
          <p:cNvPr id="8" name="Shape 6"/>
          <p:cNvSpPr/>
          <p:nvPr/>
        </p:nvSpPr>
        <p:spPr>
          <a:xfrm>
            <a:off x="7073900" y="3051820"/>
            <a:ext cx="4660900" cy="848360"/>
          </a:xfrm>
          <a:prstGeom prst="roundRect">
            <a:avLst>
              <a:gd name="adj" fmla="val 10479"/>
            </a:avLst>
          </a:prstGeom>
          <a:solidFill>
            <a:srgbClr val="EDF1F5"/>
          </a:solidFill>
          <a:ln/>
        </p:spPr>
      </p:sp>
      <p:sp>
        <p:nvSpPr>
          <p:cNvPr id="9" name="Text 7"/>
          <p:cNvSpPr/>
          <p:nvPr/>
        </p:nvSpPr>
        <p:spPr>
          <a:xfrm>
            <a:off x="7226300" y="3166120"/>
            <a:ext cx="448678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7F37"/>
                </a:solidFill>
                <a:latin typeface="JetBrains Mono" pitchFamily="49" charset="0"/>
                <a:ea typeface="JetBrains Mono" pitchFamily="49" charset="-122"/>
                <a:cs typeface="JetBrains Mono" pitchFamily="49" charset="-120"/>
              </a:rPr>
              <a:t>Returns(Async)</a:t>
            </a:r>
            <a:endParaRPr lang="en-US" sz="1800" dirty="0"/>
          </a:p>
        </p:txBody>
      </p:sp>
      <p:sp>
        <p:nvSpPr>
          <p:cNvPr id="10" name="Text 8"/>
          <p:cNvSpPr/>
          <p:nvPr/>
        </p:nvSpPr>
        <p:spPr>
          <a:xfrm>
            <a:off x="7226300" y="3511550"/>
            <a:ext cx="448678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4B5E"/>
                </a:solidFill>
                <a:latin typeface="IBM Plex Sans" pitchFamily="34" charset="0"/>
                <a:ea typeface="IBM Plex Sans" pitchFamily="34" charset="-122"/>
                <a:cs typeface="IBM Plex Sans" pitchFamily="34" charset="-120"/>
              </a:rPr>
              <a:t>значение или лямбда от аргументов</a:t>
            </a:r>
            <a:endParaRPr lang="en-US" sz="1600" dirty="0"/>
          </a:p>
        </p:txBody>
      </p:sp>
      <p:sp>
        <p:nvSpPr>
          <p:cNvPr id="11" name="Shape 9"/>
          <p:cNvSpPr/>
          <p:nvPr/>
        </p:nvSpPr>
        <p:spPr>
          <a:xfrm>
            <a:off x="7073900" y="3989065"/>
            <a:ext cx="4660900" cy="848360"/>
          </a:xfrm>
          <a:prstGeom prst="roundRect">
            <a:avLst>
              <a:gd name="adj" fmla="val 10479"/>
            </a:avLst>
          </a:prstGeom>
          <a:solidFill>
            <a:srgbClr val="EDF1F5"/>
          </a:solidFill>
          <a:ln/>
        </p:spPr>
      </p:sp>
      <p:sp>
        <p:nvSpPr>
          <p:cNvPr id="12" name="Text 10"/>
          <p:cNvSpPr/>
          <p:nvPr/>
        </p:nvSpPr>
        <p:spPr>
          <a:xfrm>
            <a:off x="7226300" y="4103365"/>
            <a:ext cx="448678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7F37"/>
                </a:solidFill>
                <a:latin typeface="JetBrains Mono" pitchFamily="49" charset="0"/>
                <a:ea typeface="JetBrains Mono" pitchFamily="49" charset="-122"/>
                <a:cs typeface="JetBrains Mono" pitchFamily="49" charset="-120"/>
              </a:rPr>
              <a:t>.Object</a:t>
            </a:r>
            <a:endParaRPr lang="en-US" sz="1800" dirty="0"/>
          </a:p>
        </p:txBody>
      </p:sp>
      <p:sp>
        <p:nvSpPr>
          <p:cNvPr id="13" name="Text 11"/>
          <p:cNvSpPr/>
          <p:nvPr/>
        </p:nvSpPr>
        <p:spPr>
          <a:xfrm>
            <a:off x="7226300" y="4448820"/>
            <a:ext cx="448678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4B5E"/>
                </a:solidFill>
                <a:latin typeface="IBM Plex Sans" pitchFamily="34" charset="0"/>
                <a:ea typeface="IBM Plex Sans" pitchFamily="34" charset="-122"/>
                <a:cs typeface="IBM Plex Sans" pitchFamily="34" charset="-120"/>
              </a:rPr>
              <a:t>сама реализация интерфейса</a:t>
            </a:r>
            <a:endParaRPr lang="en-US" sz="1600" dirty="0"/>
          </a:p>
        </p:txBody>
      </p:sp>
      <p:sp>
        <p:nvSpPr>
          <p:cNvPr id="14" name="Shape 12"/>
          <p:cNvSpPr/>
          <p:nvPr/>
        </p:nvSpPr>
        <p:spPr>
          <a:xfrm>
            <a:off x="7073900" y="4926335"/>
            <a:ext cx="4660900" cy="848360"/>
          </a:xfrm>
          <a:prstGeom prst="roundRect">
            <a:avLst>
              <a:gd name="adj" fmla="val 10479"/>
            </a:avLst>
          </a:prstGeom>
          <a:solidFill>
            <a:srgbClr val="EDF1F5"/>
          </a:solidFill>
          <a:ln/>
        </p:spPr>
      </p:sp>
      <p:sp>
        <p:nvSpPr>
          <p:cNvPr id="15" name="Text 13"/>
          <p:cNvSpPr/>
          <p:nvPr/>
        </p:nvSpPr>
        <p:spPr>
          <a:xfrm>
            <a:off x="7226300" y="5040635"/>
            <a:ext cx="448678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7F37"/>
                </a:solidFill>
                <a:latin typeface="JetBrains Mono" pitchFamily="49" charset="0"/>
                <a:ea typeface="JetBrains Mono" pitchFamily="49" charset="-122"/>
                <a:cs typeface="JetBrains Mono" pitchFamily="49" charset="-120"/>
              </a:rPr>
              <a:t>Verify</a:t>
            </a:r>
            <a:endParaRPr lang="en-US" sz="1800" dirty="0"/>
          </a:p>
        </p:txBody>
      </p:sp>
      <p:sp>
        <p:nvSpPr>
          <p:cNvPr id="16" name="Text 14"/>
          <p:cNvSpPr/>
          <p:nvPr/>
        </p:nvSpPr>
        <p:spPr>
          <a:xfrm>
            <a:off x="7226300" y="5386065"/>
            <a:ext cx="448678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4B5E"/>
                </a:solidFill>
                <a:latin typeface="IBM Plex Sans" pitchFamily="34" charset="0"/>
                <a:ea typeface="IBM Plex Sans" pitchFamily="34" charset="-122"/>
                <a:cs typeface="IBM Plex Sans" pitchFamily="34" charset="-120"/>
              </a:rPr>
              <a:t>сколько раз и с какими аргументами</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06 · МОКИ</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Тестовый класс с моками</a:t>
            </a:r>
            <a:endParaRPr lang="en-US" sz="3200" dirty="0"/>
          </a:p>
        </p:txBody>
      </p:sp>
      <p:sp>
        <p:nvSpPr>
          <p:cNvPr id="4" name="Shape 2"/>
          <p:cNvSpPr/>
          <p:nvPr/>
        </p:nvSpPr>
        <p:spPr>
          <a:xfrm>
            <a:off x="457200" y="2067570"/>
            <a:ext cx="4445000" cy="862330"/>
          </a:xfrm>
          <a:prstGeom prst="roundRect">
            <a:avLst>
              <a:gd name="adj" fmla="val 11782"/>
            </a:avLst>
          </a:prstGeom>
          <a:solidFill>
            <a:srgbClr val="EDF1F5"/>
          </a:solidFill>
          <a:ln/>
        </p:spPr>
      </p:sp>
      <p:sp>
        <p:nvSpPr>
          <p:cNvPr id="5" name="Text 3"/>
          <p:cNvSpPr/>
          <p:nvPr/>
        </p:nvSpPr>
        <p:spPr>
          <a:xfrm>
            <a:off x="622300" y="2303140"/>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F37"/>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942340" y="2207270"/>
            <a:ext cx="3908603"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Моки и общий Setup - в поля и конструктор</a:t>
            </a:r>
            <a:endParaRPr lang="en-US" sz="1700" dirty="0"/>
          </a:p>
        </p:txBody>
      </p:sp>
      <p:sp>
        <p:nvSpPr>
          <p:cNvPr id="7" name="Shape 5"/>
          <p:cNvSpPr/>
          <p:nvPr/>
        </p:nvSpPr>
        <p:spPr>
          <a:xfrm>
            <a:off x="457200" y="3031505"/>
            <a:ext cx="4445000" cy="862330"/>
          </a:xfrm>
          <a:prstGeom prst="roundRect">
            <a:avLst>
              <a:gd name="adj" fmla="val 11782"/>
            </a:avLst>
          </a:prstGeom>
          <a:solidFill>
            <a:srgbClr val="EDF1F5"/>
          </a:solidFill>
          <a:ln/>
        </p:spPr>
      </p:sp>
      <p:sp>
        <p:nvSpPr>
          <p:cNvPr id="8" name="Text 6"/>
          <p:cNvSpPr/>
          <p:nvPr/>
        </p:nvSpPr>
        <p:spPr>
          <a:xfrm>
            <a:off x="622300" y="3267075"/>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F37"/>
                </a:solidFill>
                <a:latin typeface="JetBrains Mono" pitchFamily="49" charset="0"/>
                <a:ea typeface="JetBrains Mono" pitchFamily="49" charset="-122"/>
                <a:cs typeface="JetBrains Mono" pitchFamily="49" charset="-120"/>
              </a:rPr>
              <a:t>2</a:t>
            </a:r>
            <a:endParaRPr lang="en-US" sz="2200" dirty="0"/>
          </a:p>
        </p:txBody>
      </p:sp>
      <p:sp>
        <p:nvSpPr>
          <p:cNvPr id="9" name="Text 7"/>
          <p:cNvSpPr/>
          <p:nvPr/>
        </p:nvSpPr>
        <p:spPr>
          <a:xfrm>
            <a:off x="942340" y="3171205"/>
            <a:ext cx="3908603"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В конструкторе создаём тестируемый класс с mock.Object</a:t>
            </a:r>
            <a:endParaRPr lang="en-US" sz="1700" dirty="0"/>
          </a:p>
        </p:txBody>
      </p:sp>
      <p:sp>
        <p:nvSpPr>
          <p:cNvPr id="10" name="Shape 8"/>
          <p:cNvSpPr/>
          <p:nvPr/>
        </p:nvSpPr>
        <p:spPr>
          <a:xfrm>
            <a:off x="457200" y="3995415"/>
            <a:ext cx="4445000" cy="862330"/>
          </a:xfrm>
          <a:prstGeom prst="roundRect">
            <a:avLst>
              <a:gd name="adj" fmla="val 11782"/>
            </a:avLst>
          </a:prstGeom>
          <a:solidFill>
            <a:srgbClr val="EDF1F5"/>
          </a:solidFill>
          <a:ln/>
        </p:spPr>
      </p:sp>
      <p:sp>
        <p:nvSpPr>
          <p:cNvPr id="11" name="Text 9"/>
          <p:cNvSpPr/>
          <p:nvPr/>
        </p:nvSpPr>
        <p:spPr>
          <a:xfrm>
            <a:off x="622300" y="4231010"/>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F37"/>
                </a:solidFill>
                <a:latin typeface="JetBrains Mono" pitchFamily="49" charset="0"/>
                <a:ea typeface="JetBrains Mono" pitchFamily="49" charset="-122"/>
                <a:cs typeface="JetBrains Mono" pitchFamily="49" charset="-120"/>
              </a:rPr>
              <a:t>3</a:t>
            </a:r>
            <a:endParaRPr lang="en-US" sz="2200" dirty="0"/>
          </a:p>
        </p:txBody>
      </p:sp>
      <p:sp>
        <p:nvSpPr>
          <p:cNvPr id="12" name="Text 10"/>
          <p:cNvSpPr/>
          <p:nvPr/>
        </p:nvSpPr>
        <p:spPr>
          <a:xfrm>
            <a:off x="942340" y="4135115"/>
            <a:ext cx="3908603"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В каждом тесте - свои Setup под сценарий</a:t>
            </a:r>
            <a:endParaRPr lang="en-US" sz="1700" dirty="0"/>
          </a:p>
        </p:txBody>
      </p:sp>
      <p:sp>
        <p:nvSpPr>
          <p:cNvPr id="13" name="Shape 11"/>
          <p:cNvSpPr/>
          <p:nvPr/>
        </p:nvSpPr>
        <p:spPr>
          <a:xfrm>
            <a:off x="457200" y="4959350"/>
            <a:ext cx="4445000" cy="862330"/>
          </a:xfrm>
          <a:prstGeom prst="roundRect">
            <a:avLst>
              <a:gd name="adj" fmla="val 11782"/>
            </a:avLst>
          </a:prstGeom>
          <a:solidFill>
            <a:srgbClr val="EDF1F5"/>
          </a:solidFill>
          <a:ln/>
        </p:spPr>
      </p:sp>
      <p:sp>
        <p:nvSpPr>
          <p:cNvPr id="14" name="Text 12"/>
          <p:cNvSpPr/>
          <p:nvPr/>
        </p:nvSpPr>
        <p:spPr>
          <a:xfrm>
            <a:off x="622300" y="5194945"/>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A7F37"/>
                </a:solidFill>
                <a:latin typeface="JetBrains Mono" pitchFamily="49" charset="0"/>
                <a:ea typeface="JetBrains Mono" pitchFamily="49" charset="-122"/>
                <a:cs typeface="JetBrains Mono" pitchFamily="49" charset="-120"/>
              </a:rPr>
              <a:t>4</a:t>
            </a:r>
            <a:endParaRPr lang="en-US" sz="2200" dirty="0"/>
          </a:p>
        </p:txBody>
      </p:sp>
      <p:sp>
        <p:nvSpPr>
          <p:cNvPr id="15" name="Text 13"/>
          <p:cNvSpPr/>
          <p:nvPr/>
        </p:nvSpPr>
        <p:spPr>
          <a:xfrm>
            <a:off x="942340" y="5099050"/>
            <a:ext cx="3908603"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3233A"/>
                </a:solidFill>
                <a:latin typeface="IBM Plex Sans" pitchFamily="34" charset="0"/>
                <a:ea typeface="IBM Plex Sans" pitchFamily="34" charset="-122"/>
                <a:cs typeface="IBM Plex Sans" pitchFamily="34" charset="-120"/>
              </a:rPr>
              <a:t>В конце - Verify вызовов зависимостей</a:t>
            </a:r>
            <a:endParaRPr lang="en-US" sz="1700" dirty="0"/>
          </a:p>
        </p:txBody>
      </p:sp>
      <p:sp>
        <p:nvSpPr>
          <p:cNvPr id="16" name="Shape 14"/>
          <p:cNvSpPr/>
          <p:nvPr/>
        </p:nvSpPr>
        <p:spPr>
          <a:xfrm>
            <a:off x="5133975" y="1404863"/>
            <a:ext cx="6597650" cy="5079603"/>
          </a:xfrm>
          <a:prstGeom prst="roundRect">
            <a:avLst>
              <a:gd name="adj" fmla="val 1938"/>
            </a:avLst>
          </a:prstGeom>
          <a:solidFill>
            <a:srgbClr val="F2F5F8"/>
          </a:solidFill>
          <a:ln w="6350">
            <a:solidFill>
              <a:srgbClr val="D3DBE4"/>
            </a:solidFill>
            <a:prstDash val="solid"/>
          </a:ln>
        </p:spPr>
      </p:sp>
      <p:sp>
        <p:nvSpPr>
          <p:cNvPr id="17" name="Text 15"/>
          <p:cNvSpPr/>
          <p:nvPr/>
        </p:nvSpPr>
        <p:spPr>
          <a:xfrm>
            <a:off x="5288280" y="1546473"/>
            <a:ext cx="6477711"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F5FBF"/>
                </a:solidFill>
                <a:latin typeface="IBM Plex Sans" pitchFamily="34" charset="0"/>
                <a:ea typeface="IBM Plex Sans" pitchFamily="34" charset="-122"/>
                <a:cs typeface="IBM Plex Sans" pitchFamily="34" charset="-120"/>
              </a:rPr>
              <a:t>ПРИМЕР</a:t>
            </a:r>
            <a:endParaRPr lang="en-US" sz="1500" dirty="0"/>
          </a:p>
        </p:txBody>
      </p:sp>
      <p:sp>
        <p:nvSpPr>
          <p:cNvPr id="18" name="Text 16"/>
          <p:cNvSpPr/>
          <p:nvPr/>
        </p:nvSpPr>
        <p:spPr>
          <a:xfrm>
            <a:off x="5288280" y="1889373"/>
            <a:ext cx="6477711" cy="4478893"/>
          </a:xfrm>
          <a:prstGeom prst="rect">
            <a:avLst/>
          </a:prstGeom>
          <a:noFill/>
          <a:ln/>
        </p:spPr>
        <p:txBody>
          <a:bodyPr wrap="none" lIns="0" tIns="0" rIns="0" bIns="0" rtlCol="0" anchor="t">
            <a:normAutofit/>
          </a:bodyPr>
          <a:lstStyle/>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class</a:t>
            </a:r>
            <a:r>
              <a:rPr lang="en-US" sz="1300" dirty="0">
                <a:solidFill>
                  <a:srgbClr val="1F2933"/>
                </a:solidFill>
                <a:latin typeface="JetBrains Mono" pitchFamily="49" charset="0"/>
                <a:ea typeface="JetBrains Mono" pitchFamily="49" charset="-122"/>
                <a:cs typeface="JetBrains Mono" pitchFamily="49" charset="-120"/>
              </a:rPr>
              <a:t> OrderServiceTests</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private</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readonly</a:t>
            </a:r>
            <a:r>
              <a:rPr lang="en-US" sz="1300" dirty="0">
                <a:solidFill>
                  <a:srgbClr val="1F2933"/>
                </a:solidFill>
                <a:latin typeface="JetBrains Mono" pitchFamily="49" charset="0"/>
                <a:ea typeface="JetBrains Mono" pitchFamily="49" charset="-122"/>
                <a:cs typeface="JetBrains Mono" pitchFamily="49" charset="-120"/>
              </a:rPr>
              <a:t> Mock&lt;IOrderRepository&gt; _repository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(MockBehavior.Strict);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private</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readonly</a:t>
            </a:r>
            <a:r>
              <a:rPr lang="en-US" sz="1300" dirty="0">
                <a:solidFill>
                  <a:srgbClr val="1F2933"/>
                </a:solidFill>
                <a:latin typeface="JetBrains Mono" pitchFamily="49" charset="0"/>
                <a:ea typeface="JetBrains Mono" pitchFamily="49" charset="-122"/>
                <a:cs typeface="JetBrains Mono" pitchFamily="49" charset="-120"/>
              </a:rPr>
              <a:t> OrderService _service;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OrderServiceTests()</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_service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OrderService(_repository.Object);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1A7F37"/>
                </a:solidFill>
                <a:latin typeface="JetBrains Mono" pitchFamily="49" charset="0"/>
                <a:ea typeface="JetBrains Mono" pitchFamily="49" charset="-122"/>
                <a:cs typeface="JetBrains Mono" pitchFamily="49" charset="-120"/>
              </a:rPr>
              <a:t>Fact</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public</a:t>
            </a: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async</a:t>
            </a:r>
            <a:r>
              <a:rPr lang="en-US" sz="1300" dirty="0">
                <a:solidFill>
                  <a:srgbClr val="1F2933"/>
                </a:solidFill>
                <a:latin typeface="JetBrains Mono" pitchFamily="49" charset="0"/>
                <a:ea typeface="JetBrains Mono" pitchFamily="49" charset="-122"/>
                <a:cs typeface="JetBrains Mono" pitchFamily="49" charset="-120"/>
              </a:rPr>
              <a:t> Task Create_ValidOrder_SavesOrder()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_repository.Setup(r =&gt; r.SaveAsync(It.IsAny&lt;Order&gt;()))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.ReturnsAsync(</a:t>
            </a:r>
            <a:r>
              <a:rPr lang="en-US" sz="1300" dirty="0">
                <a:solidFill>
                  <a:srgbClr val="0033B3"/>
                </a:solidFill>
                <a:latin typeface="JetBrains Mono" pitchFamily="49" charset="0"/>
                <a:ea typeface="JetBrains Mono" pitchFamily="49" charset="-122"/>
                <a:cs typeface="JetBrains Mono" pitchFamily="49" charset="-120"/>
              </a:rPr>
              <a:t>true</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r>
              <a:rPr lang="en-US" sz="1300" dirty="0">
                <a:solidFill>
                  <a:srgbClr val="0033B3"/>
                </a:solidFill>
                <a:latin typeface="JetBrains Mono" pitchFamily="49" charset="0"/>
                <a:ea typeface="JetBrains Mono" pitchFamily="49" charset="-122"/>
                <a:cs typeface="JetBrains Mono" pitchFamily="49" charset="-120"/>
              </a:rPr>
              <a:t>await</a:t>
            </a:r>
            <a:r>
              <a:rPr lang="en-US" sz="1300" dirty="0">
                <a:solidFill>
                  <a:srgbClr val="1F2933"/>
                </a:solidFill>
                <a:latin typeface="JetBrains Mono" pitchFamily="49" charset="0"/>
                <a:ea typeface="JetBrains Mono" pitchFamily="49" charset="-122"/>
                <a:cs typeface="JetBrains Mono" pitchFamily="49" charset="-120"/>
              </a:rPr>
              <a:t> _service.CreateAsync(</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Order());</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_repository.Verify(r =&gt; r.SaveAsync(It.IsAny&lt;Order&gt;()),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Times.Once);</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06 · МОКИ</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NSubstitute</a:t>
            </a:r>
            <a:endParaRPr lang="en-US" sz="3200" dirty="0"/>
          </a:p>
        </p:txBody>
      </p:sp>
      <p:sp>
        <p:nvSpPr>
          <p:cNvPr id="4" name="Text 2"/>
          <p:cNvSpPr/>
          <p:nvPr/>
        </p:nvSpPr>
        <p:spPr>
          <a:xfrm>
            <a:off x="457200" y="2042170"/>
            <a:ext cx="4826000" cy="1930400"/>
          </a:xfrm>
          <a:prstGeom prst="roundRect">
            <a:avLst>
              <a:gd name="adj" fmla="val 5263"/>
            </a:avLst>
          </a:prstGeom>
          <a:solidFill>
            <a:srgbClr val="EDF1F5"/>
          </a:solidFill>
          <a:ln/>
        </p:spPr>
        <p:txBody>
          <a:bodyPr wrap="square" lIns="196302" tIns="135342" rIns="28459"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Альтернатива Moq, которая заметно набрала популярность в последние годы: многие проекты перешли на неё после истории с SponsorLink в Moq (2023).</a:t>
            </a:r>
            <a:endParaRPr lang="en-US" sz="1800" dirty="0"/>
          </a:p>
        </p:txBody>
      </p:sp>
      <p:sp>
        <p:nvSpPr>
          <p:cNvPr id="5" name="Shape 3"/>
          <p:cNvSpPr/>
          <p:nvPr/>
        </p:nvSpPr>
        <p:spPr>
          <a:xfrm>
            <a:off x="457200" y="2042170"/>
            <a:ext cx="4826000" cy="1930400"/>
          </a:xfrm>
          <a:custGeom>
            <a:avLst/>
            <a:gdLst/>
            <a:ahLst/>
            <a:cxnLst/>
            <a:rect l="l" t="t" r="r" b="b"/>
            <a:pathLst>
              <a:path w="4826000" h="1930400">
                <a:moveTo>
                  <a:pt x="101600" y="1930400"/>
                </a:moveTo>
                <a:lnTo>
                  <a:pt x="101600" y="1930400"/>
                </a:lnTo>
                <a:arcTo hR="101600" wR="101600" stAng="5400000" swAng="5400000"/>
                <a:lnTo>
                  <a:pt x="0" y="101600"/>
                </a:lnTo>
                <a:arcTo hR="101600" wR="101600" stAng="10800000" swAng="5400000"/>
                <a:lnTo>
                  <a:pt x="101600" y="0"/>
                </a:lnTo>
                <a:arcTo hR="101600" wR="63500" stAng="16200000" swAng="-5400000"/>
                <a:lnTo>
                  <a:pt x="38100" y="1828800"/>
                </a:lnTo>
                <a:arcTo hR="101600" wR="63500" stAng="10800000" swAng="-5400000"/>
                <a:close/>
              </a:path>
            </a:pathLst>
          </a:custGeom>
          <a:solidFill>
            <a:srgbClr val="1A7F37"/>
          </a:solidFill>
          <a:ln/>
        </p:spPr>
      </p:sp>
      <p:sp>
        <p:nvSpPr>
          <p:cNvPr id="6" name="Text 4"/>
          <p:cNvSpPr/>
          <p:nvPr/>
        </p:nvSpPr>
        <p:spPr>
          <a:xfrm>
            <a:off x="457200" y="4099570"/>
            <a:ext cx="4826000" cy="970280"/>
          </a:xfrm>
          <a:prstGeom prst="roundRect">
            <a:avLst>
              <a:gd name="adj" fmla="val 10471"/>
            </a:avLst>
          </a:prstGeom>
          <a:solidFill>
            <a:srgbClr val="EDF1F5"/>
          </a:solidFill>
          <a:ln/>
        </p:spPr>
        <p:txBody>
          <a:bodyPr wrap="square" lIns="196302" tIns="135342" rIns="28459"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Синтаксис короче: подмена - это </a:t>
            </a:r>
            <a:r>
              <a:rPr lang="en-US" sz="1800" b="1" dirty="0">
                <a:solidFill>
                  <a:srgbClr val="13233A"/>
                </a:solidFill>
                <a:latin typeface="IBM Plex Sans" pitchFamily="34" charset="0"/>
                <a:ea typeface="IBM Plex Sans" pitchFamily="34" charset="-122"/>
                <a:cs typeface="IBM Plex Sans" pitchFamily="34" charset="-120"/>
              </a:rPr>
              <a:t>сам объект</a:t>
            </a:r>
            <a:r>
              <a:rPr lang="en-US" sz="1800" dirty="0">
                <a:solidFill>
                  <a:srgbClr val="13233A"/>
                </a:solidFill>
                <a:latin typeface="IBM Plex Sans" pitchFamily="34" charset="0"/>
                <a:ea typeface="IBM Plex Sans" pitchFamily="34" charset="-122"/>
                <a:cs typeface="IBM Plex Sans" pitchFamily="34" charset="-120"/>
              </a:rPr>
              <a:t>, без лямбд в Setup и без .Object.</a:t>
            </a:r>
            <a:endParaRPr lang="en-US" sz="1800" dirty="0"/>
          </a:p>
        </p:txBody>
      </p:sp>
      <p:sp>
        <p:nvSpPr>
          <p:cNvPr id="7" name="Shape 5"/>
          <p:cNvSpPr/>
          <p:nvPr/>
        </p:nvSpPr>
        <p:spPr>
          <a:xfrm>
            <a:off x="457200" y="4099570"/>
            <a:ext cx="4826000" cy="970280"/>
          </a:xfrm>
          <a:custGeom>
            <a:avLst/>
            <a:gdLst/>
            <a:ahLst/>
            <a:cxnLst/>
            <a:rect l="l" t="t" r="r" b="b"/>
            <a:pathLst>
              <a:path w="4826000" h="970280">
                <a:moveTo>
                  <a:pt x="101600" y="970280"/>
                </a:moveTo>
                <a:lnTo>
                  <a:pt x="101600" y="970280"/>
                </a:lnTo>
                <a:arcTo hR="101600" wR="101600" stAng="5400000" swAng="5400000"/>
                <a:lnTo>
                  <a:pt x="0" y="101600"/>
                </a:lnTo>
                <a:arcTo hR="101600" wR="101600" stAng="10800000" swAng="5400000"/>
                <a:lnTo>
                  <a:pt x="101600" y="0"/>
                </a:lnTo>
                <a:arcTo hR="101600" wR="63500" stAng="16200000" swAng="-5400000"/>
                <a:lnTo>
                  <a:pt x="38100" y="868680"/>
                </a:lnTo>
                <a:arcTo hR="101600" wR="63500" stAng="10800000" swAng="-5400000"/>
                <a:close/>
              </a:path>
            </a:pathLst>
          </a:custGeom>
          <a:solidFill>
            <a:srgbClr val="1A7F37"/>
          </a:solidFill>
          <a:ln/>
        </p:spPr>
      </p:sp>
      <p:sp>
        <p:nvSpPr>
          <p:cNvPr id="8" name="Text 6"/>
          <p:cNvSpPr/>
          <p:nvPr/>
        </p:nvSpPr>
        <p:spPr>
          <a:xfrm>
            <a:off x="457200" y="5196855"/>
            <a:ext cx="4826000" cy="650240"/>
          </a:xfrm>
          <a:prstGeom prst="roundRect">
            <a:avLst>
              <a:gd name="adj" fmla="val 15625"/>
            </a:avLst>
          </a:prstGeom>
          <a:solidFill>
            <a:srgbClr val="EDF1F5"/>
          </a:solidFill>
          <a:ln/>
        </p:spPr>
        <p:txBody>
          <a:bodyPr wrap="square" lIns="196302" tIns="135342" rIns="28459" bIns="109942" rtlCol="0" anchor="t">
            <a:normAutofit/>
          </a:bodyPr>
          <a:lstStyle/>
          <a:p>
            <a:pPr algn="l" indent="0" marL="0">
              <a:lnSpc>
                <a:spcPts val="2520"/>
              </a:lnSpc>
              <a:buNone/>
            </a:pPr>
            <a:r>
              <a:rPr lang="en-US" sz="1800" dirty="0">
                <a:solidFill>
                  <a:srgbClr val="13233A"/>
                </a:solidFill>
                <a:latin typeface="IBM Plex Sans" pitchFamily="34" charset="0"/>
                <a:ea typeface="IBM Plex Sans" pitchFamily="34" charset="-122"/>
                <a:cs typeface="IBM Plex Sans" pitchFamily="34" charset="-120"/>
              </a:rPr>
              <a:t>Режима Strict нет: все подмены «loose».</a:t>
            </a:r>
            <a:endParaRPr lang="en-US" sz="1800" dirty="0"/>
          </a:p>
        </p:txBody>
      </p:sp>
      <p:sp>
        <p:nvSpPr>
          <p:cNvPr id="9" name="Shape 7"/>
          <p:cNvSpPr/>
          <p:nvPr/>
        </p:nvSpPr>
        <p:spPr>
          <a:xfrm>
            <a:off x="457200" y="5196855"/>
            <a:ext cx="4826000" cy="650240"/>
          </a:xfrm>
          <a:custGeom>
            <a:avLst/>
            <a:gdLst/>
            <a:ahLst/>
            <a:cxnLst/>
            <a:rect l="l" t="t" r="r" b="b"/>
            <a:pathLst>
              <a:path w="4826000" h="650240">
                <a:moveTo>
                  <a:pt x="101600" y="650240"/>
                </a:moveTo>
                <a:lnTo>
                  <a:pt x="101600" y="650240"/>
                </a:lnTo>
                <a:arcTo hR="101600" wR="101600" stAng="5400000" swAng="5400000"/>
                <a:lnTo>
                  <a:pt x="0" y="101600"/>
                </a:lnTo>
                <a:arcTo hR="101600" wR="101600" stAng="10800000" swAng="5400000"/>
                <a:lnTo>
                  <a:pt x="101600" y="0"/>
                </a:lnTo>
                <a:arcTo hR="101600" wR="63500" stAng="16200000" swAng="-5400000"/>
                <a:lnTo>
                  <a:pt x="38100" y="548640"/>
                </a:lnTo>
                <a:arcTo hR="101600" wR="63500" stAng="10800000" swAng="-5400000"/>
                <a:close/>
              </a:path>
            </a:pathLst>
          </a:custGeom>
          <a:solidFill>
            <a:srgbClr val="1A7F37"/>
          </a:solidFill>
          <a:ln/>
        </p:spPr>
      </p:sp>
      <p:sp>
        <p:nvSpPr>
          <p:cNvPr id="10" name="Text 8"/>
          <p:cNvSpPr/>
          <p:nvPr/>
        </p:nvSpPr>
        <p:spPr>
          <a:xfrm>
            <a:off x="5514975" y="2279427"/>
            <a:ext cx="6216650" cy="3330337"/>
          </a:xfrm>
          <a:prstGeom prst="roundRect">
            <a:avLst>
              <a:gd name="adj" fmla="val 2955"/>
            </a:avLst>
          </a:prstGeom>
          <a:solidFill>
            <a:srgbClr val="F2F5F8"/>
          </a:solidFill>
          <a:ln w="6350">
            <a:solidFill>
              <a:srgbClr val="D3DBE4"/>
            </a:solidFill>
            <a:prstDash val="solid"/>
          </a:ln>
        </p:spPr>
        <p:txBody>
          <a:bodyPr wrap="none" lIns="125477" tIns="112777" rIns="0" bIns="87377" rtlCol="0" anchor="t">
            <a:normAutofit/>
          </a:bodyPr>
          <a:lstStyle/>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repository = Substitute.For&lt;IProductRepository&gt;();</a:t>
            </a:r>
            <a:endParaRPr lang="en-US" sz="1300" dirty="0"/>
          </a:p>
          <a:p>
            <a:pPr algn="l" indent="0" marL="0">
              <a:lnSpc>
                <a:spcPts val="1846"/>
              </a:lnSpc>
              <a:buNone/>
            </a:pPr>
            <a:endParaRPr lang="en-US" sz="1300" dirty="0"/>
          </a:p>
          <a:p>
            <a:pPr algn="l" indent="0" marL="0">
              <a:lnSpc>
                <a:spcPts val="1846"/>
              </a:lnSpc>
              <a:buNone/>
            </a:pPr>
            <a:r>
              <a:rPr lang="en-US" sz="1300" dirty="0">
                <a:solidFill>
                  <a:srgbClr val="6A737D"/>
                </a:solidFill>
                <a:latin typeface="JetBrains Mono" pitchFamily="49" charset="0"/>
                <a:ea typeface="JetBrains Mono" pitchFamily="49" charset="-122"/>
                <a:cs typeface="JetBrains Mono" pitchFamily="49" charset="-120"/>
              </a:rPr>
              <a:t>// настройка: вызываем метод и говорим, что вернуть</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repository.Get(</a:t>
            </a:r>
            <a:r>
              <a:rPr lang="en-US" sz="1300" dirty="0">
                <a:solidFill>
                  <a:srgbClr val="7A3EC8"/>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).Returns(</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Product { Id = </a:t>
            </a:r>
            <a:r>
              <a:rPr lang="en-US" sz="1300" dirty="0">
                <a:solidFill>
                  <a:srgbClr val="7A3EC8"/>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 });</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repository.Get(Arg.Any&lt;</a:t>
            </a:r>
            <a:r>
              <a:rPr lang="en-US" sz="1300" dirty="0">
                <a:solidFill>
                  <a:srgbClr val="0033B3"/>
                </a:solidFill>
                <a:latin typeface="JetBrains Mono" pitchFamily="49" charset="0"/>
                <a:ea typeface="JetBrains Mono" pitchFamily="49" charset="-122"/>
                <a:cs typeface="JetBrains Mono" pitchFamily="49" charset="-120"/>
              </a:rPr>
              <a:t>long</a:t>
            </a:r>
            <a:r>
              <a:rPr lang="en-US" sz="1300" dirty="0">
                <a:solidFill>
                  <a:srgbClr val="1F2933"/>
                </a:solidFill>
                <a:latin typeface="JetBrains Mono" pitchFamily="49" charset="0"/>
                <a:ea typeface="JetBrains Mono" pitchFamily="49" charset="-122"/>
                <a:cs typeface="JetBrains Mono" pitchFamily="49" charset="-120"/>
              </a:rPr>
              <a:t>&gt;()).Returns(</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Product());</a:t>
            </a:r>
            <a:endParaRPr lang="en-US" sz="1300" dirty="0"/>
          </a:p>
          <a:p>
            <a:pPr algn="l" indent="0" marL="0">
              <a:lnSpc>
                <a:spcPts val="1846"/>
              </a:lnSpc>
              <a:buNone/>
            </a:pP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service = </a:t>
            </a:r>
            <a:r>
              <a:rPr lang="en-US" sz="1300" dirty="0">
                <a:solidFill>
                  <a:srgbClr val="0033B3"/>
                </a:solidFill>
                <a:latin typeface="JetBrains Mono" pitchFamily="49" charset="0"/>
                <a:ea typeface="JetBrains Mono" pitchFamily="49" charset="-122"/>
                <a:cs typeface="JetBrains Mono" pitchFamily="49" charset="-120"/>
              </a:rPr>
              <a:t>new</a:t>
            </a:r>
            <a:r>
              <a:rPr lang="en-US" sz="1300" dirty="0">
                <a:solidFill>
                  <a:srgbClr val="1F2933"/>
                </a:solidFill>
                <a:latin typeface="JetBrains Mono" pitchFamily="49" charset="0"/>
                <a:ea typeface="JetBrains Mono" pitchFamily="49" charset="-122"/>
                <a:cs typeface="JetBrains Mono" pitchFamily="49" charset="-120"/>
              </a:rPr>
              <a:t> ProductService(repository);</a:t>
            </a:r>
            <a:endParaRPr lang="en-US" sz="1300" dirty="0"/>
          </a:p>
          <a:p>
            <a:pPr algn="l" indent="0" marL="0">
              <a:lnSpc>
                <a:spcPts val="1846"/>
              </a:lnSpc>
              <a:buNone/>
            </a:pPr>
            <a:r>
              <a:rPr lang="en-US" sz="1300" dirty="0">
                <a:solidFill>
                  <a:srgbClr val="0033B3"/>
                </a:solidFill>
                <a:latin typeface="JetBrains Mono" pitchFamily="49" charset="0"/>
                <a:ea typeface="JetBrains Mono" pitchFamily="49" charset="-122"/>
                <a:cs typeface="JetBrains Mono" pitchFamily="49" charset="-120"/>
              </a:rPr>
              <a:t>var</a:t>
            </a:r>
            <a:r>
              <a:rPr lang="en-US" sz="1300" dirty="0">
                <a:solidFill>
                  <a:srgbClr val="1F2933"/>
                </a:solidFill>
                <a:latin typeface="JetBrains Mono" pitchFamily="49" charset="0"/>
                <a:ea typeface="JetBrains Mono" pitchFamily="49" charset="-122"/>
                <a:cs typeface="JetBrains Mono" pitchFamily="49" charset="-120"/>
              </a:rPr>
              <a:t> product = service.GetProduct(</a:t>
            </a:r>
            <a:r>
              <a:rPr lang="en-US" sz="1300" dirty="0">
                <a:solidFill>
                  <a:srgbClr val="7A3EC8"/>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product.Id.Should().Be(</a:t>
            </a:r>
            <a:r>
              <a:rPr lang="en-US" sz="1300" dirty="0">
                <a:solidFill>
                  <a:srgbClr val="7A3EC8"/>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6A737D"/>
                </a:solidFill>
                <a:latin typeface="JetBrains Mono" pitchFamily="49" charset="0"/>
                <a:ea typeface="JetBrains Mono" pitchFamily="49" charset="-122"/>
                <a:cs typeface="JetBrains Mono" pitchFamily="49" charset="-120"/>
              </a:rPr>
              <a:t>// проверка вызовов</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repository.Received(</a:t>
            </a:r>
            <a:r>
              <a:rPr lang="en-US" sz="1300" dirty="0">
                <a:solidFill>
                  <a:srgbClr val="7A3EC8"/>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).Get(</a:t>
            </a:r>
            <a:r>
              <a:rPr lang="en-US" sz="1300" dirty="0">
                <a:solidFill>
                  <a:srgbClr val="7A3EC8"/>
                </a:solidFill>
                <a:latin typeface="JetBrains Mono" pitchFamily="49" charset="0"/>
                <a:ea typeface="JetBrains Mono" pitchFamily="49" charset="-122"/>
                <a:cs typeface="JetBrains Mono" pitchFamily="49" charset="-120"/>
              </a:rPr>
              <a:t>1</a:t>
            </a:r>
            <a:r>
              <a:rPr lang="en-US" sz="1300" dirty="0">
                <a:solidFill>
                  <a:srgbClr val="1F2933"/>
                </a:solidFill>
                <a:latin typeface="JetBrains Mono" pitchFamily="49" charset="0"/>
                <a:ea typeface="JetBrains Mono" pitchFamily="49" charset="-122"/>
                <a:cs typeface="JetBrains Mono" pitchFamily="49" charset="-120"/>
              </a:rPr>
              <a:t>);</a:t>
            </a:r>
            <a:endParaRPr lang="en-US" sz="1300" dirty="0"/>
          </a:p>
          <a:p>
            <a:pPr algn="l" indent="0" marL="0">
              <a:lnSpc>
                <a:spcPts val="1846"/>
              </a:lnSpc>
              <a:buNone/>
            </a:pPr>
            <a:r>
              <a:rPr lang="en-US" sz="1300" dirty="0">
                <a:solidFill>
                  <a:srgbClr val="1F2933"/>
                </a:solidFill>
                <a:latin typeface="JetBrains Mono" pitchFamily="49" charset="0"/>
                <a:ea typeface="JetBrains Mono" pitchFamily="49" charset="-122"/>
                <a:cs typeface="JetBrains Mono" pitchFamily="49" charset="-120"/>
              </a:rPr>
              <a:t>repository.DidNotReceive().Delete(Arg.Any&lt;</a:t>
            </a:r>
            <a:r>
              <a:rPr lang="en-US" sz="1300" dirty="0">
                <a:solidFill>
                  <a:srgbClr val="0033B3"/>
                </a:solidFill>
                <a:latin typeface="JetBrains Mono" pitchFamily="49" charset="0"/>
                <a:ea typeface="JetBrains Mono" pitchFamily="49" charset="-122"/>
                <a:cs typeface="JetBrains Mono" pitchFamily="49" charset="-120"/>
              </a:rPr>
              <a:t>long</a:t>
            </a:r>
            <a:r>
              <a:rPr lang="en-US" sz="1300" dirty="0">
                <a:solidFill>
                  <a:srgbClr val="1F2933"/>
                </a:solidFill>
                <a:latin typeface="JetBrains Mono" pitchFamily="49" charset="0"/>
                <a:ea typeface="JetBrains Mono" pitchFamily="49" charset="-122"/>
                <a:cs typeface="JetBrains Mono" pitchFamily="49" charset="-120"/>
              </a:rPr>
              <a:t>&gt;());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06 · МОКИ</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Moq vs NSubstitute</a:t>
            </a:r>
            <a:endParaRPr lang="en-US" sz="3200" dirty="0"/>
          </a:p>
        </p:txBody>
      </p:sp>
      <p:sp>
        <p:nvSpPr>
          <p:cNvPr id="4" name="Shape 2"/>
          <p:cNvSpPr/>
          <p:nvPr/>
        </p:nvSpPr>
        <p:spPr>
          <a:xfrm>
            <a:off x="457200" y="1493535"/>
            <a:ext cx="11277600" cy="0"/>
          </a:xfrm>
          <a:prstGeom prst="line">
            <a:avLst/>
          </a:prstGeom>
          <a:noFill/>
          <a:ln w="10160">
            <a:solidFill>
              <a:srgbClr val="141413">
                <a:alpha val="22000"/>
              </a:srgbClr>
            </a:solidFill>
            <a:prstDash val="solid"/>
          </a:ln>
        </p:spPr>
      </p:sp>
      <p:sp>
        <p:nvSpPr>
          <p:cNvPr id="5" name="Shape 3"/>
          <p:cNvSpPr/>
          <p:nvPr/>
        </p:nvSpPr>
        <p:spPr>
          <a:xfrm>
            <a:off x="462280" y="1488455"/>
            <a:ext cx="0" cy="39217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600215"/>
          <a:ext cx="11013440" cy="3708400"/>
        </p:xfrm>
        <a:graphic>
          <a:graphicData uri="http://schemas.openxmlformats.org/drawingml/2006/table">
            <a:tbl>
              <a:tblPr/>
              <a:tblGrid>
                <a:gridCol w="2643226"/>
                <a:gridCol w="4185107"/>
                <a:gridCol w="4185107"/>
              </a:tblGrid>
              <a:tr h="463550">
                <a:tc>
                  <a:txBody>
                    <a:bodyPr/>
                    <a:lstStyle/>
                    <a:p>
                      <a:pPr indent="0" marL="0">
                        <a:lnSpc>
                          <a:spcPts val="2380"/>
                        </a:lnSpc>
                        <a:buNone/>
                      </a:pPr>
                      <a:r>
                        <a:rPr lang="en-US" sz="1700" b="1" dirty="0">
                          <a:solidFill>
                            <a:srgbClr val="3A4B5E"/>
                          </a:solidFill>
                          <a:latin typeface="IBM Plex Sans" pitchFamily="34" charset="0"/>
                          <a:ea typeface="IBM Plex Sans" pitchFamily="34" charset="-122"/>
                          <a:cs typeface="IBM Plex Sans" pitchFamily="34" charset="-120"/>
                        </a:rPr>
                        <a:t>Действие</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c>
                  <a:txBody>
                    <a:bodyPr/>
                    <a:lstStyle/>
                    <a:p>
                      <a:pPr indent="0" marL="0">
                        <a:lnSpc>
                          <a:spcPts val="2380"/>
                        </a:lnSpc>
                        <a:buNone/>
                      </a:pPr>
                      <a:r>
                        <a:rPr lang="en-US" sz="1700" b="1" dirty="0">
                          <a:solidFill>
                            <a:srgbClr val="3A4B5E"/>
                          </a:solidFill>
                          <a:latin typeface="IBM Plex Sans" pitchFamily="34" charset="0"/>
                          <a:ea typeface="IBM Plex Sans" pitchFamily="34" charset="-122"/>
                          <a:cs typeface="IBM Plex Sans" pitchFamily="34" charset="-120"/>
                        </a:rPr>
                        <a:t>Moq</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B8B9B9"/>
                      </a:solidFill>
                      <a:prstDash val="solid"/>
                      <a:round/>
                      <a:headEnd type="none" w="med" len="med"/>
                      <a:tailEnd type="none" w="med" len="med"/>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c>
                  <a:txBody>
                    <a:bodyPr/>
                    <a:lstStyle/>
                    <a:p>
                      <a:pPr indent="0" marL="0">
                        <a:lnSpc>
                          <a:spcPts val="2380"/>
                        </a:lnSpc>
                        <a:buNone/>
                      </a:pPr>
                      <a:r>
                        <a:rPr lang="en-US" sz="1700" b="1" dirty="0">
                          <a:solidFill>
                            <a:srgbClr val="3A4B5E"/>
                          </a:solidFill>
                          <a:latin typeface="IBM Plex Sans" pitchFamily="34" charset="0"/>
                          <a:ea typeface="IBM Plex Sans" pitchFamily="34" charset="-122"/>
                          <a:cs typeface="IBM Plex Sans" pitchFamily="34" charset="-120"/>
                        </a:rPr>
                        <a:t>NSubstitute</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B8B9B9"/>
                      </a:solidFill>
                      <a:prstDash val="solid"/>
                      <a:round/>
                      <a:headEnd type="none" w="med" len="med"/>
                      <a:tailEnd type="none" w="med" len="med"/>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r>
              <a:tr h="463550">
                <a:tc>
                  <a:txBody>
                    <a:bodyPr/>
                    <a:lstStyle/>
                    <a:p>
                      <a:pPr indent="0" marL="0">
                        <a:lnSpc>
                          <a:spcPts val="2380"/>
                        </a:lnSpc>
                        <a:buNone/>
                      </a:pPr>
                      <a:r>
                        <a:rPr lang="en-US" sz="1700" dirty="0">
                          <a:solidFill>
                            <a:srgbClr val="13233A"/>
                          </a:solidFill>
                          <a:latin typeface="IBM Plex Sans" pitchFamily="34" charset="0"/>
                          <a:ea typeface="IBM Plex Sans" pitchFamily="34" charset="-122"/>
                          <a:cs typeface="IBM Plex Sans" pitchFamily="34" charset="-120"/>
                        </a:rPr>
                        <a:t>Создать</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new Mock&lt;IRepo&gt;()</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Substitute.For&lt;IRepo&gt;()</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63550">
                <a:tc>
                  <a:txBody>
                    <a:bodyPr/>
                    <a:lstStyle/>
                    <a:p>
                      <a:pPr indent="0" marL="0">
                        <a:lnSpc>
                          <a:spcPts val="2380"/>
                        </a:lnSpc>
                        <a:buNone/>
                      </a:pPr>
                      <a:r>
                        <a:rPr lang="en-US" sz="1700" dirty="0">
                          <a:solidFill>
                            <a:srgbClr val="13233A"/>
                          </a:solidFill>
                          <a:latin typeface="IBM Plex Sans" pitchFamily="34" charset="0"/>
                          <a:ea typeface="IBM Plex Sans" pitchFamily="34" charset="-122"/>
                          <a:cs typeface="IBM Plex Sans" pitchFamily="34" charset="-120"/>
                        </a:rPr>
                        <a:t>Настроить</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mock.Setup(r =&gt; r.Get(1)).Returns(p)</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repo.Get(1).Returns(p)</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63550">
                <a:tc>
                  <a:txBody>
                    <a:bodyPr/>
                    <a:lstStyle/>
                    <a:p>
                      <a:pPr indent="0" marL="0">
                        <a:lnSpc>
                          <a:spcPts val="2380"/>
                        </a:lnSpc>
                        <a:buNone/>
                      </a:pPr>
                      <a:r>
                        <a:rPr lang="en-US" sz="1700" dirty="0">
                          <a:solidFill>
                            <a:srgbClr val="13233A"/>
                          </a:solidFill>
                          <a:latin typeface="IBM Plex Sans" pitchFamily="34" charset="0"/>
                          <a:ea typeface="IBM Plex Sans" pitchFamily="34" charset="-122"/>
                          <a:cs typeface="IBM Plex Sans" pitchFamily="34" charset="-120"/>
                        </a:rPr>
                        <a:t>Любой аргумент</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It.IsAny&lt;long&gt;()</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Arg.Any&lt;long&gt;()</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63550">
                <a:tc>
                  <a:txBody>
                    <a:bodyPr/>
                    <a:lstStyle/>
                    <a:p>
                      <a:pPr indent="0" marL="0">
                        <a:lnSpc>
                          <a:spcPts val="2380"/>
                        </a:lnSpc>
                        <a:buNone/>
                      </a:pPr>
                      <a:r>
                        <a:rPr lang="en-US" sz="1700" dirty="0">
                          <a:solidFill>
                            <a:srgbClr val="13233A"/>
                          </a:solidFill>
                          <a:latin typeface="IBM Plex Sans" pitchFamily="34" charset="0"/>
                          <a:ea typeface="IBM Plex Sans" pitchFamily="34" charset="-122"/>
                          <a:cs typeface="IBM Plex Sans" pitchFamily="34" charset="-120"/>
                        </a:rPr>
                        <a:t>Исключение</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.Setup(…).Throws&lt;Ex&gt;()</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repo.Get(1).Throws&lt;Ex&gt;()</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63550">
                <a:tc>
                  <a:txBody>
                    <a:bodyPr/>
                    <a:lstStyle/>
                    <a:p>
                      <a:pPr indent="0" marL="0">
                        <a:lnSpc>
                          <a:spcPts val="2380"/>
                        </a:lnSpc>
                        <a:buNone/>
                      </a:pPr>
                      <a:r>
                        <a:rPr lang="en-US" sz="1700" dirty="0">
                          <a:solidFill>
                            <a:srgbClr val="13233A"/>
                          </a:solidFill>
                          <a:latin typeface="IBM Plex Sans" pitchFamily="34" charset="0"/>
                          <a:ea typeface="IBM Plex Sans" pitchFamily="34" charset="-122"/>
                          <a:cs typeface="IBM Plex Sans" pitchFamily="34" charset="-120"/>
                        </a:rPr>
                        <a:t>Передать в код</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mock.Object</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repo</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63550">
                <a:tc>
                  <a:txBody>
                    <a:bodyPr/>
                    <a:lstStyle/>
                    <a:p>
                      <a:pPr indent="0" marL="0">
                        <a:lnSpc>
                          <a:spcPts val="2380"/>
                        </a:lnSpc>
                        <a:buNone/>
                      </a:pPr>
                      <a:r>
                        <a:rPr lang="en-US" sz="1700" dirty="0">
                          <a:solidFill>
                            <a:srgbClr val="13233A"/>
                          </a:solidFill>
                          <a:latin typeface="IBM Plex Sans" pitchFamily="34" charset="0"/>
                          <a:ea typeface="IBM Plex Sans" pitchFamily="34" charset="-122"/>
                          <a:cs typeface="IBM Plex Sans" pitchFamily="34" charset="-120"/>
                        </a:rPr>
                        <a:t>Был вызван</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Verify(r =&gt; r.Get(1), Times.Once())</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repo.Received(1).Get(1)</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463550">
                <a:tc>
                  <a:txBody>
                    <a:bodyPr/>
                    <a:lstStyle/>
                    <a:p>
                      <a:pPr indent="0" marL="0">
                        <a:lnSpc>
                          <a:spcPts val="2380"/>
                        </a:lnSpc>
                        <a:buNone/>
                      </a:pPr>
                      <a:r>
                        <a:rPr lang="en-US" sz="1700" dirty="0">
                          <a:solidFill>
                            <a:srgbClr val="13233A"/>
                          </a:solidFill>
                          <a:latin typeface="IBM Plex Sans" pitchFamily="34" charset="0"/>
                          <a:ea typeface="IBM Plex Sans" pitchFamily="34" charset="-122"/>
                          <a:cs typeface="IBM Plex Sans" pitchFamily="34" charset="-120"/>
                        </a:rPr>
                        <a:t>Не был вызван</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Verify(…, Times.Never())</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380"/>
                        </a:lnSpc>
                        <a:buNone/>
                      </a:pPr>
                      <a:r>
                        <a:rPr lang="en-US" sz="1700" dirty="0">
                          <a:solidFill>
                            <a:srgbClr val="1F2933"/>
                          </a:solidFill>
                          <a:latin typeface="IBM Plex Sans" pitchFamily="34" charset="0"/>
                          <a:ea typeface="IBM Plex Sans" pitchFamily="34" charset="-122"/>
                          <a:cs typeface="IBM Plex Sans" pitchFamily="34" charset="-120"/>
                        </a:rPr>
                        <a:t>repo.DidNotReceive().Get(1)</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nvSpPr>
        <p:spPr>
          <a:xfrm>
            <a:off x="812800" y="2476500"/>
            <a:ext cx="2621375" cy="1930400"/>
          </a:xfrm>
          <a:prstGeom prst="rect">
            <a:avLst/>
          </a:prstGeom>
          <a:noFill/>
          <a:ln/>
        </p:spPr>
        <p:txBody>
          <a:bodyPr wrap="square" lIns="0" tIns="0" rIns="0" bIns="0" rtlCol="0" anchor="t">
            <a:normAutofit/>
          </a:bodyPr>
          <a:lstStyle/>
          <a:p>
            <a:pPr algn="l" indent="0" marL="0">
              <a:lnSpc>
                <a:spcPts val="15000"/>
              </a:lnSpc>
              <a:buNone/>
            </a:pPr>
            <a:r>
              <a:rPr lang="en-US" sz="15000" spc="-400" kern="0" dirty="0">
                <a:solidFill>
                  <a:srgbClr val="1A7F37"/>
                </a:solidFill>
                <a:latin typeface="IBM Plex Sans" pitchFamily="34" charset="0"/>
                <a:ea typeface="IBM Plex Sans" pitchFamily="34" charset="-122"/>
                <a:cs typeface="IBM Plex Sans" pitchFamily="34" charset="-120"/>
              </a:rPr>
              <a:t>07</a:t>
            </a:r>
            <a:endParaRPr lang="en-US" sz="15000" dirty="0"/>
          </a:p>
        </p:txBody>
      </p:sp>
      <p:sp>
        <p:nvSpPr>
          <p:cNvPr id="4" name="Text 2"/>
          <p:cNvSpPr/>
          <p:nvPr>
            <p:ph type="title"/>
          </p:nvPr>
        </p:nvSpPr>
        <p:spPr>
          <a:xfrm>
            <a:off x="3454479" y="2867670"/>
            <a:ext cx="6035901"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3233A"/>
                </a:solidFill>
                <a:latin typeface="IBM Plex Sans" pitchFamily="34" charset="0"/>
                <a:ea typeface="IBM Plex Sans" pitchFamily="34" charset="-122"/>
                <a:cs typeface="IBM Plex Sans" pitchFamily="34" charset="-120"/>
              </a:rPr>
              <a:t>Тестовые данные</a:t>
            </a:r>
            <a:endParaRPr lang="en-US" sz="4800" dirty="0"/>
          </a:p>
        </p:txBody>
      </p:sp>
      <p:sp>
        <p:nvSpPr>
          <p:cNvPr id="5" name="Text 3"/>
          <p:cNvSpPr/>
          <p:nvPr/>
        </p:nvSpPr>
        <p:spPr>
          <a:xfrm>
            <a:off x="3454479" y="3634755"/>
            <a:ext cx="7032117"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C6C7D"/>
                </a:solidFill>
                <a:latin typeface="IBM Plex Sans" pitchFamily="34" charset="0"/>
                <a:ea typeface="IBM Plex Sans" pitchFamily="34" charset="-122"/>
                <a:cs typeface="IBM Plex Sans" pitchFamily="34" charset="-120"/>
              </a:rPr>
              <a:t>Builder и фейкеры: Bogus, AutoBogus, AutoFixture</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07 · ТЕСТОВЫЕ ДАННЫЕ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Откуда брать тестовые данные</a:t>
            </a:r>
            <a:endParaRPr lang="en-US" sz="3200" dirty="0"/>
          </a:p>
        </p:txBody>
      </p:sp>
      <p:sp>
        <p:nvSpPr>
          <p:cNvPr id="4" name="Text 2"/>
          <p:cNvSpPr/>
          <p:nvPr/>
        </p:nvSpPr>
        <p:spPr>
          <a:xfrm>
            <a:off x="457200" y="1488455"/>
            <a:ext cx="11734800" cy="36322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3A4B5E"/>
                </a:solidFill>
                <a:latin typeface="IBM Plex Sans" pitchFamily="34" charset="0"/>
                <a:ea typeface="IBM Plex Sans" pitchFamily="34" charset="-122"/>
                <a:cs typeface="IBM Plex Sans" pitchFamily="34" charset="-120"/>
              </a:rPr>
              <a:t>Заполнять большие и сложные объекты руками в каждом тесте - долго и шумно. Есть два подхода:</a:t>
            </a:r>
            <a:endParaRPr lang="en-US" sz="1900" dirty="0"/>
          </a:p>
        </p:txBody>
      </p:sp>
      <p:sp>
        <p:nvSpPr>
          <p:cNvPr id="5" name="Shape 3"/>
          <p:cNvSpPr/>
          <p:nvPr/>
        </p:nvSpPr>
        <p:spPr>
          <a:xfrm>
            <a:off x="457200" y="2029470"/>
            <a:ext cx="5537200" cy="4371340"/>
          </a:xfrm>
          <a:prstGeom prst="roundRect">
            <a:avLst>
              <a:gd name="adj" fmla="val 2905"/>
            </a:avLst>
          </a:prstGeom>
          <a:solidFill>
            <a:srgbClr val="EDF1F5"/>
          </a:solidFill>
          <a:ln/>
        </p:spPr>
      </p:sp>
      <p:sp>
        <p:nvSpPr>
          <p:cNvPr id="6" name="Shape 4"/>
          <p:cNvSpPr/>
          <p:nvPr/>
        </p:nvSpPr>
        <p:spPr>
          <a:xfrm>
            <a:off x="457200" y="2029470"/>
            <a:ext cx="5537200" cy="4371340"/>
          </a:xfrm>
          <a:custGeom>
            <a:avLst/>
            <a:gdLst/>
            <a:ahLst/>
            <a:cxnLst/>
            <a:rect l="l" t="t" r="r" b="b"/>
            <a:pathLst>
              <a:path w="5537200" h="4371340">
                <a:moveTo>
                  <a:pt x="0" y="127000"/>
                </a:moveTo>
                <a:lnTo>
                  <a:pt x="0" y="127000"/>
                </a:lnTo>
                <a:arcTo hR="127000" wR="127000" stAng="10800000" swAng="5400000"/>
                <a:lnTo>
                  <a:pt x="5410200" y="0"/>
                </a:lnTo>
                <a:arcTo hR="127000" wR="127000" stAng="16200000" swAng="5400000"/>
                <a:lnTo>
                  <a:pt x="5537200" y="127000"/>
                </a:lnTo>
                <a:arcTo hR="88900" wR="127000" stAng="0" swAng="-5400000"/>
                <a:lnTo>
                  <a:pt x="127000" y="38100"/>
                </a:lnTo>
                <a:arcTo hR="88900" wR="127000" stAng="16200000" swAng="-5400000"/>
                <a:close/>
              </a:path>
            </a:pathLst>
          </a:custGeom>
          <a:solidFill>
            <a:srgbClr val="1F5FBF"/>
          </a:solidFill>
          <a:ln/>
        </p:spPr>
      </p:sp>
      <p:sp>
        <p:nvSpPr>
          <p:cNvPr id="7" name="Text 5"/>
          <p:cNvSpPr/>
          <p:nvPr/>
        </p:nvSpPr>
        <p:spPr>
          <a:xfrm>
            <a:off x="711200" y="2319015"/>
            <a:ext cx="518007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Паттерн Builder</a:t>
            </a:r>
            <a:endParaRPr lang="en-US" sz="2200" dirty="0"/>
          </a:p>
        </p:txBody>
      </p:sp>
      <p:sp>
        <p:nvSpPr>
          <p:cNvPr id="8" name="Text 6"/>
          <p:cNvSpPr/>
          <p:nvPr/>
        </p:nvSpPr>
        <p:spPr>
          <a:xfrm>
            <a:off x="754634" y="2768600"/>
            <a:ext cx="5129022" cy="2014220"/>
          </a:xfrm>
          <a:prstGeom prst="rect">
            <a:avLst/>
          </a:prstGeom>
          <a:noFill/>
          <a:ln/>
        </p:spPr>
        <p:txBody>
          <a:bodyPr wrap="square" lIns="0" tIns="0" rIns="0" bIns="0" rtlCol="0" anchor="t">
            <a:normAutofit/>
          </a:bodyPr>
          <a:lstStyle/>
          <a:p>
            <a:pPr algn="l" marL="210566" indent="-210566">
              <a:lnSpc>
                <a:spcPts val="261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Без сторонних зависимостей</a:t>
            </a:r>
            <a:endParaRPr lang="en-US" sz="1800" dirty="0"/>
          </a:p>
          <a:p>
            <a:pPr algn="l" marL="210566" indent="-210566">
              <a:lnSpc>
                <a:spcPts val="261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Для сложных доменных объектов</a:t>
            </a:r>
            <a:endParaRPr lang="en-US" sz="1800" dirty="0"/>
          </a:p>
          <a:p>
            <a:pPr algn="l" marL="210566" indent="-210566">
              <a:lnSpc>
                <a:spcPts val="2610"/>
              </a:lnSpc>
              <a:buSzPct val="100000"/>
              <a:buChar char="•"/>
            </a:pPr>
            <a:r>
              <a:rPr lang="en-US" sz="1800" dirty="0">
                <a:solidFill>
                  <a:srgbClr val="3A4B5E"/>
                </a:solidFill>
                <a:latin typeface="IBM Plex Sans" pitchFamily="34" charset="0"/>
                <a:ea typeface="IBM Plex Sans" pitchFamily="34" charset="-122"/>
                <a:cs typeface="IBM Plex Sans" pitchFamily="34" charset="-120"/>
              </a:rPr>
              <a:t>Цепочка WithX(…), в конце Build()</a:t>
            </a:r>
            <a:endParaRPr lang="en-US" sz="1800" dirty="0"/>
          </a:p>
          <a:p>
            <a:pPr algn="l" marL="210566" indent="-210566">
              <a:lnSpc>
                <a:spcPts val="2610"/>
              </a:lnSpc>
              <a:buSzPct val="100000"/>
              <a:buChar char="•"/>
            </a:pPr>
            <a:r>
              <a:rPr lang="en-US" sz="1800" b="1" dirty="0">
                <a:solidFill>
                  <a:srgbClr val="13233A"/>
                </a:solidFill>
                <a:latin typeface="IBM Plex Sans" pitchFamily="34" charset="0"/>
                <a:ea typeface="IBM Plex Sans" pitchFamily="34" charset="-122"/>
                <a:cs typeface="IBM Plex Sans" pitchFamily="34" charset="-120"/>
              </a:rPr>
              <a:t>Build() всегда возвращает валидный объект</a:t>
            </a:r>
            <a:r>
              <a:rPr lang="en-US" sz="1800" dirty="0">
                <a:solidFill>
                  <a:srgbClr val="3A4B5E"/>
                </a:solidFill>
                <a:latin typeface="IBM Plex Sans" pitchFamily="34" charset="0"/>
                <a:ea typeface="IBM Plex Sans" pitchFamily="34" charset="-122"/>
                <a:cs typeface="IBM Plex Sans" pitchFamily="34" charset="-120"/>
              </a:rPr>
              <a:t> - учитываем, например, взаимоисключающие флаги</a:t>
            </a:r>
            <a:endParaRPr lang="en-US" sz="1800" dirty="0"/>
          </a:p>
        </p:txBody>
      </p:sp>
      <p:sp>
        <p:nvSpPr>
          <p:cNvPr id="9" name="Shape 7"/>
          <p:cNvSpPr/>
          <p:nvPr/>
        </p:nvSpPr>
        <p:spPr>
          <a:xfrm>
            <a:off x="6197600" y="2029470"/>
            <a:ext cx="5537200" cy="4371340"/>
          </a:xfrm>
          <a:prstGeom prst="roundRect">
            <a:avLst>
              <a:gd name="adj" fmla="val 2905"/>
            </a:avLst>
          </a:prstGeom>
          <a:solidFill>
            <a:srgbClr val="EDF1F5"/>
          </a:solidFill>
          <a:ln/>
        </p:spPr>
      </p:sp>
      <p:sp>
        <p:nvSpPr>
          <p:cNvPr id="10" name="Shape 8"/>
          <p:cNvSpPr/>
          <p:nvPr/>
        </p:nvSpPr>
        <p:spPr>
          <a:xfrm>
            <a:off x="6197600" y="2029470"/>
            <a:ext cx="5537200" cy="4371340"/>
          </a:xfrm>
          <a:custGeom>
            <a:avLst/>
            <a:gdLst/>
            <a:ahLst/>
            <a:cxnLst/>
            <a:rect l="l" t="t" r="r" b="b"/>
            <a:pathLst>
              <a:path w="5537200" h="4371340">
                <a:moveTo>
                  <a:pt x="0" y="127000"/>
                </a:moveTo>
                <a:lnTo>
                  <a:pt x="0" y="127000"/>
                </a:lnTo>
                <a:arcTo hR="127000" wR="127000" stAng="10800000" swAng="5400000"/>
                <a:lnTo>
                  <a:pt x="5410200" y="0"/>
                </a:lnTo>
                <a:arcTo hR="127000" wR="127000" stAng="16200000" swAng="5400000"/>
                <a:lnTo>
                  <a:pt x="5537200" y="127000"/>
                </a:lnTo>
                <a:arcTo hR="88900" wR="127000" stAng="0" swAng="-5400000"/>
                <a:lnTo>
                  <a:pt x="127000" y="38100"/>
                </a:lnTo>
                <a:arcTo hR="88900" wR="127000" stAng="16200000" swAng="-5400000"/>
                <a:close/>
              </a:path>
            </a:pathLst>
          </a:custGeom>
          <a:solidFill>
            <a:srgbClr val="1A7F37"/>
          </a:solidFill>
          <a:ln/>
        </p:spPr>
      </p:sp>
      <p:sp>
        <p:nvSpPr>
          <p:cNvPr id="11" name="Text 9"/>
          <p:cNvSpPr/>
          <p:nvPr/>
        </p:nvSpPr>
        <p:spPr>
          <a:xfrm>
            <a:off x="6451600" y="2319015"/>
            <a:ext cx="518007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Фейкеры</a:t>
            </a:r>
            <a:endParaRPr lang="en-US" sz="2200" dirty="0"/>
          </a:p>
        </p:txBody>
      </p:sp>
      <p:sp>
        <p:nvSpPr>
          <p:cNvPr id="12" name="Text 10"/>
          <p:cNvSpPr/>
          <p:nvPr/>
        </p:nvSpPr>
        <p:spPr>
          <a:xfrm>
            <a:off x="6495034" y="2768600"/>
            <a:ext cx="5129022" cy="2345690"/>
          </a:xfrm>
          <a:prstGeom prst="rect">
            <a:avLst/>
          </a:prstGeom>
          <a:noFill/>
          <a:ln/>
        </p:spPr>
        <p:txBody>
          <a:bodyPr wrap="square" lIns="0" tIns="0" rIns="0" bIns="0" rtlCol="0" anchor="t">
            <a:normAutofit/>
          </a:bodyPr>
          <a:lstStyle/>
          <a:p>
            <a:pPr algn="l" marL="210566" indent="-210566">
              <a:lnSpc>
                <a:spcPts val="261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Используются чаще</a:t>
            </a:r>
            <a:endParaRPr lang="en-US" sz="1800" dirty="0"/>
          </a:p>
          <a:p>
            <a:pPr algn="l" marL="210566" indent="-210566">
              <a:lnSpc>
                <a:spcPts val="2610"/>
              </a:lnSpc>
              <a:buSzPct val="100000"/>
              <a:buChar char="•"/>
            </a:pPr>
            <a:r>
              <a:rPr lang="en-US" sz="1800" dirty="0">
                <a:solidFill>
                  <a:srgbClr val="3A4B5E"/>
                </a:solidFill>
                <a:latin typeface="IBM Plex Sans" pitchFamily="34" charset="0"/>
                <a:ea typeface="IBM Plex Sans" pitchFamily="34" charset="-122"/>
                <a:cs typeface="IBM Plex Sans" pitchFamily="34" charset="-120"/>
              </a:rPr>
              <a:t>Не нужно писать свои builder-ы</a:t>
            </a:r>
            <a:endParaRPr lang="en-US" sz="1800" dirty="0"/>
          </a:p>
          <a:p>
            <a:pPr algn="l" marL="210566" indent="-210566">
              <a:lnSpc>
                <a:spcPts val="2610"/>
              </a:lnSpc>
              <a:buSzPct val="100000"/>
              <a:buChar char="•"/>
            </a:pPr>
            <a:r>
              <a:rPr lang="en-US" sz="1800" b="1" dirty="0">
                <a:solidFill>
                  <a:srgbClr val="13233A"/>
                </a:solidFill>
                <a:latin typeface="IBM Plex Sans" pitchFamily="34" charset="0"/>
                <a:ea typeface="IBM Plex Sans" pitchFamily="34" charset="-122"/>
                <a:cs typeface="IBM Plex Sans" pitchFamily="34" charset="-120"/>
              </a:rPr>
              <a:t>Bogus</a:t>
            </a:r>
            <a:r>
              <a:rPr lang="en-US" sz="1800" dirty="0">
                <a:solidFill>
                  <a:srgbClr val="3A4B5E"/>
                </a:solidFill>
                <a:latin typeface="IBM Plex Sans" pitchFamily="34" charset="0"/>
                <a:ea typeface="IBM Plex Sans" pitchFamily="34" charset="-122"/>
                <a:cs typeface="IBM Plex Sans" pitchFamily="34" charset="-120"/>
              </a:rPr>
              <a:t> - правила на каждое поле</a:t>
            </a:r>
            <a:endParaRPr lang="en-US" sz="1800" dirty="0"/>
          </a:p>
          <a:p>
            <a:pPr algn="l" marL="210566" indent="-210566">
              <a:lnSpc>
                <a:spcPts val="2610"/>
              </a:lnSpc>
              <a:buSzPct val="100000"/>
              <a:buChar char="•"/>
            </a:pPr>
            <a:r>
              <a:rPr lang="en-US" sz="1800" b="1" dirty="0">
                <a:solidFill>
                  <a:srgbClr val="13233A"/>
                </a:solidFill>
                <a:latin typeface="IBM Plex Sans" pitchFamily="34" charset="0"/>
                <a:ea typeface="IBM Plex Sans" pitchFamily="34" charset="-122"/>
                <a:cs typeface="IBM Plex Sans" pitchFamily="34" charset="-120"/>
              </a:rPr>
              <a:t>AutoBogus</a:t>
            </a:r>
            <a:r>
              <a:rPr lang="en-US" sz="1800" dirty="0">
                <a:solidFill>
                  <a:srgbClr val="3A4B5E"/>
                </a:solidFill>
                <a:latin typeface="IBM Plex Sans" pitchFamily="34" charset="0"/>
                <a:ea typeface="IBM Plex Sans" pitchFamily="34" charset="-122"/>
                <a:cs typeface="IBM Plex Sans" pitchFamily="34" charset="-120"/>
              </a:rPr>
              <a:t> - автозаполнение + реалистичные данные</a:t>
            </a:r>
            <a:endParaRPr lang="en-US" sz="1800" dirty="0"/>
          </a:p>
          <a:p>
            <a:pPr algn="l" marL="210566" indent="-210566">
              <a:lnSpc>
                <a:spcPts val="2610"/>
              </a:lnSpc>
              <a:buSzPct val="100000"/>
              <a:buChar char="•"/>
            </a:pPr>
            <a:r>
              <a:rPr lang="en-US" sz="1800" b="1" dirty="0">
                <a:solidFill>
                  <a:srgbClr val="13233A"/>
                </a:solidFill>
                <a:latin typeface="IBM Plex Sans" pitchFamily="34" charset="0"/>
                <a:ea typeface="IBM Plex Sans" pitchFamily="34" charset="-122"/>
                <a:cs typeface="IBM Plex Sans" pitchFamily="34" charset="-120"/>
              </a:rPr>
              <a:t>AutoFixture</a:t>
            </a:r>
            <a:r>
              <a:rPr lang="en-US" sz="1800" dirty="0">
                <a:solidFill>
                  <a:srgbClr val="3A4B5E"/>
                </a:solidFill>
                <a:latin typeface="IBM Plex Sans" pitchFamily="34" charset="0"/>
                <a:ea typeface="IBM Plex Sans" pitchFamily="34" charset="-122"/>
                <a:cs typeface="IBM Plex Sans" pitchFamily="34" charset="-120"/>
              </a:rPr>
              <a:t> - максимально простое автозаполнение</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07 · ТЕСТОВЫЕ ДАННЫЕ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Bogus</a:t>
            </a:r>
            <a:endParaRPr lang="en-US" sz="3200" dirty="0"/>
          </a:p>
        </p:txBody>
      </p:sp>
      <p:sp>
        <p:nvSpPr>
          <p:cNvPr id="4" name="Text 2"/>
          <p:cNvSpPr/>
          <p:nvPr/>
        </p:nvSpPr>
        <p:spPr>
          <a:xfrm>
            <a:off x="457200" y="1437655"/>
            <a:ext cx="1161592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Правило </a:t>
            </a:r>
            <a:r>
              <a:rPr lang="en-US" sz="1800" b="1" dirty="0">
                <a:solidFill>
                  <a:srgbClr val="13233A"/>
                </a:solidFill>
                <a:latin typeface="IBM Plex Sans" pitchFamily="34" charset="0"/>
                <a:ea typeface="IBM Plex Sans" pitchFamily="34" charset="-122"/>
                <a:cs typeface="IBM Plex Sans" pitchFamily="34" charset="-120"/>
              </a:rPr>
              <a:t>RuleFor</a:t>
            </a:r>
            <a:r>
              <a:rPr lang="en-US" sz="1800" dirty="0">
                <a:solidFill>
                  <a:srgbClr val="3A4B5E"/>
                </a:solidFill>
                <a:latin typeface="IBM Plex Sans" pitchFamily="34" charset="0"/>
                <a:ea typeface="IBM Plex Sans" pitchFamily="34" charset="-122"/>
                <a:cs typeface="IBM Plex Sans" pitchFamily="34" charset="-120"/>
              </a:rPr>
              <a:t> на каждое поле - очень похоже на ручной builder, но писать его не нужно. Данные реалистичные: имена, email, адреса.</a:t>
            </a:r>
            <a:endParaRPr lang="en-US" sz="1800" dirty="0"/>
          </a:p>
        </p:txBody>
      </p:sp>
      <p:sp>
        <p:nvSpPr>
          <p:cNvPr id="5" name="Shape 3"/>
          <p:cNvSpPr/>
          <p:nvPr/>
        </p:nvSpPr>
        <p:spPr>
          <a:xfrm>
            <a:off x="460375" y="2233290"/>
            <a:ext cx="11271250" cy="2002790"/>
          </a:xfrm>
          <a:prstGeom prst="roundRect">
            <a:avLst>
              <a:gd name="adj" fmla="val 4914"/>
            </a:avLst>
          </a:prstGeom>
          <a:solidFill>
            <a:srgbClr val="F2F5F8"/>
          </a:solidFill>
          <a:ln w="6350">
            <a:solidFill>
              <a:srgbClr val="D3DBE4"/>
            </a:solidFill>
            <a:prstDash val="solid"/>
          </a:ln>
        </p:spPr>
      </p:sp>
      <p:sp>
        <p:nvSpPr>
          <p:cNvPr id="6" name="Text 4"/>
          <p:cNvSpPr/>
          <p:nvPr/>
        </p:nvSpPr>
        <p:spPr>
          <a:xfrm>
            <a:off x="614680" y="2374900"/>
            <a:ext cx="11291519"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ПРАВИЛА ДЛЯ ПОЛЕЙ</a:t>
            </a:r>
            <a:endParaRPr lang="en-US" sz="1500" dirty="0"/>
          </a:p>
        </p:txBody>
      </p:sp>
      <p:sp>
        <p:nvSpPr>
          <p:cNvPr id="7" name="Text 5"/>
          <p:cNvSpPr/>
          <p:nvPr/>
        </p:nvSpPr>
        <p:spPr>
          <a:xfrm>
            <a:off x="614680" y="2717800"/>
            <a:ext cx="11291519" cy="1287463"/>
          </a:xfrm>
          <a:prstGeom prst="rect">
            <a:avLst/>
          </a:prstGeom>
          <a:noFill/>
          <a:ln/>
        </p:spPr>
        <p:txBody>
          <a:bodyPr wrap="none" lIns="0" tIns="0" rIns="0" bIns="0"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expectedProduct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Faker&lt;Product&gt;()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.RuleFor(p =&gt; p.Id, f =&gt; f.IndexFaker)</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.RuleFor(p =&gt; p.WarehouseId, f =&gt; f.IndexFaker)</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.RuleFor(p =&gt; p.Name, f =&gt; f.Name.FirstName())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.Generate();                       </a:t>
            </a:r>
            <a:r>
              <a:rPr lang="en-US" sz="1400" dirty="0">
                <a:solidFill>
                  <a:srgbClr val="6A737D"/>
                </a:solidFill>
                <a:latin typeface="JetBrains Mono" pitchFamily="49" charset="0"/>
                <a:ea typeface="JetBrains Mono" pitchFamily="49" charset="-122"/>
                <a:cs typeface="JetBrains Mono" pitchFamily="49" charset="-120"/>
              </a:rPr>
              <a:t>// или .Generate(10) - список</a:t>
            </a:r>
            <a:endParaRPr lang="en-US" sz="1400" dirty="0"/>
          </a:p>
        </p:txBody>
      </p:sp>
      <p:sp>
        <p:nvSpPr>
          <p:cNvPr id="8" name="Shape 6"/>
          <p:cNvSpPr/>
          <p:nvPr/>
        </p:nvSpPr>
        <p:spPr>
          <a:xfrm>
            <a:off x="460375" y="4394845"/>
            <a:ext cx="11271250" cy="2002790"/>
          </a:xfrm>
          <a:prstGeom prst="roundRect">
            <a:avLst>
              <a:gd name="adj" fmla="val 4914"/>
            </a:avLst>
          </a:prstGeom>
          <a:solidFill>
            <a:srgbClr val="F2F5F8"/>
          </a:solidFill>
          <a:ln w="6350">
            <a:solidFill>
              <a:srgbClr val="D3DBE4"/>
            </a:solidFill>
            <a:prstDash val="solid"/>
          </a:ln>
        </p:spPr>
      </p:sp>
      <p:sp>
        <p:nvSpPr>
          <p:cNvPr id="9" name="Text 7"/>
          <p:cNvSpPr/>
          <p:nvPr/>
        </p:nvSpPr>
        <p:spPr>
          <a:xfrm>
            <a:off x="614680" y="4536455"/>
            <a:ext cx="11291519"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F5FBF"/>
                </a:solidFill>
                <a:latin typeface="IBM Plex Sans" pitchFamily="34" charset="0"/>
                <a:ea typeface="IBM Plex Sans" pitchFamily="34" charset="-122"/>
                <a:cs typeface="IBM Plex Sans" pitchFamily="34" charset="-120"/>
              </a:rPr>
              <a:t>CUSTOMINSTANTIATOR</a:t>
            </a:r>
            <a:endParaRPr lang="en-US" sz="1500" dirty="0"/>
          </a:p>
        </p:txBody>
      </p:sp>
      <p:sp>
        <p:nvSpPr>
          <p:cNvPr id="10" name="Text 8"/>
          <p:cNvSpPr/>
          <p:nvPr/>
        </p:nvSpPr>
        <p:spPr>
          <a:xfrm>
            <a:off x="614680" y="4879355"/>
            <a:ext cx="11291519" cy="1035050"/>
          </a:xfrm>
          <a:prstGeom prst="rect">
            <a:avLst/>
          </a:prstGeom>
          <a:noFill/>
          <a:ln/>
        </p:spPr>
        <p:txBody>
          <a:bodyPr wrap="none" lIns="0" tIns="0" rIns="0" bIns="0" rtlCol="0" anchor="t">
            <a:normAutofit/>
          </a:bodyPr>
          <a:lstStyle/>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нет конструктора без параметров - создаём объект сами</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product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Faker&lt;ProductDto&gt;()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.CustomInstantiator(f =&gt;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ProductDto(f.IndexFaker, f.Name.FullName()))</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.Generate();</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07 · ТЕСТОВЫЕ ДАННЫЕ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AutoBogus</a:t>
            </a:r>
            <a:endParaRPr lang="en-US" sz="3200" dirty="0"/>
          </a:p>
        </p:txBody>
      </p:sp>
      <p:sp>
        <p:nvSpPr>
          <p:cNvPr id="4" name="Text 2"/>
          <p:cNvSpPr/>
          <p:nvPr/>
        </p:nvSpPr>
        <p:spPr>
          <a:xfrm>
            <a:off x="457200" y="1488455"/>
            <a:ext cx="1161592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Расширение Bogus (подтягивает его сам): заполняет </a:t>
            </a:r>
            <a:r>
              <a:rPr lang="en-US" sz="1600" b="1" dirty="0">
                <a:solidFill>
                  <a:srgbClr val="13233A"/>
                </a:solidFill>
                <a:latin typeface="IBM Plex Sans" pitchFamily="34" charset="0"/>
                <a:ea typeface="IBM Plex Sans" pitchFamily="34" charset="-122"/>
                <a:cs typeface="IBM Plex Sans" pitchFamily="34" charset="-120"/>
              </a:rPr>
              <a:t>все поля автоматически</a:t>
            </a:r>
            <a:r>
              <a:rPr lang="en-US" sz="1600" dirty="0">
                <a:solidFill>
                  <a:srgbClr val="3A4B5E"/>
                </a:solidFill>
                <a:latin typeface="IBM Plex Sans" pitchFamily="34" charset="0"/>
                <a:ea typeface="IBM Plex Sans" pitchFamily="34" charset="-122"/>
                <a:cs typeface="IBM Plex Sans" pitchFamily="34" charset="-120"/>
              </a:rPr>
              <a:t>, а RuleFor по-прежнему доступен для нужных полей.</a:t>
            </a:r>
            <a:endParaRPr lang="en-US" sz="1600" dirty="0"/>
          </a:p>
        </p:txBody>
      </p:sp>
      <p:sp>
        <p:nvSpPr>
          <p:cNvPr id="5" name="Text 3"/>
          <p:cNvSpPr/>
          <p:nvPr/>
        </p:nvSpPr>
        <p:spPr>
          <a:xfrm>
            <a:off x="460375" y="3053234"/>
            <a:ext cx="5708650" cy="2554923"/>
          </a:xfrm>
          <a:prstGeom prst="roundRect">
            <a:avLst>
              <a:gd name="adj" fmla="val 3852"/>
            </a:avLst>
          </a:prstGeom>
          <a:solidFill>
            <a:srgbClr val="F2F5F8"/>
          </a:solidFill>
          <a:ln w="6350">
            <a:solidFill>
              <a:srgbClr val="D3DBE4"/>
            </a:solidFill>
            <a:prstDash val="solid"/>
          </a:ln>
        </p:spPr>
        <p:txBody>
          <a:bodyPr wrap="none" lIns="125477" tIns="112777" rIns="0" bIns="87377" rtlCol="0" anchor="t">
            <a:normAutofit/>
          </a:bodyPr>
          <a:lstStyle/>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пакет AutoBogus.Conventions</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AutoFaker.Configure(f =&gt; f.WithConventions());</a:t>
            </a:r>
            <a:endParaRPr lang="en-US" sz="1400" dirty="0"/>
          </a:p>
          <a:p>
            <a:pPr algn="l" indent="0" marL="0">
              <a:lnSpc>
                <a:spcPts val="1988"/>
              </a:lnSpc>
              <a:buNone/>
            </a:pP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product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AutoFaker&lt;Product&gt;().Generate();</a:t>
            </a:r>
            <a:endParaRPr lang="en-US" sz="1400" dirty="0"/>
          </a:p>
          <a:p>
            <a:pPr algn="l" indent="0" marL="0">
              <a:lnSpc>
                <a:spcPts val="1988"/>
              </a:lnSpc>
              <a:buNone/>
            </a:pPr>
            <a:endParaRPr lang="en-US" sz="1400" dirty="0"/>
          </a:p>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точечно переопределяем поле</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withId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AutoFaker&lt;Product&gt;()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.RuleFor(p =&gt; p.Id, f =&gt; </a:t>
            </a:r>
            <a:r>
              <a:rPr lang="en-US" sz="1400" dirty="0">
                <a:solidFill>
                  <a:srgbClr val="7A3EC8"/>
                </a:solidFill>
                <a:latin typeface="JetBrains Mono" pitchFamily="49" charset="0"/>
                <a:ea typeface="JetBrains Mono" pitchFamily="49" charset="-122"/>
                <a:cs typeface="JetBrains Mono" pitchFamily="49" charset="-120"/>
              </a:rPr>
              <a:t>1</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.Generate();</a:t>
            </a:r>
            <a:endParaRPr lang="en-US" sz="1400" dirty="0"/>
          </a:p>
        </p:txBody>
      </p:sp>
      <p:sp>
        <p:nvSpPr>
          <p:cNvPr id="6" name="Shape 4"/>
          <p:cNvSpPr/>
          <p:nvPr/>
        </p:nvSpPr>
        <p:spPr>
          <a:xfrm>
            <a:off x="6375400" y="2049785"/>
            <a:ext cx="5359400" cy="4561840"/>
          </a:xfrm>
          <a:prstGeom prst="roundRect">
            <a:avLst>
              <a:gd name="adj" fmla="val 2784"/>
            </a:avLst>
          </a:prstGeom>
          <a:solidFill>
            <a:srgbClr val="EDF1F5"/>
          </a:solidFill>
          <a:ln/>
        </p:spPr>
      </p:sp>
      <p:sp>
        <p:nvSpPr>
          <p:cNvPr id="7" name="Text 5"/>
          <p:cNvSpPr/>
          <p:nvPr/>
        </p:nvSpPr>
        <p:spPr>
          <a:xfrm>
            <a:off x="6578600" y="2252985"/>
            <a:ext cx="510159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ЧТО СГЕНЕРИРОВАЛОСЬ</a:t>
            </a:r>
            <a:endParaRPr lang="en-US" sz="1500" dirty="0"/>
          </a:p>
        </p:txBody>
      </p:sp>
      <p:sp>
        <p:nvSpPr>
          <p:cNvPr id="8" name="Shape 6"/>
          <p:cNvSpPr/>
          <p:nvPr/>
        </p:nvSpPr>
        <p:spPr>
          <a:xfrm>
            <a:off x="6578600" y="2608585"/>
            <a:ext cx="4953000" cy="723900"/>
          </a:xfrm>
          <a:prstGeom prst="roundRect">
            <a:avLst>
              <a:gd name="adj" fmla="val 10526"/>
            </a:avLst>
          </a:prstGeom>
          <a:solidFill>
            <a:srgbClr val="F8FAFB"/>
          </a:solidFill>
          <a:ln/>
        </p:spPr>
      </p:sp>
      <p:sp>
        <p:nvSpPr>
          <p:cNvPr id="9" name="Text 7"/>
          <p:cNvSpPr/>
          <p:nvPr/>
        </p:nvSpPr>
        <p:spPr>
          <a:xfrm>
            <a:off x="6705600" y="26974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6C7D"/>
                </a:solidFill>
                <a:latin typeface="IBM Plex Sans" pitchFamily="34" charset="0"/>
                <a:ea typeface="IBM Plex Sans" pitchFamily="34" charset="-122"/>
                <a:cs typeface="IBM Plex Sans" pitchFamily="34" charset="-120"/>
              </a:rPr>
              <a:t>Email</a:t>
            </a:r>
            <a:endParaRPr lang="en-US" sz="1500" dirty="0"/>
          </a:p>
        </p:txBody>
      </p:sp>
      <p:sp>
        <p:nvSpPr>
          <p:cNvPr id="10" name="Text 8"/>
          <p:cNvSpPr/>
          <p:nvPr/>
        </p:nvSpPr>
        <p:spPr>
          <a:xfrm>
            <a:off x="6705600" y="29768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31515"/>
                </a:solidFill>
                <a:latin typeface="JetBrains Mono" pitchFamily="49" charset="0"/>
                <a:ea typeface="JetBrains Mono" pitchFamily="49" charset="-122"/>
                <a:cs typeface="JetBrains Mono" pitchFamily="49" charset="-120"/>
              </a:rPr>
              <a:t>"Ivy_Hauck81@hotmail.com"</a:t>
            </a:r>
            <a:endParaRPr lang="en-US" sz="1500" dirty="0"/>
          </a:p>
        </p:txBody>
      </p:sp>
      <p:sp>
        <p:nvSpPr>
          <p:cNvPr id="11" name="Shape 9"/>
          <p:cNvSpPr/>
          <p:nvPr/>
        </p:nvSpPr>
        <p:spPr>
          <a:xfrm>
            <a:off x="6578600" y="3421385"/>
            <a:ext cx="4953000" cy="723900"/>
          </a:xfrm>
          <a:prstGeom prst="roundRect">
            <a:avLst>
              <a:gd name="adj" fmla="val 10526"/>
            </a:avLst>
          </a:prstGeom>
          <a:solidFill>
            <a:srgbClr val="F8FAFB"/>
          </a:solidFill>
          <a:ln/>
        </p:spPr>
      </p:sp>
      <p:sp>
        <p:nvSpPr>
          <p:cNvPr id="12" name="Text 10"/>
          <p:cNvSpPr/>
          <p:nvPr/>
        </p:nvSpPr>
        <p:spPr>
          <a:xfrm>
            <a:off x="6705600" y="35102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6C7D"/>
                </a:solidFill>
                <a:latin typeface="IBM Plex Sans" pitchFamily="34" charset="0"/>
                <a:ea typeface="IBM Plex Sans" pitchFamily="34" charset="-122"/>
                <a:cs typeface="IBM Plex Sans" pitchFamily="34" charset="-120"/>
              </a:rPr>
              <a:t>CompanyName</a:t>
            </a:r>
            <a:endParaRPr lang="en-US" sz="1500" dirty="0"/>
          </a:p>
        </p:txBody>
      </p:sp>
      <p:sp>
        <p:nvSpPr>
          <p:cNvPr id="13" name="Text 11"/>
          <p:cNvSpPr/>
          <p:nvPr/>
        </p:nvSpPr>
        <p:spPr>
          <a:xfrm>
            <a:off x="6705600" y="37896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31515"/>
                </a:solidFill>
                <a:latin typeface="JetBrains Mono" pitchFamily="49" charset="0"/>
                <a:ea typeface="JetBrains Mono" pitchFamily="49" charset="-122"/>
                <a:cs typeface="JetBrains Mono" pitchFamily="49" charset="-120"/>
              </a:rPr>
              <a:t>"Padberg, Wuckert and Pouros"</a:t>
            </a:r>
            <a:endParaRPr lang="en-US" sz="1500" dirty="0"/>
          </a:p>
        </p:txBody>
      </p:sp>
      <p:sp>
        <p:nvSpPr>
          <p:cNvPr id="14" name="Shape 12"/>
          <p:cNvSpPr/>
          <p:nvPr/>
        </p:nvSpPr>
        <p:spPr>
          <a:xfrm>
            <a:off x="6578600" y="4234185"/>
            <a:ext cx="4953000" cy="723900"/>
          </a:xfrm>
          <a:prstGeom prst="roundRect">
            <a:avLst>
              <a:gd name="adj" fmla="val 10526"/>
            </a:avLst>
          </a:prstGeom>
          <a:solidFill>
            <a:srgbClr val="F8FAFB"/>
          </a:solidFill>
          <a:ln/>
        </p:spPr>
      </p:sp>
      <p:sp>
        <p:nvSpPr>
          <p:cNvPr id="15" name="Text 13"/>
          <p:cNvSpPr/>
          <p:nvPr/>
        </p:nvSpPr>
        <p:spPr>
          <a:xfrm>
            <a:off x="6705600" y="43230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6C7D"/>
                </a:solidFill>
                <a:latin typeface="IBM Plex Sans" pitchFamily="34" charset="0"/>
                <a:ea typeface="IBM Plex Sans" pitchFamily="34" charset="-122"/>
                <a:cs typeface="IBM Plex Sans" pitchFamily="34" charset="-120"/>
              </a:rPr>
              <a:t>Name</a:t>
            </a:r>
            <a:endParaRPr lang="en-US" sz="1500" dirty="0"/>
          </a:p>
        </p:txBody>
      </p:sp>
      <p:sp>
        <p:nvSpPr>
          <p:cNvPr id="16" name="Text 14"/>
          <p:cNvSpPr/>
          <p:nvPr/>
        </p:nvSpPr>
        <p:spPr>
          <a:xfrm>
            <a:off x="6705600" y="46024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31515"/>
                </a:solidFill>
                <a:latin typeface="JetBrains Mono" pitchFamily="49" charset="0"/>
                <a:ea typeface="JetBrains Mono" pitchFamily="49" charset="-122"/>
                <a:cs typeface="JetBrains Mono" pitchFamily="49" charset="-120"/>
              </a:rPr>
              <a:t>"implementation"</a:t>
            </a:r>
            <a:endParaRPr lang="en-US" sz="1500" dirty="0"/>
          </a:p>
        </p:txBody>
      </p:sp>
      <p:sp>
        <p:nvSpPr>
          <p:cNvPr id="17" name="Shape 15"/>
          <p:cNvSpPr/>
          <p:nvPr/>
        </p:nvSpPr>
        <p:spPr>
          <a:xfrm>
            <a:off x="6578600" y="5046985"/>
            <a:ext cx="4953000" cy="723900"/>
          </a:xfrm>
          <a:prstGeom prst="roundRect">
            <a:avLst>
              <a:gd name="adj" fmla="val 10526"/>
            </a:avLst>
          </a:prstGeom>
          <a:solidFill>
            <a:srgbClr val="F8FAFB"/>
          </a:solidFill>
          <a:ln/>
        </p:spPr>
      </p:sp>
      <p:sp>
        <p:nvSpPr>
          <p:cNvPr id="18" name="Text 16"/>
          <p:cNvSpPr/>
          <p:nvPr/>
        </p:nvSpPr>
        <p:spPr>
          <a:xfrm>
            <a:off x="6705600" y="51358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6C7D"/>
                </a:solidFill>
                <a:latin typeface="IBM Plex Sans" pitchFamily="34" charset="0"/>
                <a:ea typeface="IBM Plex Sans" pitchFamily="34" charset="-122"/>
                <a:cs typeface="IBM Plex Sans" pitchFamily="34" charset="-120"/>
              </a:rPr>
              <a:t>Id</a:t>
            </a:r>
            <a:endParaRPr lang="en-US" sz="1500" dirty="0"/>
          </a:p>
        </p:txBody>
      </p:sp>
      <p:sp>
        <p:nvSpPr>
          <p:cNvPr id="19" name="Text 17"/>
          <p:cNvSpPr/>
          <p:nvPr/>
        </p:nvSpPr>
        <p:spPr>
          <a:xfrm>
            <a:off x="6705600" y="5415285"/>
            <a:ext cx="48399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31515"/>
                </a:solidFill>
                <a:latin typeface="JetBrains Mono" pitchFamily="49" charset="0"/>
                <a:ea typeface="JetBrains Mono" pitchFamily="49" charset="-122"/>
                <a:cs typeface="JetBrains Mono" pitchFamily="49" charset="-120"/>
              </a:rPr>
              <a:t>-8128464292736731895</a:t>
            </a:r>
            <a:endParaRPr lang="en-US" sz="1500" dirty="0"/>
          </a:p>
        </p:txBody>
      </p:sp>
      <p:sp>
        <p:nvSpPr>
          <p:cNvPr id="20" name="Text 18"/>
          <p:cNvSpPr/>
          <p:nvPr/>
        </p:nvSpPr>
        <p:spPr>
          <a:xfrm>
            <a:off x="6578600" y="5859785"/>
            <a:ext cx="510159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4B5E"/>
                </a:solidFill>
                <a:latin typeface="IBM Plex Sans" pitchFamily="34" charset="0"/>
                <a:ea typeface="IBM Plex Sans" pitchFamily="34" charset="-122"/>
                <a:cs typeface="IBM Plex Sans" pitchFamily="34" charset="-120"/>
              </a:rPr>
              <a:t>Конвенции: поле Email получает похожий на настоящий адрес.</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07 · ТЕСТОВЫЕ ДАННЫЕ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AutoFixture</a:t>
            </a:r>
            <a:endParaRPr lang="en-US" sz="3200" dirty="0"/>
          </a:p>
        </p:txBody>
      </p:sp>
      <p:sp>
        <p:nvSpPr>
          <p:cNvPr id="4" name="Text 2"/>
          <p:cNvSpPr/>
          <p:nvPr/>
        </p:nvSpPr>
        <p:spPr>
          <a:xfrm>
            <a:off x="457200" y="1437655"/>
            <a:ext cx="11615928"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4B5E"/>
                </a:solidFill>
                <a:latin typeface="IBM Plex Sans" pitchFamily="34" charset="0"/>
                <a:ea typeface="IBM Plex Sans" pitchFamily="34" charset="-122"/>
                <a:cs typeface="IBM Plex Sans" pitchFamily="34" charset="-120"/>
              </a:rPr>
              <a:t>Заполняет объект </a:t>
            </a:r>
            <a:r>
              <a:rPr lang="en-US" sz="1800" b="1" dirty="0">
                <a:solidFill>
                  <a:srgbClr val="13233A"/>
                </a:solidFill>
                <a:latin typeface="IBM Plex Sans" pitchFamily="34" charset="0"/>
                <a:ea typeface="IBM Plex Sans" pitchFamily="34" charset="-122"/>
                <a:cs typeface="IBM Plex Sans" pitchFamily="34" charset="-120"/>
              </a:rPr>
              <a:t>максимально простыми</a:t>
            </a:r>
            <a:r>
              <a:rPr lang="en-US" sz="1800" dirty="0">
                <a:solidFill>
                  <a:srgbClr val="3A4B5E"/>
                </a:solidFill>
                <a:latin typeface="IBM Plex Sans" pitchFamily="34" charset="0"/>
                <a:ea typeface="IBM Plex Sans" pitchFamily="34" charset="-122"/>
                <a:cs typeface="IBM Plex Sans" pitchFamily="34" charset="-120"/>
              </a:rPr>
              <a:t>, нереалистичными значениями. Цель - быстро получить любые валидные данные.</a:t>
            </a:r>
            <a:endParaRPr lang="en-US" sz="1800" dirty="0"/>
          </a:p>
        </p:txBody>
      </p:sp>
      <p:sp>
        <p:nvSpPr>
          <p:cNvPr id="5" name="Shape 3"/>
          <p:cNvSpPr/>
          <p:nvPr/>
        </p:nvSpPr>
        <p:spPr>
          <a:xfrm>
            <a:off x="460375" y="2233290"/>
            <a:ext cx="5454650" cy="2392998"/>
          </a:xfrm>
          <a:prstGeom prst="roundRect">
            <a:avLst>
              <a:gd name="adj" fmla="val 4113"/>
            </a:avLst>
          </a:prstGeom>
          <a:solidFill>
            <a:srgbClr val="F2F5F8"/>
          </a:solidFill>
          <a:ln w="6350">
            <a:solidFill>
              <a:srgbClr val="D3DBE4"/>
            </a:solidFill>
            <a:prstDash val="solid"/>
          </a:ln>
        </p:spPr>
      </p:sp>
      <p:sp>
        <p:nvSpPr>
          <p:cNvPr id="6" name="Text 4"/>
          <p:cNvSpPr/>
          <p:nvPr/>
        </p:nvSpPr>
        <p:spPr>
          <a:xfrm>
            <a:off x="614680" y="2374900"/>
            <a:ext cx="5300421"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A7F37"/>
                </a:solidFill>
                <a:latin typeface="IBM Plex Sans" pitchFamily="34" charset="0"/>
                <a:ea typeface="IBM Plex Sans" pitchFamily="34" charset="-122"/>
                <a:cs typeface="IBM Plex Sans" pitchFamily="34" charset="-120"/>
              </a:rPr>
              <a:t>FIXTURE</a:t>
            </a:r>
            <a:endParaRPr lang="en-US" sz="1500" dirty="0"/>
          </a:p>
        </p:txBody>
      </p:sp>
      <p:sp>
        <p:nvSpPr>
          <p:cNvPr id="7" name="Text 5"/>
          <p:cNvSpPr/>
          <p:nvPr/>
        </p:nvSpPr>
        <p:spPr>
          <a:xfrm>
            <a:off x="614680" y="2717800"/>
            <a:ext cx="5300421" cy="1035050"/>
          </a:xfrm>
          <a:prstGeom prst="rect">
            <a:avLst/>
          </a:prstGeom>
          <a:noFill/>
          <a:ln/>
        </p:spPr>
        <p:txBody>
          <a:bodyPr wrap="none" lIns="0" tIns="0" rIns="0" bIns="0" rtlCol="0" anchor="t">
            <a:normAutofit/>
          </a:bodyPr>
          <a:lstStyle/>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fixture = </a:t>
            </a:r>
            <a:r>
              <a:rPr lang="en-US" sz="1400" dirty="0">
                <a:solidFill>
                  <a:srgbClr val="0033B3"/>
                </a:solidFill>
                <a:latin typeface="JetBrains Mono" pitchFamily="49" charset="0"/>
                <a:ea typeface="JetBrains Mono" pitchFamily="49" charset="-122"/>
                <a:cs typeface="JetBrains Mono" pitchFamily="49" charset="-120"/>
              </a:rPr>
              <a:t>new</a:t>
            </a:r>
            <a:r>
              <a:rPr lang="en-US" sz="1400" dirty="0">
                <a:solidFill>
                  <a:srgbClr val="1F2933"/>
                </a:solidFill>
                <a:latin typeface="JetBrains Mono" pitchFamily="49" charset="0"/>
                <a:ea typeface="JetBrains Mono" pitchFamily="49" charset="-122"/>
                <a:cs typeface="JetBrains Mono" pitchFamily="49" charset="-120"/>
              </a:rPr>
              <a:t> Fixture();</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var</a:t>
            </a:r>
            <a:r>
              <a:rPr lang="en-US" sz="1400" dirty="0">
                <a:solidFill>
                  <a:srgbClr val="1F2933"/>
                </a:solidFill>
                <a:latin typeface="JetBrains Mono" pitchFamily="49" charset="0"/>
                <a:ea typeface="JetBrains Mono" pitchFamily="49" charset="-122"/>
                <a:cs typeface="JetBrains Mono" pitchFamily="49" charset="-120"/>
              </a:rPr>
              <a:t> product = fixture.Create&lt;Product&gt;();</a:t>
            </a:r>
            <a:endParaRPr lang="en-US" sz="1400" dirty="0"/>
          </a:p>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Id = 121, WarehouseId = 224</a:t>
            </a:r>
            <a:endParaRPr lang="en-US" sz="1400" dirty="0"/>
          </a:p>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Name = "Nameda99cc86-d474-494f-..."</a:t>
            </a:r>
            <a:endParaRPr lang="en-US" sz="1400" dirty="0"/>
          </a:p>
        </p:txBody>
      </p:sp>
      <p:sp>
        <p:nvSpPr>
          <p:cNvPr id="8" name="Shape 6"/>
          <p:cNvSpPr/>
          <p:nvPr/>
        </p:nvSpPr>
        <p:spPr>
          <a:xfrm>
            <a:off x="6099175" y="2233290"/>
            <a:ext cx="5632450" cy="2392998"/>
          </a:xfrm>
          <a:prstGeom prst="roundRect">
            <a:avLst>
              <a:gd name="adj" fmla="val 4113"/>
            </a:avLst>
          </a:prstGeom>
          <a:solidFill>
            <a:srgbClr val="F2F5F8"/>
          </a:solidFill>
          <a:ln w="6350">
            <a:solidFill>
              <a:srgbClr val="D3DBE4"/>
            </a:solidFill>
            <a:prstDash val="solid"/>
          </a:ln>
        </p:spPr>
      </p:sp>
      <p:sp>
        <p:nvSpPr>
          <p:cNvPr id="9" name="Text 7"/>
          <p:cNvSpPr/>
          <p:nvPr/>
        </p:nvSpPr>
        <p:spPr>
          <a:xfrm>
            <a:off x="6253480" y="2374900"/>
            <a:ext cx="5483555"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1F5FBF"/>
                </a:solidFill>
                <a:latin typeface="IBM Plex Sans" pitchFamily="34" charset="0"/>
                <a:ea typeface="IBM Plex Sans" pitchFamily="34" charset="-122"/>
                <a:cs typeface="IBM Plex Sans" pitchFamily="34" charset="-120"/>
              </a:rPr>
              <a:t>[AUTODATA]</a:t>
            </a:r>
            <a:endParaRPr lang="en-US" sz="1500" dirty="0"/>
          </a:p>
        </p:txBody>
      </p:sp>
      <p:sp>
        <p:nvSpPr>
          <p:cNvPr id="10" name="Text 8"/>
          <p:cNvSpPr/>
          <p:nvPr/>
        </p:nvSpPr>
        <p:spPr>
          <a:xfrm>
            <a:off x="6253480" y="2717800"/>
            <a:ext cx="5483555" cy="1792288"/>
          </a:xfrm>
          <a:prstGeom prst="rect">
            <a:avLst/>
          </a:prstGeom>
          <a:noFill/>
          <a:ln/>
        </p:spPr>
        <p:txBody>
          <a:bodyPr wrap="none" lIns="0" tIns="0" rIns="0" bIns="0" rtlCol="0" anchor="t">
            <a:normAutofit/>
          </a:bodyPr>
          <a:lstStyle/>
          <a:p>
            <a:pPr algn="l" indent="0" marL="0">
              <a:lnSpc>
                <a:spcPts val="1988"/>
              </a:lnSpc>
              <a:buNone/>
            </a:pPr>
            <a:r>
              <a:rPr lang="en-US" sz="1400" dirty="0">
                <a:solidFill>
                  <a:srgbClr val="6A737D"/>
                </a:solidFill>
                <a:latin typeface="JetBrains Mono" pitchFamily="49" charset="0"/>
                <a:ea typeface="JetBrains Mono" pitchFamily="49" charset="-122"/>
                <a:cs typeface="JetBrains Mono" pitchFamily="49" charset="-120"/>
              </a:rPr>
              <a:t>// пакет AutoFixture.Xunit2</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r>
              <a:rPr lang="en-US" sz="1400" dirty="0">
                <a:solidFill>
                  <a:srgbClr val="1A7F37"/>
                </a:solidFill>
                <a:latin typeface="JetBrains Mono" pitchFamily="49" charset="0"/>
                <a:ea typeface="JetBrains Mono" pitchFamily="49" charset="-122"/>
                <a:cs typeface="JetBrains Mono" pitchFamily="49" charset="-120"/>
              </a:rPr>
              <a:t>Theory</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1A7F37"/>
                </a:solidFill>
                <a:latin typeface="JetBrains Mono" pitchFamily="49" charset="0"/>
                <a:ea typeface="JetBrains Mono" pitchFamily="49" charset="-122"/>
                <a:cs typeface="JetBrains Mono" pitchFamily="49" charset="-120"/>
              </a:rPr>
              <a:t>AutoData</a:t>
            </a: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0033B3"/>
                </a:solidFill>
                <a:latin typeface="JetBrains Mono" pitchFamily="49" charset="0"/>
                <a:ea typeface="JetBrains Mono" pitchFamily="49" charset="-122"/>
                <a:cs typeface="JetBrains Mono" pitchFamily="49" charset="-120"/>
              </a:rPr>
              <a:t>public</a:t>
            </a: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0033B3"/>
                </a:solidFill>
                <a:latin typeface="JetBrains Mono" pitchFamily="49" charset="0"/>
                <a:ea typeface="JetBrains Mono" pitchFamily="49" charset="-122"/>
                <a:cs typeface="JetBrains Mono" pitchFamily="49" charset="-120"/>
              </a:rPr>
              <a:t>void</a:t>
            </a:r>
            <a:r>
              <a:rPr lang="en-US" sz="1400" dirty="0">
                <a:solidFill>
                  <a:srgbClr val="1F2933"/>
                </a:solidFill>
                <a:latin typeface="JetBrains Mono" pitchFamily="49" charset="0"/>
                <a:ea typeface="JetBrains Mono" pitchFamily="49" charset="-122"/>
                <a:cs typeface="JetBrains Mono" pitchFamily="49" charset="-120"/>
              </a:rPr>
              <a:t> Get_ShouldReturnProduct(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Product product)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    </a:t>
            </a:r>
            <a:r>
              <a:rPr lang="en-US" sz="1400" dirty="0">
                <a:solidFill>
                  <a:srgbClr val="6A737D"/>
                </a:solidFill>
                <a:latin typeface="JetBrains Mono" pitchFamily="49" charset="0"/>
                <a:ea typeface="JetBrains Mono" pitchFamily="49" charset="-122"/>
                <a:cs typeface="JetBrains Mono" pitchFamily="49" charset="-120"/>
              </a:rPr>
              <a:t>// product уже заполнен</a:t>
            </a:r>
            <a:endParaRPr lang="en-US" sz="1400" dirty="0"/>
          </a:p>
          <a:p>
            <a:pPr algn="l" indent="0" marL="0">
              <a:lnSpc>
                <a:spcPts val="1988"/>
              </a:lnSpc>
              <a:buNone/>
            </a:pPr>
            <a:r>
              <a:rPr lang="en-US" sz="1400" dirty="0">
                <a:solidFill>
                  <a:srgbClr val="1F2933"/>
                </a:solidFill>
                <a:latin typeface="JetBrains Mono" pitchFamily="49" charset="0"/>
                <a:ea typeface="JetBrains Mono" pitchFamily="49" charset="-122"/>
                <a:cs typeface="JetBrains Mono" pitchFamily="49" charset="-120"/>
              </a:rPr>
              <a:t>}</a:t>
            </a:r>
            <a:endParaRPr lang="en-US" sz="1400" dirty="0"/>
          </a:p>
        </p:txBody>
      </p:sp>
      <p:sp>
        <p:nvSpPr>
          <p:cNvPr id="11" name="Shape 9"/>
          <p:cNvSpPr/>
          <p:nvPr/>
        </p:nvSpPr>
        <p:spPr>
          <a:xfrm>
            <a:off x="457200" y="4781872"/>
            <a:ext cx="5562600" cy="1618932"/>
          </a:xfrm>
          <a:prstGeom prst="roundRect">
            <a:avLst>
              <a:gd name="adj" fmla="val 6276"/>
            </a:avLst>
          </a:prstGeom>
          <a:solidFill>
            <a:srgbClr val="EDF1F5"/>
          </a:solidFill>
          <a:ln/>
        </p:spPr>
      </p:sp>
      <p:sp>
        <p:nvSpPr>
          <p:cNvPr id="12" name="Shape 10"/>
          <p:cNvSpPr/>
          <p:nvPr/>
        </p:nvSpPr>
        <p:spPr>
          <a:xfrm>
            <a:off x="457200" y="4781872"/>
            <a:ext cx="5562600" cy="1618932"/>
          </a:xfrm>
          <a:custGeom>
            <a:avLst/>
            <a:gdLst/>
            <a:ahLst/>
            <a:cxnLst/>
            <a:rect l="l" t="t" r="r" b="b"/>
            <a:pathLst>
              <a:path w="5562600" h="1618932">
                <a:moveTo>
                  <a:pt x="101600" y="1618932"/>
                </a:moveTo>
                <a:lnTo>
                  <a:pt x="101600" y="1618932"/>
                </a:lnTo>
                <a:arcTo hR="101600" wR="101600" stAng="5400000" swAng="5400000"/>
                <a:lnTo>
                  <a:pt x="0" y="101600"/>
                </a:lnTo>
                <a:arcTo hR="101600" wR="101600" stAng="10800000" swAng="5400000"/>
                <a:lnTo>
                  <a:pt x="101600" y="0"/>
                </a:lnTo>
                <a:arcTo hR="101600" wR="63500" stAng="16200000" swAng="-5400000"/>
                <a:lnTo>
                  <a:pt x="38100" y="1517332"/>
                </a:lnTo>
                <a:arcTo hR="101600" wR="63500" stAng="10800000" swAng="-5400000"/>
                <a:close/>
              </a:path>
            </a:pathLst>
          </a:custGeom>
          <a:solidFill>
            <a:srgbClr val="1F5FBF"/>
          </a:solidFill>
          <a:ln/>
        </p:spPr>
      </p:sp>
      <p:sp>
        <p:nvSpPr>
          <p:cNvPr id="13" name="Text 11"/>
          <p:cNvSpPr/>
          <p:nvPr/>
        </p:nvSpPr>
        <p:spPr>
          <a:xfrm>
            <a:off x="695960" y="4959672"/>
            <a:ext cx="52742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[AutoData]</a:t>
            </a:r>
            <a:endParaRPr lang="en-US" sz="2000" dirty="0"/>
          </a:p>
        </p:txBody>
      </p:sp>
      <p:sp>
        <p:nvSpPr>
          <p:cNvPr id="14" name="Text 12"/>
          <p:cNvSpPr/>
          <p:nvPr/>
        </p:nvSpPr>
        <p:spPr>
          <a:xfrm>
            <a:off x="695960" y="5340672"/>
            <a:ext cx="527425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объекты-параметры теста создаются автоматически</a:t>
            </a:r>
            <a:endParaRPr lang="en-US" sz="1700" dirty="0"/>
          </a:p>
        </p:txBody>
      </p:sp>
      <p:sp>
        <p:nvSpPr>
          <p:cNvPr id="15" name="Shape 13"/>
          <p:cNvSpPr/>
          <p:nvPr/>
        </p:nvSpPr>
        <p:spPr>
          <a:xfrm>
            <a:off x="6172200" y="4781872"/>
            <a:ext cx="5562600" cy="1618932"/>
          </a:xfrm>
          <a:prstGeom prst="roundRect">
            <a:avLst>
              <a:gd name="adj" fmla="val 6276"/>
            </a:avLst>
          </a:prstGeom>
          <a:solidFill>
            <a:srgbClr val="EDF1F5"/>
          </a:solidFill>
          <a:ln/>
        </p:spPr>
      </p:sp>
      <p:sp>
        <p:nvSpPr>
          <p:cNvPr id="16" name="Shape 14"/>
          <p:cNvSpPr/>
          <p:nvPr/>
        </p:nvSpPr>
        <p:spPr>
          <a:xfrm>
            <a:off x="6172200" y="4781872"/>
            <a:ext cx="5562600" cy="1618932"/>
          </a:xfrm>
          <a:custGeom>
            <a:avLst/>
            <a:gdLst/>
            <a:ahLst/>
            <a:cxnLst/>
            <a:rect l="l" t="t" r="r" b="b"/>
            <a:pathLst>
              <a:path w="5562600" h="1618932">
                <a:moveTo>
                  <a:pt x="101600" y="1618932"/>
                </a:moveTo>
                <a:lnTo>
                  <a:pt x="101600" y="1618932"/>
                </a:lnTo>
                <a:arcTo hR="101600" wR="101600" stAng="5400000" swAng="5400000"/>
                <a:lnTo>
                  <a:pt x="0" y="101600"/>
                </a:lnTo>
                <a:arcTo hR="101600" wR="101600" stAng="10800000" swAng="5400000"/>
                <a:lnTo>
                  <a:pt x="101600" y="0"/>
                </a:lnTo>
                <a:arcTo hR="101600" wR="63500" stAng="16200000" swAng="-5400000"/>
                <a:lnTo>
                  <a:pt x="38100" y="1517332"/>
                </a:lnTo>
                <a:arcTo hR="101600" wR="63500" stAng="10800000" swAng="-5400000"/>
                <a:close/>
              </a:path>
            </a:pathLst>
          </a:custGeom>
          <a:solidFill>
            <a:srgbClr val="1A7F37"/>
          </a:solidFill>
          <a:ln/>
        </p:spPr>
      </p:sp>
      <p:sp>
        <p:nvSpPr>
          <p:cNvPr id="17" name="Text 15"/>
          <p:cNvSpPr/>
          <p:nvPr/>
        </p:nvSpPr>
        <p:spPr>
          <a:xfrm>
            <a:off x="6410960" y="4959672"/>
            <a:ext cx="52742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IBM Plex Sans" pitchFamily="34" charset="0"/>
                <a:ea typeface="IBM Plex Sans" pitchFamily="34" charset="-122"/>
                <a:cs typeface="IBM Plex Sans" pitchFamily="34" charset="-120"/>
              </a:rPr>
              <a:t>AutoMoq / AutoNSubstitute</a:t>
            </a:r>
            <a:endParaRPr lang="en-US" sz="2000" dirty="0"/>
          </a:p>
        </p:txBody>
      </p:sp>
      <p:sp>
        <p:nvSpPr>
          <p:cNvPr id="18" name="Text 16"/>
          <p:cNvSpPr/>
          <p:nvPr/>
        </p:nvSpPr>
        <p:spPr>
          <a:xfrm>
            <a:off x="6410960" y="5340672"/>
            <a:ext cx="527425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A4B5E"/>
                </a:solidFill>
                <a:latin typeface="IBM Plex Sans" pitchFamily="34" charset="0"/>
                <a:ea typeface="IBM Plex Sans" pitchFamily="34" charset="-122"/>
                <a:cs typeface="IBM Plex Sans" pitchFamily="34" charset="-120"/>
              </a:rPr>
              <a:t>кастомизации, которые подставляют моки вместо интерфейсов</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457200" y="508000"/>
            <a:ext cx="11615928" cy="292100"/>
          </a:xfrm>
          <a:prstGeom prst="rect">
            <a:avLst/>
          </a:prstGeom>
          <a:noFill/>
          <a:ln/>
        </p:spPr>
        <p:txBody>
          <a:bodyPr wrap="square" lIns="0" tIns="0" rIns="0" bIns="0" rtlCol="0" anchor="t">
            <a:normAutofit/>
          </a:bodyPr>
          <a:lstStyle/>
          <a:p>
            <a:pPr algn="l" indent="0" marL="0">
              <a:lnSpc>
                <a:spcPts val="2100"/>
              </a:lnSpc>
              <a:buNone/>
            </a:pPr>
            <a:r>
              <a:rPr lang="en-US" sz="1500" b="1" spc="150" kern="0" dirty="0">
                <a:solidFill>
                  <a:srgbClr val="1A7F37"/>
                </a:solidFill>
                <a:latin typeface="IBM Plex Sans" pitchFamily="34" charset="0"/>
                <a:ea typeface="IBM Plex Sans" pitchFamily="34" charset="-122"/>
                <a:cs typeface="IBM Plex Sans" pitchFamily="34" charset="-120"/>
              </a:rPr>
              <a:t>07 · ТЕСТОВЫЕ ДАННЫЕ</a:t>
            </a:r>
            <a:endParaRPr lang="en-US" sz="1500" dirty="0"/>
          </a:p>
        </p:txBody>
      </p:sp>
      <p:sp>
        <p:nvSpPr>
          <p:cNvPr id="3" name="Text 1"/>
          <p:cNvSpPr/>
          <p:nvPr>
            <p:ph type="title"/>
          </p:nvPr>
        </p:nvSpPr>
        <p:spPr>
          <a:xfrm>
            <a:off x="457200" y="838200"/>
            <a:ext cx="11615928"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A"/>
                </a:solidFill>
                <a:latin typeface="IBM Plex Sans" pitchFamily="34" charset="0"/>
                <a:ea typeface="IBM Plex Sans" pitchFamily="34" charset="-122"/>
                <a:cs typeface="IBM Plex Sans" pitchFamily="34" charset="-120"/>
              </a:rPr>
              <a:t>Что выбрать</a:t>
            </a:r>
            <a:endParaRPr lang="en-US" sz="3200" dirty="0"/>
          </a:p>
        </p:txBody>
      </p:sp>
      <p:sp>
        <p:nvSpPr>
          <p:cNvPr id="4" name="Shape 2"/>
          <p:cNvSpPr/>
          <p:nvPr/>
        </p:nvSpPr>
        <p:spPr>
          <a:xfrm>
            <a:off x="457200" y="1493535"/>
            <a:ext cx="11277600" cy="0"/>
          </a:xfrm>
          <a:prstGeom prst="line">
            <a:avLst/>
          </a:prstGeom>
          <a:noFill/>
          <a:ln w="10160">
            <a:solidFill>
              <a:srgbClr val="141413">
                <a:alpha val="22000"/>
              </a:srgbClr>
            </a:solidFill>
            <a:prstDash val="solid"/>
          </a:ln>
        </p:spPr>
      </p:sp>
      <p:sp>
        <p:nvSpPr>
          <p:cNvPr id="5" name="Shape 3"/>
          <p:cNvSpPr/>
          <p:nvPr/>
        </p:nvSpPr>
        <p:spPr>
          <a:xfrm>
            <a:off x="462280" y="1488455"/>
            <a:ext cx="0" cy="353568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600215"/>
          <a:ext cx="11013440" cy="3322320"/>
        </p:xfrm>
        <a:graphic>
          <a:graphicData uri="http://schemas.openxmlformats.org/drawingml/2006/table">
            <a:tbl>
              <a:tblPr/>
              <a:tblGrid>
                <a:gridCol w="1982419"/>
                <a:gridCol w="3083763"/>
                <a:gridCol w="2643226"/>
                <a:gridCol w="3304032"/>
              </a:tblGrid>
              <a:tr h="436880">
                <a:tc>
                  <a:txBody>
                    <a:bodyPr/>
                    <a:lstStyle/>
                    <a:p>
                      <a:pPr indent="0" marL="0">
                        <a:lnSpc>
                          <a:spcPts val="2240"/>
                        </a:lnSpc>
                        <a:buNone/>
                      </a:pPr>
                      <a:r>
                        <a:rPr lang="en-US" sz="1600" b="1" dirty="0">
                          <a:solidFill>
                            <a:srgbClr val="3A4B5E"/>
                          </a:solidFill>
                          <a:latin typeface="IBM Plex Sans" pitchFamily="34" charset="0"/>
                          <a:ea typeface="IBM Plex Sans" pitchFamily="34" charset="-122"/>
                          <a:cs typeface="IBM Plex Sans" pitchFamily="34" charset="-120"/>
                        </a:rPr>
                        <a:t>Подход</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c>
                  <a:txBody>
                    <a:bodyPr/>
                    <a:lstStyle/>
                    <a:p>
                      <a:pPr indent="0" marL="0">
                        <a:lnSpc>
                          <a:spcPts val="2240"/>
                        </a:lnSpc>
                        <a:buNone/>
                      </a:pPr>
                      <a:r>
                        <a:rPr lang="en-US" sz="1600" b="1" dirty="0">
                          <a:solidFill>
                            <a:srgbClr val="3A4B5E"/>
                          </a:solidFill>
                          <a:latin typeface="IBM Plex Sans" pitchFamily="34" charset="0"/>
                          <a:ea typeface="IBM Plex Sans" pitchFamily="34" charset="-122"/>
                          <a:cs typeface="IBM Plex Sans" pitchFamily="34" charset="-120"/>
                        </a:rPr>
                        <a:t>Как задаём данные</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9B9"/>
                      </a:solidFill>
                      <a:prstDash val="solid"/>
                      <a:round/>
                      <a:headEnd type="none" w="med" len="med"/>
                      <a:tailEnd type="none" w="med" len="med"/>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c>
                  <a:txBody>
                    <a:bodyPr/>
                    <a:lstStyle/>
                    <a:p>
                      <a:pPr indent="0" marL="0">
                        <a:lnSpc>
                          <a:spcPts val="2240"/>
                        </a:lnSpc>
                        <a:buNone/>
                      </a:pPr>
                      <a:r>
                        <a:rPr lang="en-US" sz="1600" b="1" dirty="0">
                          <a:solidFill>
                            <a:srgbClr val="3A4B5E"/>
                          </a:solidFill>
                          <a:latin typeface="IBM Plex Sans" pitchFamily="34" charset="0"/>
                          <a:ea typeface="IBM Plex Sans" pitchFamily="34" charset="-122"/>
                          <a:cs typeface="IBM Plex Sans" pitchFamily="34" charset="-120"/>
                        </a:rPr>
                        <a:t>Данные</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9B9"/>
                      </a:solidFill>
                      <a:prstDash val="solid"/>
                      <a:round/>
                      <a:headEnd type="none" w="med" len="med"/>
                      <a:tailEnd type="none" w="med" len="med"/>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c>
                  <a:txBody>
                    <a:bodyPr/>
                    <a:lstStyle/>
                    <a:p>
                      <a:pPr indent="0" marL="0">
                        <a:lnSpc>
                          <a:spcPts val="2240"/>
                        </a:lnSpc>
                        <a:buNone/>
                      </a:pPr>
                      <a:r>
                        <a:rPr lang="en-US" sz="1600" b="1" dirty="0">
                          <a:solidFill>
                            <a:srgbClr val="3A4B5E"/>
                          </a:solidFill>
                          <a:latin typeface="IBM Plex Sans" pitchFamily="34" charset="0"/>
                          <a:ea typeface="IBM Plex Sans" pitchFamily="34" charset="-122"/>
                          <a:cs typeface="IBM Plex Sans" pitchFamily="34" charset="-120"/>
                        </a:rPr>
                        <a:t>Когда брать</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9B9"/>
                      </a:solidFill>
                      <a:prstDash val="solid"/>
                      <a:round/>
                      <a:headEnd type="none" w="med" len="med"/>
                      <a:tailEnd type="none" w="med" len="med"/>
                    </a:lnL>
                    <a:lnR w="12700" cap="flat" cmpd="sng" algn="ctr">
                      <a:solidFill>
                        <a:srgbClr val="B8B9B9"/>
                      </a:solidFill>
                      <a:prstDash val="solid"/>
                      <a:round/>
                      <a:headEnd type="none" w="med" len="med"/>
                      <a:tailEnd type="none" w="med" len="med"/>
                    </a:lnR>
                    <a:lnT w="0" cap="flat" cmpd="sng" algn="ctr">
                      <a:noFill/>
                    </a:lnT>
                    <a:lnB w="12700" cap="flat" cmpd="sng" algn="ctr">
                      <a:solidFill>
                        <a:srgbClr val="B8B9B9"/>
                      </a:solidFill>
                      <a:prstDash val="solid"/>
                      <a:round/>
                      <a:headEnd type="none" w="med" len="med"/>
                      <a:tailEnd type="none" w="med" len="med"/>
                    </a:lnB>
                    <a:solidFill>
                      <a:srgbClr val="E6E8E8"/>
                    </a:solidFill>
                  </a:tcPr>
                </a:tc>
              </a:tr>
              <a:tr h="72136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Builder</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Свой класс, Build()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Любые, всегда валидные</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Сложные доменные объекты, без зависимостей</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B8B9B9"/>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72136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Bogus</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RuleFor на каждое поле</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Реалистичные</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Нужен контроль над значениями</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72136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AutoBogus</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Автоматически + RuleFor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Реалистичные по конвенциям</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Много полей и нужен реализм</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r h="721360">
                <a:tc>
                  <a:txBody>
                    <a:bodyPr/>
                    <a:lstStyle/>
                    <a:p>
                      <a:pPr indent="0" marL="0">
                        <a:lnSpc>
                          <a:spcPts val="2240"/>
                        </a:lnSpc>
                        <a:buNone/>
                      </a:pPr>
                      <a:r>
                        <a:rPr lang="en-US" sz="1600" dirty="0">
                          <a:solidFill>
                            <a:srgbClr val="13233A"/>
                          </a:solidFill>
                          <a:latin typeface="IBM Plex Sans" pitchFamily="34" charset="0"/>
                          <a:ea typeface="IBM Plex Sans" pitchFamily="34" charset="-122"/>
                          <a:cs typeface="IBM Plex Sans" pitchFamily="34" charset="-120"/>
                        </a:rPr>
                        <a:t>AutoFixture</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Автоматически</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Простые, нереалистичные</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c>
                  <a:txBody>
                    <a:bodyPr/>
                    <a:lstStyle/>
                    <a:p>
                      <a:pPr indent="0" marL="0">
                        <a:lnSpc>
                          <a:spcPts val="2240"/>
                        </a:lnSpc>
                        <a:buNone/>
                      </a:pPr>
                      <a:r>
                        <a:rPr lang="en-US" sz="1600" dirty="0">
                          <a:solidFill>
                            <a:srgbClr val="3A4B5E"/>
                          </a:solidFill>
                          <a:latin typeface="IBM Plex Sans" pitchFamily="34" charset="0"/>
                          <a:ea typeface="IBM Plex Sans" pitchFamily="34" charset="-122"/>
                          <a:cs typeface="IBM Plex Sans" pitchFamily="34" charset="-120"/>
                        </a:rPr>
                        <a:t>Быстро получить любые значения, [AutoData]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6C7C8"/>
                      </a:solidFill>
                      <a:prstDash val="solid"/>
                      <a:round/>
                      <a:headEnd type="none" w="med" len="med"/>
                      <a:tailEnd type="none" w="med" len="med"/>
                    </a:lnL>
                    <a:lnR w="12700" cap="flat" cmpd="sng" algn="ctr">
                      <a:solidFill>
                        <a:srgbClr val="C6C7C8"/>
                      </a:solidFill>
                      <a:prstDash val="solid"/>
                      <a:round/>
                      <a:headEnd type="none" w="med" len="med"/>
                      <a:tailEnd type="none" w="med" len="med"/>
                    </a:lnR>
                    <a:lnT w="12700" cap="flat" cmpd="sng" algn="ctr">
                      <a:solidFill>
                        <a:srgbClr val="C6C7C8"/>
                      </a:solidFill>
                      <a:prstDash val="solid"/>
                      <a:round/>
                      <a:headEnd type="none" w="med" len="med"/>
                      <a:tailEnd type="none" w="med" len="med"/>
                    </a:lnT>
                    <a:lnB w="12700" cap="flat" cmpd="sng" algn="ctr">
                      <a:solidFill>
                        <a:srgbClr val="C6C7C8"/>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5000">
                <a:srgbClr val="F8FAFB"/>
              </a:gs>
            </a:gsLst>
            <a:lin ang="1800000" scaled="0"/>
          </a:gradFill>
          <a:ln/>
        </p:spPr>
      </p:sp>
      <p:sp>
        <p:nvSpPr>
          <p:cNvPr id="3" name="Text 1"/>
          <p:cNvSpPr/>
          <p:nvPr>
            <p:ph type="title"/>
          </p:nvPr>
        </p:nvSpPr>
        <p:spPr>
          <a:xfrm>
            <a:off x="812800" y="635000"/>
            <a:ext cx="10883392" cy="580390"/>
          </a:xfrm>
          <a:prstGeom prst="rect">
            <a:avLst/>
          </a:prstGeom>
          <a:noFill/>
          <a:ln/>
        </p:spPr>
        <p:txBody>
          <a:bodyPr wrap="square" lIns="0" tIns="0" rIns="0" bIns="0" rtlCol="0" anchor="t">
            <a:normAutofit/>
          </a:bodyPr>
          <a:lstStyle/>
          <a:p>
            <a:pPr algn="l" indent="0" marL="0">
              <a:lnSpc>
                <a:spcPts val="4370"/>
              </a:lnSpc>
              <a:buNone/>
            </a:pPr>
            <a:r>
              <a:rPr lang="en-US" sz="3800" b="1" i="0" dirty="0">
                <a:solidFill>
                  <a:srgbClr val="13233A"/>
                </a:solidFill>
                <a:latin typeface="IBM Plex Sans" pitchFamily="34" charset="0"/>
                <a:ea typeface="IBM Plex Sans" pitchFamily="34" charset="-122"/>
                <a:cs typeface="IBM Plex Sans" pitchFamily="34" charset="-120"/>
              </a:rPr>
              <a:t>Заключение</a:t>
            </a:r>
            <a:endParaRPr lang="en-US" sz="3800" dirty="0"/>
          </a:p>
        </p:txBody>
      </p:sp>
      <p:pic>
        <p:nvPicPr>
          <p:cNvPr id="4" name="Image 0" descr="Check">    </p:cNvPr>
          <p:cNvPicPr>
            <a:picLocks noChangeAspect="1"/>
          </p:cNvPicPr>
          <p:nvPr/>
        </p:nvPicPr>
        <p:blipFill>
          <a:blip r:embed="rId1"/>
          <a:srcRect l="0" r="0" t="0" b="0"/>
          <a:stretch/>
        </p:blipFill>
        <p:spPr>
          <a:xfrm>
            <a:off x="812800" y="1439540"/>
            <a:ext cx="304800" cy="304800"/>
          </a:xfrm>
          <a:prstGeom prst="rect">
            <a:avLst/>
          </a:prstGeom>
        </p:spPr>
      </p:pic>
      <p:sp>
        <p:nvSpPr>
          <p:cNvPr id="5" name="Text 2"/>
          <p:cNvSpPr/>
          <p:nvPr/>
        </p:nvSpPr>
        <p:spPr>
          <a:xfrm>
            <a:off x="1270000" y="1418605"/>
            <a:ext cx="10922000" cy="372110"/>
          </a:xfrm>
          <a:prstGeom prst="rect">
            <a:avLst/>
          </a:prstGeom>
          <a:noFill/>
          <a:ln/>
        </p:spPr>
        <p:txBody>
          <a:bodyPr wrap="square" lIns="0" tIns="0" rIns="0" bIns="0" rtlCol="0" anchor="t">
            <a:normAutofit/>
          </a:bodyPr>
          <a:lstStyle/>
          <a:p>
            <a:pPr algn="l" indent="0" marL="0">
              <a:lnSpc>
                <a:spcPts val="2730"/>
              </a:lnSpc>
              <a:buNone/>
            </a:pPr>
            <a:r>
              <a:rPr lang="en-US" sz="2100" dirty="0">
                <a:solidFill>
                  <a:srgbClr val="13233A"/>
                </a:solidFill>
                <a:latin typeface="IBM Plex Sans" pitchFamily="34" charset="0"/>
                <a:ea typeface="IBM Plex Sans" pitchFamily="34" charset="-122"/>
                <a:cs typeface="IBM Plex Sans" pitchFamily="34" charset="-120"/>
              </a:rPr>
              <a:t>Основа пирамиды - быстрые и независимые unit-тесты на бизнес-логику</a:t>
            </a:r>
            <a:endParaRPr lang="en-US" sz="2100" dirty="0"/>
          </a:p>
        </p:txBody>
      </p:sp>
      <p:pic>
        <p:nvPicPr>
          <p:cNvPr id="6" name="Image 1" descr="Check">    </p:cNvPr>
          <p:cNvPicPr>
            <a:picLocks noChangeAspect="1"/>
          </p:cNvPicPr>
          <p:nvPr/>
        </p:nvPicPr>
        <p:blipFill>
          <a:blip r:embed="rId2"/>
          <a:srcRect l="0" r="0" t="0" b="0"/>
          <a:stretch/>
        </p:blipFill>
        <p:spPr>
          <a:xfrm>
            <a:off x="812800" y="1900560"/>
            <a:ext cx="304800" cy="304800"/>
          </a:xfrm>
          <a:prstGeom prst="rect">
            <a:avLst/>
          </a:prstGeom>
        </p:spPr>
      </p:pic>
      <p:sp>
        <p:nvSpPr>
          <p:cNvPr id="7" name="Text 3"/>
          <p:cNvSpPr/>
          <p:nvPr/>
        </p:nvSpPr>
        <p:spPr>
          <a:xfrm>
            <a:off x="1270000" y="1879600"/>
            <a:ext cx="10548557" cy="372110"/>
          </a:xfrm>
          <a:prstGeom prst="rect">
            <a:avLst/>
          </a:prstGeom>
          <a:noFill/>
          <a:ln/>
        </p:spPr>
        <p:txBody>
          <a:bodyPr wrap="square" lIns="0" tIns="0" rIns="0" bIns="0" rtlCol="0" anchor="t">
            <a:normAutofit/>
          </a:bodyPr>
          <a:lstStyle/>
          <a:p>
            <a:pPr algn="l" indent="0" marL="0">
              <a:lnSpc>
                <a:spcPts val="2730"/>
              </a:lnSpc>
              <a:buNone/>
            </a:pPr>
            <a:r>
              <a:rPr lang="en-US" sz="2100" dirty="0">
                <a:solidFill>
                  <a:srgbClr val="13233A"/>
                </a:solidFill>
                <a:latin typeface="IBM Plex Sans" pitchFamily="34" charset="0"/>
                <a:ea typeface="IBM Plex Sans" pitchFamily="34" charset="-122"/>
                <a:cs typeface="IBM Plex Sans" pitchFamily="34" charset="-120"/>
              </a:rPr>
              <a:t>Имя: метод_сценарий_результат; структура AAA (Given / When / Then)</a:t>
            </a:r>
            <a:endParaRPr lang="en-US" sz="2100" dirty="0"/>
          </a:p>
        </p:txBody>
      </p:sp>
      <p:pic>
        <p:nvPicPr>
          <p:cNvPr id="8" name="Image 2" descr="Check">    </p:cNvPr>
          <p:cNvPicPr>
            <a:picLocks noChangeAspect="1"/>
          </p:cNvPicPr>
          <p:nvPr/>
        </p:nvPicPr>
        <p:blipFill>
          <a:blip r:embed="rId3"/>
          <a:srcRect l="0" r="0" t="0" b="0"/>
          <a:stretch/>
        </p:blipFill>
        <p:spPr>
          <a:xfrm>
            <a:off x="812800" y="2361580"/>
            <a:ext cx="304800" cy="304800"/>
          </a:xfrm>
          <a:prstGeom prst="rect">
            <a:avLst/>
          </a:prstGeom>
        </p:spPr>
      </p:pic>
      <p:sp>
        <p:nvSpPr>
          <p:cNvPr id="9" name="Text 4"/>
          <p:cNvSpPr/>
          <p:nvPr/>
        </p:nvSpPr>
        <p:spPr>
          <a:xfrm>
            <a:off x="1270000" y="2340620"/>
            <a:ext cx="9479947" cy="372110"/>
          </a:xfrm>
          <a:prstGeom prst="rect">
            <a:avLst/>
          </a:prstGeom>
          <a:noFill/>
          <a:ln/>
        </p:spPr>
        <p:txBody>
          <a:bodyPr wrap="square" lIns="0" tIns="0" rIns="0" bIns="0" rtlCol="0" anchor="t">
            <a:normAutofit/>
          </a:bodyPr>
          <a:lstStyle/>
          <a:p>
            <a:pPr algn="l" indent="0" marL="0">
              <a:lnSpc>
                <a:spcPts val="2730"/>
              </a:lnSpc>
              <a:buNone/>
            </a:pPr>
            <a:r>
              <a:rPr lang="en-US" sz="2100" dirty="0">
                <a:solidFill>
                  <a:srgbClr val="13233A"/>
                </a:solidFill>
                <a:latin typeface="IBM Plex Sans" pitchFamily="34" charset="0"/>
                <a:ea typeface="IBM Plex Sans" pitchFamily="34" charset="-122"/>
                <a:cs typeface="IBM Plex Sans" pitchFamily="34" charset="-120"/>
              </a:rPr>
              <a:t>Один тест - один сценарий; никакой логики и «магии» в тестах</a:t>
            </a:r>
            <a:endParaRPr lang="en-US" sz="2100" dirty="0"/>
          </a:p>
        </p:txBody>
      </p:sp>
      <p:pic>
        <p:nvPicPr>
          <p:cNvPr id="10" name="Image 3" descr="Check">    </p:cNvPr>
          <p:cNvPicPr>
            <a:picLocks noChangeAspect="1"/>
          </p:cNvPicPr>
          <p:nvPr/>
        </p:nvPicPr>
        <p:blipFill>
          <a:blip r:embed="rId4"/>
          <a:srcRect l="0" r="0" t="0" b="0"/>
          <a:stretch/>
        </p:blipFill>
        <p:spPr>
          <a:xfrm>
            <a:off x="812800" y="2822575"/>
            <a:ext cx="304800" cy="304800"/>
          </a:xfrm>
          <a:prstGeom prst="rect">
            <a:avLst/>
          </a:prstGeom>
        </p:spPr>
      </p:pic>
      <p:sp>
        <p:nvSpPr>
          <p:cNvPr id="11" name="Text 5"/>
          <p:cNvSpPr/>
          <p:nvPr/>
        </p:nvSpPr>
        <p:spPr>
          <a:xfrm>
            <a:off x="1270000" y="2801615"/>
            <a:ext cx="10061163" cy="372110"/>
          </a:xfrm>
          <a:prstGeom prst="rect">
            <a:avLst/>
          </a:prstGeom>
          <a:noFill/>
          <a:ln/>
        </p:spPr>
        <p:txBody>
          <a:bodyPr wrap="square" lIns="0" tIns="0" rIns="0" bIns="0" rtlCol="0" anchor="t">
            <a:normAutofit/>
          </a:bodyPr>
          <a:lstStyle/>
          <a:p>
            <a:pPr algn="l" indent="0" marL="0">
              <a:lnSpc>
                <a:spcPts val="2730"/>
              </a:lnSpc>
              <a:buNone/>
            </a:pPr>
            <a:r>
              <a:rPr lang="en-US" sz="2100" dirty="0">
                <a:solidFill>
                  <a:srgbClr val="13233A"/>
                </a:solidFill>
                <a:latin typeface="IBM Plex Sans" pitchFamily="34" charset="0"/>
                <a:ea typeface="IBM Plex Sans" pitchFamily="34" charset="-122"/>
                <a:cs typeface="IBM Plex Sans" pitchFamily="34" charset="-120"/>
              </a:rPr>
              <a:t>Время, БД и сервисы - через абстракции и моки (Moq, NSubstitute)</a:t>
            </a:r>
            <a:endParaRPr lang="en-US" sz="2100" dirty="0"/>
          </a:p>
        </p:txBody>
      </p:sp>
      <p:pic>
        <p:nvPicPr>
          <p:cNvPr id="12" name="Image 4" descr="Check">    </p:cNvPr>
          <p:cNvPicPr>
            <a:picLocks noChangeAspect="1"/>
          </p:cNvPicPr>
          <p:nvPr/>
        </p:nvPicPr>
        <p:blipFill>
          <a:blip r:embed="rId5"/>
          <a:srcRect l="0" r="0" t="0" b="0"/>
          <a:stretch/>
        </p:blipFill>
        <p:spPr>
          <a:xfrm>
            <a:off x="812800" y="3283595"/>
            <a:ext cx="304800" cy="304800"/>
          </a:xfrm>
          <a:prstGeom prst="rect">
            <a:avLst/>
          </a:prstGeom>
        </p:spPr>
      </p:pic>
      <p:sp>
        <p:nvSpPr>
          <p:cNvPr id="13" name="Text 6"/>
          <p:cNvSpPr/>
          <p:nvPr/>
        </p:nvSpPr>
        <p:spPr>
          <a:xfrm>
            <a:off x="1270000" y="3262635"/>
            <a:ext cx="10665048" cy="372110"/>
          </a:xfrm>
          <a:prstGeom prst="rect">
            <a:avLst/>
          </a:prstGeom>
          <a:noFill/>
          <a:ln/>
        </p:spPr>
        <p:txBody>
          <a:bodyPr wrap="square" lIns="0" tIns="0" rIns="0" bIns="0" rtlCol="0" anchor="t">
            <a:normAutofit/>
          </a:bodyPr>
          <a:lstStyle/>
          <a:p>
            <a:pPr algn="l" indent="0" marL="0">
              <a:lnSpc>
                <a:spcPts val="2730"/>
              </a:lnSpc>
              <a:buNone/>
            </a:pPr>
            <a:r>
              <a:rPr lang="en-US" sz="2100" dirty="0">
                <a:solidFill>
                  <a:srgbClr val="13233A"/>
                </a:solidFill>
                <a:latin typeface="IBM Plex Sans" pitchFamily="34" charset="0"/>
                <a:ea typeface="IBM Plex Sans" pitchFamily="34" charset="-122"/>
                <a:cs typeface="IBM Plex Sans" pitchFamily="34" charset="-120"/>
              </a:rPr>
              <a:t>Тестовые данные - Builder или фейкеры: Bogus, AutoBogus, AutoFixture</a:t>
            </a:r>
            <a:endParaRPr lang="en-US" sz="2100" dirty="0"/>
          </a:p>
        </p:txBody>
      </p:sp>
    </p:spTree>
  </p:cSld>
  <p:clrMapOvr>
    <a:masterClrMapping/>
  </p:clrMapOvr>
</p:sld>
</file>

<file path=ppt/theme/theme1.xml><?xml version="1.0" encoding="utf-8"?>
<a:theme xmlns:a="http://schemas.openxmlformats.org/drawingml/2006/main" name="Unit-тестирование в C#">
  <a:themeElements>
    <a:clrScheme name="Unit-тестирование в C#">
      <a:dk1>
        <a:srgbClr val="13233A"/>
      </a:dk1>
      <a:lt1>
        <a:srgbClr val="F8FAFB"/>
      </a:lt1>
      <a:dk2>
        <a:srgbClr val="4C596A"/>
      </a:dk2>
      <a:lt2>
        <a:srgbClr val="E1E5E8"/>
      </a:lt2>
      <a:accent1>
        <a:srgbClr val="1A7F37"/>
      </a:accent1>
      <a:accent2>
        <a:srgbClr val="B85400"/>
      </a:accent2>
      <a:accent3>
        <a:srgbClr val="1F5FBF"/>
      </a:accent3>
      <a:accent4>
        <a:srgbClr val="A31515"/>
      </a:accent4>
      <a:accent5>
        <a:srgbClr val="127C7C"/>
      </a:accent5>
      <a:accent6>
        <a:srgbClr val="7FDB8A"/>
      </a:accent6>
      <a:hlink>
        <a:srgbClr val="0563C1"/>
      </a:hlink>
      <a:folHlink>
        <a:srgbClr val="954F72"/>
      </a:folHlink>
    </a:clrScheme>
    <a:fontScheme name="Unit-тестирование в C#">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Unit-тестирование в C#</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2026-10-25T13:01:57Z</dcterms:created>
  <dcterms:modified xsi:type="dcterms:W3CDTF">2026-10-25T13:01:57Z</dcterms:modified>
</cp:coreProperties>
</file>