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Unit-тесты = модульные тесты. Selenium - автотесты GUI, или end-to-end тесты, которые проверяют работу всего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Длинное имя теста - это нормально. Главное, чтобы оно отражало проверяемый сценарий.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По-русски: Организуй - Действуй - Утверждай.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Также важна детерминированность: тест должен давать одинаковый результат при каждом запуске - никаких случайных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оригинальном слайде в метод передавался сам Mock и использовался Assert.Equals - здесь исправлено на .Object и Assert.Equal, чтобы код компилировался.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Unit-тест на контроллер можно написать, если там есть сложная логика, но лучше такого избегать - контроллер просто координирует. Используют NUnit, xUnit и MSTest; исторически популярнее стал xUnit.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лекции в Dispose вызывался stack.Dispose(), но Stack&lt;T&gt; не реализует IDisposable - заменено на Clear().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Подробнее про фикстуры - в документации xUnit, раздел Shared Context between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NUnit 4 классические проверки вида Assert.AreEqual вынесены в ClassicAssert; рекомендуемый стиль - Assert.That с constraint-ами (Is.EqualTo, Is.Null, Has.Count и т.д.).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[TestFixture] в NUnit писать необязательно: это нужно только для параметризованных или generic-классов. Assert.Throws&lt;T&gt; выглядит одинаково в обоих фреймворках.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Assert - класс со статическими методами. У большинства есть пара-отрицание: NotEqual, NotSame, DoesNotContain, NotInRange, NotEmpty, IsNotType, NotNull. На практике чаще используют FluentAssertions.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Проверки читаются как естественный текст, а сообщения об ошибках подробные. Важно: начиная с версии 8 FluentAssertions распространяется по платной лицензии для коммерческого использования; бесплатная альтернатива - форк AwesomeAssertions или версия 7.x.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кода справа составлен для иллюстрации схемы из лекции, его не было на слайдах. Сложные вычисления проверяем сравнением с ответом, посчитанным вручную, через InlineData.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Moq 4.20 (август 2023) включал SponsorLink, который собирал хэши email разработчиков при сборке; после критики это убрали, но часть сообщества перешла на NSubstitute. Для исключений в NSubstitute есть Throws() из пространства имён NSubstitute.ExceptionExtensions.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Bogus по умолчанию требует конструктор без параметров. Если его нет - используем CustomInstantiator.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Очень мощная библиотека с множеством расширений. Учтите: оригинальный пакет AutoBogus давно не обновляется, у него есть поддерживаемые форки.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Кастомизации AutoFixture.AutoMoq и AutoFixture.AutoNSubstitute добавлены от себя: new Fixture().Customize(new AutoMoqCustomization()) - тогда для интерфейсов автоматически создаются моки.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57200" y="838200"/>
            <a:ext cx="112776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57200" y="1590040"/>
            <a:ext cx="10922000" cy="445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457200" y="838200"/>
            <a:ext cx="112776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457200" y="1590040"/>
            <a:ext cx="10922000" cy="445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55000">
                <a:srgbClr val="F8FAFB"/>
              </a:gs>
              <a:gs pos="100000">
                <a:srgbClr val="DCEFE1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7302500" y="1905000"/>
            <a:ext cx="4316730" cy="316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b="1" dirty="0">
                <a:solidFill>
                  <a:srgbClr val="C9DEC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[Fact]</a:t>
            </a:r>
            <a:endParaRPr lang="en-US" sz="7500" dirty="0"/>
          </a:p>
          <a:p>
            <a:pPr algn="l" indent="0" marL="0">
              <a:lnSpc>
                <a:spcPts val="8250"/>
              </a:lnSpc>
              <a:buNone/>
            </a:pPr>
            <a:r>
              <a:rPr lang="en-US" sz="7500" b="1" dirty="0">
                <a:solidFill>
                  <a:srgbClr val="C9DEC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[Theory]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812800" y="1041956"/>
            <a:ext cx="762000" cy="6350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334056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spc="2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НА C#</a:t>
            </a:r>
            <a:endParaRPr lang="en-US" sz="17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1864916"/>
            <a:ext cx="7194550" cy="2434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24"/>
              </a:lnSpc>
              <a:buNone/>
            </a:pPr>
            <a:r>
              <a:rPr lang="en-US" sz="6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Unit-тестирование</a:t>
            </a:r>
            <a:endParaRPr lang="en-US" sz="6200" dirty="0"/>
          </a:p>
          <a:p>
            <a:pPr algn="l" indent="0" marL="0">
              <a:lnSpc>
                <a:spcPts val="6324"/>
              </a:lnSpc>
              <a:buNone/>
            </a:pPr>
            <a:r>
              <a:rPr lang="en-US" sz="6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C#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12800" y="4502864"/>
            <a:ext cx="65405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Пирамида тестов, best practices, TDD, xUnit, Assertions, моки и тестовые данные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12800" y="5478225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Юрий Уфимцев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57200" y="5080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чём поговорим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5824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4" name="Text 2"/>
          <p:cNvSpPr/>
          <p:nvPr/>
        </p:nvSpPr>
        <p:spPr>
          <a:xfrm>
            <a:off x="660400" y="136144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0400" y="2872740"/>
            <a:ext cx="236766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0400" y="3215640"/>
            <a:ext cx="25019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пирамида тестов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14700" y="115824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8" name="Text 6"/>
          <p:cNvSpPr/>
          <p:nvPr/>
        </p:nvSpPr>
        <p:spPr>
          <a:xfrm>
            <a:off x="3517900" y="136144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17900" y="2588260"/>
            <a:ext cx="236766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17900" y="2931160"/>
            <a:ext cx="23676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заглушки и best practices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15824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136144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75400" y="2872740"/>
            <a:ext cx="236766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75400" y="3215640"/>
            <a:ext cx="25019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через тесты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29700" y="115824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16" name="Text 14"/>
          <p:cNvSpPr/>
          <p:nvPr/>
        </p:nvSpPr>
        <p:spPr>
          <a:xfrm>
            <a:off x="9232900" y="136144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32900" y="2872740"/>
            <a:ext cx="236766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Unit-тесты в C#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2900" y="3215640"/>
            <a:ext cx="236766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фреймворки и xUnit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5572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660400" y="405892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0400" y="5285740"/>
            <a:ext cx="236766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0400" y="5628640"/>
            <a:ext cx="23676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и FluentAssertions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14700" y="385572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24" name="Text 22"/>
          <p:cNvSpPr/>
          <p:nvPr/>
        </p:nvSpPr>
        <p:spPr>
          <a:xfrm>
            <a:off x="3517900" y="405892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517900" y="5570220"/>
            <a:ext cx="236766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Моки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17900" y="5913120"/>
            <a:ext cx="236766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 и NSubstitute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0" y="3855720"/>
            <a:ext cx="2705100" cy="2545080"/>
          </a:xfrm>
          <a:prstGeom prst="roundRect">
            <a:avLst>
              <a:gd name="adj" fmla="val 4990"/>
            </a:avLst>
          </a:prstGeom>
          <a:solidFill>
            <a:srgbClr val="EDF1F5"/>
          </a:solidFill>
          <a:ln/>
        </p:spPr>
      </p:sp>
      <p:sp>
        <p:nvSpPr>
          <p:cNvPr id="28" name="Text 26"/>
          <p:cNvSpPr/>
          <p:nvPr/>
        </p:nvSpPr>
        <p:spPr>
          <a:xfrm>
            <a:off x="6375400" y="4058920"/>
            <a:ext cx="23676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375400" y="5285740"/>
            <a:ext cx="25019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данные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75400" y="5628640"/>
            <a:ext cx="23676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Builder, Bogus, AutoFixture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61"/>
            <a:ext cx="630651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41"/>
            <a:ext cx="73473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тестировать и как устроена пирамида тестов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ТЕСТИРОВАНИЕ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тестирование?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50261"/>
            <a:ext cx="5624830" cy="121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ПО</a:t>
            </a:r>
            <a:r>
              <a:rPr lang="en-US" sz="2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процесс испытания программного продукта, имеющий различные цели.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73800" y="2236470"/>
            <a:ext cx="5461000" cy="601980"/>
          </a:xfrm>
          <a:prstGeom prst="roundRect">
            <a:avLst>
              <a:gd name="adj" fmla="val 14768"/>
            </a:avLst>
          </a:prstGeom>
          <a:solidFill>
            <a:srgbClr val="EDF1F5"/>
          </a:solidFill>
          <a:ln/>
        </p:spPr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51600" y="2410461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32600" y="2388870"/>
            <a:ext cx="306876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Обнаружение дефектов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73800" y="2940050"/>
            <a:ext cx="5461000" cy="601980"/>
          </a:xfrm>
          <a:prstGeom prst="roundRect">
            <a:avLst>
              <a:gd name="adj" fmla="val 14768"/>
            </a:avLst>
          </a:prstGeom>
          <a:solidFill>
            <a:srgbClr val="EDF1F5"/>
          </a:solidFill>
          <a:ln/>
        </p:spPr>
      </p:sp>
      <p:pic>
        <p:nvPicPr>
          <p:cNvPr id="9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1600" y="3114041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2600" y="3092450"/>
            <a:ext cx="400993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Уверенность в уровне качества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273800" y="3643630"/>
            <a:ext cx="5461000" cy="601980"/>
          </a:xfrm>
          <a:prstGeom prst="roundRect">
            <a:avLst>
              <a:gd name="adj" fmla="val 14768"/>
            </a:avLst>
          </a:prstGeom>
          <a:solidFill>
            <a:srgbClr val="EDF1F5"/>
          </a:solidFill>
          <a:ln/>
        </p:spPr>
      </p:sp>
      <p:pic>
        <p:nvPicPr>
          <p:cNvPr id="12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1600" y="3817620"/>
            <a:ext cx="254000" cy="254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32600" y="3796030"/>
            <a:ext cx="469439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для принятия решений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73800" y="4347211"/>
            <a:ext cx="5461000" cy="601980"/>
          </a:xfrm>
          <a:prstGeom prst="roundRect">
            <a:avLst>
              <a:gd name="adj" fmla="val 14768"/>
            </a:avLst>
          </a:prstGeom>
          <a:solidFill>
            <a:srgbClr val="EDF1F5"/>
          </a:solidFill>
          <a:ln/>
        </p:spPr>
      </p:sp>
      <p:pic>
        <p:nvPicPr>
          <p:cNvPr id="15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1600" y="4521200"/>
            <a:ext cx="254000" cy="254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32600" y="4499611"/>
            <a:ext cx="3522917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Предотвращение дефектов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6273800" y="5050791"/>
            <a:ext cx="5461000" cy="601980"/>
          </a:xfrm>
          <a:prstGeom prst="roundRect">
            <a:avLst>
              <a:gd name="adj" fmla="val 14768"/>
            </a:avLst>
          </a:prstGeom>
          <a:solidFill>
            <a:srgbClr val="EDF1F5"/>
          </a:solidFill>
          <a:ln/>
        </p:spPr>
      </p:sp>
      <p:pic>
        <p:nvPicPr>
          <p:cNvPr id="18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51600" y="5224780"/>
            <a:ext cx="254000" cy="254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32600" y="5203191"/>
            <a:ext cx="49022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соответствия требованиям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ТЕСТИРОВАНИЕ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Пирамида тестирования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41550" y="2627632"/>
            <a:ext cx="2146300" cy="607060"/>
          </a:xfrm>
          <a:prstGeom prst="roundRect">
            <a:avLst>
              <a:gd name="adj" fmla="val 11506"/>
            </a:avLst>
          </a:prstGeom>
          <a:noFill/>
          <a:ln w="12700">
            <a:solidFill>
              <a:srgbClr val="8A9AAA"/>
            </a:solidFill>
            <a:prstDash val="dash"/>
          </a:ln>
        </p:spPr>
        <p:txBody>
          <a:bodyPr wrap="square" lIns="108243" tIns="123052" rIns="108243" bIns="97652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3317239"/>
            <a:ext cx="3429000" cy="599440"/>
          </a:xfrm>
          <a:prstGeom prst="roundRect">
            <a:avLst>
              <a:gd name="adj" fmla="val 12712"/>
            </a:avLst>
          </a:prstGeom>
          <a:solidFill>
            <a:srgbClr val="1F5FBF"/>
          </a:solidFill>
          <a:ln/>
        </p:spPr>
        <p:txBody>
          <a:bodyPr wrap="square" lIns="83219" tIns="117382" rIns="83219" bIns="91982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DFD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/ E2E · Selenium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3992882"/>
            <a:ext cx="4572000" cy="599440"/>
          </a:xfrm>
          <a:prstGeom prst="roundRect">
            <a:avLst>
              <a:gd name="adj" fmla="val 12712"/>
            </a:avLst>
          </a:prstGeom>
          <a:solidFill>
            <a:srgbClr val="127C7C"/>
          </a:solidFill>
          <a:ln/>
        </p:spPr>
        <p:txBody>
          <a:bodyPr wrap="square" lIns="66074" tIns="117382" rIns="66074" bIns="91982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DFD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Интеграционные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8521"/>
            <a:ext cx="5715000" cy="599440"/>
          </a:xfrm>
          <a:prstGeom prst="roundRect">
            <a:avLst>
              <a:gd name="adj" fmla="val 12712"/>
            </a:avLst>
          </a:prstGeom>
          <a:solidFill>
            <a:srgbClr val="1A7F37"/>
          </a:solidFill>
          <a:ln/>
        </p:spPr>
        <p:txBody>
          <a:bodyPr wrap="square" lIns="48929" tIns="117382" rIns="48929" bIns="91982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DFD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(модульные)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77000" y="1805939"/>
            <a:ext cx="52578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6477000" y="1805939"/>
            <a:ext cx="5257800" cy="1341120"/>
          </a:xfrm>
          <a:custGeom>
            <a:avLst/>
            <a:gdLst/>
            <a:ahLst/>
            <a:cxnLst/>
            <a:rect l="l" t="t" r="r" b="b"/>
            <a:pathLst>
              <a:path w="52578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715760" y="1983739"/>
            <a:ext cx="49603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Снизу вверх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15760" y="2364739"/>
            <a:ext cx="4960315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ПО - движение по пирамиде снизу вверх.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77000" y="3274061"/>
            <a:ext cx="52578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3274061"/>
            <a:ext cx="5257800" cy="1341120"/>
          </a:xfrm>
          <a:custGeom>
            <a:avLst/>
            <a:gdLst/>
            <a:ahLst/>
            <a:cxnLst/>
            <a:rect l="l" t="t" r="r" b="b"/>
            <a:pathLst>
              <a:path w="52578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715760" y="3451861"/>
            <a:ext cx="49603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Выше - дороже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15760" y="3832861"/>
            <a:ext cx="4960315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выше уровень, тем тесты сложнее, дороже и медленнее; дольше ищется регресс.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77000" y="4742182"/>
            <a:ext cx="52578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7000" y="4742182"/>
            <a:ext cx="5257800" cy="1341120"/>
          </a:xfrm>
          <a:custGeom>
            <a:avLst/>
            <a:gdLst/>
            <a:ahLst/>
            <a:cxnLst/>
            <a:rect l="l" t="t" r="r" b="b"/>
            <a:pathLst>
              <a:path w="52578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715760" y="4919982"/>
            <a:ext cx="49603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дублирования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15760" y="5300982"/>
            <a:ext cx="4960315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верхнего уровня не перепроверяют нижние.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ТЕСТИРОВАНИЕ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Уровни автотестов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39"/>
            <a:ext cx="3640614" cy="4912360"/>
          </a:xfrm>
          <a:prstGeom prst="roundRect">
            <a:avLst>
              <a:gd name="adj" fmla="val 3488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8439"/>
            <a:ext cx="3640614" cy="4912360"/>
          </a:xfrm>
          <a:custGeom>
            <a:avLst/>
            <a:gdLst/>
            <a:ahLst/>
            <a:cxnLst/>
            <a:rect l="l" t="t" r="r" b="b"/>
            <a:pathLst>
              <a:path w="3640614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513614" y="0"/>
                </a:lnTo>
                <a:arcTo hR="127000" wR="127000" stAng="16200000" swAng="5400000"/>
                <a:lnTo>
                  <a:pt x="3640614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778000"/>
            <a:ext cx="32265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7334" y="2265682"/>
            <a:ext cx="3162838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 классы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Очень простые и быстрые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больше всего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зависят от других модулей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показывают регресс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5614" y="1488439"/>
            <a:ext cx="3640693" cy="4912360"/>
          </a:xfrm>
          <a:prstGeom prst="roundRect">
            <a:avLst>
              <a:gd name="adj" fmla="val 3488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275614" y="1488439"/>
            <a:ext cx="3640693" cy="4912360"/>
          </a:xfrm>
          <a:custGeom>
            <a:avLst/>
            <a:gdLst/>
            <a:ahLst/>
            <a:cxnLst/>
            <a:rect l="l" t="t" r="r" b="b"/>
            <a:pathLst>
              <a:path w="3640693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513693" y="0"/>
                </a:lnTo>
                <a:arcTo hR="127000" wR="127000" stAng="16200000" swAng="5400000"/>
                <a:lnTo>
                  <a:pt x="364069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27C7C"/>
          </a:solidFill>
          <a:ln/>
        </p:spPr>
      </p:sp>
      <p:sp>
        <p:nvSpPr>
          <p:cNvPr id="10" name="Text 8"/>
          <p:cNvSpPr/>
          <p:nvPr/>
        </p:nvSpPr>
        <p:spPr>
          <a:xfrm>
            <a:off x="4529614" y="1778000"/>
            <a:ext cx="322667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Интеграционные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85748" y="2265682"/>
            <a:ext cx="316292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 компонентов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зависимости: БД, сеть, другие сервисы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4107" y="1488439"/>
            <a:ext cx="3640693" cy="4912360"/>
          </a:xfrm>
          <a:prstGeom prst="roundRect">
            <a:avLst>
              <a:gd name="adj" fmla="val 3488"/>
            </a:avLst>
          </a:prstGeom>
          <a:solidFill>
            <a:srgbClr val="ED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4107" y="1488439"/>
            <a:ext cx="3640693" cy="4912360"/>
          </a:xfrm>
          <a:custGeom>
            <a:avLst/>
            <a:gdLst/>
            <a:ahLst/>
            <a:cxnLst/>
            <a:rect l="l" t="t" r="r" b="b"/>
            <a:pathLst>
              <a:path w="3640693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513693" y="0"/>
                </a:lnTo>
                <a:arcTo hR="127000" wR="127000" stAng="16200000" swAng="5400000"/>
                <a:lnTo>
                  <a:pt x="364069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348107" y="1778000"/>
            <a:ext cx="322667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04241" y="2265682"/>
            <a:ext cx="316292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приложение целиком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пользователя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пишут QA-инженеры</a:t>
            </a:r>
            <a:endParaRPr lang="en-US" sz="1800" dirty="0"/>
          </a:p>
          <a:p>
            <a:pPr algn="l" marL="197866" indent="-1978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Пишут, когда продукт достиг нужного качества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61"/>
            <a:ext cx="722602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39"/>
            <a:ext cx="84186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это, какие бывают заглушки и как писать тесты хорошо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39"/>
            <a:ext cx="11615928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Unit-тестирование</a:t>
            </a:r>
            <a:r>
              <a:rPr lang="en-US" sz="22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проверка работоспособности отдельных функциональных модулей, процессов или частей кода приложения.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927600"/>
            <a:ext cx="1161592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считается «юнитом»: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450842"/>
            <a:ext cx="2133600" cy="949960"/>
          </a:xfrm>
          <a:prstGeom prst="roundRect">
            <a:avLst>
              <a:gd name="adj" fmla="val 10695"/>
            </a:avLst>
          </a:prstGeom>
          <a:solidFill>
            <a:srgbClr val="EDF1F5"/>
          </a:solidFill>
          <a:ln/>
        </p:spPr>
        <p:txBody>
          <a:bodyPr wrap="square" lIns="42886" tIns="249642" rIns="42886" bIns="25980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5450842"/>
            <a:ext cx="2133600" cy="949960"/>
          </a:xfrm>
          <a:custGeom>
            <a:avLst/>
            <a:gdLst/>
            <a:ahLst/>
            <a:cxnLst/>
            <a:rect l="l" t="t" r="r" b="b"/>
            <a:pathLst>
              <a:path w="2133600" h="949960">
                <a:moveTo>
                  <a:pt x="2133600" y="848360"/>
                </a:moveTo>
                <a:lnTo>
                  <a:pt x="2133600" y="848360"/>
                </a:lnTo>
                <a:arcTo hR="101600" wR="101600" stAng="0" swAng="5400000"/>
                <a:lnTo>
                  <a:pt x="101600" y="949960"/>
                </a:lnTo>
                <a:arcTo hR="101600" wR="101600" stAng="5400000" swAng="5400000"/>
                <a:lnTo>
                  <a:pt x="0" y="848360"/>
                </a:lnTo>
                <a:arcTo hR="63500" wR="101600" stAng="10800000" swAng="-5400000"/>
                <a:lnTo>
                  <a:pt x="2032000" y="911860"/>
                </a:lnTo>
                <a:arcTo hR="63500" wR="101600" stAng="54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5450842"/>
            <a:ext cx="2133600" cy="949960"/>
          </a:xfrm>
          <a:prstGeom prst="roundRect">
            <a:avLst>
              <a:gd name="adj" fmla="val 10695"/>
            </a:avLst>
          </a:prstGeom>
          <a:solidFill>
            <a:srgbClr val="EDF1F5"/>
          </a:solidFill>
          <a:ln/>
        </p:spPr>
        <p:txBody>
          <a:bodyPr wrap="square" lIns="42886" tIns="249642" rIns="42886" bIns="25980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5450842"/>
            <a:ext cx="2133600" cy="949960"/>
          </a:xfrm>
          <a:custGeom>
            <a:avLst/>
            <a:gdLst/>
            <a:ahLst/>
            <a:cxnLst/>
            <a:rect l="l" t="t" r="r" b="b"/>
            <a:pathLst>
              <a:path w="2133600" h="949960">
                <a:moveTo>
                  <a:pt x="2133600" y="848360"/>
                </a:moveTo>
                <a:lnTo>
                  <a:pt x="2133600" y="848360"/>
                </a:lnTo>
                <a:arcTo hR="101600" wR="101600" stAng="0" swAng="5400000"/>
                <a:lnTo>
                  <a:pt x="101600" y="949960"/>
                </a:lnTo>
                <a:arcTo hR="101600" wR="101600" stAng="5400000" swAng="5400000"/>
                <a:lnTo>
                  <a:pt x="0" y="848360"/>
                </a:lnTo>
                <a:arcTo hR="63500" wR="101600" stAng="10800000" swAng="-5400000"/>
                <a:lnTo>
                  <a:pt x="2032000" y="911860"/>
                </a:lnTo>
                <a:arcTo hR="63500" wR="101600" stAng="54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5450842"/>
            <a:ext cx="2133600" cy="949960"/>
          </a:xfrm>
          <a:prstGeom prst="roundRect">
            <a:avLst>
              <a:gd name="adj" fmla="val 10695"/>
            </a:avLst>
          </a:prstGeom>
          <a:solidFill>
            <a:srgbClr val="EDF1F5"/>
          </a:solidFill>
          <a:ln/>
        </p:spPr>
        <p:txBody>
          <a:bodyPr wrap="square" lIns="42886" tIns="249642" rIns="42886" bIns="25980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5450842"/>
            <a:ext cx="2133600" cy="949960"/>
          </a:xfrm>
          <a:custGeom>
            <a:avLst/>
            <a:gdLst/>
            <a:ahLst/>
            <a:cxnLst/>
            <a:rect l="l" t="t" r="r" b="b"/>
            <a:pathLst>
              <a:path w="2133600" h="949960">
                <a:moveTo>
                  <a:pt x="2133600" y="848360"/>
                </a:moveTo>
                <a:lnTo>
                  <a:pt x="2133600" y="848360"/>
                </a:lnTo>
                <a:arcTo hR="101600" wR="101600" stAng="0" swAng="5400000"/>
                <a:lnTo>
                  <a:pt x="101600" y="949960"/>
                </a:lnTo>
                <a:arcTo hR="101600" wR="101600" stAng="5400000" swAng="5400000"/>
                <a:lnTo>
                  <a:pt x="0" y="848360"/>
                </a:lnTo>
                <a:arcTo hR="63500" wR="101600" stAng="10800000" swAng="-5400000"/>
                <a:lnTo>
                  <a:pt x="2032000" y="911860"/>
                </a:lnTo>
                <a:arcTo hR="63500" wR="101600" stAng="54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5450842"/>
            <a:ext cx="2133600" cy="949960"/>
          </a:xfrm>
          <a:prstGeom prst="roundRect">
            <a:avLst>
              <a:gd name="adj" fmla="val 10695"/>
            </a:avLst>
          </a:prstGeom>
          <a:solidFill>
            <a:srgbClr val="EDF1F5"/>
          </a:solidFill>
          <a:ln/>
        </p:spPr>
        <p:txBody>
          <a:bodyPr wrap="square" lIns="42886" tIns="249642" rIns="42886" bIns="25980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процедура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0" y="5450842"/>
            <a:ext cx="2133600" cy="949960"/>
          </a:xfrm>
          <a:custGeom>
            <a:avLst/>
            <a:gdLst/>
            <a:ahLst/>
            <a:cxnLst/>
            <a:rect l="l" t="t" r="r" b="b"/>
            <a:pathLst>
              <a:path w="2133600" h="949960">
                <a:moveTo>
                  <a:pt x="2133600" y="848360"/>
                </a:moveTo>
                <a:lnTo>
                  <a:pt x="2133600" y="848360"/>
                </a:lnTo>
                <a:arcTo hR="101600" wR="101600" stAng="0" swAng="5400000"/>
                <a:lnTo>
                  <a:pt x="101600" y="949960"/>
                </a:lnTo>
                <a:arcTo hR="101600" wR="101600" stAng="5400000" swAng="5400000"/>
                <a:lnTo>
                  <a:pt x="0" y="848360"/>
                </a:lnTo>
                <a:arcTo hR="63500" wR="101600" stAng="10800000" swAng="-5400000"/>
                <a:lnTo>
                  <a:pt x="2032000" y="911860"/>
                </a:lnTo>
                <a:arcTo hR="63500" wR="101600" stAng="54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5450842"/>
            <a:ext cx="2133600" cy="949960"/>
          </a:xfrm>
          <a:prstGeom prst="roundRect">
            <a:avLst>
              <a:gd name="adj" fmla="val 10695"/>
            </a:avLst>
          </a:prstGeom>
          <a:solidFill>
            <a:srgbClr val="EDF1F5"/>
          </a:solidFill>
          <a:ln/>
        </p:spPr>
        <p:txBody>
          <a:bodyPr wrap="square" lIns="42886" tIns="249642" rIns="42886" bIns="259802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01200" y="5450842"/>
            <a:ext cx="2133600" cy="949960"/>
          </a:xfrm>
          <a:custGeom>
            <a:avLst/>
            <a:gdLst/>
            <a:ahLst/>
            <a:cxnLst/>
            <a:rect l="l" t="t" r="r" b="b"/>
            <a:pathLst>
              <a:path w="2133600" h="949960">
                <a:moveTo>
                  <a:pt x="2133600" y="848360"/>
                </a:moveTo>
                <a:lnTo>
                  <a:pt x="2133600" y="848360"/>
                </a:lnTo>
                <a:arcTo hR="101600" wR="101600" stAng="0" swAng="5400000"/>
                <a:lnTo>
                  <a:pt x="101600" y="949960"/>
                </a:lnTo>
                <a:arcTo hR="101600" wR="101600" stAng="5400000" swAng="5400000"/>
                <a:lnTo>
                  <a:pt x="0" y="848360"/>
                </a:lnTo>
                <a:arcTo hR="63500" wR="101600" stAng="10800000" swAng="-5400000"/>
                <a:lnTo>
                  <a:pt x="2032000" y="911860"/>
                </a:lnTo>
                <a:arcTo hR="63500" wR="101600" stAng="5400000" swAng="-5400000"/>
                <a:close/>
              </a:path>
            </a:pathLst>
          </a:custGeom>
          <a:solidFill>
            <a:srgbClr val="1A7F3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чего нужны unit-тесты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15821"/>
            <a:ext cx="11277600" cy="1117600"/>
          </a:xfrm>
          <a:prstGeom prst="roundRect">
            <a:avLst>
              <a:gd name="adj" fmla="val 11364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/>
          <p:nvPr/>
        </p:nvSpPr>
        <p:spPr>
          <a:xfrm>
            <a:off x="711200" y="2319021"/>
            <a:ext cx="4953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09700" y="2336800"/>
            <a:ext cx="10373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Ранний поиск ошибок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09700" y="2692400"/>
            <a:ext cx="1037323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находятся и исправляются на ранних этапах - это снижает расходы.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385821"/>
            <a:ext cx="11277600" cy="1117600"/>
          </a:xfrm>
          <a:prstGeom prst="roundRect">
            <a:avLst>
              <a:gd name="adj" fmla="val 11364"/>
            </a:avLst>
          </a:prstGeom>
          <a:solidFill>
            <a:srgbClr val="EDF1F5"/>
          </a:solidFill>
          <a:ln/>
        </p:spPr>
      </p:sp>
      <p:sp>
        <p:nvSpPr>
          <p:cNvPr id="9" name="Text 7"/>
          <p:cNvSpPr/>
          <p:nvPr/>
        </p:nvSpPr>
        <p:spPr>
          <a:xfrm>
            <a:off x="711200" y="3589021"/>
            <a:ext cx="4953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409700" y="3606800"/>
            <a:ext cx="10373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Понимание кода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09700" y="3962400"/>
            <a:ext cx="1037323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Помогают понять базовый код, упрощают чтение и доработку проекта.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655821"/>
            <a:ext cx="11277600" cy="1117600"/>
          </a:xfrm>
          <a:prstGeom prst="roundRect">
            <a:avLst>
              <a:gd name="adj" fmla="val 11364"/>
            </a:avLst>
          </a:prstGeom>
          <a:solidFill>
            <a:srgbClr val="EDF1F5"/>
          </a:solidFill>
          <a:ln/>
        </p:spPr>
      </p:sp>
      <p:sp>
        <p:nvSpPr>
          <p:cNvPr id="13" name="Text 11"/>
          <p:cNvSpPr/>
          <p:nvPr/>
        </p:nvSpPr>
        <p:spPr>
          <a:xfrm>
            <a:off x="711200" y="4859021"/>
            <a:ext cx="4953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409700" y="4876800"/>
            <a:ext cx="10373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Живая документация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09700" y="5232400"/>
            <a:ext cx="1037323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Новичок в проекте разберётся в принципах его работы по тестам.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 и минусы unit-тестов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42"/>
            <a:ext cx="5537200" cy="4912360"/>
          </a:xfrm>
          <a:prstGeom prst="roundRect">
            <a:avLst>
              <a:gd name="adj" fmla="val 2585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8442"/>
            <a:ext cx="5537200" cy="4912360"/>
          </a:xfrm>
          <a:custGeom>
            <a:avLst/>
            <a:gdLst/>
            <a:ahLst/>
            <a:cxnLst/>
            <a:rect l="l" t="t" r="r" b="b"/>
            <a:pathLst>
              <a:path w="5537200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410200" y="0"/>
                </a:lnTo>
                <a:arcTo hR="127000" wR="127000" stAng="16200000" swAng="5400000"/>
                <a:lnTo>
                  <a:pt x="553720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736600" y="1803400"/>
            <a:ext cx="512775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8510" y="2265679"/>
            <a:ext cx="507822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090" indent="-212090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Простота</a:t>
            </a:r>
            <a:endParaRPr lang="en-US" sz="2000" dirty="0"/>
          </a:p>
          <a:p>
            <a:pPr algn="l" marL="212090" indent="-212090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информативность</a:t>
            </a:r>
            <a:endParaRPr lang="en-US" sz="2000" dirty="0"/>
          </a:p>
          <a:p>
            <a:pPr algn="l" marL="212090" indent="-212090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применение</a:t>
            </a:r>
            <a:endParaRPr lang="en-US" sz="2000" dirty="0"/>
          </a:p>
          <a:p>
            <a:pPr algn="l" marL="212090" indent="-212090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параллельной разработки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97600" y="1488442"/>
            <a:ext cx="5537200" cy="4912360"/>
          </a:xfrm>
          <a:prstGeom prst="roundRect">
            <a:avLst>
              <a:gd name="adj" fmla="val 2585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6197600" y="1488442"/>
            <a:ext cx="5537200" cy="4912360"/>
          </a:xfrm>
          <a:custGeom>
            <a:avLst/>
            <a:gdLst/>
            <a:ahLst/>
            <a:cxnLst/>
            <a:rect l="l" t="t" r="r" b="b"/>
            <a:pathLst>
              <a:path w="5537200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410200" y="0"/>
                </a:lnTo>
                <a:arcTo hR="127000" wR="127000" stAng="16200000" swAng="5400000"/>
                <a:lnTo>
                  <a:pt x="553720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1803400"/>
            <a:ext cx="512775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18910" y="2265679"/>
            <a:ext cx="5078222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090" indent="-212090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гарантии, что найдутся все ошибки</a:t>
            </a:r>
            <a:endParaRPr lang="en-US" sz="2000" dirty="0"/>
          </a:p>
          <a:p>
            <a:pPr algn="l" marL="212090" indent="-212090">
              <a:lnSpc>
                <a:spcPts val="3100"/>
              </a:lnSpc>
              <a:buSzPct val="100000"/>
              <a:buChar char="•"/>
            </a:pPr>
            <a:r>
              <a:rPr lang="en-US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Ориентированность на одну единицу кода (модуль)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заглушек в тестировании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37642"/>
            <a:ext cx="11277600" cy="1262698"/>
          </a:xfrm>
          <a:prstGeom prst="roundRect">
            <a:avLst>
              <a:gd name="adj" fmla="val 8046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37642"/>
            <a:ext cx="11277600" cy="1262698"/>
          </a:xfrm>
          <a:custGeom>
            <a:avLst/>
            <a:gdLst/>
            <a:ahLst/>
            <a:cxnLst/>
            <a:rect l="l" t="t" r="r" b="b"/>
            <a:pathLst>
              <a:path w="11277600" h="1262698">
                <a:moveTo>
                  <a:pt x="101600" y="1262698"/>
                </a:moveTo>
                <a:lnTo>
                  <a:pt x="101600" y="1262698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161098"/>
                </a:lnTo>
                <a:arcTo hR="101600" wR="50800" stAng="10800000" swAng="-5400000"/>
                <a:close/>
              </a:path>
            </a:pathLst>
          </a:custGeom>
          <a:solidFill>
            <a:srgbClr val="5C6C7D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577342"/>
            <a:ext cx="11145012" cy="343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Фиктивные объекты (Dummy objects)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7334" y="1946591"/>
            <a:ext cx="11081258" cy="639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Передаются классу, но никогда не используются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Применяются, когда нужно заполнить параметры, не важные для теста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801938"/>
            <a:ext cx="11277600" cy="1927463"/>
          </a:xfrm>
          <a:prstGeom prst="roundRect">
            <a:avLst>
              <a:gd name="adj" fmla="val 5271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801938"/>
            <a:ext cx="11277600" cy="1927463"/>
          </a:xfrm>
          <a:custGeom>
            <a:avLst/>
            <a:gdLst/>
            <a:ahLst/>
            <a:cxnLst/>
            <a:rect l="l" t="t" r="r" b="b"/>
            <a:pathLst>
              <a:path w="11277600" h="1927463">
                <a:moveTo>
                  <a:pt x="101600" y="1927463"/>
                </a:moveTo>
                <a:lnTo>
                  <a:pt x="101600" y="1927463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825863"/>
                </a:lnTo>
                <a:arcTo hR="101600" wR="50800" stAng="10800000" swAng="-5400000"/>
                <a:close/>
              </a:path>
            </a:pathLst>
          </a:custGeom>
          <a:solidFill>
            <a:srgbClr val="127C7C"/>
          </a:solidFill>
          <a:ln/>
        </p:spPr>
      </p:sp>
      <p:sp>
        <p:nvSpPr>
          <p:cNvPr id="10" name="Text 8"/>
          <p:cNvSpPr/>
          <p:nvPr/>
        </p:nvSpPr>
        <p:spPr>
          <a:xfrm>
            <a:off x="711200" y="2941638"/>
            <a:ext cx="11145012" cy="34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Фальшивые объекты (Fake objects)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73727" y="3310812"/>
            <a:ext cx="11074865" cy="94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1473" indent="-191473">
              <a:lnSpc>
                <a:spcPts val="2422"/>
              </a:lnSpc>
              <a:buSzPct val="100000"/>
              <a:buChar char="•"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Имеют реальную работающую реализацию, но упрощенную</a:t>
            </a:r>
            <a:endParaRPr lang="en-US" sz="1794" dirty="0"/>
          </a:p>
          <a:p>
            <a:pPr algn="l" marL="191473" indent="-191473">
              <a:lnSpc>
                <a:spcPts val="2422"/>
              </a:lnSpc>
              <a:buSzPct val="100000"/>
              <a:buChar char="•"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фальшивая база данных на основе HashMap</a:t>
            </a:r>
            <a:endParaRPr lang="en-US" sz="1794" dirty="0"/>
          </a:p>
          <a:p>
            <a:pPr algn="l" marL="191473" indent="-191473">
              <a:lnSpc>
                <a:spcPts val="2422"/>
              </a:lnSpc>
              <a:buSzPct val="100000"/>
              <a:buChar char="•"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Распространенный пример: H2 DB - in-memory база для тестирования</a:t>
            </a:r>
            <a:endParaRPr lang="en-US" sz="1794" dirty="0"/>
          </a:p>
        </p:txBody>
      </p:sp>
      <p:sp>
        <p:nvSpPr>
          <p:cNvPr id="12" name="Text 10"/>
          <p:cNvSpPr/>
          <p:nvPr/>
        </p:nvSpPr>
        <p:spPr>
          <a:xfrm>
            <a:off x="1219200" y="4282678"/>
            <a:ext cx="10621772" cy="332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2"/>
              </a:lnSpc>
              <a:buNone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 Чаще используется Testcontainers с реальной БД поднятой в docker</a:t>
            </a:r>
            <a:endParaRPr lang="en-US" sz="1794" dirty="0"/>
          </a:p>
        </p:txBody>
      </p:sp>
      <p:sp>
        <p:nvSpPr>
          <p:cNvPr id="13" name="Shape 11"/>
          <p:cNvSpPr/>
          <p:nvPr/>
        </p:nvSpPr>
        <p:spPr>
          <a:xfrm>
            <a:off x="457200" y="4831004"/>
            <a:ext cx="11277600" cy="1569799"/>
          </a:xfrm>
          <a:prstGeom prst="roundRect">
            <a:avLst>
              <a:gd name="adj" fmla="val 6472"/>
            </a:avLst>
          </a:prstGeom>
          <a:solidFill>
            <a:srgbClr val="ED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831004"/>
            <a:ext cx="11277600" cy="1569799"/>
          </a:xfrm>
          <a:custGeom>
            <a:avLst/>
            <a:gdLst/>
            <a:ahLst/>
            <a:cxnLst/>
            <a:rect l="l" t="t" r="r" b="b"/>
            <a:pathLst>
              <a:path w="11277600" h="1569799">
                <a:moveTo>
                  <a:pt x="101600" y="1569799"/>
                </a:moveTo>
                <a:lnTo>
                  <a:pt x="101600" y="1569799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468199"/>
                </a:lnTo>
                <a:arcTo hR="101600" wR="508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11200" y="4970704"/>
            <a:ext cx="11145012" cy="343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Заглушки (Stubs)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73727" y="5339953"/>
            <a:ext cx="11074865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1473" indent="-191473">
              <a:lnSpc>
                <a:spcPts val="2422"/>
              </a:lnSpc>
              <a:buSzPct val="100000"/>
              <a:buChar char="•"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Возвращают предопределенные ответы на вызовы</a:t>
            </a:r>
            <a:endParaRPr lang="en-US" sz="1794" dirty="0"/>
          </a:p>
          <a:p>
            <a:pPr algn="l" marL="191473" indent="-191473">
              <a:lnSpc>
                <a:spcPts val="2422"/>
              </a:lnSpc>
              <a:buSzPct val="100000"/>
              <a:buChar char="•"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имеют реальной реализации</a:t>
            </a:r>
            <a:endParaRPr lang="en-US" sz="1794" dirty="0"/>
          </a:p>
          <a:p>
            <a:pPr algn="l" marL="191473" indent="-191473">
              <a:lnSpc>
                <a:spcPts val="2422"/>
              </a:lnSpc>
              <a:buSzPct val="100000"/>
              <a:buChar char="•"/>
            </a:pPr>
            <a:r>
              <a:rPr lang="en-US" sz="1794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популярный тип заглушки</a:t>
            </a:r>
            <a:endParaRPr lang="en-US" sz="179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заглушек в тестировании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87246"/>
            <a:ext cx="11277600" cy="1935480"/>
          </a:xfrm>
          <a:prstGeom prst="roundRect">
            <a:avLst>
              <a:gd name="adj" fmla="val 5249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87246"/>
            <a:ext cx="11277600" cy="1935480"/>
          </a:xfrm>
          <a:custGeom>
            <a:avLst/>
            <a:gdLst/>
            <a:ahLst/>
            <a:cxnLst/>
            <a:rect l="l" t="t" r="r" b="b"/>
            <a:pathLst>
              <a:path w="11277600" h="1935480">
                <a:moveTo>
                  <a:pt x="101600" y="1935480"/>
                </a:moveTo>
                <a:lnTo>
                  <a:pt x="101600" y="19354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833880"/>
                </a:lnTo>
                <a:arcTo hR="101600" wR="508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2226946"/>
            <a:ext cx="111450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Макеты (Mocks)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11200" y="2597789"/>
            <a:ext cx="11145012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Работают как заглушки, но также отслеживают взаимодействия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7334" y="2957196"/>
            <a:ext cx="11081258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Позволяют проверять, сколько раз и с какими параметрами вызывался метод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проверка, что getAllInvoices вызывался ровно один раз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 для анализа взаимодействия между классами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75125"/>
            <a:ext cx="11277600" cy="1576070"/>
          </a:xfrm>
          <a:prstGeom prst="roundRect">
            <a:avLst>
              <a:gd name="adj" fmla="val 6446"/>
            </a:avLst>
          </a:prstGeom>
          <a:solidFill>
            <a:srgbClr val="ED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4175125"/>
            <a:ext cx="11277600" cy="1576070"/>
          </a:xfrm>
          <a:custGeom>
            <a:avLst/>
            <a:gdLst/>
            <a:ahLst/>
            <a:cxnLst/>
            <a:rect l="l" t="t" r="r" b="b"/>
            <a:pathLst>
              <a:path w="11277600" h="1576070">
                <a:moveTo>
                  <a:pt x="101600" y="1576070"/>
                </a:moveTo>
                <a:lnTo>
                  <a:pt x="101600" y="157607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474470"/>
                </a:lnTo>
                <a:arcTo hR="101600" wR="508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" y="4314825"/>
            <a:ext cx="111450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Шпионы (Spies)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67334" y="4685667"/>
            <a:ext cx="11081258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"Обертывают" реальный объект и наблюдают за его поведением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имитируют объект, а записывают взаимодействия с ним</a:t>
            </a:r>
            <a:endParaRPr lang="en-US" sz="1800" dirty="0"/>
          </a:p>
          <a:p>
            <a:pPr algn="l" marL="197866" indent="-197866">
              <a:lnSpc>
                <a:spcPts val="243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Используются, когда проще работать с реальной реализацией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42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/>
          <p:nvPr/>
        </p:nvSpPr>
        <p:spPr>
          <a:xfrm>
            <a:off x="660400" y="1841500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21159" y="1868171"/>
            <a:ext cx="3279553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Наименование тестов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184900" y="1488442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8" name="Text 6"/>
          <p:cNvSpPr/>
          <p:nvPr/>
        </p:nvSpPr>
        <p:spPr>
          <a:xfrm>
            <a:off x="6388100" y="1841500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748859" y="1868171"/>
            <a:ext cx="3041523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 · Act · Assert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57200" y="2748279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" y="3101342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1159" y="3128014"/>
            <a:ext cx="3290411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Minimally passing tests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184900" y="2748279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6388100" y="3101342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48859" y="3128014"/>
            <a:ext cx="3569589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«волшебных» строк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7200" y="4008121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17" name="Text 15"/>
          <p:cNvSpPr/>
          <p:nvPr/>
        </p:nvSpPr>
        <p:spPr>
          <a:xfrm>
            <a:off x="660400" y="4361179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21159" y="4387850"/>
            <a:ext cx="2909125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логики в тестах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184900" y="4008121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6388100" y="4361179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48859" y="4387850"/>
            <a:ext cx="3247644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тест - один кейс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457200" y="5267964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23" name="Text 21"/>
          <p:cNvSpPr/>
          <p:nvPr/>
        </p:nvSpPr>
        <p:spPr>
          <a:xfrm>
            <a:off x="660400" y="5621021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021159" y="5647692"/>
            <a:ext cx="4388072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Приватное - через публичное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184900" y="5267964"/>
            <a:ext cx="5549900" cy="1132840"/>
          </a:xfrm>
          <a:prstGeom prst="roundRect">
            <a:avLst>
              <a:gd name="adj" fmla="val 8969"/>
            </a:avLst>
          </a:prstGeom>
          <a:solidFill>
            <a:srgbClr val="EDF1F5"/>
          </a:solidFill>
          <a:ln/>
        </p:spPr>
      </p:sp>
      <p:sp>
        <p:nvSpPr>
          <p:cNvPr id="26" name="Text 24"/>
          <p:cNvSpPr/>
          <p:nvPr/>
        </p:nvSpPr>
        <p:spPr>
          <a:xfrm>
            <a:off x="6388100" y="5621021"/>
            <a:ext cx="2337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48859" y="5647692"/>
            <a:ext cx="324612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Заглушки для статики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1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Наименование тестов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61592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Длинное имя теста - это нормально: главное, чтобы оно описывало проверяемый сценарий.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4254" y="2014854"/>
            <a:ext cx="740489" cy="511810"/>
          </a:xfrm>
          <a:prstGeom prst="roundRect">
            <a:avLst>
              <a:gd name="adj" fmla="val 14268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5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Add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580642"/>
            <a:ext cx="222428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тестируемый метод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65772" y="2014854"/>
            <a:ext cx="2264807" cy="511810"/>
          </a:xfrm>
          <a:prstGeom prst="roundRect">
            <a:avLst>
              <a:gd name="adj" fmla="val 14268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854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_SingleNumber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61775" y="2580642"/>
            <a:ext cx="107280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87729" y="2014854"/>
            <a:ext cx="3026886" cy="511810"/>
          </a:xfrm>
          <a:prstGeom prst="roundRect">
            <a:avLst>
              <a:gd name="adj" fmla="val 14268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_ReturnsSameNumber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58540" y="2580642"/>
            <a:ext cx="248526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0375" y="3071496"/>
            <a:ext cx="5543550" cy="3326130"/>
          </a:xfrm>
          <a:prstGeom prst="roundRect">
            <a:avLst>
              <a:gd name="adj" fmla="val 2959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680" y="32131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4680" y="3556000"/>
            <a:ext cx="5391988" cy="2134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Test_Single()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8075" y="3071496"/>
            <a:ext cx="5543550" cy="3326130"/>
          </a:xfrm>
          <a:prstGeom prst="roundRect">
            <a:avLst>
              <a:gd name="adj" fmla="val 2959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380" y="32131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42380" y="3556000"/>
            <a:ext cx="5391988" cy="2134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Add_SingleNumber_ReturnsSameNumber()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2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тестов: AAA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42"/>
            <a:ext cx="3657600" cy="8890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8442"/>
            <a:ext cx="3657600" cy="889000"/>
          </a:xfrm>
          <a:custGeom>
            <a:avLst/>
            <a:gdLst/>
            <a:ahLst/>
            <a:cxnLst/>
            <a:rect l="l" t="t" r="r" b="b"/>
            <a:pathLst>
              <a:path w="3657600" h="889000">
                <a:moveTo>
                  <a:pt x="88900" y="889000"/>
                </a:moveTo>
                <a:lnTo>
                  <a:pt x="88900" y="889000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800100"/>
                </a:lnTo>
                <a:arcTo hR="88900" wR="508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6" name="Text 4"/>
          <p:cNvSpPr/>
          <p:nvPr/>
        </p:nvSpPr>
        <p:spPr>
          <a:xfrm>
            <a:off x="645160" y="1602742"/>
            <a:ext cx="3416757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5160" y="1978664"/>
            <a:ext cx="34167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настройка объектов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67200" y="1488442"/>
            <a:ext cx="3657600" cy="8890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267200" y="1488442"/>
            <a:ext cx="3657600" cy="889000"/>
          </a:xfrm>
          <a:custGeom>
            <a:avLst/>
            <a:gdLst/>
            <a:ahLst/>
            <a:cxnLst/>
            <a:rect l="l" t="t" r="r" b="b"/>
            <a:pathLst>
              <a:path w="3657600" h="889000">
                <a:moveTo>
                  <a:pt x="88900" y="889000"/>
                </a:moveTo>
                <a:lnTo>
                  <a:pt x="88900" y="889000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800100"/>
                </a:lnTo>
                <a:arcTo hR="88900" wR="508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0" name="Text 8"/>
          <p:cNvSpPr/>
          <p:nvPr/>
        </p:nvSpPr>
        <p:spPr>
          <a:xfrm>
            <a:off x="4455160" y="1602742"/>
            <a:ext cx="3416757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55160" y="1978664"/>
            <a:ext cx="34167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 над объектом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77200" y="1488442"/>
            <a:ext cx="3657600" cy="889000"/>
          </a:xfrm>
          <a:prstGeom prst="roundRect">
            <a:avLst>
              <a:gd name="adj" fmla="val 10000"/>
            </a:avLst>
          </a:prstGeom>
          <a:solidFill>
            <a:srgbClr val="ED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7200" y="1488442"/>
            <a:ext cx="3657600" cy="889000"/>
          </a:xfrm>
          <a:custGeom>
            <a:avLst/>
            <a:gdLst/>
            <a:ahLst/>
            <a:cxnLst/>
            <a:rect l="l" t="t" r="r" b="b"/>
            <a:pathLst>
              <a:path w="3657600" h="889000">
                <a:moveTo>
                  <a:pt x="88900" y="889000"/>
                </a:moveTo>
                <a:lnTo>
                  <a:pt x="88900" y="889000"/>
                </a:lnTo>
                <a:arcTo hR="88900" wR="88900" stAng="5400000" swAng="5400000"/>
                <a:lnTo>
                  <a:pt x="0" y="88900"/>
                </a:lnTo>
                <a:arcTo hR="88900" wR="88900" stAng="10800000" swAng="5400000"/>
                <a:lnTo>
                  <a:pt x="88900" y="0"/>
                </a:lnTo>
                <a:arcTo hR="88900" wR="50800" stAng="16200000" swAng="-5400000"/>
                <a:lnTo>
                  <a:pt x="38100" y="800100"/>
                </a:lnTo>
                <a:arcTo hR="88900" wR="508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4" name="Text 12"/>
          <p:cNvSpPr/>
          <p:nvPr/>
        </p:nvSpPr>
        <p:spPr>
          <a:xfrm>
            <a:off x="8265160" y="1602742"/>
            <a:ext cx="3416757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65160" y="1978664"/>
            <a:ext cx="341675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результата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0375" y="2583817"/>
            <a:ext cx="5543550" cy="3813810"/>
          </a:xfrm>
          <a:prstGeom prst="roundRect">
            <a:avLst>
              <a:gd name="adj" fmla="val 2581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680" y="2725421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680" y="3068321"/>
            <a:ext cx="5391988" cy="2134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Add_EmptyString_ReturnsZero()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Arrange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Assert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8075" y="2583817"/>
            <a:ext cx="5543550" cy="3813810"/>
          </a:xfrm>
          <a:prstGeom prst="roundRect">
            <a:avLst>
              <a:gd name="adj" fmla="val 2581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2380" y="2725421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42380" y="3068321"/>
            <a:ext cx="5391988" cy="236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Add_EmptyString_ReturnsZero()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Arrange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Act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Assert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2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 AAA: Given - When - Then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6159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шаблон в терминах BDD (Behavior-Driven Development). Встречается в комментариях и в именах тестов.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12058"/>
            <a:ext cx="5308600" cy="932180"/>
          </a:xfrm>
          <a:prstGeom prst="roundRect">
            <a:avLst>
              <a:gd name="adj" fmla="val 10899"/>
            </a:avLst>
          </a:prstGeom>
          <a:solidFill>
            <a:srgbClr val="EDF1F5"/>
          </a:solidFill>
          <a:ln/>
        </p:spPr>
      </p:sp>
      <p:sp>
        <p:nvSpPr>
          <p:cNvPr id="6" name="Text 4"/>
          <p:cNvSpPr/>
          <p:nvPr/>
        </p:nvSpPr>
        <p:spPr>
          <a:xfrm>
            <a:off x="635000" y="2818135"/>
            <a:ext cx="1130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</a:t>
            </a:r>
            <a:endParaRPr lang="en-US" sz="18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41500" y="2895600"/>
            <a:ext cx="279400" cy="165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7900" y="2651758"/>
            <a:ext cx="34403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247900" y="3020058"/>
            <a:ext cx="34403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дано: исходное состояние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596642"/>
            <a:ext cx="5308600" cy="932180"/>
          </a:xfrm>
          <a:prstGeom prst="roundRect">
            <a:avLst>
              <a:gd name="adj" fmla="val 10899"/>
            </a:avLst>
          </a:prstGeom>
          <a:solidFill>
            <a:srgbClr val="EDF1F5"/>
          </a:solidFill>
          <a:ln/>
        </p:spPr>
      </p:sp>
      <p:sp>
        <p:nvSpPr>
          <p:cNvPr id="11" name="Text 8"/>
          <p:cNvSpPr/>
          <p:nvPr/>
        </p:nvSpPr>
        <p:spPr>
          <a:xfrm>
            <a:off x="635000" y="3902708"/>
            <a:ext cx="1130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41500" y="3980185"/>
            <a:ext cx="279400" cy="1651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7900" y="3736342"/>
            <a:ext cx="34403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247900" y="4104642"/>
            <a:ext cx="34403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когда: выполняем действие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4681227"/>
            <a:ext cx="5308600" cy="932180"/>
          </a:xfrm>
          <a:prstGeom prst="roundRect">
            <a:avLst>
              <a:gd name="adj" fmla="val 10899"/>
            </a:avLst>
          </a:prstGeom>
          <a:solidFill>
            <a:srgbClr val="EDF1F5"/>
          </a:solidFill>
          <a:ln/>
        </p:spPr>
      </p:sp>
      <p:sp>
        <p:nvSpPr>
          <p:cNvPr id="16" name="Text 12"/>
          <p:cNvSpPr/>
          <p:nvPr/>
        </p:nvSpPr>
        <p:spPr>
          <a:xfrm>
            <a:off x="635000" y="4987292"/>
            <a:ext cx="11303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</a:t>
            </a:r>
            <a:endParaRPr lang="en-US" sz="1800" dirty="0"/>
          </a:p>
        </p:txBody>
      </p:sp>
      <p:pic>
        <p:nvPicPr>
          <p:cNvPr id="17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41500" y="5064758"/>
            <a:ext cx="279400" cy="1651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47900" y="4820927"/>
            <a:ext cx="34403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2247900" y="5189227"/>
            <a:ext cx="344030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тогда: ожидаемый результат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0375" y="5768975"/>
            <a:ext cx="5302250" cy="448310"/>
          </a:xfrm>
          <a:prstGeom prst="roundRect">
            <a:avLst>
              <a:gd name="adj" fmla="val 16289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square" lIns="107517" tIns="69417" rIns="0" bIns="44017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Given_EmptyString_When_Add_Then_Zero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22975" y="2962597"/>
            <a:ext cx="5708650" cy="2807335"/>
          </a:xfrm>
          <a:prstGeom prst="roundRect">
            <a:avLst>
              <a:gd name="adj" fmla="val 350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7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Add_EmptyString_ReturnsZero()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Given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When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</a:t>
            </a:r>
            <a:r>
              <a:rPr lang="en-US" sz="14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""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Then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actual.Should().Be(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3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Minimally passing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6159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Входные данные - максимально простые, ровно чтобы проверить поведение. </a:t>
            </a:r>
            <a:r>
              <a:rPr lang="en-US" sz="180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сложнее данные, тем выше шанс ошибиться в самом тесте.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0375" y="2334902"/>
            <a:ext cx="5543550" cy="4062730"/>
          </a:xfrm>
          <a:prstGeom prst="roundRect">
            <a:avLst>
              <a:gd name="adj" fmla="val 242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4765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819400"/>
            <a:ext cx="5391988" cy="2134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Add_SingleNumber_ReturnsSameNumber()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"42"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42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8075" y="2334902"/>
            <a:ext cx="5543550" cy="4062730"/>
          </a:xfrm>
          <a:prstGeom prst="roundRect">
            <a:avLst>
              <a:gd name="adj" fmla="val 242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380" y="24765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2380" y="2819400"/>
            <a:ext cx="5391988" cy="2134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Add_SingleNumber_ReturnsSameNumber()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4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Избегайте «волшебных» строк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6159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Именование в тестах не менее важно, чем в рабочем коде: значение должно объяснять, </a:t>
            </a:r>
            <a:r>
              <a:rPr lang="en-US" sz="1800" i="1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оно такое.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0375" y="2334902"/>
            <a:ext cx="5543550" cy="4062730"/>
          </a:xfrm>
          <a:prstGeom prst="roundRect">
            <a:avLst>
              <a:gd name="adj" fmla="val 242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4765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819400"/>
            <a:ext cx="5391988" cy="236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Add_BigNumber_ThrowsException()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Action actual =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() =&gt;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"1001"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Assert.Throws&lt;OverflowException&gt;(actual);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8075" y="2334902"/>
            <a:ext cx="5543550" cy="4062730"/>
          </a:xfrm>
          <a:prstGeom prst="roundRect">
            <a:avLst>
              <a:gd name="adj" fmla="val 242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380" y="24765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2380" y="2819400"/>
            <a:ext cx="5391988" cy="2603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Add_MaximumSumResult_ThrowsOverflowException()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MAX = 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"1001"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Action actual =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() =&gt; stringCalculator.Add(MAX);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Assert.Throws&lt;OverflowException&gt;(actual);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5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Избегайте логики в тестах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61592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Никаких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if, while, for, switch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Вместо цикла по кейсам - параметризованный тест.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0375" y="2014860"/>
            <a:ext cx="5543550" cy="4382770"/>
          </a:xfrm>
          <a:prstGeom prst="roundRect">
            <a:avLst>
              <a:gd name="adj" fmla="val 224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156458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499358"/>
            <a:ext cx="5391988" cy="3406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Add_MultipleNumbers_ReturnsCorrectResults()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 =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testCases =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[] { 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"0,0,0"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"0,1,2"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"1,2,3"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};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foreach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(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test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testCases)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Assert.Equal(expected,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stringCalculator.Add(test));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expected +=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8075" y="2014860"/>
            <a:ext cx="5543550" cy="4382770"/>
          </a:xfrm>
          <a:prstGeom prst="roundRect">
            <a:avLst>
              <a:gd name="adj" fmla="val 224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380" y="2156458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2380" y="2499358"/>
            <a:ext cx="5391988" cy="2955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Theory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"0,0,0"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"0,1,2"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"1,2,3"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Add_MultipleNumbers_ReturnsSumOfNumbers(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input,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stringCalculator.Add(input);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Assert.Equal(expected, actual);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6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тест - один кейс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6159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два похожих теста, чем всё в одном: отдельный тест на действие или параметризованный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[Theory]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0375" y="2334902"/>
            <a:ext cx="5543550" cy="4062730"/>
          </a:xfrm>
          <a:prstGeom prst="roundRect">
            <a:avLst>
              <a:gd name="adj" fmla="val 242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4765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819400"/>
            <a:ext cx="5391988" cy="2603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Add_EmptyEntries_ShouldBeTreatedAsZero()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Act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actual1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actual2 = stringCalculator.Add(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","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Assert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actual1);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actual2);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8075" y="2334902"/>
            <a:ext cx="5543550" cy="4062730"/>
          </a:xfrm>
          <a:prstGeom prst="roundRect">
            <a:avLst>
              <a:gd name="adj" fmla="val 242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380" y="2476500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2380" y="2819400"/>
            <a:ext cx="5391988" cy="307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Theory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","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Add_EmptyEntries_ShouldBeTreatedAsZero(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input,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Arrange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Act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stringCalculator.Add(input);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Assert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Assert.Equal(expected, actual);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23442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50" kern="0" dirty="0">
                <a:solidFill>
                  <a:srgbClr val="7FD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7 / 8 · ПРИВАТНОЕ - ЧЕРЕЗ ПУБЛИЧНОЕ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2661927"/>
            <a:ext cx="10883392" cy="106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большинстве случаев приватный метод тестировать не нужно.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3952242"/>
            <a:ext cx="10883392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D5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Важен конечный результат публичного метода, который этот приватный метод вызывает.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8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Заглушки для статических ссылок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42"/>
            <a:ext cx="1173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должен полностью контролировать систему. Статические вызовы вроде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DateTime.Now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это ломают.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0375" y="2014860"/>
            <a:ext cx="5962650" cy="4382770"/>
          </a:xfrm>
          <a:prstGeom prst="roundRect">
            <a:avLst>
              <a:gd name="adj" fmla="val 224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112777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GetDiscountedPrice(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(DateTime.Now.DayOfWeek == DayOfWeek.Tuesday)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 /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else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9400" y="2011685"/>
            <a:ext cx="5105400" cy="1643380"/>
          </a:xfrm>
          <a:prstGeom prst="roundRect">
            <a:avLst>
              <a:gd name="adj" fmla="val 6182"/>
            </a:avLst>
          </a:prstGeom>
          <a:solidFill>
            <a:srgbClr val="EDF1F5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0" y="2011685"/>
            <a:ext cx="5105400" cy="1643380"/>
          </a:xfrm>
          <a:custGeom>
            <a:avLst/>
            <a:gdLst/>
            <a:ahLst/>
            <a:cxnLst/>
            <a:rect l="l" t="t" r="r" b="b"/>
            <a:pathLst>
              <a:path w="5105400" h="1643380">
                <a:moveTo>
                  <a:pt x="101600" y="1643380"/>
                </a:moveTo>
                <a:lnTo>
                  <a:pt x="101600" y="16433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541780"/>
                </a:lnTo>
                <a:arcTo hR="101600" wR="635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8" name="Text 6"/>
          <p:cNvSpPr/>
          <p:nvPr/>
        </p:nvSpPr>
        <p:spPr>
          <a:xfrm>
            <a:off x="6868160" y="2189485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68160" y="2570485"/>
            <a:ext cx="4803343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на вторник проходит только по вторникам, тест на остальные дни - во все дни, кроме вторника.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3807458"/>
            <a:ext cx="5105400" cy="1643380"/>
          </a:xfrm>
          <a:prstGeom prst="roundRect">
            <a:avLst>
              <a:gd name="adj" fmla="val 6182"/>
            </a:avLst>
          </a:prstGeom>
          <a:solidFill>
            <a:srgbClr val="ED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3807458"/>
            <a:ext cx="5105400" cy="1643380"/>
          </a:xfrm>
          <a:custGeom>
            <a:avLst/>
            <a:gdLst/>
            <a:ahLst/>
            <a:cxnLst/>
            <a:rect l="l" t="t" r="r" b="b"/>
            <a:pathLst>
              <a:path w="5105400" h="1643380">
                <a:moveTo>
                  <a:pt x="101600" y="1643380"/>
                </a:moveTo>
                <a:lnTo>
                  <a:pt x="101600" y="16433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5417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868160" y="3985258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68160" y="4366258"/>
            <a:ext cx="4803343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Передавать время в метод снаружи: провайдер или DateTimeOffset вместо DateTime.Now.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8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абстракция над временем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375" y="1491617"/>
            <a:ext cx="7867650" cy="4906010"/>
          </a:xfrm>
          <a:prstGeom prst="roundRect">
            <a:avLst>
              <a:gd name="adj" fmla="val 200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112777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interface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IDateTimeProvider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DayOfWeek DayOfWeek();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GetDiscountedPrice(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price, IDateTimeProvider dateTimeProvider)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(dateTimeProvider.DayOfWeek() == DayOfWeek.Tuesday)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 /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else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34400" y="2072642"/>
            <a:ext cx="3200400" cy="2250440"/>
          </a:xfrm>
          <a:prstGeom prst="roundRect">
            <a:avLst>
              <a:gd name="adj" fmla="val 4515"/>
            </a:avLst>
          </a:prstGeom>
          <a:solidFill>
            <a:srgbClr val="EDF1F5"/>
          </a:solidFill>
          <a:ln/>
        </p:spPr>
      </p:sp>
      <p:sp>
        <p:nvSpPr>
          <p:cNvPr id="6" name="Shape 4"/>
          <p:cNvSpPr/>
          <p:nvPr/>
        </p:nvSpPr>
        <p:spPr>
          <a:xfrm>
            <a:off x="8534400" y="2072642"/>
            <a:ext cx="3200400" cy="2250440"/>
          </a:xfrm>
          <a:custGeom>
            <a:avLst/>
            <a:gdLst/>
            <a:ahLst/>
            <a:cxnLst/>
            <a:rect l="l" t="t" r="r" b="b"/>
            <a:pathLst>
              <a:path w="3200400" h="2250440">
                <a:moveTo>
                  <a:pt x="101600" y="2250440"/>
                </a:moveTo>
                <a:lnTo>
                  <a:pt x="101600" y="22504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14884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7" name="Text 5"/>
          <p:cNvSpPr/>
          <p:nvPr/>
        </p:nvSpPr>
        <p:spPr>
          <a:xfrm>
            <a:off x="8773160" y="2250442"/>
            <a:ext cx="284119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Зависимость снаружи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3160" y="2936242"/>
            <a:ext cx="284119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больше не обращается к DateTime.Now - время приходит параметром.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534400" y="4475485"/>
            <a:ext cx="32004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8534400" y="4475485"/>
            <a:ext cx="3200400" cy="1341120"/>
          </a:xfrm>
          <a:custGeom>
            <a:avLst/>
            <a:gdLst/>
            <a:ahLst/>
            <a:cxnLst/>
            <a:rect l="l" t="t" r="r" b="b"/>
            <a:pathLst>
              <a:path w="32004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1" name="Text 9"/>
          <p:cNvSpPr/>
          <p:nvPr/>
        </p:nvSpPr>
        <p:spPr>
          <a:xfrm>
            <a:off x="8773160" y="4653285"/>
            <a:ext cx="284119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тесте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3160" y="5034285"/>
            <a:ext cx="2841193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Подставляем заглушку с нужным днём недели.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 8 / 8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с заглушкой (Moq)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375" y="1491617"/>
            <a:ext cx="11271250" cy="4906010"/>
          </a:xfrm>
          <a:prstGeom prst="roundRect">
            <a:avLst>
              <a:gd name="adj" fmla="val 200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112777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GetDiscountedPrice_NotTuesday_ReturnsFullPrice()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priceCalculator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PriceCalculator();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dateTimeProviderStub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Mock&lt;IDateTimeProvider&gt;();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dateTimeProviderStub.Setup(dtp =&gt; dtp.DayOfWeek()).Returns(DayOfWeek.Monday);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priceCalculator.GetDiscountedPrice(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dateTimeProviderStub.Object);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GetDiscountedPrice_OnTuesday_ReturnsHalfPrice()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priceCalculator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PriceCalculator();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dateTimeProviderStub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Mock&lt;IDateTimeProvider&gt;();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dateTimeProviderStub.Setup(dtp =&gt; dtp.DayOfWeek()).Returns(DayOfWeek.Tuesday);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priceCalculator.GetDiscountedPrice(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dateTimeProviderStub.Object);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actual);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UNIT-ТЕСТЫ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Практические советы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42"/>
            <a:ext cx="3657600" cy="2531110"/>
          </a:xfrm>
          <a:prstGeom prst="roundRect">
            <a:avLst>
              <a:gd name="adj" fmla="val 4014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8442"/>
            <a:ext cx="3657600" cy="2531110"/>
          </a:xfrm>
          <a:custGeom>
            <a:avLst/>
            <a:gdLst/>
            <a:ahLst/>
            <a:cxnLst/>
            <a:rect l="l" t="t" r="r" b="b"/>
            <a:pathLst>
              <a:path w="3657600" h="2531110">
                <a:moveTo>
                  <a:pt x="101600" y="2531110"/>
                </a:moveTo>
                <a:lnTo>
                  <a:pt x="101600" y="25311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42951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695960" y="1666242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Детерминированность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5960" y="2047242"/>
            <a:ext cx="3312109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Одинаковый результат при каждом запуске - без случайных данных.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67200" y="1488442"/>
            <a:ext cx="3657600" cy="2531110"/>
          </a:xfrm>
          <a:prstGeom prst="roundRect">
            <a:avLst>
              <a:gd name="adj" fmla="val 4014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267200" y="1488442"/>
            <a:ext cx="3657600" cy="2531110"/>
          </a:xfrm>
          <a:custGeom>
            <a:avLst/>
            <a:gdLst/>
            <a:ahLst/>
            <a:cxnLst/>
            <a:rect l="l" t="t" r="r" b="b"/>
            <a:pathLst>
              <a:path w="3657600" h="2531110">
                <a:moveTo>
                  <a:pt x="101600" y="2531110"/>
                </a:moveTo>
                <a:lnTo>
                  <a:pt x="101600" y="25311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429510"/>
                </a:lnTo>
                <a:arcTo hR="101600" wR="635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0" name="Text 8"/>
          <p:cNvSpPr/>
          <p:nvPr/>
        </p:nvSpPr>
        <p:spPr>
          <a:xfrm>
            <a:off x="4505960" y="1666242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≠ качество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05960" y="2047242"/>
            <a:ext cx="331210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 процент покрытия не говорит о качестве кода.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77200" y="1488442"/>
            <a:ext cx="3657600" cy="2531110"/>
          </a:xfrm>
          <a:prstGeom prst="roundRect">
            <a:avLst>
              <a:gd name="adj" fmla="val 4014"/>
            </a:avLst>
          </a:prstGeom>
          <a:solidFill>
            <a:srgbClr val="ED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077200" y="1488442"/>
            <a:ext cx="3657600" cy="2531110"/>
          </a:xfrm>
          <a:custGeom>
            <a:avLst/>
            <a:gdLst/>
            <a:ahLst/>
            <a:cxnLst/>
            <a:rect l="l" t="t" r="r" b="b"/>
            <a:pathLst>
              <a:path w="3657600" h="2531110">
                <a:moveTo>
                  <a:pt x="101600" y="2531110"/>
                </a:moveTo>
                <a:lnTo>
                  <a:pt x="101600" y="253111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429510"/>
                </a:lnTo>
                <a:arcTo hR="101600" wR="635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4" name="Text 12"/>
          <p:cNvSpPr/>
          <p:nvPr/>
        </p:nvSpPr>
        <p:spPr>
          <a:xfrm>
            <a:off x="8315960" y="1666242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Длинные имена - ок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15960" y="2047242"/>
            <a:ext cx="331210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Главное, чтобы имя отражало проверяемый сценарий.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171950"/>
            <a:ext cx="3657600" cy="2228850"/>
          </a:xfrm>
          <a:prstGeom prst="roundRect">
            <a:avLst>
              <a:gd name="adj" fmla="val 4558"/>
            </a:avLst>
          </a:prstGeom>
          <a:solidFill>
            <a:srgbClr val="ED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71950"/>
            <a:ext cx="3657600" cy="2228850"/>
          </a:xfrm>
          <a:custGeom>
            <a:avLst/>
            <a:gdLst/>
            <a:ahLst/>
            <a:cxnLst/>
            <a:rect l="l" t="t" r="r" b="b"/>
            <a:pathLst>
              <a:path w="3657600" h="2228850">
                <a:moveTo>
                  <a:pt x="101600" y="2228850"/>
                </a:moveTo>
                <a:lnTo>
                  <a:pt x="101600" y="222885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12725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95960" y="4349750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тестировать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5960" y="4730750"/>
            <a:ext cx="331210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Прежде всего бизнес-логику. БД unit-тестами не проверяют.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67200" y="4171950"/>
            <a:ext cx="3657600" cy="2228850"/>
          </a:xfrm>
          <a:prstGeom prst="roundRect">
            <a:avLst>
              <a:gd name="adj" fmla="val 4558"/>
            </a:avLst>
          </a:prstGeom>
          <a:solidFill>
            <a:srgbClr val="ED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267200" y="4171950"/>
            <a:ext cx="3657600" cy="2228850"/>
          </a:xfrm>
          <a:custGeom>
            <a:avLst/>
            <a:gdLst/>
            <a:ahLst/>
            <a:cxnLst/>
            <a:rect l="l" t="t" r="r" b="b"/>
            <a:pathLst>
              <a:path w="3657600" h="2228850">
                <a:moveTo>
                  <a:pt x="101600" y="2228850"/>
                </a:moveTo>
                <a:lnTo>
                  <a:pt x="101600" y="222885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127250"/>
                </a:lnTo>
                <a:arcTo hR="101600" wR="635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22" name="Text 20"/>
          <p:cNvSpPr/>
          <p:nvPr/>
        </p:nvSpPr>
        <p:spPr>
          <a:xfrm>
            <a:off x="4505960" y="4349750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Асинхронный код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05960" y="4730750"/>
            <a:ext cx="331210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как синхронный: ReturnsAsync вместо Returns.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77200" y="4171950"/>
            <a:ext cx="3657600" cy="2228850"/>
          </a:xfrm>
          <a:prstGeom prst="roundRect">
            <a:avLst>
              <a:gd name="adj" fmla="val 4558"/>
            </a:avLst>
          </a:prstGeom>
          <a:solidFill>
            <a:srgbClr val="EDF1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077200" y="4171950"/>
            <a:ext cx="3657600" cy="2228850"/>
          </a:xfrm>
          <a:custGeom>
            <a:avLst/>
            <a:gdLst/>
            <a:ahLst/>
            <a:cxnLst/>
            <a:rect l="l" t="t" r="r" b="b"/>
            <a:pathLst>
              <a:path w="3657600" h="2228850">
                <a:moveTo>
                  <a:pt x="101600" y="2228850"/>
                </a:moveTo>
                <a:lnTo>
                  <a:pt x="101600" y="222885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2127250"/>
                </a:lnTo>
                <a:arcTo hR="101600" wR="635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15960" y="4349750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улучшают дизайн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15960" y="4730750"/>
            <a:ext cx="331210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Неудобно тестировать - повод пересмотреть абстракции.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58"/>
            <a:ext cx="790166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Test-Driven Development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42"/>
            <a:ext cx="89046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через тестирование: цикл, процесс, плюсы и минусы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TDD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34655"/>
            <a:ext cx="6775958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Техника разработки на основе повторения очень коротких циклов: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42833" y="3832547"/>
            <a:ext cx="6782705" cy="1147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8367" indent="-268367">
              <a:lnSpc>
                <a:spcPts val="2945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Пишем тест на желаемое изменение</a:t>
            </a:r>
            <a:endParaRPr lang="en-US" sz="1900" dirty="0"/>
          </a:p>
          <a:p>
            <a:pPr algn="l" marL="268367" indent="-268367">
              <a:lnSpc>
                <a:spcPts val="2945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Пишем код, чтобы тест прошёл</a:t>
            </a:r>
            <a:endParaRPr lang="en-US" sz="1900" dirty="0"/>
          </a:p>
          <a:p>
            <a:pPr algn="l" marL="268367" indent="-268367">
              <a:lnSpc>
                <a:spcPts val="2945"/>
              </a:lnSpc>
              <a:buSzPct val="100000"/>
              <a:buFontTx/>
              <a:buAutoNum type="arabicPeriod" startAt="1"/>
            </a:pPr>
            <a:r>
              <a:rPr lang="en-US" sz="19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Рефакторим новый код под стандарты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299325" y="2239652"/>
            <a:ext cx="1758950" cy="869950"/>
          </a:xfrm>
          <a:prstGeom prst="roundRect">
            <a:avLst>
              <a:gd name="adj" fmla="val 13504"/>
            </a:avLst>
          </a:prstGeom>
          <a:solidFill>
            <a:srgbClr val="EDF1F5"/>
          </a:solidFill>
          <a:ln w="19050">
            <a:solidFill>
              <a:srgbClr val="B85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90859" y="2350777"/>
            <a:ext cx="5758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59658" y="2731777"/>
            <a:ext cx="16382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падающий тест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966325" y="2239652"/>
            <a:ext cx="1758950" cy="869950"/>
          </a:xfrm>
          <a:prstGeom prst="roundRect">
            <a:avLst>
              <a:gd name="adj" fmla="val 13504"/>
            </a:avLst>
          </a:prstGeom>
          <a:solidFill>
            <a:srgbClr val="EDF1F5"/>
          </a:solidFill>
          <a:ln w="19050">
            <a:solidFill>
              <a:srgbClr val="1A7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05277" y="2350777"/>
            <a:ext cx="8809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02287" y="2731777"/>
            <a:ext cx="14869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проходит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32825" y="4843152"/>
            <a:ext cx="1758950" cy="869950"/>
          </a:xfrm>
          <a:prstGeom prst="roundRect">
            <a:avLst>
              <a:gd name="adj" fmla="val 13504"/>
            </a:avLst>
          </a:prstGeom>
          <a:solidFill>
            <a:srgbClr val="EDF1F5"/>
          </a:solidFill>
          <a:ln w="1905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94033" y="4954277"/>
            <a:ext cx="1236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66016" y="5335277"/>
            <a:ext cx="14925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улучшаем код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51900" y="3690627"/>
            <a:ext cx="1320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TDD</a:t>
            </a:r>
            <a:endParaRPr lang="en-US" sz="3000" dirty="0"/>
          </a:p>
        </p:txBody>
      </p:sp>
      <p:pic>
        <p:nvPicPr>
          <p:cNvPr id="1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67800" y="2611127"/>
            <a:ext cx="889000" cy="127000"/>
          </a:xfrm>
          <a:prstGeom prst="rect">
            <a:avLst/>
          </a:prstGeom>
        </p:spPr>
      </p:pic>
      <p:pic>
        <p:nvPicPr>
          <p:cNvPr id="1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56800" y="3119127"/>
            <a:ext cx="952500" cy="1714500"/>
          </a:xfrm>
          <a:prstGeom prst="rect">
            <a:avLst/>
          </a:prstGeom>
        </p:spPr>
      </p:pic>
      <p:pic>
        <p:nvPicPr>
          <p:cNvPr id="1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5300" y="3119127"/>
            <a:ext cx="952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TDD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TDD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884177"/>
            <a:ext cx="1950720" cy="2120900"/>
          </a:xfrm>
          <a:prstGeom prst="roundRect">
            <a:avLst>
              <a:gd name="adj" fmla="val 5859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884177"/>
            <a:ext cx="1950720" cy="2120900"/>
          </a:xfrm>
          <a:custGeom>
            <a:avLst/>
            <a:gdLst/>
            <a:ahLst/>
            <a:cxnLst/>
            <a:rect l="l" t="t" r="r" b="b"/>
            <a:pathLst>
              <a:path w="1950720" h="212090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836420" y="0"/>
                </a:lnTo>
                <a:arcTo hR="114300" wR="114300" stAng="16200000" swAng="5400000"/>
                <a:lnTo>
                  <a:pt x="1950720" y="114300"/>
                </a:lnTo>
                <a:arcTo hR="76200" wR="114300" stAng="0" swAng="-5400000"/>
                <a:lnTo>
                  <a:pt x="114300" y="38100"/>
                </a:lnTo>
                <a:arcTo hR="76200" wR="1143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3097535"/>
            <a:ext cx="1722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6900" y="3661408"/>
            <a:ext cx="1722120" cy="1191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 тест для новой функции по спецификации</a:t>
            </a:r>
            <a:endParaRPr lang="en-US" sz="17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84120" y="3868427"/>
            <a:ext cx="2286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88920" y="3029905"/>
            <a:ext cx="1950720" cy="1829435"/>
          </a:xfrm>
          <a:prstGeom prst="roundRect">
            <a:avLst>
              <a:gd name="adj" fmla="val 6248"/>
            </a:avLst>
          </a:prstGeom>
          <a:solidFill>
            <a:srgbClr val="ED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3029905"/>
            <a:ext cx="1950720" cy="1829435"/>
          </a:xfrm>
          <a:custGeom>
            <a:avLst/>
            <a:gdLst/>
            <a:ahLst/>
            <a:cxnLst/>
            <a:rect l="l" t="t" r="r" b="b"/>
            <a:pathLst>
              <a:path w="1950720" h="1829435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836420" y="0"/>
                </a:lnTo>
                <a:arcTo hR="114300" wR="114300" stAng="16200000" swAng="5400000"/>
                <a:lnTo>
                  <a:pt x="1950720" y="114300"/>
                </a:lnTo>
                <a:arcTo hR="76200" wR="114300" stAng="0" swAng="-5400000"/>
                <a:lnTo>
                  <a:pt x="114300" y="38100"/>
                </a:lnTo>
                <a:arcTo hR="76200" wR="1143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1" name="Text 8"/>
          <p:cNvSpPr/>
          <p:nvPr/>
        </p:nvSpPr>
        <p:spPr>
          <a:xfrm>
            <a:off x="2928620" y="3243263"/>
            <a:ext cx="1722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928620" y="3807147"/>
            <a:ext cx="1722120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Запускает все существующие тесты</a:t>
            </a:r>
            <a:endParaRPr lang="en-US" sz="17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15840" y="3868427"/>
            <a:ext cx="2286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20640" y="2884177"/>
            <a:ext cx="1950720" cy="2120900"/>
          </a:xfrm>
          <a:prstGeom prst="roundRect">
            <a:avLst>
              <a:gd name="adj" fmla="val 5859"/>
            </a:avLst>
          </a:prstGeom>
          <a:solidFill>
            <a:srgbClr val="ED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5120640" y="2884177"/>
            <a:ext cx="1950720" cy="2120900"/>
          </a:xfrm>
          <a:custGeom>
            <a:avLst/>
            <a:gdLst/>
            <a:ahLst/>
            <a:cxnLst/>
            <a:rect l="l" t="t" r="r" b="b"/>
            <a:pathLst>
              <a:path w="1950720" h="2120900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836420" y="0"/>
                </a:lnTo>
                <a:arcTo hR="114300" wR="114300" stAng="16200000" swAng="5400000"/>
                <a:lnTo>
                  <a:pt x="1950720" y="114300"/>
                </a:lnTo>
                <a:arcTo hR="76200" wR="114300" stAng="0" swAng="-5400000"/>
                <a:lnTo>
                  <a:pt x="114300" y="38100"/>
                </a:lnTo>
                <a:arcTo hR="76200" wR="1143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6" name="Text 12"/>
          <p:cNvSpPr/>
          <p:nvPr/>
        </p:nvSpPr>
        <p:spPr>
          <a:xfrm>
            <a:off x="5260340" y="3097535"/>
            <a:ext cx="1722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260340" y="3661408"/>
            <a:ext cx="1722120" cy="1191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 простейший код, чтобы тест прошёл</a:t>
            </a:r>
            <a:endParaRPr lang="en-US" sz="17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47560" y="3868427"/>
            <a:ext cx="2286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452360" y="3029905"/>
            <a:ext cx="1950720" cy="1829435"/>
          </a:xfrm>
          <a:prstGeom prst="roundRect">
            <a:avLst>
              <a:gd name="adj" fmla="val 6248"/>
            </a:avLst>
          </a:prstGeom>
          <a:solidFill>
            <a:srgbClr val="ED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452360" y="3029905"/>
            <a:ext cx="1950720" cy="1829435"/>
          </a:xfrm>
          <a:custGeom>
            <a:avLst/>
            <a:gdLst/>
            <a:ahLst/>
            <a:cxnLst/>
            <a:rect l="l" t="t" r="r" b="b"/>
            <a:pathLst>
              <a:path w="1950720" h="1829435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836420" y="0"/>
                </a:lnTo>
                <a:arcTo hR="114300" wR="114300" stAng="16200000" swAng="5400000"/>
                <a:lnTo>
                  <a:pt x="1950720" y="114300"/>
                </a:lnTo>
                <a:arcTo hR="76200" wR="114300" stAng="0" swAng="-5400000"/>
                <a:lnTo>
                  <a:pt x="114300" y="38100"/>
                </a:lnTo>
                <a:arcTo hR="76200" wR="1143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21" name="Text 16"/>
          <p:cNvSpPr/>
          <p:nvPr/>
        </p:nvSpPr>
        <p:spPr>
          <a:xfrm>
            <a:off x="7592060" y="3243263"/>
            <a:ext cx="1722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7592060" y="3807147"/>
            <a:ext cx="1722120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Рефакторит код: читаемость и сопровождение</a:t>
            </a:r>
            <a:endParaRPr lang="en-US" sz="17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79280" y="3868427"/>
            <a:ext cx="228600" cy="152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784080" y="3029905"/>
            <a:ext cx="1950720" cy="1829435"/>
          </a:xfrm>
          <a:prstGeom prst="roundRect">
            <a:avLst>
              <a:gd name="adj" fmla="val 6248"/>
            </a:avLst>
          </a:prstGeom>
          <a:solidFill>
            <a:srgbClr val="EDF1F5"/>
          </a:solidFill>
          <a:ln/>
        </p:spPr>
      </p:sp>
      <p:sp>
        <p:nvSpPr>
          <p:cNvPr id="25" name="Shape 19"/>
          <p:cNvSpPr/>
          <p:nvPr/>
        </p:nvSpPr>
        <p:spPr>
          <a:xfrm>
            <a:off x="9784080" y="3029905"/>
            <a:ext cx="1950720" cy="1829435"/>
          </a:xfrm>
          <a:custGeom>
            <a:avLst/>
            <a:gdLst/>
            <a:ahLst/>
            <a:cxnLst/>
            <a:rect l="l" t="t" r="r" b="b"/>
            <a:pathLst>
              <a:path w="1950720" h="1829435">
                <a:moveTo>
                  <a:pt x="0" y="114300"/>
                </a:moveTo>
                <a:lnTo>
                  <a:pt x="0" y="114300"/>
                </a:lnTo>
                <a:arcTo hR="114300" wR="114300" stAng="10800000" swAng="5400000"/>
                <a:lnTo>
                  <a:pt x="1836420" y="0"/>
                </a:lnTo>
                <a:arcTo hR="114300" wR="114300" stAng="16200000" swAng="5400000"/>
                <a:lnTo>
                  <a:pt x="1950720" y="114300"/>
                </a:lnTo>
                <a:arcTo hR="76200" wR="114300" stAng="0" swAng="-5400000"/>
                <a:lnTo>
                  <a:pt x="114300" y="38100"/>
                </a:lnTo>
                <a:arcTo hR="76200" wR="1143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26" name="Text 20"/>
          <p:cNvSpPr/>
          <p:nvPr/>
        </p:nvSpPr>
        <p:spPr>
          <a:xfrm>
            <a:off x="9923780" y="3243263"/>
            <a:ext cx="1722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9923780" y="3807147"/>
            <a:ext cx="1722120" cy="899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Повторяет процесс для каждой функции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TDD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 и минусы TDD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42"/>
            <a:ext cx="6286262" cy="4912360"/>
          </a:xfrm>
          <a:prstGeom prst="roundRect">
            <a:avLst>
              <a:gd name="adj" fmla="val 2585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8442"/>
            <a:ext cx="6286262" cy="4912360"/>
          </a:xfrm>
          <a:custGeom>
            <a:avLst/>
            <a:gdLst/>
            <a:ahLst/>
            <a:cxnLst/>
            <a:rect l="l" t="t" r="r" b="b"/>
            <a:pathLst>
              <a:path w="6286262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6159262" y="0"/>
                </a:lnTo>
                <a:arcTo hR="127000" wR="127000" stAng="16200000" swAng="5400000"/>
                <a:lnTo>
                  <a:pt x="6286262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778000"/>
            <a:ext cx="59516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0796" y="2184400"/>
            <a:ext cx="5874394" cy="1903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Надёжный код - быстрее поставка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гибкий: рефакторинг с минимальным риском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сами проверены: каждый сначала падает - минимум ложных срабатываний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легко тестировать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лишнего кода - только под требования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6662" y="1488442"/>
            <a:ext cx="4788138" cy="4912360"/>
          </a:xfrm>
          <a:prstGeom prst="roundRect">
            <a:avLst>
              <a:gd name="adj" fmla="val 2652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6946662" y="1488442"/>
            <a:ext cx="4788138" cy="4912360"/>
          </a:xfrm>
          <a:custGeom>
            <a:avLst/>
            <a:gdLst/>
            <a:ahLst/>
            <a:cxnLst/>
            <a:rect l="l" t="t" r="r" b="b"/>
            <a:pathLst>
              <a:path w="4788138" h="49123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4661138" y="0"/>
                </a:lnTo>
                <a:arcTo hR="127000" wR="127000" stAng="16200000" swAng="5400000"/>
                <a:lnTo>
                  <a:pt x="4788138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0" name="Text 8"/>
          <p:cNvSpPr/>
          <p:nvPr/>
        </p:nvSpPr>
        <p:spPr>
          <a:xfrm>
            <a:off x="7200662" y="1778000"/>
            <a:ext cx="44085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8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70258" y="2184400"/>
            <a:ext cx="4331327" cy="1590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времени на код и тесты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большой опыт: плохие тесты обесценивают подход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Некоторые тесты сложно написать - например, для GUI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TDD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и тесты на практике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0585"/>
            <a:ext cx="4699000" cy="3688080"/>
          </a:xfrm>
          <a:prstGeom prst="roundRect">
            <a:avLst>
              <a:gd name="adj" fmla="val 3444"/>
            </a:avLst>
          </a:prstGeom>
          <a:solidFill>
            <a:srgbClr val="E3F1E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29185"/>
            <a:ext cx="43690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ТИПИЧНЫЙ НАБОР ТЕСТОВ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5"/>
            <a:ext cx="4241800" cy="886460"/>
          </a:xfrm>
          <a:prstGeom prst="roundRect">
            <a:avLst>
              <a:gd name="adj" fmla="val 10029"/>
            </a:avLst>
          </a:prstGeom>
          <a:solidFill>
            <a:srgbClr val="F8FAFB"/>
          </a:solidFill>
          <a:ln/>
        </p:spPr>
      </p:sp>
      <p:sp>
        <p:nvSpPr>
          <p:cNvPr id="7" name="Text 5"/>
          <p:cNvSpPr/>
          <p:nvPr/>
        </p:nvSpPr>
        <p:spPr>
          <a:xfrm>
            <a:off x="850900" y="2824485"/>
            <a:ext cx="40289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интеграционный тест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900" y="3154685"/>
            <a:ext cx="402894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каждую ручку (эндпоинт)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685542"/>
            <a:ext cx="4241800" cy="886460"/>
          </a:xfrm>
          <a:prstGeom prst="roundRect">
            <a:avLst>
              <a:gd name="adj" fmla="val 10029"/>
            </a:avLst>
          </a:prstGeom>
          <a:solidFill>
            <a:srgbClr val="F8FAFB"/>
          </a:solidFill>
          <a:ln/>
        </p:spPr>
      </p:sp>
      <p:sp>
        <p:nvSpPr>
          <p:cNvPr id="10" name="Text 8"/>
          <p:cNvSpPr/>
          <p:nvPr/>
        </p:nvSpPr>
        <p:spPr>
          <a:xfrm>
            <a:off x="850900" y="3812542"/>
            <a:ext cx="40289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бизнес-логики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0900" y="4142742"/>
            <a:ext cx="402894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успешный и все неуспешные кейсы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4673600"/>
            <a:ext cx="4241800" cy="886460"/>
          </a:xfrm>
          <a:prstGeom prst="roundRect">
            <a:avLst>
              <a:gd name="adj" fmla="val 10029"/>
            </a:avLst>
          </a:prstGeom>
          <a:solidFill>
            <a:srgbClr val="F8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" y="4800600"/>
            <a:ext cx="402894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E2E-тесты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900" y="5130800"/>
            <a:ext cx="402894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пользовательские сценарии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91734" y="2784475"/>
            <a:ext cx="6424422" cy="2345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не обязателен: многие команды работают по другим методологиям.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по TDD: интерфейсы с пустой реализацией, затем тесты.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 % покрытия не обязателен; много багов - покрытие растят.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Хрупкие тесты всплывают при рефакторинге.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70"/>
            <a:ext cx="565655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Unit-тесты в C#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55"/>
            <a:ext cx="659015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Фреймворки, атрибуты xUnit и общий контекст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UNIT-ТЕСТЫ В C#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Фреймворки тестирования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88455"/>
            <a:ext cx="3640614" cy="4371340"/>
          </a:xfrm>
          <a:prstGeom prst="roundRect">
            <a:avLst>
              <a:gd name="adj" fmla="val 3488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88455"/>
            <a:ext cx="3640614" cy="4371340"/>
          </a:xfrm>
          <a:custGeom>
            <a:avLst/>
            <a:gdLst/>
            <a:ahLst/>
            <a:cxnLst/>
            <a:rect l="l" t="t" r="r" b="b"/>
            <a:pathLst>
              <a:path w="3640614" h="437134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513614" y="0"/>
                </a:lnTo>
                <a:arcTo hR="127000" wR="127000" stAng="16200000" swAng="5400000"/>
                <a:lnTo>
                  <a:pt x="3640614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778000"/>
            <a:ext cx="3226592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xUnit.net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1200" y="2270770"/>
            <a:ext cx="3226592" cy="160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5"/>
              </a:lnSpc>
              <a:buNone/>
            </a:pPr>
            <a:r>
              <a:rPr lang="en-US" sz="175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 одним из авторов NUnit, исправляет его недостатки. Раньше вышел на .NET Core. Каждый тест - в своём экземпляре класса.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275614" y="1488455"/>
            <a:ext cx="3640693" cy="4371340"/>
          </a:xfrm>
          <a:prstGeom prst="roundRect">
            <a:avLst>
              <a:gd name="adj" fmla="val 3488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4275614" y="1488455"/>
            <a:ext cx="3640693" cy="4371340"/>
          </a:xfrm>
          <a:custGeom>
            <a:avLst/>
            <a:gdLst/>
            <a:ahLst/>
            <a:cxnLst/>
            <a:rect l="l" t="t" r="r" b="b"/>
            <a:pathLst>
              <a:path w="3640693" h="437134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513693" y="0"/>
                </a:lnTo>
                <a:arcTo hR="127000" wR="127000" stAng="16200000" swAng="5400000"/>
                <a:lnTo>
                  <a:pt x="364069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0" name="Text 8"/>
          <p:cNvSpPr/>
          <p:nvPr/>
        </p:nvSpPr>
        <p:spPr>
          <a:xfrm>
            <a:off x="4529614" y="1778000"/>
            <a:ext cx="322667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5FB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NUnit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9614" y="2270770"/>
            <a:ext cx="3226674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5"/>
              </a:lnSpc>
              <a:buNone/>
            </a:pPr>
            <a:r>
              <a:rPr lang="en-US" sz="175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Исторически один экземпляр тестового класса на все тесты. Сейчас тоже умеет изолировать контекст.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94107" y="1488455"/>
            <a:ext cx="3640693" cy="4371340"/>
          </a:xfrm>
          <a:prstGeom prst="roundRect">
            <a:avLst>
              <a:gd name="adj" fmla="val 3488"/>
            </a:avLst>
          </a:prstGeom>
          <a:solidFill>
            <a:srgbClr val="ED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4107" y="1488455"/>
            <a:ext cx="3640693" cy="4371340"/>
          </a:xfrm>
          <a:custGeom>
            <a:avLst/>
            <a:gdLst/>
            <a:ahLst/>
            <a:cxnLst/>
            <a:rect l="l" t="t" r="r" b="b"/>
            <a:pathLst>
              <a:path w="3640693" h="437134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3513693" y="0"/>
                </a:lnTo>
                <a:arcTo hR="127000" wR="127000" stAng="16200000" swAng="5400000"/>
                <a:lnTo>
                  <a:pt x="3640693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4" name="Text 12"/>
          <p:cNvSpPr/>
          <p:nvPr/>
        </p:nvSpPr>
        <p:spPr>
          <a:xfrm>
            <a:off x="8348107" y="1778000"/>
            <a:ext cx="3226674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B8540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MSTest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48107" y="2270770"/>
            <a:ext cx="3226674" cy="972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5"/>
              </a:lnSpc>
              <a:buNone/>
            </a:pPr>
            <a:r>
              <a:rPr lang="en-US" sz="175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Раньше был проприетарным, сейчас open source и активно развивается.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57200" y="6062985"/>
            <a:ext cx="1161592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практике используют все три, но популярнее всего </a:t>
            </a:r>
            <a:r>
              <a:rPr lang="en-US" sz="19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</a:t>
            </a:r>
            <a:r>
              <a:rPr lang="en-US" sz="19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UNIT-ТЕСТЫ В C#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понятия xUnit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84735"/>
            <a:ext cx="11277600" cy="797560"/>
          </a:xfrm>
          <a:prstGeom prst="roundRect">
            <a:avLst>
              <a:gd name="adj" fmla="val 14331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/>
          <p:nvPr/>
        </p:nvSpPr>
        <p:spPr>
          <a:xfrm>
            <a:off x="711200" y="2487935"/>
            <a:ext cx="19621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[Fact]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870200" y="2487935"/>
            <a:ext cx="886891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юнит-тест без параметров.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3234705"/>
            <a:ext cx="11277600" cy="797560"/>
          </a:xfrm>
          <a:prstGeom prst="roundRect">
            <a:avLst>
              <a:gd name="adj" fmla="val 14331"/>
            </a:avLst>
          </a:prstGeom>
          <a:solidFill>
            <a:srgbClr val="EDF1F5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" y="3437905"/>
            <a:ext cx="19621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[Theory]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70200" y="3437905"/>
            <a:ext cx="886891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с параметрами: один код - несколько сценариев.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184650"/>
            <a:ext cx="11277600" cy="1419860"/>
          </a:xfrm>
          <a:prstGeom prst="roundRect">
            <a:avLst>
              <a:gd name="adj" fmla="val 8050"/>
            </a:avLst>
          </a:prstGeom>
          <a:solidFill>
            <a:srgbClr val="EDF1F5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" y="4387850"/>
            <a:ext cx="19621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Fixture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70200" y="4387850"/>
            <a:ext cx="8868918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для настройки и очистки контекста. Подключается через IClassFixture или через коллекцию и ICollectionFixture - тогда контекст общий для нескольких классов.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XUNIT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58170"/>
            <a:ext cx="5816600" cy="970280"/>
          </a:xfrm>
          <a:prstGeom prst="roundRect">
            <a:avLst>
              <a:gd name="adj" fmla="val 10471"/>
            </a:avLst>
          </a:prstGeom>
          <a:solidFill>
            <a:srgbClr val="EDF1F5"/>
          </a:solidFill>
          <a:ln/>
        </p:spPr>
        <p:txBody>
          <a:bodyPr wrap="square" lIns="196302" tIns="135342" rIns="0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[Fact]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объявляет метод теста, который выполняется средством запуска тестов.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058170"/>
            <a:ext cx="5816600" cy="970280"/>
          </a:xfrm>
          <a:custGeom>
            <a:avLst/>
            <a:gdLst/>
            <a:ahLst/>
            <a:cxnLst/>
            <a:rect l="l" t="t" r="r" b="b"/>
            <a:pathLst>
              <a:path w="5816600" h="970280">
                <a:moveTo>
                  <a:pt x="101600" y="970280"/>
                </a:moveTo>
                <a:lnTo>
                  <a:pt x="101600" y="9702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8686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80855"/>
            <a:ext cx="5816600" cy="650240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  <p:txBody>
          <a:bodyPr wrap="square" lIns="196302" tIns="135342" rIns="0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- из IDE или в консоли: </a:t>
            </a:r>
            <a:r>
              <a:rPr lang="en-US" sz="180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test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180855"/>
            <a:ext cx="5816600" cy="650240"/>
          </a:xfrm>
          <a:custGeom>
            <a:avLst/>
            <a:gdLst/>
            <a:ahLst/>
            <a:cxnLst/>
            <a:rect l="l" t="t" r="r" b="b"/>
            <a:pathLst>
              <a:path w="5816600" h="650240">
                <a:moveTo>
                  <a:pt x="101600" y="650240"/>
                </a:moveTo>
                <a:lnTo>
                  <a:pt x="101600" y="6502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4864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6530975" y="2162349"/>
            <a:ext cx="5200650" cy="3564573"/>
          </a:xfrm>
          <a:prstGeom prst="roundRect">
            <a:avLst>
              <a:gd name="adj" fmla="val 2761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8" tIns="112777" rIns="0" bIns="87378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using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Xunit;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using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Prime.Services;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namespace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Prime.UnitTests.Services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PrimeService_IsPrimeShould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IsPrime_ReturnFalse()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XUNIT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[Theory] + [InlineData]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38115"/>
            <a:ext cx="4419600" cy="970280"/>
          </a:xfrm>
          <a:prstGeom prst="roundRect">
            <a:avLst>
              <a:gd name="adj" fmla="val 10471"/>
            </a:avLst>
          </a:prstGeom>
          <a:solidFill>
            <a:srgbClr val="EDF1F5"/>
          </a:solidFill>
          <a:ln/>
        </p:spPr>
        <p:txBody>
          <a:bodyPr wrap="square" lIns="196302" tIns="135342" rIns="40651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[Theory]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набор тестов: один код, разные входные аргументы.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38115"/>
            <a:ext cx="4419600" cy="970280"/>
          </a:xfrm>
          <a:custGeom>
            <a:avLst/>
            <a:gdLst/>
            <a:ahLst/>
            <a:cxnLst/>
            <a:rect l="l" t="t" r="r" b="b"/>
            <a:pathLst>
              <a:path w="4419600" h="970280">
                <a:moveTo>
                  <a:pt x="101600" y="970280"/>
                </a:moveTo>
                <a:lnTo>
                  <a:pt x="101600" y="9702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8686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860800"/>
            <a:ext cx="4419600" cy="1290320"/>
          </a:xfrm>
          <a:prstGeom prst="roundRect">
            <a:avLst>
              <a:gd name="adj" fmla="val 7874"/>
            </a:avLst>
          </a:prstGeom>
          <a:solidFill>
            <a:srgbClr val="EDF1F5"/>
          </a:solidFill>
          <a:ln/>
        </p:spPr>
        <p:txBody>
          <a:bodyPr wrap="square" lIns="196302" tIns="135342" rIns="40651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[InlineData]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задаёт значения аргументов - каждый набор становится отдельным тестом.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60800"/>
            <a:ext cx="4419600" cy="1290320"/>
          </a:xfrm>
          <a:custGeom>
            <a:avLst/>
            <a:gdLst/>
            <a:ahLst/>
            <a:cxnLst/>
            <a:rect l="l" t="t" r="r" b="b"/>
            <a:pathLst>
              <a:path w="4419600" h="1290320">
                <a:moveTo>
                  <a:pt x="101600" y="1290320"/>
                </a:moveTo>
                <a:lnTo>
                  <a:pt x="101600" y="129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887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5133975" y="2540967"/>
            <a:ext cx="6597650" cy="2807335"/>
          </a:xfrm>
          <a:prstGeom prst="roundRect">
            <a:avLst>
              <a:gd name="adj" fmla="val 350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7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Theory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(-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IsPrime_ValuesLessThan2_ReturnFalse(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value)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result = _primeService.IsPrime(value);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Assert.False(result, </a:t>
            </a:r>
            <a:r>
              <a:rPr lang="en-US" sz="14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$"{value} should not be prime"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XUNIT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[Theory] + [MemberData]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38115"/>
            <a:ext cx="4165600" cy="1290320"/>
          </a:xfrm>
          <a:prstGeom prst="roundRect">
            <a:avLst>
              <a:gd name="adj" fmla="val 7874"/>
            </a:avLst>
          </a:prstGeom>
          <a:solidFill>
            <a:srgbClr val="EDF1F5"/>
          </a:solidFill>
          <a:ln/>
        </p:spPr>
        <p:txBody>
          <a:bodyPr wrap="square" lIns="196302" tIns="135342" rIns="48271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[MemberData]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берёт наборы аргументов из статического члена класса.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38115"/>
            <a:ext cx="4165600" cy="1290320"/>
          </a:xfrm>
          <a:custGeom>
            <a:avLst/>
            <a:gdLst/>
            <a:ahLst/>
            <a:cxnLst/>
            <a:rect l="l" t="t" r="r" b="b"/>
            <a:pathLst>
              <a:path w="4165600" h="1290320">
                <a:moveTo>
                  <a:pt x="101600" y="1290320"/>
                </a:moveTo>
                <a:lnTo>
                  <a:pt x="101600" y="129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887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80855"/>
            <a:ext cx="4165600" cy="970280"/>
          </a:xfrm>
          <a:prstGeom prst="roundRect">
            <a:avLst>
              <a:gd name="adj" fmla="val 10471"/>
            </a:avLst>
          </a:prstGeom>
          <a:solidFill>
            <a:srgbClr val="EDF1F5"/>
          </a:solidFill>
          <a:ln/>
        </p:spPr>
        <p:txBody>
          <a:bodyPr wrap="square" lIns="196302" tIns="135342" rIns="48271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Удобно для значений enum и сложных наборов данных.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180855"/>
            <a:ext cx="4165600" cy="970280"/>
          </a:xfrm>
          <a:custGeom>
            <a:avLst/>
            <a:gdLst/>
            <a:ahLst/>
            <a:cxnLst/>
            <a:rect l="l" t="t" r="r" b="b"/>
            <a:pathLst>
              <a:path w="4165600" h="970280">
                <a:moveTo>
                  <a:pt x="101600" y="970280"/>
                </a:moveTo>
                <a:lnTo>
                  <a:pt x="101600" y="9702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8686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4879975" y="2162349"/>
            <a:ext cx="6851650" cy="3564573"/>
          </a:xfrm>
          <a:prstGeom prst="roundRect">
            <a:avLst>
              <a:gd name="adj" fmla="val 2761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8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TestSuite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Theory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MemberData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(nameof(AgeHeightWeightData))]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Should_measure_weight(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age,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height,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decimal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weight) { ...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IEnumerable&lt;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[]&gt; AgeHeightWeightData()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yield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[] {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180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80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};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yield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object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[] {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180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50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};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XUNIT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и teardown: конструктор и Dispose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38115"/>
            <a:ext cx="4800600" cy="1290320"/>
          </a:xfrm>
          <a:prstGeom prst="roundRect">
            <a:avLst>
              <a:gd name="adj" fmla="val 7874"/>
            </a:avLst>
          </a:prstGeom>
          <a:solidFill>
            <a:srgbClr val="EDF1F5"/>
          </a:solidFill>
          <a:ln/>
        </p:spPr>
        <p:txBody>
          <a:bodyPr wrap="square" lIns="196302" tIns="135342" rIns="29221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 создаёт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экземпляр класса на каждый тест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у каждого теста свой Stack.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38115"/>
            <a:ext cx="4800600" cy="1290320"/>
          </a:xfrm>
          <a:custGeom>
            <a:avLst/>
            <a:gdLst/>
            <a:ahLst/>
            <a:cxnLst/>
            <a:rect l="l" t="t" r="r" b="b"/>
            <a:pathLst>
              <a:path w="4800600" h="1290320">
                <a:moveTo>
                  <a:pt x="101600" y="1290320"/>
                </a:moveTo>
                <a:lnTo>
                  <a:pt x="101600" y="129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887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80855"/>
            <a:ext cx="4800600" cy="970280"/>
          </a:xfrm>
          <a:prstGeom prst="roundRect">
            <a:avLst>
              <a:gd name="adj" fmla="val 10471"/>
            </a:avLst>
          </a:prstGeom>
          <a:solidFill>
            <a:srgbClr val="EDF1F5"/>
          </a:solidFill>
          <a:ln/>
        </p:spPr>
        <p:txBody>
          <a:bodyPr wrap="square" lIns="196302" tIns="135342" rIns="29221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Конструктор - повторяющаяся настройка. Dispose - очистка.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180855"/>
            <a:ext cx="4800600" cy="970280"/>
          </a:xfrm>
          <a:custGeom>
            <a:avLst/>
            <a:gdLst/>
            <a:ahLst/>
            <a:cxnLst/>
            <a:rect l="l" t="t" r="r" b="b"/>
            <a:pathLst>
              <a:path w="4800600" h="970280">
                <a:moveTo>
                  <a:pt x="101600" y="970280"/>
                </a:moveTo>
                <a:lnTo>
                  <a:pt x="101600" y="9702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8686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5514975" y="1405111"/>
            <a:ext cx="6216650" cy="5079048"/>
          </a:xfrm>
          <a:prstGeom prst="roundRect">
            <a:avLst>
              <a:gd name="adj" fmla="val 1938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8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StackTests : IDisposable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Stack&lt;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&gt; stack;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StackTests()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stack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Stack&lt;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&gt;();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Dispose()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stack.Clear();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AfterPushingItem_CountShouldReturnOne()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stack.Push(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42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count = stack.Count;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Assert.Equal(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count);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XUNIT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IClassFixture - общий контекст класса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56755"/>
            <a:ext cx="3975100" cy="1290320"/>
          </a:xfrm>
          <a:prstGeom prst="roundRect">
            <a:avLst>
              <a:gd name="adj" fmla="val 7874"/>
            </a:avLst>
          </a:prstGeom>
          <a:solidFill>
            <a:srgbClr val="EDF1F5"/>
          </a:solidFill>
          <a:ln/>
        </p:spPr>
        <p:txBody>
          <a:bodyPr wrap="square" lIns="196302" tIns="135342" rIns="53986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Фикстура создаётся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раз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все тесты класса - они видят изменения друг друга.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56755"/>
            <a:ext cx="3975100" cy="1290320"/>
          </a:xfrm>
          <a:custGeom>
            <a:avLst/>
            <a:gdLst/>
            <a:ahLst/>
            <a:cxnLst/>
            <a:rect l="l" t="t" r="r" b="b"/>
            <a:pathLst>
              <a:path w="3975100" h="1290320">
                <a:moveTo>
                  <a:pt x="101600" y="1290320"/>
                </a:moveTo>
                <a:lnTo>
                  <a:pt x="101600" y="129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887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9470"/>
            <a:ext cx="3975100" cy="1290320"/>
          </a:xfrm>
          <a:prstGeom prst="roundRect">
            <a:avLst>
              <a:gd name="adj" fmla="val 7874"/>
            </a:avLst>
          </a:prstGeom>
          <a:solidFill>
            <a:srgbClr val="EDF1F5"/>
          </a:solidFill>
          <a:ln/>
        </p:spPr>
        <p:txBody>
          <a:bodyPr wrap="square" lIns="196302" tIns="135342" rIns="53986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 сам создаст фикстуру и передаст в конструктор. Фикстур может быть несколько.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9470"/>
            <a:ext cx="3975100" cy="1290320"/>
          </a:xfrm>
          <a:custGeom>
            <a:avLst/>
            <a:gdLst/>
            <a:ahLst/>
            <a:cxnLst/>
            <a:rect l="l" t="t" r="r" b="b"/>
            <a:pathLst>
              <a:path w="3975100" h="1290320">
                <a:moveTo>
                  <a:pt x="101600" y="1290320"/>
                </a:moveTo>
                <a:lnTo>
                  <a:pt x="101600" y="129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887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42185"/>
            <a:ext cx="3975100" cy="1290320"/>
          </a:xfrm>
          <a:prstGeom prst="roundRect">
            <a:avLst>
              <a:gd name="adj" fmla="val 7874"/>
            </a:avLst>
          </a:prstGeom>
          <a:solidFill>
            <a:srgbClr val="EDF1F5"/>
          </a:solidFill>
          <a:ln/>
        </p:spPr>
        <p:txBody>
          <a:bodyPr wrap="square" lIns="196302" tIns="135342" rIns="53986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Примеры: БД для интеграционных тестов, WebApplicationFactory.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742185"/>
            <a:ext cx="3975100" cy="1290320"/>
          </a:xfrm>
          <a:custGeom>
            <a:avLst/>
            <a:gdLst/>
            <a:ahLst/>
            <a:cxnLst/>
            <a:rect l="l" t="t" r="r" b="b"/>
            <a:pathLst>
              <a:path w="3975100" h="1290320">
                <a:moveTo>
                  <a:pt x="101600" y="1290320"/>
                </a:moveTo>
                <a:lnTo>
                  <a:pt x="101600" y="12903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1887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4689475" y="1422871"/>
            <a:ext cx="7042150" cy="5043488"/>
          </a:xfrm>
          <a:prstGeom prst="roundRect">
            <a:avLst>
              <a:gd name="adj" fmla="val 1952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7" rtlCol="0" anchor="t">
            <a:normAutofit/>
          </a:bodyPr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SharedInMemoryDbContextTests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: IClassFixture&lt;InMemoryDbContextFixture&gt;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InMemoryDbContextFixture fixture;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SharedInMemoryDbContextTests(InMemoryDbContextFixture fixture)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this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.fixture = fixture;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WithNoItems_CountShouldReturnZero()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count = fixture.Context.Users.Count();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Assert.Equal(</a:t>
            </a:r>
            <a:r>
              <a:rPr lang="en-US" sz="12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count);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AfterAddingItem_CountShouldReturnOne()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fixture.Context.Users.Add(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User());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count = fixture.Context.Users.Count();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Assert.Equal(</a:t>
            </a:r>
            <a:r>
              <a:rPr lang="en-US" sz="12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count);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XUNIT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ICollectionFixture - контекст на несколько классов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37655"/>
            <a:ext cx="1161592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[CollectionDefinition]</a:t>
            </a: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ICollectionFixture&lt;T&gt;, а тестовые классы помечаем </a:t>
            </a: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[Collection]</a:t>
            </a: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 тем же именем.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0375" y="1895475"/>
            <a:ext cx="5543550" cy="4502150"/>
          </a:xfrm>
          <a:prstGeom prst="roundRect">
            <a:avLst>
              <a:gd name="adj" fmla="val 218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037085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ФИКСТУРА И КОЛЛЕКЦИЯ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379985"/>
            <a:ext cx="5391988" cy="3632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DatabaseFixture : IDisposable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DatabaseFixture()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Db =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SqlConnection(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"MyConnectionString"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Dispose()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... очистка тестовых данных в БД ...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SqlConnection Db {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get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set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CollectionDefinition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"Database collection"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DatabaseCollection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: ICollectionFixture&lt;DatabaseFixture&gt; { 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8075" y="1895475"/>
            <a:ext cx="5543550" cy="4502150"/>
          </a:xfrm>
          <a:prstGeom prst="roundRect">
            <a:avLst>
              <a:gd name="adj" fmla="val 218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380" y="2037085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КЛАССЫ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2380" y="2379985"/>
            <a:ext cx="5391988" cy="3406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Collection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"Database collection"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DatabaseTestClass1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DatabaseFixture fixture;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DatabaseTestClass1(DatabaseFixture fixture)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this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.fixture = fixture;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Collection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"Database collection"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DatabaseTestClass2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...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UNIT-ТЕСТЫ В C#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37655"/>
            <a:ext cx="1161592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та же - меняются атрибуты и стиль Assert.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0375" y="1895475"/>
            <a:ext cx="5543550" cy="4502150"/>
          </a:xfrm>
          <a:prstGeom prst="roundRect">
            <a:avLst>
              <a:gd name="adj" fmla="val 218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037085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379985"/>
            <a:ext cx="5391988" cy="3857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StringCalculatorTests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readonly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_calculator;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StringCalculatorTests()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_calculator =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Theory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"0,0,0"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InlineData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"1,2,3"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Add_MultipleNumbers_ReturnsSum(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input,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_calculator.Add(input);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Assert.Equal(expected, actual);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8075" y="1895475"/>
            <a:ext cx="5543550" cy="4502150"/>
          </a:xfrm>
          <a:prstGeom prst="roundRect">
            <a:avLst>
              <a:gd name="adj" fmla="val 2186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2380" y="2037085"/>
            <a:ext cx="53919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2380" y="2379985"/>
            <a:ext cx="5391988" cy="3857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StringCalculatorTests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 _calculator;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SetUp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SetUp()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_calculator =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StringCalculator();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TestCase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"0,0,0"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25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TestCase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"1,2,3"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25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)]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Add_MultipleNumbers_ReturnsSum(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input,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expected)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25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_calculator.Add(input);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Assert.That(actual, Is.EqualTo(expected));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250" dirty="0"/>
          </a:p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UNIT-ТЕСТЫ В C#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 ↔ NUnit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93535"/>
            <a:ext cx="112776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2280" y="1488455"/>
            <a:ext cx="0" cy="411988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87515"/>
          <a:ext cx="11013440" cy="3931920"/>
        </p:xfrm>
        <a:graphic>
          <a:graphicData uri="http://schemas.openxmlformats.org/drawingml/2006/table">
            <a:tbl>
              <a:tblPr/>
              <a:tblGrid>
                <a:gridCol w="2863494"/>
                <a:gridCol w="4074973"/>
                <a:gridCol w="4074973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xUnit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NUnit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Тестовый класс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обычный класс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обычный класс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 без параметров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[Fact]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[Test]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 с параметрами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[Theory] + [InlineData]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[TestCase(…)]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Данные из метода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[MemberData]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[TestCaseSource]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Перед каждым тестом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конструктор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[SetUp]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каждого теста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Dispose()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[TearDown]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раз на класс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IClassFixture&lt;T&gt;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[OneTimeSetUp]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Assert.Equal(exp, act)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Assert.That(act, Is.EqualTo(exp))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70"/>
            <a:ext cx="601235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55"/>
            <a:ext cx="7004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Assert и библиотека FluentAssertions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ASSERTIONS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в xUnit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86620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Equal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06700" y="2086620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1605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Contains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06700" y="2561605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InRange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36565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Empty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06700" y="3036565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 / False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11550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IsType&lt;T&gt;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06700" y="3511550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986535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Throws&lt;T&gt;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06700" y="3986535"/>
            <a:ext cx="2260600" cy="411480"/>
          </a:xfrm>
          <a:prstGeom prst="roundRect">
            <a:avLst>
              <a:gd name="adj" fmla="val 15432"/>
            </a:avLst>
          </a:prstGeom>
          <a:solidFill>
            <a:srgbClr val="EDF1F5"/>
          </a:solidFill>
          <a:ln/>
        </p:spPr>
        <p:txBody>
          <a:bodyPr wrap="square" lIns="83001" tIns="44901" rIns="21279" bIns="19501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Equivalent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6796" y="4550420"/>
            <a:ext cx="4671187" cy="127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</a:t>
            </a: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по ссылке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</a:t>
            </a: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по значениям полей</a:t>
            </a:r>
            <a:endParaRPr lang="en-US" sz="1700" dirty="0"/>
          </a:p>
          <a:p>
            <a:pPr algn="l" marL="184404" indent="-184404">
              <a:lnSpc>
                <a:spcPts val="2465"/>
              </a:lnSpc>
              <a:buSzPct val="100000"/>
              <a:buChar char="•"/>
            </a:pPr>
            <a:r>
              <a:rPr lang="en-US" sz="17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IsAssignableFrom</a:t>
            </a: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реализует ли тип/интерфейс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24475" y="2045022"/>
            <a:ext cx="6407150" cy="3799126"/>
          </a:xfrm>
          <a:prstGeom prst="roundRect">
            <a:avLst>
              <a:gd name="adj" fmla="val 2591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8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TestMethod_ShouldHandleException()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Arrange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exceptionType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typeof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(InvalidOperationException);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expectedMessage = 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"The operation is invalid."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Act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 = Record.Exception(() =&gt; 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throw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InvalidOperationException(expectedMessage);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Assert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Assert.NotNull(ex);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Assert.IsType(exceptionType, ex);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Assert.Equal(expectedMessage, ex.Message);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ASSERTIONS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FluentAssertions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375" y="1466230"/>
            <a:ext cx="11271250" cy="3412490"/>
          </a:xfrm>
          <a:prstGeom prst="roundRect">
            <a:avLst>
              <a:gd name="adj" fmla="val 2884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112777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string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actual = 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"ABCDEFGHI"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actual.Should().StartWith(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"AB"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).And.EndWith(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"HI"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).And.Contain(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"EF"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).And.HaveLength(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9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IEnumerable&lt;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&gt; numbers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[] {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};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numbers.Should().OnlyContain(n =&gt; n &gt;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numbers.Should().HaveCount(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"because we thought we put four items in the collection"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dictionary.Should().ContainValue(myClass).Which.SomeProperty.Should().BeGreaterThan(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someObject.Should().BeOfType&lt;Exception&gt;().Which.Message.Should().Be(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"Other Message"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xDocument.Should().HaveElement(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"child"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).Which.Should().BeOfType&lt;XElement&gt;().And.HaveAttribute(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"attr"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3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"1"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059685"/>
            <a:ext cx="36576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5059685"/>
            <a:ext cx="3657600" cy="1341120"/>
          </a:xfrm>
          <a:custGeom>
            <a:avLst/>
            <a:gdLst/>
            <a:ahLst/>
            <a:cxnLst/>
            <a:rect l="l" t="t" r="r" b="b"/>
            <a:pathLst>
              <a:path w="36576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7" name="Text 5"/>
          <p:cNvSpPr/>
          <p:nvPr/>
        </p:nvSpPr>
        <p:spPr>
          <a:xfrm>
            <a:off x="695960" y="5237485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Should()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5960" y="5618485"/>
            <a:ext cx="331210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начинает проверку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67200" y="5059685"/>
            <a:ext cx="36576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200" y="5059685"/>
            <a:ext cx="3657600" cy="1341120"/>
          </a:xfrm>
          <a:custGeom>
            <a:avLst/>
            <a:gdLst/>
            <a:ahLst/>
            <a:cxnLst/>
            <a:rect l="l" t="t" r="r" b="b"/>
            <a:pathLst>
              <a:path w="36576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1" name="Text 9"/>
          <p:cNvSpPr/>
          <p:nvPr/>
        </p:nvSpPr>
        <p:spPr>
          <a:xfrm>
            <a:off x="4505960" y="5237485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/ Which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5960" y="5618485"/>
            <a:ext cx="3312109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цепочки проверок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77200" y="5059685"/>
            <a:ext cx="3657600" cy="1341120"/>
          </a:xfrm>
          <a:prstGeom prst="roundRect">
            <a:avLst>
              <a:gd name="adj" fmla="val 7576"/>
            </a:avLst>
          </a:prstGeom>
          <a:solidFill>
            <a:srgbClr val="ED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77200" y="5059685"/>
            <a:ext cx="3657600" cy="1341120"/>
          </a:xfrm>
          <a:custGeom>
            <a:avLst/>
            <a:gdLst/>
            <a:ahLst/>
            <a:cxnLst/>
            <a:rect l="l" t="t" r="r" b="b"/>
            <a:pathLst>
              <a:path w="3657600" h="1341120">
                <a:moveTo>
                  <a:pt x="101600" y="1341120"/>
                </a:moveTo>
                <a:lnTo>
                  <a:pt x="101600" y="13411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239520"/>
                </a:lnTo>
                <a:arcTo hR="101600" wR="635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15960" y="5237485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15960" y="5618485"/>
            <a:ext cx="331210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пояснение в сообщении об ошибке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70"/>
            <a:ext cx="817873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Моки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55"/>
            <a:ext cx="89046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 и NSubstitute: настройка, возврат значений, проверка вызовов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МОКИ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Mock-объекты и Moq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55"/>
            <a:ext cx="11615928" cy="779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Mock-объект</a:t>
            </a:r>
            <a:r>
              <a:rPr lang="en-US" sz="22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фиктивная реализация интерфейса для тестирования взаимодействия; относительно него высказывается утверждение.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455170"/>
            <a:ext cx="3657600" cy="1945640"/>
          </a:xfrm>
          <a:prstGeom prst="roundRect">
            <a:avLst>
              <a:gd name="adj" fmla="val 5222"/>
            </a:avLst>
          </a:prstGeom>
          <a:solidFill>
            <a:srgbClr val="EDF1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455170"/>
            <a:ext cx="3657600" cy="1945640"/>
          </a:xfrm>
          <a:custGeom>
            <a:avLst/>
            <a:gdLst/>
            <a:ahLst/>
            <a:cxnLst/>
            <a:rect l="l" t="t" r="r" b="b"/>
            <a:pathLst>
              <a:path w="3657600" h="1945640">
                <a:moveTo>
                  <a:pt x="101600" y="1945640"/>
                </a:moveTo>
                <a:lnTo>
                  <a:pt x="101600" y="19456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844040"/>
                </a:lnTo>
                <a:arcTo hR="101600" wR="63500" stAng="10800000" swAng="-5400000"/>
                <a:close/>
              </a:path>
            </a:pathLst>
          </a:custGeom>
          <a:solidFill>
            <a:srgbClr val="B85400"/>
          </a:solidFill>
          <a:ln/>
        </p:spPr>
      </p:sp>
      <p:sp>
        <p:nvSpPr>
          <p:cNvPr id="7" name="Text 5"/>
          <p:cNvSpPr/>
          <p:nvPr/>
        </p:nvSpPr>
        <p:spPr>
          <a:xfrm>
            <a:off x="695960" y="4632970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5960" y="5013970"/>
            <a:ext cx="33121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 мокает интерфейсы и виртуальные методы. Невиртуальные и статические - нельзя.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67200" y="4757415"/>
            <a:ext cx="3657600" cy="1643380"/>
          </a:xfrm>
          <a:prstGeom prst="roundRect">
            <a:avLst>
              <a:gd name="adj" fmla="val 6182"/>
            </a:avLst>
          </a:prstGeom>
          <a:solidFill>
            <a:srgbClr val="ED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200" y="4757415"/>
            <a:ext cx="3657600" cy="1643380"/>
          </a:xfrm>
          <a:custGeom>
            <a:avLst/>
            <a:gdLst/>
            <a:ahLst/>
            <a:cxnLst/>
            <a:rect l="l" t="t" r="r" b="b"/>
            <a:pathLst>
              <a:path w="3657600" h="1643380">
                <a:moveTo>
                  <a:pt x="101600" y="1643380"/>
                </a:moveTo>
                <a:lnTo>
                  <a:pt x="101600" y="16433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541780"/>
                </a:lnTo>
                <a:arcTo hR="101600" wR="635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1" name="Text 9"/>
          <p:cNvSpPr/>
          <p:nvPr/>
        </p:nvSpPr>
        <p:spPr>
          <a:xfrm>
            <a:off x="4505960" y="4935215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(дефолт)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5960" y="5316215"/>
            <a:ext cx="3312109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без Setup вернёт значение по умолчанию: 0, null…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77200" y="4757415"/>
            <a:ext cx="3657600" cy="1643380"/>
          </a:xfrm>
          <a:prstGeom prst="roundRect">
            <a:avLst>
              <a:gd name="adj" fmla="val 6182"/>
            </a:avLst>
          </a:prstGeom>
          <a:solidFill>
            <a:srgbClr val="ED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077200" y="4757415"/>
            <a:ext cx="3657600" cy="1643380"/>
          </a:xfrm>
          <a:custGeom>
            <a:avLst/>
            <a:gdLst/>
            <a:ahLst/>
            <a:cxnLst/>
            <a:rect l="l" t="t" r="r" b="b"/>
            <a:pathLst>
              <a:path w="3657600" h="1643380">
                <a:moveTo>
                  <a:pt x="101600" y="1643380"/>
                </a:moveTo>
                <a:lnTo>
                  <a:pt x="101600" y="16433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5417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5" name="Text 13"/>
          <p:cNvSpPr/>
          <p:nvPr/>
        </p:nvSpPr>
        <p:spPr>
          <a:xfrm>
            <a:off x="8315960" y="4935215"/>
            <a:ext cx="331210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15960" y="5316215"/>
            <a:ext cx="3312109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без Setup - исключение. При небольших зависимостях берите Strict.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МОКИ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Moq: основной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60375" y="2162349"/>
            <a:ext cx="6407150" cy="3564573"/>
          </a:xfrm>
          <a:prstGeom prst="roundRect">
            <a:avLst>
              <a:gd name="adj" fmla="val 2761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8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mock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Mock&lt;ILoveThisLibrary&gt;();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Настраиваем поведение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mock.Setup(library =&gt; library.DownloadExists(</a:t>
            </a:r>
            <a:r>
              <a:rPr lang="en-US" sz="14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"2.0.0.0"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.Returns(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.Object - реализация ILoveThisLibrary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ILoveThisLibrary lovable = mock.Object;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bool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download = lovable.DownloadExists(</a:t>
            </a:r>
            <a:r>
              <a:rPr lang="en-US" sz="14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"2.0.0.0"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Метод вызван не более одного раза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mock.Verify(library =&gt; library.DownloadExists(</a:t>
            </a:r>
            <a:r>
              <a:rPr lang="en-US" sz="14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"2.0.0.0"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),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Times.AtMostOnce());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73900" y="2114550"/>
            <a:ext cx="4660900" cy="848360"/>
          </a:xfrm>
          <a:prstGeom prst="roundRect">
            <a:avLst>
              <a:gd name="adj" fmla="val 10479"/>
            </a:avLst>
          </a:prstGeom>
          <a:solidFill>
            <a:srgbClr val="EDF1F5"/>
          </a:solidFill>
          <a:ln/>
        </p:spPr>
      </p:sp>
      <p:sp>
        <p:nvSpPr>
          <p:cNvPr id="6" name="Text 4"/>
          <p:cNvSpPr/>
          <p:nvPr/>
        </p:nvSpPr>
        <p:spPr>
          <a:xfrm>
            <a:off x="7226300" y="2228850"/>
            <a:ext cx="448678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Setup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226300" y="2574305"/>
            <a:ext cx="44867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метод и с какими аргументами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73900" y="3051820"/>
            <a:ext cx="4660900" cy="848360"/>
          </a:xfrm>
          <a:prstGeom prst="roundRect">
            <a:avLst>
              <a:gd name="adj" fmla="val 10479"/>
            </a:avLst>
          </a:prstGeom>
          <a:solidFill>
            <a:srgbClr val="EDF1F5"/>
          </a:solidFill>
          <a:ln/>
        </p:spPr>
      </p:sp>
      <p:sp>
        <p:nvSpPr>
          <p:cNvPr id="9" name="Text 7"/>
          <p:cNvSpPr/>
          <p:nvPr/>
        </p:nvSpPr>
        <p:spPr>
          <a:xfrm>
            <a:off x="7226300" y="3166120"/>
            <a:ext cx="448678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Returns(Async)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26300" y="3511550"/>
            <a:ext cx="44867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 или лямбда от аргументов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73900" y="3989065"/>
            <a:ext cx="4660900" cy="848360"/>
          </a:xfrm>
          <a:prstGeom prst="roundRect">
            <a:avLst>
              <a:gd name="adj" fmla="val 10479"/>
            </a:avLst>
          </a:prstGeom>
          <a:solidFill>
            <a:srgbClr val="EDF1F5"/>
          </a:solidFill>
          <a:ln/>
        </p:spPr>
      </p:sp>
      <p:sp>
        <p:nvSpPr>
          <p:cNvPr id="12" name="Text 10"/>
          <p:cNvSpPr/>
          <p:nvPr/>
        </p:nvSpPr>
        <p:spPr>
          <a:xfrm>
            <a:off x="7226300" y="4103365"/>
            <a:ext cx="448678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.Object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6300" y="4448820"/>
            <a:ext cx="44867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сама реализация интерфейса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73900" y="4926335"/>
            <a:ext cx="4660900" cy="848360"/>
          </a:xfrm>
          <a:prstGeom prst="roundRect">
            <a:avLst>
              <a:gd name="adj" fmla="val 10479"/>
            </a:avLst>
          </a:prstGeom>
          <a:solidFill>
            <a:srgbClr val="EDF1F5"/>
          </a:solidFill>
          <a:ln/>
        </p:spPr>
      </p:sp>
      <p:sp>
        <p:nvSpPr>
          <p:cNvPr id="15" name="Text 13"/>
          <p:cNvSpPr/>
          <p:nvPr/>
        </p:nvSpPr>
        <p:spPr>
          <a:xfrm>
            <a:off x="7226300" y="5040635"/>
            <a:ext cx="448678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Verify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26300" y="5386065"/>
            <a:ext cx="448678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раз и с какими аргументами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МОКИ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Тестовый класс с моками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067570"/>
            <a:ext cx="4445000" cy="862330"/>
          </a:xfrm>
          <a:prstGeom prst="roundRect">
            <a:avLst>
              <a:gd name="adj" fmla="val 11782"/>
            </a:avLst>
          </a:prstGeom>
          <a:solidFill>
            <a:srgbClr val="EDF1F5"/>
          </a:solidFill>
          <a:ln/>
        </p:spPr>
      </p:sp>
      <p:sp>
        <p:nvSpPr>
          <p:cNvPr id="5" name="Text 3"/>
          <p:cNvSpPr/>
          <p:nvPr/>
        </p:nvSpPr>
        <p:spPr>
          <a:xfrm>
            <a:off x="622300" y="2303140"/>
            <a:ext cx="21851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2419" y="2207270"/>
            <a:ext cx="3908521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Моки и общий Setup - в поля и конструктор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031505"/>
            <a:ext cx="4445000" cy="862330"/>
          </a:xfrm>
          <a:prstGeom prst="roundRect">
            <a:avLst>
              <a:gd name="adj" fmla="val 11782"/>
            </a:avLst>
          </a:prstGeom>
          <a:solidFill>
            <a:srgbClr val="EDF1F5"/>
          </a:solidFill>
          <a:ln/>
        </p:spPr>
      </p:sp>
      <p:sp>
        <p:nvSpPr>
          <p:cNvPr id="8" name="Text 6"/>
          <p:cNvSpPr/>
          <p:nvPr/>
        </p:nvSpPr>
        <p:spPr>
          <a:xfrm>
            <a:off x="622300" y="3267075"/>
            <a:ext cx="21851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2419" y="3171205"/>
            <a:ext cx="3908521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конструкторе создаём тестируемый класс с mock.Object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995415"/>
            <a:ext cx="4445000" cy="862330"/>
          </a:xfrm>
          <a:prstGeom prst="roundRect">
            <a:avLst>
              <a:gd name="adj" fmla="val 11782"/>
            </a:avLst>
          </a:prstGeom>
          <a:solidFill>
            <a:srgbClr val="EDF1F5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" y="4231010"/>
            <a:ext cx="21851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42419" y="4135115"/>
            <a:ext cx="3908521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каждом тесте - свои Setup под сценарий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4959350"/>
            <a:ext cx="4445000" cy="862330"/>
          </a:xfrm>
          <a:prstGeom prst="roundRect">
            <a:avLst>
              <a:gd name="adj" fmla="val 11782"/>
            </a:avLst>
          </a:prstGeom>
          <a:solidFill>
            <a:srgbClr val="ED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622300" y="5194945"/>
            <a:ext cx="21851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42419" y="5099050"/>
            <a:ext cx="3908521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конце - Verify вызовов зависимостей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133975" y="1404863"/>
            <a:ext cx="6597650" cy="5079603"/>
          </a:xfrm>
          <a:prstGeom prst="roundRect">
            <a:avLst>
              <a:gd name="adj" fmla="val 1938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8280" y="1546473"/>
            <a:ext cx="64777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88280" y="1889373"/>
            <a:ext cx="6477711" cy="44788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OrderServiceTests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readonly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Mock&lt;IOrderRepository&gt; _repository =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(MockBehavior.Strict);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private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readonly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OrderService _service;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OrderServiceTests()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_service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OrderService(_repository.Object);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[</a:t>
            </a:r>
            <a:r>
              <a:rPr lang="en-US" sz="13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Fact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async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Task Create_ValidOrder_SavesOrder()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_repository.Setup(r =&gt; r.SaveAsync(It.IsAny&lt;Order&gt;()))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.ReturnsAsync(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await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_service.CreateAsync(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Order());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_repository.Verify(r =&gt; r.SaveAsync(It.IsAny&lt;Order&gt;()),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Times.Once);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МОКИ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NSubstitute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42170"/>
            <a:ext cx="4826000" cy="1930400"/>
          </a:xfrm>
          <a:prstGeom prst="roundRect">
            <a:avLst>
              <a:gd name="adj" fmla="val 5263"/>
            </a:avLst>
          </a:prstGeom>
          <a:solidFill>
            <a:srgbClr val="EDF1F5"/>
          </a:solidFill>
          <a:ln/>
        </p:spPr>
        <p:txBody>
          <a:bodyPr wrap="square" lIns="196302" tIns="135342" rIns="28459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Альтернатива Moq, которая заметно набрала популярность в последние годы: многие проекты перешли на неё после истории с SponsorLink в Moq (2023).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42170"/>
            <a:ext cx="4826000" cy="1930400"/>
          </a:xfrm>
          <a:custGeom>
            <a:avLst/>
            <a:gdLst/>
            <a:ahLst/>
            <a:cxnLst/>
            <a:rect l="l" t="t" r="r" b="b"/>
            <a:pathLst>
              <a:path w="4826000" h="1930400">
                <a:moveTo>
                  <a:pt x="101600" y="1930400"/>
                </a:moveTo>
                <a:lnTo>
                  <a:pt x="101600" y="19304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82880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99570"/>
            <a:ext cx="4826000" cy="970280"/>
          </a:xfrm>
          <a:prstGeom prst="roundRect">
            <a:avLst>
              <a:gd name="adj" fmla="val 10471"/>
            </a:avLst>
          </a:prstGeom>
          <a:solidFill>
            <a:srgbClr val="EDF1F5"/>
          </a:solidFill>
          <a:ln/>
        </p:spPr>
        <p:txBody>
          <a:bodyPr wrap="square" lIns="196302" tIns="135342" rIns="28459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 короче: подмена - это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объект</a:t>
            </a: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без лямбд в Setup и без .Object.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099570"/>
            <a:ext cx="4826000" cy="970280"/>
          </a:xfrm>
          <a:custGeom>
            <a:avLst/>
            <a:gdLst/>
            <a:ahLst/>
            <a:cxnLst/>
            <a:rect l="l" t="t" r="r" b="b"/>
            <a:pathLst>
              <a:path w="4826000" h="970280">
                <a:moveTo>
                  <a:pt x="101600" y="970280"/>
                </a:moveTo>
                <a:lnTo>
                  <a:pt x="101600" y="9702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86868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196855"/>
            <a:ext cx="4826000" cy="650240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  <p:txBody>
          <a:bodyPr wrap="square" lIns="196302" tIns="135342" rIns="28459" bIns="109942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Режима Strict нет: все подмены «loose».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5196855"/>
            <a:ext cx="4826000" cy="650240"/>
          </a:xfrm>
          <a:custGeom>
            <a:avLst/>
            <a:gdLst/>
            <a:ahLst/>
            <a:cxnLst/>
            <a:rect l="l" t="t" r="r" b="b"/>
            <a:pathLst>
              <a:path w="4826000" h="650240">
                <a:moveTo>
                  <a:pt x="101600" y="650240"/>
                </a:moveTo>
                <a:lnTo>
                  <a:pt x="101600" y="65024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548640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5514975" y="2279427"/>
            <a:ext cx="6216650" cy="3330337"/>
          </a:xfrm>
          <a:prstGeom prst="roundRect">
            <a:avLst>
              <a:gd name="adj" fmla="val 2955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7" rtlCol="0" anchor="t">
            <a:normAutofit/>
          </a:bodyPr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repository = Substitute.For&lt;IProductRepository&gt;();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настройка: вызываем метод и говорим, что вернуть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repository.Get(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).Returns(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 { Id = 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});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repository.Get(Arg.Any&lt;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&gt;()).Returns(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Product());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service = 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ProductService(repository);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 = service.GetProduct(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product.Id.Should().Be(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проверка вызовов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repository.Received(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).Get(</a:t>
            </a:r>
            <a:r>
              <a:rPr lang="en-US" sz="13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);</a:t>
            </a:r>
            <a:endParaRPr lang="en-US" sz="1300" dirty="0"/>
          </a:p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repository.DidNotReceive().Delete(Arg.Any&lt;</a:t>
            </a:r>
            <a:r>
              <a:rPr lang="en-US" sz="13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</a:t>
            </a:r>
            <a:r>
              <a:rPr lang="en-US" sz="13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&gt;());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МОКИ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 vs NSubstitute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93535"/>
            <a:ext cx="112776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2280" y="1488455"/>
            <a:ext cx="0" cy="392176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15"/>
          <a:ext cx="11013440" cy="3708400"/>
        </p:xfrm>
        <a:graphic>
          <a:graphicData uri="http://schemas.openxmlformats.org/drawingml/2006/table">
            <a:tbl>
              <a:tblPr/>
              <a:tblGrid>
                <a:gridCol w="2643226"/>
                <a:gridCol w="4185107"/>
                <a:gridCol w="4185107"/>
              </a:tblGrid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Действие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Moq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NSubstitute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Mock&lt;IRepo&gt;()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Substitute.For&lt;IRepo&gt;()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Настроить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mock.Setup(r =&gt; r.Get(1)).Returns(p)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repo.Get(1).Returns(p)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Любой аргумент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It.IsAny&lt;long&gt;()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Arg.Any&lt;long&gt;()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Исключение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.Setup(…).Throws&lt;Ex&gt;()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repo.Get(1).Throws&lt;Ex&gt;()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Передать в код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mock.Object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Был вызван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Verify(r =&gt; r.Get(1), Times.Once())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repo.Received(1).Get(1)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был вызван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Verify(…, Times.Never())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repo.DidNotReceive().Get(1)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2476500"/>
            <a:ext cx="2420874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spc="-4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3287395" y="2867670"/>
            <a:ext cx="5976055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данные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87395" y="3634755"/>
            <a:ext cx="69623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и фейкеры: Bogus, AutoBogus, AutoFixture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ТЕСТОВЫЕ ДАННЫЕ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Откуда брать тестовые данные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55"/>
            <a:ext cx="117348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Заполнять большие и сложные объекты руками в каждом тесте - долго и шумно. Есть два подхода: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029470"/>
            <a:ext cx="5537200" cy="4371340"/>
          </a:xfrm>
          <a:prstGeom prst="roundRect">
            <a:avLst>
              <a:gd name="adj" fmla="val 2905"/>
            </a:avLst>
          </a:prstGeom>
          <a:solidFill>
            <a:srgbClr val="EDF1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29470"/>
            <a:ext cx="5537200" cy="4371340"/>
          </a:xfrm>
          <a:custGeom>
            <a:avLst/>
            <a:gdLst/>
            <a:ahLst/>
            <a:cxnLst/>
            <a:rect l="l" t="t" r="r" b="b"/>
            <a:pathLst>
              <a:path w="5537200" h="437134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410200" y="0"/>
                </a:lnTo>
                <a:arcTo hR="127000" wR="127000" stAng="16200000" swAng="5400000"/>
                <a:lnTo>
                  <a:pt x="553720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7" name="Text 5"/>
          <p:cNvSpPr/>
          <p:nvPr/>
        </p:nvSpPr>
        <p:spPr>
          <a:xfrm>
            <a:off x="711200" y="2319015"/>
            <a:ext cx="51800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 Builder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334" y="2768600"/>
            <a:ext cx="5116322" cy="201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сторонних зависимостей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сложных доменных объектов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WithX(…), в конце Build()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Build() всегда возвращает валидный объект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учитываем, например, взаимоисключающие флаги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97600" y="2029470"/>
            <a:ext cx="5537200" cy="4371340"/>
          </a:xfrm>
          <a:prstGeom prst="roundRect">
            <a:avLst>
              <a:gd name="adj" fmla="val 2905"/>
            </a:avLst>
          </a:prstGeom>
          <a:solidFill>
            <a:srgbClr val="ED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197600" y="2029470"/>
            <a:ext cx="5537200" cy="4371340"/>
          </a:xfrm>
          <a:custGeom>
            <a:avLst/>
            <a:gdLst/>
            <a:ahLst/>
            <a:cxnLst/>
            <a:rect l="l" t="t" r="r" b="b"/>
            <a:pathLst>
              <a:path w="5537200" h="437134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410200" y="0"/>
                </a:lnTo>
                <a:arcTo hR="127000" wR="127000" stAng="16200000" swAng="5400000"/>
                <a:lnTo>
                  <a:pt x="553720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2319015"/>
            <a:ext cx="51800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Фейкеры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7734" y="2768600"/>
            <a:ext cx="5116322" cy="2345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 чаще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нужно писать свои builder-ы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Bogus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правила на каждое поле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AutoBogus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автозаполнение + реалистичные данные</a:t>
            </a:r>
            <a:endParaRPr lang="en-US" sz="1800" dirty="0"/>
          </a:p>
          <a:p>
            <a:pPr algn="l" marL="197866" indent="-197866">
              <a:lnSpc>
                <a:spcPts val="2610"/>
              </a:lnSpc>
              <a:buSzPct val="100000"/>
              <a:buChar char="•"/>
            </a:pP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AutoFixture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максимально простое автозаполнение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ТЕСТОВЫЕ ДАННЫЕ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37655"/>
            <a:ext cx="116159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RuleFor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каждое поле - очень похоже на ручной builder, но писать его не нужно. Данные реалистичные: имена, email, адреса.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0375" y="2233290"/>
            <a:ext cx="11271250" cy="2002790"/>
          </a:xfrm>
          <a:prstGeom prst="roundRect">
            <a:avLst>
              <a:gd name="adj" fmla="val 4914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374900"/>
            <a:ext cx="1129151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ДЛЯ ПОЛЕЙ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717800"/>
            <a:ext cx="11291519" cy="1287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expectedProduct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Faker&lt;Product&gt;()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.RuleFor(p =&gt; p.Id, f =&gt; f.IndexFaker)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.RuleFor(p =&gt; p.WarehouseId, f =&gt; f.IndexFaker)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.RuleFor(p =&gt; p.Name, f =&gt; f.Name.FirstName())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.Generate();                       </a:t>
            </a: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или .Generate(10) - список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0375" y="4394845"/>
            <a:ext cx="11271250" cy="2002790"/>
          </a:xfrm>
          <a:prstGeom prst="roundRect">
            <a:avLst>
              <a:gd name="adj" fmla="val 4914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680" y="4536455"/>
            <a:ext cx="1129151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CUSTOMINSTANTIATOR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4680" y="4879355"/>
            <a:ext cx="11291519" cy="1035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нет конструктора без параметров - создаём объект сами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Faker&lt;ProductDto&gt;()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.CustomInstantiator(f =&gt;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ProductDto(f.IndexFaker, f.Name.FullName()))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.Generate();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ТЕСТОВЫЕ ДАННЫЕ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AutoBogus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88455"/>
            <a:ext cx="11615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Расширение Bogus (подтягивает его сам): заполняет </a:t>
            </a: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поля автоматически</a:t>
            </a: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а RuleFor по-прежнему доступен для нужных полей.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0375" y="3053234"/>
            <a:ext cx="5708650" cy="2554923"/>
          </a:xfrm>
          <a:prstGeom prst="roundRect">
            <a:avLst>
              <a:gd name="adj" fmla="val 3852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  <p:txBody>
          <a:bodyPr wrap="none" lIns="125477" tIns="112777" rIns="0" bIns="87377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пакет AutoBogus.Conventions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AutoFaker.Configure(f =&gt; f.WithConventions());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AutoFaker&lt;Product&gt;().Generate();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точечно переопределяем поле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withId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AutoFaker&lt;Product&gt;()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.RuleFor(p =&gt; p.Id, f =&gt; </a:t>
            </a:r>
            <a:r>
              <a:rPr lang="en-US" sz="1400" dirty="0">
                <a:solidFill>
                  <a:srgbClr val="7A3EC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.Generate();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75400" y="2049785"/>
            <a:ext cx="5359400" cy="4561840"/>
          </a:xfrm>
          <a:prstGeom prst="roundRect">
            <a:avLst>
              <a:gd name="adj" fmla="val 2784"/>
            </a:avLst>
          </a:prstGeom>
          <a:solidFill>
            <a:srgbClr val="EDF1F5"/>
          </a:solidFill>
          <a:ln/>
        </p:spPr>
      </p:sp>
      <p:sp>
        <p:nvSpPr>
          <p:cNvPr id="7" name="Text 5"/>
          <p:cNvSpPr/>
          <p:nvPr/>
        </p:nvSpPr>
        <p:spPr>
          <a:xfrm>
            <a:off x="6578600" y="2252985"/>
            <a:ext cx="51015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СГЕНЕРИРОВАЛОСЬ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78600" y="2608585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8FAFB"/>
          </a:solidFill>
          <a:ln/>
        </p:spPr>
      </p:sp>
      <p:sp>
        <p:nvSpPr>
          <p:cNvPr id="9" name="Text 7"/>
          <p:cNvSpPr/>
          <p:nvPr/>
        </p:nvSpPr>
        <p:spPr>
          <a:xfrm>
            <a:off x="6705600" y="26974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05600" y="29768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"Ivy_Hauck81@hotmail.com"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78600" y="3421385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8FAFB"/>
          </a:solidFill>
          <a:ln/>
        </p:spPr>
      </p:sp>
      <p:sp>
        <p:nvSpPr>
          <p:cNvPr id="12" name="Text 10"/>
          <p:cNvSpPr/>
          <p:nvPr/>
        </p:nvSpPr>
        <p:spPr>
          <a:xfrm>
            <a:off x="6705600" y="35102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CompanyName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05600" y="37896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"Padberg, Wuckert and Pouros"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78600" y="4234185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8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6705600" y="43230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05600" y="46024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"implementation"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78600" y="5046985"/>
            <a:ext cx="4953000" cy="723900"/>
          </a:xfrm>
          <a:prstGeom prst="roundRect">
            <a:avLst>
              <a:gd name="adj" fmla="val 10526"/>
            </a:avLst>
          </a:prstGeom>
          <a:solidFill>
            <a:srgbClr val="F8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6705600" y="51358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05600" y="5415285"/>
            <a:ext cx="48399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3151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-8128464292736731895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78600" y="5859785"/>
            <a:ext cx="510159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Конвенции: поле Email получает похожий на настоящий адрес.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ТЕСТОВЫЕ ДАННЫЕ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AutoFixture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37655"/>
            <a:ext cx="116159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Заполняет объект </a:t>
            </a:r>
            <a:r>
              <a:rPr lang="en-US" sz="18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максимально простыми</a:t>
            </a:r>
            <a:r>
              <a:rPr lang="en-US" sz="18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нереалистичными значениями. Цель - быстро получить любые валидные данные.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60375" y="2233290"/>
            <a:ext cx="5454650" cy="2392998"/>
          </a:xfrm>
          <a:prstGeom prst="roundRect">
            <a:avLst>
              <a:gd name="adj" fmla="val 411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680" y="2374900"/>
            <a:ext cx="53004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4680" y="2717800"/>
            <a:ext cx="5300421" cy="1035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fixture =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Fixture();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var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product = fixture.Create&lt;Product&gt;();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Id = 121, WarehouseId = 224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Name = "Nameda99cc86-d474-494f-..."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175" y="2233290"/>
            <a:ext cx="5632450" cy="2392998"/>
          </a:xfrm>
          <a:prstGeom prst="roundRect">
            <a:avLst>
              <a:gd name="adj" fmla="val 4113"/>
            </a:avLst>
          </a:prstGeom>
          <a:solidFill>
            <a:srgbClr val="F2F5F8"/>
          </a:solidFill>
          <a:ln w="6350">
            <a:solidFill>
              <a:srgbClr val="D3DB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3480" y="2374900"/>
            <a:ext cx="548355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00" kern="0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[AUTODATA]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53480" y="2717800"/>
            <a:ext cx="5483555" cy="1792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пакет AutoFixture.Xunit2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Theory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 </a:t>
            </a:r>
            <a:r>
              <a:rPr lang="en-US" sz="1400" dirty="0">
                <a:solidFill>
                  <a:srgbClr val="1A7F3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AutoData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]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public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</a:t>
            </a:r>
            <a:r>
              <a:rPr lang="en-US" sz="1400" dirty="0">
                <a:solidFill>
                  <a:srgbClr val="0033B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</a:t>
            </a: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Get_ShouldReturnProduct(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Product product)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6A737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 product уже заполнен</a:t>
            </a:r>
            <a:endParaRPr lang="en-US" sz="1400" dirty="0"/>
          </a:p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781872"/>
            <a:ext cx="5562600" cy="1618932"/>
          </a:xfrm>
          <a:prstGeom prst="roundRect">
            <a:avLst>
              <a:gd name="adj" fmla="val 6276"/>
            </a:avLst>
          </a:prstGeom>
          <a:solidFill>
            <a:srgbClr val="EDF1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781872"/>
            <a:ext cx="5562600" cy="1618932"/>
          </a:xfrm>
          <a:custGeom>
            <a:avLst/>
            <a:gdLst/>
            <a:ahLst/>
            <a:cxnLst/>
            <a:rect l="l" t="t" r="r" b="b"/>
            <a:pathLst>
              <a:path w="5562600" h="1618932">
                <a:moveTo>
                  <a:pt x="101600" y="1618932"/>
                </a:moveTo>
                <a:lnTo>
                  <a:pt x="101600" y="161893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517332"/>
                </a:lnTo>
                <a:arcTo hR="101600" wR="63500" stAng="10800000" swAng="-5400000"/>
                <a:close/>
              </a:path>
            </a:pathLst>
          </a:custGeom>
          <a:solidFill>
            <a:srgbClr val="1F5FBF"/>
          </a:solidFill>
          <a:ln/>
        </p:spPr>
      </p:sp>
      <p:sp>
        <p:nvSpPr>
          <p:cNvPr id="13" name="Text 11"/>
          <p:cNvSpPr/>
          <p:nvPr/>
        </p:nvSpPr>
        <p:spPr>
          <a:xfrm>
            <a:off x="695960" y="4959672"/>
            <a:ext cx="52742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[AutoData]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5960" y="5340672"/>
            <a:ext cx="527425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объекты-параметры теста создаются автоматически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72200" y="4781872"/>
            <a:ext cx="5562600" cy="1618932"/>
          </a:xfrm>
          <a:prstGeom prst="roundRect">
            <a:avLst>
              <a:gd name="adj" fmla="val 6276"/>
            </a:avLst>
          </a:prstGeom>
          <a:solidFill>
            <a:srgbClr val="ED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4781872"/>
            <a:ext cx="5562600" cy="1618932"/>
          </a:xfrm>
          <a:custGeom>
            <a:avLst/>
            <a:gdLst/>
            <a:ahLst/>
            <a:cxnLst/>
            <a:rect l="l" t="t" r="r" b="b"/>
            <a:pathLst>
              <a:path w="5562600" h="1618932">
                <a:moveTo>
                  <a:pt x="101600" y="1618932"/>
                </a:moveTo>
                <a:lnTo>
                  <a:pt x="101600" y="1618932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63500" stAng="16200000" swAng="-5400000"/>
                <a:lnTo>
                  <a:pt x="38100" y="1517332"/>
                </a:lnTo>
                <a:arcTo hR="101600" wR="63500" stAng="10800000" swAng="-5400000"/>
                <a:close/>
              </a:path>
            </a:pathLst>
          </a:custGeom>
          <a:solidFill>
            <a:srgbClr val="1A7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410960" y="4959672"/>
            <a:ext cx="52742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AutoMoq / AutoNSubstitute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10960" y="5340672"/>
            <a:ext cx="5274259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A4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кастомизации, которые подставляют моки вместо интерфейсов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8000"/>
            <a:ext cx="116159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150" kern="0" dirty="0">
                <a:solidFill>
                  <a:srgbClr val="1A7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ТЕСТОВЫЕ ДАННЫЕ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57200" y="838200"/>
            <a:ext cx="116159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выбрать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93535"/>
            <a:ext cx="11277600" cy="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2280" y="1488455"/>
            <a:ext cx="0" cy="3535680"/>
          </a:xfrm>
          <a:prstGeom prst="line">
            <a:avLst/>
          </a:prstGeom>
          <a:noFill/>
          <a:ln w="1016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15"/>
          <a:ext cx="11013440" cy="3322320"/>
        </p:xfrm>
        <a:graphic>
          <a:graphicData uri="http://schemas.openxmlformats.org/drawingml/2006/table">
            <a:tbl>
              <a:tblPr/>
              <a:tblGrid>
                <a:gridCol w="1982419"/>
                <a:gridCol w="3083763"/>
                <a:gridCol w="2643226"/>
                <a:gridCol w="3304032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Подход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задаём данные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Данные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 брать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E8"/>
                    </a:solidFill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Свой класс, Build()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Любые, всегда валидные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Сложные доменные объекты, без зависимостей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Bogus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RuleFor на каждое поле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Реалистичные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Нужен контроль над значениями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AutoBogus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Автоматически + RuleFor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Реалистичные по конвенциям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Много полей и нужен реализм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AutoFixture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Автоматически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Простые, нереалистичные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3A4B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Быстро получить любые значения, [AutoData]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C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DCEFE1"/>
              </a:gs>
              <a:gs pos="65000">
                <a:srgbClr val="F8FAFB"/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635000"/>
            <a:ext cx="10883392" cy="5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i="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800" dirty="0"/>
          </a:p>
        </p:txBody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439540"/>
            <a:ext cx="304800" cy="30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0000" y="1418605"/>
            <a:ext cx="10854976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пирамиды - быстрые и независимые unit-тесты на бизнес-логику</a:t>
            </a:r>
            <a:endParaRPr lang="en-US" sz="2100" dirty="0"/>
          </a:p>
        </p:txBody>
      </p:sp>
      <p:pic>
        <p:nvPicPr>
          <p:cNvPr id="6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1900560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00" y="1879600"/>
            <a:ext cx="10455402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Имя: метод_сценарий_результат; структура AAA (Given / When / Then)</a:t>
            </a:r>
            <a:endParaRPr lang="en-US" sz="2100" dirty="0"/>
          </a:p>
        </p:txBody>
      </p:sp>
      <p:pic>
        <p:nvPicPr>
          <p:cNvPr id="8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361580"/>
            <a:ext cx="304800" cy="30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0000" y="2340620"/>
            <a:ext cx="9320308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тест - один сценарий; никакой логики и «магии» в тестах</a:t>
            </a:r>
            <a:endParaRPr lang="en-US" sz="2100" dirty="0"/>
          </a:p>
        </p:txBody>
      </p:sp>
      <p:pic>
        <p:nvPicPr>
          <p:cNvPr id="10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2822575"/>
            <a:ext cx="304800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0000" y="2801615"/>
            <a:ext cx="9924097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Время, БД и сервисы - через абстракции и моки (Moq, NSubstitute)</a:t>
            </a:r>
            <a:endParaRPr lang="en-US" sz="2100" dirty="0"/>
          </a:p>
        </p:txBody>
      </p:sp>
      <p:pic>
        <p:nvPicPr>
          <p:cNvPr id="12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283595"/>
            <a:ext cx="304800" cy="3048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70000" y="3262635"/>
            <a:ext cx="10590086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данные - Builder или фейкеры: Bogus, AutoBogus, AutoFixture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t-тестирование в C#">
  <a:themeElements>
    <a:clrScheme name="Unit-тестирование в C#">
      <a:dk1>
        <a:srgbClr val="13233A"/>
      </a:dk1>
      <a:lt1>
        <a:srgbClr val="F8FAFB"/>
      </a:lt1>
      <a:dk2>
        <a:srgbClr val="4C596A"/>
      </a:dk2>
      <a:lt2>
        <a:srgbClr val="E1E5E8"/>
      </a:lt2>
      <a:accent1>
        <a:srgbClr val="1A7F37"/>
      </a:accent1>
      <a:accent2>
        <a:srgbClr val="B85400"/>
      </a:accent2>
      <a:accent3>
        <a:srgbClr val="1F5FBF"/>
      </a:accent3>
      <a:accent4>
        <a:srgbClr val="A31515"/>
      </a:accent4>
      <a:accent5>
        <a:srgbClr val="127C7C"/>
      </a:accent5>
      <a:accent6>
        <a:srgbClr val="7FDB8A"/>
      </a:accent6>
      <a:hlink>
        <a:srgbClr val="0563C1"/>
      </a:hlink>
      <a:folHlink>
        <a:srgbClr val="954F72"/>
      </a:folHlink>
    </a:clrScheme>
    <a:fontScheme name="Unit-тестирование в C#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Unit-тестирование в C#</dc:title>
  <dc:subject/>
  <dc:creator/>
  <cp:lastModifiedBy/>
  <cp:revision>1</cp:revision>
  <dcterms:created xsi:type="dcterms:W3CDTF">2026-10-25T13:02:03Z</dcterms:created>
  <dcterms:modified xsi:type="dcterms:W3CDTF">2026-10-25T13:02:03Z</dcterms:modified>
</cp:coreProperties>
</file>